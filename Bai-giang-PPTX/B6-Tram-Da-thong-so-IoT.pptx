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Gas (PPM)</c:v>
                </c:pt>
              </c:strCache>
            </c:strRef>
          </c:tx>
          <c:spPr>
            <a:ln w="31750">
              <a:solidFill>
                <a:srgbClr val="3B82F6"/>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Sheet1!$B$2:$B$9</c:f>
              <c:numCache>
                <c:formatCode>General</c:formatCode>
                <c:ptCount val="8"/>
                <c:pt idx="0">
                  <c:v>80</c:v>
                </c:pt>
                <c:pt idx="1">
                  <c:v>100</c:v>
                </c:pt>
                <c:pt idx="2">
                  <c:v>130</c:v>
                </c:pt>
                <c:pt idx="3">
                  <c:v>160</c:v>
                </c:pt>
                <c:pt idx="4">
                  <c:v>190</c:v>
                </c:pt>
                <c:pt idx="5">
                  <c:v>210</c:v>
                </c:pt>
                <c:pt idx="6">
                  <c:v>230</c:v>
                </c:pt>
                <c:pt idx="7">
                  <c:v>250</c:v>
                </c:pt>
              </c:numCache>
            </c:numRef>
          </c:val>
          <c:smooth val="0"/>
        </c:ser>
        <c:ser>
          <c:idx val="1"/>
          <c:order val="1"/>
          <c:tx>
            <c:strRef>
              <c:f>Sheet1!$C$1</c:f>
              <c:strCache>
                <c:ptCount val="1"/>
                <c:pt idx="0">
                  <c:v>Mực nước — khoảng cách (cm)</c:v>
                </c:pt>
              </c:strCache>
            </c:strRef>
          </c:tx>
          <c:spPr>
            <a:ln w="31750">
              <a:solidFill>
                <a:srgbClr val="EF4444"/>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Sheet1!$C$2:$C$9</c:f>
              <c:numCache>
                <c:formatCode>General</c:formatCode>
                <c:ptCount val="8"/>
                <c:pt idx="0">
                  <c:v>40</c:v>
                </c:pt>
                <c:pt idx="1">
                  <c:v>35</c:v>
                </c:pt>
                <c:pt idx="2">
                  <c:v>29</c:v>
                </c:pt>
                <c:pt idx="3">
                  <c:v>23</c:v>
                </c:pt>
                <c:pt idx="4">
                  <c:v>18</c:v>
                </c:pt>
                <c:pt idx="5">
                  <c:v>14</c:v>
                </c:pt>
                <c:pt idx="6">
                  <c:v>11</c:v>
                </c:pt>
                <c:pt idx="7">
                  <c:v>9</c:v>
                </c:pt>
              </c:numCache>
            </c:numRef>
          </c:val>
          <c:smooth val="0"/>
        </c:ser>
        <c:ser>
          <c:idx val="2"/>
          <c:order val="2"/>
          <c:tx>
            <c:strRef>
              <c:f>Sheet1!$D$1</c:f>
              <c:strCache>
                <c:ptCount val="1"/>
                <c:pt idx="0">
                  <c:v>Ngưỡng Gas (PPM/10)</c:v>
                </c:pt>
              </c:strCache>
            </c:strRef>
          </c:tx>
          <c:spPr>
            <a:ln w="31750">
              <a:solidFill>
                <a:srgbClr val="F59E0B"/>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Sheet1!$D$2:$D$9</c:f>
              <c:numCache>
                <c:formatCode>General</c:formatCode>
                <c:ptCount val="8"/>
                <c:pt idx="0">
                  <c:v>30</c:v>
                </c:pt>
                <c:pt idx="1">
                  <c:v>30</c:v>
                </c:pt>
                <c:pt idx="2">
                  <c:v>30</c:v>
                </c:pt>
                <c:pt idx="3">
                  <c:v>30</c:v>
                </c:pt>
                <c:pt idx="4">
                  <c:v>30</c:v>
                </c:pt>
                <c:pt idx="5">
                  <c:v>30</c:v>
                </c:pt>
                <c:pt idx="6">
                  <c:v>30</c:v>
                </c:pt>
                <c:pt idx="7">
                  <c:v>30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3093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63640" y="0"/>
            <a:ext cx="54864"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50292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IoT</a:t>
            </a:r>
          </a:p>
        </p:txBody>
      </p:sp>
      <p:sp>
        <p:nvSpPr>
          <p:cNvPr id="6" name="TextBox 5"/>
          <p:cNvSpPr txBox="1"/>
          <p:nvPr/>
        </p:nvSpPr>
        <p:spPr>
          <a:xfrm>
            <a:off x="1463040" y="548640"/>
            <a:ext cx="4663440" cy="274320"/>
          </a:xfrm>
          <a:prstGeom prst="rect">
            <a:avLst/>
          </a:prstGeom>
          <a:noFill/>
        </p:spPr>
        <p:txBody>
          <a:bodyPr wrap="square">
            <a:spAutoFit/>
          </a:bodyPr>
          <a:lstStyle/>
          <a:p>
            <a:pPr algn="l"/>
            <a:r>
              <a:rPr sz="1200" b="1" i="0">
                <a:solidFill>
                  <a:srgbClr val="94A3B8"/>
                </a:solidFill>
                <a:latin typeface="Calibri"/>
              </a:rPr>
              <a:t>ĐẠI HỌC THỦ DẦU MỘT</a:t>
            </a:r>
          </a:p>
        </p:txBody>
      </p:sp>
      <p:sp>
        <p:nvSpPr>
          <p:cNvPr id="7" name="TextBox 6"/>
          <p:cNvSpPr txBox="1"/>
          <p:nvPr/>
        </p:nvSpPr>
        <p:spPr>
          <a:xfrm>
            <a:off x="1463040" y="804672"/>
            <a:ext cx="4663440" cy="320040"/>
          </a:xfrm>
          <a:prstGeom prst="rect">
            <a:avLst/>
          </a:prstGeom>
          <a:noFill/>
        </p:spPr>
        <p:txBody>
          <a:bodyPr wrap="square">
            <a:spAutoFit/>
          </a:bodyPr>
          <a:lstStyle/>
          <a:p>
            <a:pPr algn="l"/>
            <a:r>
              <a:rPr sz="1300" b="1" i="0">
                <a:solidFill>
                  <a:srgbClr val="10B981"/>
                </a:solidFill>
                <a:latin typeface="Calibri"/>
              </a:rPr>
              <a:t>IOT TRONG KỸ THUẬT MÔI TRƯỜNG</a:t>
            </a:r>
          </a:p>
        </p:txBody>
      </p:sp>
      <p:sp>
        <p:nvSpPr>
          <p:cNvPr id="8" name="TextBox 7"/>
          <p:cNvSpPr txBox="1"/>
          <p:nvPr/>
        </p:nvSpPr>
        <p:spPr>
          <a:xfrm>
            <a:off x="640080" y="1600200"/>
            <a:ext cx="5486400" cy="365760"/>
          </a:xfrm>
          <a:prstGeom prst="rect">
            <a:avLst/>
          </a:prstGeom>
          <a:noFill/>
        </p:spPr>
        <p:txBody>
          <a:bodyPr wrap="square">
            <a:spAutoFit/>
          </a:bodyPr>
          <a:lstStyle/>
          <a:p>
            <a:pPr algn="l"/>
            <a:r>
              <a:rPr sz="1400" b="1" i="0">
                <a:solidFill>
                  <a:srgbClr val="F59E0B"/>
                </a:solidFill>
                <a:latin typeface="Calibri"/>
              </a:rPr>
              <a:t>BUỔI 6/6</a:t>
            </a:r>
          </a:p>
        </p:txBody>
      </p:sp>
      <p:sp>
        <p:nvSpPr>
          <p:cNvPr id="9" name="TextBox 8"/>
          <p:cNvSpPr txBox="1"/>
          <p:nvPr/>
        </p:nvSpPr>
        <p:spPr>
          <a:xfrm>
            <a:off x="640080" y="1965960"/>
            <a:ext cx="5532120" cy="1737360"/>
          </a:xfrm>
          <a:prstGeom prst="rect">
            <a:avLst/>
          </a:prstGeom>
          <a:noFill/>
        </p:spPr>
        <p:txBody>
          <a:bodyPr wrap="square">
            <a:spAutoFit/>
          </a:bodyPr>
          <a:lstStyle/>
          <a:p>
            <a:pPr algn="l">
              <a:lnSpc>
                <a:spcPct val="108000"/>
              </a:lnSpc>
            </a:pPr>
            <a:r>
              <a:rPr sz="3000" b="1" i="0">
                <a:solidFill>
                  <a:srgbClr val="1E293B"/>
                </a:solidFill>
                <a:latin typeface="Calibri"/>
              </a:rPr>
              <a:t>B6: Trạm Môi trường Đa thông số IoT (Đồ án tổng hợp)</a:t>
            </a:r>
          </a:p>
        </p:txBody>
      </p:sp>
      <p:sp>
        <p:nvSpPr>
          <p:cNvPr id="10" name="TextBox 9"/>
          <p:cNvSpPr txBox="1"/>
          <p:nvPr/>
        </p:nvSpPr>
        <p:spPr>
          <a:xfrm>
            <a:off x="640080" y="3657600"/>
            <a:ext cx="5394960" cy="1371600"/>
          </a:xfrm>
          <a:prstGeom prst="rect">
            <a:avLst/>
          </a:prstGeom>
          <a:noFill/>
        </p:spPr>
        <p:txBody>
          <a:bodyPr wrap="square">
            <a:spAutoFit/>
          </a:bodyPr>
          <a:lstStyle/>
          <a:p>
            <a:pPr algn="l">
              <a:lnSpc>
                <a:spcPct val="125000"/>
              </a:lnSpc>
            </a:pPr>
            <a:r>
              <a:rPr sz="1350" b="0" i="0">
                <a:solidFill>
                  <a:srgbClr val="475569"/>
                </a:solidFill>
                <a:latin typeface="Calibri"/>
              </a:rPr>
              <a:t>Tích hợp toàn bộ cảm biến đã học, đóng gói dữ liệu JSON telemetry, mô phỏng gửi lên nền tảng Cloud IoT</a:t>
            </a:r>
          </a:p>
        </p:txBody>
      </p:sp>
      <p:cxnSp>
        <p:nvCxnSpPr>
          <p:cNvPr id="11" name="Connector 10"/>
          <p:cNvCxnSpPr/>
          <p:nvPr/>
        </p:nvCxnSpPr>
        <p:spPr>
          <a:xfrm>
            <a:off x="640080" y="5257800"/>
            <a:ext cx="4480560"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5413248"/>
            <a:ext cx="5394960" cy="320040"/>
          </a:xfrm>
          <a:prstGeom prst="rect">
            <a:avLst/>
          </a:prstGeom>
          <a:noFill/>
        </p:spPr>
        <p:txBody>
          <a:bodyPr wrap="square">
            <a:spAutoFit/>
          </a:bodyPr>
          <a:lstStyle/>
          <a:p>
            <a:pPr algn="l"/>
            <a:r>
              <a:rPr sz="1150" b="1" i="0">
                <a:solidFill>
                  <a:srgbClr val="1E293B"/>
                </a:solidFill>
                <a:latin typeface="Calibri"/>
              </a:rPr>
              <a:t>Giảng viên hướng dẫn: Nguyễn Lê Tấn Đạt</a:t>
            </a:r>
          </a:p>
        </p:txBody>
      </p:sp>
      <p:sp>
        <p:nvSpPr>
          <p:cNvPr id="13" name="TextBox 12"/>
          <p:cNvSpPr txBox="1"/>
          <p:nvPr/>
        </p:nvSpPr>
        <p:spPr>
          <a:xfrm>
            <a:off x="640080" y="5705856"/>
            <a:ext cx="5394960" cy="274320"/>
          </a:xfrm>
          <a:prstGeom prst="rect">
            <a:avLst/>
          </a:prstGeom>
          <a:noFill/>
        </p:spPr>
        <p:txBody>
          <a:bodyPr wrap="square">
            <a:spAutoFit/>
          </a:bodyPr>
          <a:lstStyle/>
          <a:p>
            <a:pPr algn="l"/>
            <a:r>
              <a:rPr sz="1050" b="0" i="0">
                <a:solidFill>
                  <a:srgbClr val="475569"/>
                </a:solidFill>
                <a:latin typeface="Calibri"/>
              </a:rPr>
              <a:t>Board sử dụng: ESP32-S3-DevKitC-1</a:t>
            </a:r>
          </a:p>
        </p:txBody>
      </p:sp>
      <p:sp>
        <p:nvSpPr>
          <p:cNvPr id="14" name="TextBox 13"/>
          <p:cNvSpPr txBox="1"/>
          <p:nvPr/>
        </p:nvSpPr>
        <p:spPr>
          <a:xfrm>
            <a:off x="640080" y="5961888"/>
            <a:ext cx="5394960" cy="274320"/>
          </a:xfrm>
          <a:prstGeom prst="rect">
            <a:avLst/>
          </a:prstGeom>
          <a:noFill/>
        </p:spPr>
        <p:txBody>
          <a:bodyPr wrap="square">
            <a:spAutoFit/>
          </a:bodyPr>
          <a:lstStyle/>
          <a:p>
            <a:pPr algn="l"/>
            <a:r>
              <a:rPr sz="1050" b="0" i="0">
                <a:solidFill>
                  <a:srgbClr val="475569"/>
                </a:solidFill>
                <a:latin typeface="Calibri"/>
              </a:rPr>
              <a:t>datnlt@tdmu.edu.vn</a:t>
            </a:r>
          </a:p>
        </p:txBody>
      </p:sp>
      <p:sp>
        <p:nvSpPr>
          <p:cNvPr id="15" name="Rounded Rectangle 14"/>
          <p:cNvSpPr/>
          <p:nvPr/>
        </p:nvSpPr>
        <p:spPr>
          <a:xfrm>
            <a:off x="6720840" y="640080"/>
            <a:ext cx="2743200" cy="306324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sp32s3.jpg"/>
          <p:cNvPicPr>
            <a:picLocks noChangeAspect="1"/>
          </p:cNvPicPr>
          <p:nvPr/>
        </p:nvPicPr>
        <p:blipFill>
          <a:blip r:embed="rId2"/>
          <a:stretch>
            <a:fillRect/>
          </a:stretch>
        </p:blipFill>
        <p:spPr>
          <a:xfrm>
            <a:off x="6812279" y="1189817"/>
            <a:ext cx="2560320" cy="1963765"/>
          </a:xfrm>
          <a:prstGeom prst="rect">
            <a:avLst/>
          </a:prstGeom>
        </p:spPr>
      </p:pic>
      <p:sp>
        <p:nvSpPr>
          <p:cNvPr id="17" name="Rounded Rectangle 16"/>
          <p:cNvSpPr/>
          <p:nvPr/>
        </p:nvSpPr>
        <p:spPr>
          <a:xfrm>
            <a:off x="9281160" y="2148840"/>
            <a:ext cx="2423160" cy="27432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dht11.jpg"/>
          <p:cNvPicPr>
            <a:picLocks noChangeAspect="1"/>
          </p:cNvPicPr>
          <p:nvPr/>
        </p:nvPicPr>
        <p:blipFill>
          <a:blip r:embed="rId3"/>
          <a:stretch>
            <a:fillRect/>
          </a:stretch>
        </p:blipFill>
        <p:spPr>
          <a:xfrm>
            <a:off x="9532620" y="2240280"/>
            <a:ext cx="1920239" cy="2560320"/>
          </a:xfrm>
          <a:prstGeom prst="rect">
            <a:avLst/>
          </a:prstGeom>
        </p:spPr>
      </p:pic>
      <p:sp>
        <p:nvSpPr>
          <p:cNvPr id="19" name="Rounded Rectangle 18"/>
          <p:cNvSpPr/>
          <p:nvPr/>
        </p:nvSpPr>
        <p:spPr>
          <a:xfrm>
            <a:off x="7635240" y="3977639"/>
            <a:ext cx="3291840" cy="233172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esp32s3.jpg"/>
          <p:cNvPicPr>
            <a:picLocks noChangeAspect="1"/>
          </p:cNvPicPr>
          <p:nvPr/>
        </p:nvPicPr>
        <p:blipFill>
          <a:blip r:embed="rId2"/>
          <a:stretch>
            <a:fillRect/>
          </a:stretch>
        </p:blipFill>
        <p:spPr>
          <a:xfrm>
            <a:off x="7880351" y="4069079"/>
            <a:ext cx="2801616" cy="2148839"/>
          </a:xfrm>
          <a:prstGeom prst="rect">
            <a:avLst/>
          </a:prstGeom>
        </p:spPr>
      </p:pic>
      <p:sp>
        <p:nvSpPr>
          <p:cNvPr id="21" name="TextBox 20"/>
          <p:cNvSpPr txBox="1"/>
          <p:nvPr/>
        </p:nvSpPr>
        <p:spPr>
          <a:xfrm>
            <a:off x="6720840" y="6473952"/>
            <a:ext cx="4937760" cy="274320"/>
          </a:xfrm>
          <a:prstGeom prst="rect">
            <a:avLst/>
          </a:prstGeom>
          <a:noFill/>
        </p:spPr>
        <p:txBody>
          <a:bodyPr wrap="square">
            <a:spAutoFit/>
          </a:bodyPr>
          <a:lstStyle/>
          <a:p>
            <a:pPr algn="r"/>
            <a:r>
              <a:rPr sz="850" b="0" i="1">
                <a:solidFill>
                  <a:srgbClr val="94A3B8"/>
                </a:solidFill>
                <a:latin typeface="Calibri"/>
              </a:rPr>
              <a:t>Ảnh minh hoạ thiết bị thực tế sử dụng trong bài học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B6 · MỞ ĐẦU</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Mục tiêu bài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a:t>
            </a:r>
          </a:p>
        </p:txBody>
      </p:sp>
      <p:sp>
        <p:nvSpPr>
          <p:cNvPr id="10" name="Oval 9"/>
          <p:cNvSpPr/>
          <p:nvPr/>
        </p:nvSpPr>
        <p:spPr>
          <a:xfrm>
            <a:off x="548640" y="1417320"/>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1</a:t>
            </a:r>
          </a:p>
        </p:txBody>
      </p:sp>
      <p:sp>
        <p:nvSpPr>
          <p:cNvPr id="11" name="TextBox 10"/>
          <p:cNvSpPr txBox="1"/>
          <p:nvPr/>
        </p:nvSpPr>
        <p:spPr>
          <a:xfrm>
            <a:off x="1325880" y="1444752"/>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Tổng hợp toàn bộ kiến thức từ Buổi 1-5 vào một hệ thống quan trắc môi trường hoàn chỉnh.</a:t>
            </a:r>
          </a:p>
        </p:txBody>
      </p:sp>
      <p:sp>
        <p:nvSpPr>
          <p:cNvPr id="12" name="Oval 11"/>
          <p:cNvSpPr/>
          <p:nvPr/>
        </p:nvSpPr>
        <p:spPr>
          <a:xfrm>
            <a:off x="548640" y="235000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2</a:t>
            </a:r>
          </a:p>
        </p:txBody>
      </p:sp>
      <p:sp>
        <p:nvSpPr>
          <p:cNvPr id="13" name="TextBox 12"/>
          <p:cNvSpPr txBox="1"/>
          <p:nvPr/>
        </p:nvSpPr>
        <p:spPr>
          <a:xfrm>
            <a:off x="1325880" y="2377440"/>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Hiểu khái niệm Telemetry và cấu trúc gói tin dữ liệu dạng JSON trong hệ thống IoT.</a:t>
            </a:r>
          </a:p>
        </p:txBody>
      </p:sp>
      <p:sp>
        <p:nvSpPr>
          <p:cNvPr id="14" name="Oval 13"/>
          <p:cNvSpPr/>
          <p:nvPr/>
        </p:nvSpPr>
        <p:spPr>
          <a:xfrm>
            <a:off x="548640" y="328269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3</a:t>
            </a:r>
          </a:p>
        </p:txBody>
      </p:sp>
      <p:sp>
        <p:nvSpPr>
          <p:cNvPr id="15" name="TextBox 14"/>
          <p:cNvSpPr txBox="1"/>
          <p:nvPr/>
        </p:nvSpPr>
        <p:spPr>
          <a:xfrm>
            <a:off x="1325880" y="3310128"/>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Nắm được mô hình tổng quát để mở rộng lên giao tiếp Cloud thực tế (WiFi + MQTT/HTTP).</a:t>
            </a:r>
          </a:p>
        </p:txBody>
      </p:sp>
      <p:sp>
        <p:nvSpPr>
          <p:cNvPr id="16" name="Oval 15"/>
          <p:cNvSpPr/>
          <p:nvPr/>
        </p:nvSpPr>
        <p:spPr>
          <a:xfrm>
            <a:off x="548640" y="4215384"/>
            <a:ext cx="566928" cy="56692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4</a:t>
            </a:r>
          </a:p>
        </p:txBody>
      </p:sp>
      <p:sp>
        <p:nvSpPr>
          <p:cNvPr id="17" name="TextBox 16"/>
          <p:cNvSpPr txBox="1"/>
          <p:nvPr/>
        </p:nvSpPr>
        <p:spPr>
          <a:xfrm>
            <a:off x="1325880" y="4242816"/>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Thiết kế logic cảnh báo tổng hợp dựa trên NHIỀU điều kiện độc lập (toán tử OR) từ các cảm biến khác nhau.</a:t>
            </a:r>
          </a:p>
        </p:txBody>
      </p:sp>
      <p:sp>
        <p:nvSpPr>
          <p:cNvPr id="18" name="Rectangle 17"/>
          <p:cNvSpPr/>
          <p:nvPr/>
        </p:nvSpPr>
        <p:spPr>
          <a:xfrm>
            <a:off x="548640" y="5193792"/>
            <a:ext cx="10881360" cy="18288"/>
          </a:xfrm>
          <a:prstGeom prst="rect">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330952"/>
            <a:ext cx="10881360" cy="457200"/>
          </a:xfrm>
          <a:prstGeom prst="rect">
            <a:avLst/>
          </a:prstGeom>
          <a:noFill/>
        </p:spPr>
        <p:txBody>
          <a:bodyPr wrap="square">
            <a:spAutoFit/>
          </a:bodyPr>
          <a:lstStyle/>
          <a:p>
            <a:pPr algn="l"/>
            <a:r>
              <a:rPr sz="1250" b="1" i="0">
                <a:solidFill>
                  <a:srgbClr val="475569"/>
                </a:solidFill>
                <a:latin typeface="Calibri"/>
              </a:rPr>
              <a:t>Board sử dụng: ESP32-S3-DevKitC-1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B6 · LÝ THUYẾT NỀN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Khái niệm Telemetry &amp; gói tin JSON trong hệ thống IoT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a:t>
            </a:r>
          </a:p>
        </p:txBody>
      </p:sp>
      <p:sp>
        <p:nvSpPr>
          <p:cNvPr id="10" name="TextBox 9"/>
          <p:cNvSpPr txBox="1"/>
          <p:nvPr/>
        </p:nvSpPr>
        <p:spPr>
          <a:xfrm>
            <a:off x="548640" y="1417320"/>
            <a:ext cx="11064240" cy="4846320"/>
          </a:xfrm>
          <a:prstGeom prst="rect">
            <a:avLst/>
          </a:prstGeom>
          <a:noFill/>
        </p:spPr>
        <p:txBody>
          <a:bodyPr wrap="square">
            <a:spAutoFit/>
          </a:bodyPr>
          <a:lstStyle/>
          <a:p>
            <a:pPr algn="l">
              <a:spcAft>
                <a:spcPts val="1400"/>
              </a:spcAft>
            </a:pPr>
            <a:r>
              <a:rPr sz="1550" b="1">
                <a:solidFill>
                  <a:srgbClr val="3B82F6"/>
                </a:solidFill>
                <a:latin typeface="Calibri"/>
              </a:rPr>
              <a:t>●  </a:t>
            </a:r>
            <a:r>
              <a:rPr sz="1550" b="0">
                <a:solidFill>
                  <a:srgbClr val="1E293B"/>
                </a:solidFill>
                <a:latin typeface="Calibri"/>
              </a:rPr>
              <a:t>Telemetry là quá trình tự động thu thập dữ liệu tại hiện trường (thiết bị IoT) và truyền về hệ thống trung tâm/Cloud để lưu trữ, phân tích, hiển thị dashboard.</a:t>
            </a:r>
          </a:p>
          <a:p>
            <a:pPr algn="l">
              <a:spcAft>
                <a:spcPts val="1400"/>
              </a:spcAft>
            </a:pPr>
            <a:r>
              <a:rPr sz="1550" b="1">
                <a:solidFill>
                  <a:srgbClr val="3B82F6"/>
                </a:solidFill>
                <a:latin typeface="Calibri"/>
              </a:rPr>
              <a:t>●  </a:t>
            </a:r>
            <a:r>
              <a:rPr sz="1550" b="0">
                <a:solidFill>
                  <a:srgbClr val="1E293B"/>
                </a:solidFill>
                <a:latin typeface="Calibri"/>
              </a:rPr>
              <a:t>JSON (JavaScript Object Notation) là định dạng dữ liệu dạng văn bản, cấu trúc key-value dễ đọc — chuẩn phổ biến nhất để đóng gói dữ liệu cảm biến khi gửi qua mạng (MQTT/HTTP).</a:t>
            </a:r>
          </a:p>
          <a:p>
            <a:pPr algn="l">
              <a:spcAft>
                <a:spcPts val="1400"/>
              </a:spcAft>
            </a:pPr>
            <a:r>
              <a:rPr sz="1550" b="1">
                <a:solidFill>
                  <a:srgbClr val="3B82F6"/>
                </a:solidFill>
                <a:latin typeface="Calibri"/>
              </a:rPr>
              <a:t>●  </a:t>
            </a:r>
            <a:r>
              <a:rPr sz="1550" b="0">
                <a:solidFill>
                  <a:srgbClr val="1E293B"/>
                </a:solidFill>
                <a:latin typeface="Calibri"/>
              </a:rPr>
              <a:t>Trong bài học, lệnh Serial.print() được dùng để LẮP RÁP thủ công một chuỗi JSON hợp lệ — đây chính là "payload" (nội dung gói tin) mà một thiết bị IoT thật sẽ gửi qua giao thức MQTT hoặc HTTP POST.</a:t>
            </a:r>
          </a:p>
          <a:p>
            <a:pPr algn="l">
              <a:spcAft>
                <a:spcPts val="1400"/>
              </a:spcAft>
            </a:pPr>
            <a:r>
              <a:rPr sz="1550" b="1">
                <a:solidFill>
                  <a:srgbClr val="3B82F6"/>
                </a:solidFill>
                <a:latin typeface="Calibri"/>
              </a:rPr>
              <a:t>●  </a:t>
            </a:r>
            <a:r>
              <a:rPr sz="1550" b="0">
                <a:solidFill>
                  <a:srgbClr val="1E293B"/>
                </a:solidFill>
                <a:latin typeface="Calibri"/>
              </a:rPr>
              <a:t>Để gửi thật lên Cloud, cần bổ sung thư viện WiFi.h (kết nối mạng) và PubSubClient.h (giao thức MQTT) hoặc HTTPClient.h (giao thức HTTP) — ngoài phạm vi mô phỏng của bài học này.</a:t>
            </a:r>
          </a:p>
          <a:p>
            <a:pPr algn="l">
              <a:spcAft>
                <a:spcPts val="1400"/>
              </a:spcAft>
            </a:pPr>
            <a:r>
              <a:rPr sz="1550" b="1">
                <a:solidFill>
                  <a:srgbClr val="3B82F6"/>
                </a:solidFill>
                <a:latin typeface="Calibri"/>
              </a:rPr>
              <a:t>●  </a:t>
            </a:r>
            <a:r>
              <a:rPr sz="1550" b="0">
                <a:solidFill>
                  <a:srgbClr val="1E293B"/>
                </a:solidFill>
                <a:latin typeface="Calibri"/>
              </a:rPr>
              <a:t>ESP32-S3 có sẵn WiFi + Bluetooth tích hợp trên chip — đây là lý do vì sao dòng ESP32 (so với Arduino Uno truyền thống) được ưa chuộng cho các dự án IoT kết nối Cloud thực tế.</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B6 ·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Danh sách linh kiện sử dụng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3</a:t>
            </a:r>
          </a:p>
        </p:txBody>
      </p:sp>
      <p:graphicFrame>
        <p:nvGraphicFramePr>
          <p:cNvPr id="10" name="Table 9"/>
          <p:cNvGraphicFramePr>
            <a:graphicFrameLocks noGrp="1"/>
          </p:cNvGraphicFramePr>
          <p:nvPr/>
        </p:nvGraphicFramePr>
        <p:xfrm>
          <a:off x="548640" y="1417320"/>
          <a:ext cx="11064240" cy="5303520"/>
        </p:xfrm>
        <a:graphic>
          <a:graphicData uri="http://schemas.openxmlformats.org/drawingml/2006/table">
            <a:tbl>
              <a:tblPr>
                <a:tableStyleId>{5C22544A-7EE6-4342-B048-85BDC9FD1C3A}</a:tableStyleId>
              </a:tblPr>
              <a:tblGrid>
                <a:gridCol w="2766060"/>
                <a:gridCol w="5532120"/>
                <a:gridCol w="2766060"/>
              </a:tblGrid>
              <a:tr h="757645">
                <a:tc>
                  <a:txBody>
                    <a:bodyPr wrap="square"/>
                    <a:lstStyle/>
                    <a:p>
                      <a:pPr algn="ctr"/>
                      <a:r>
                        <a:rPr sz="1400" b="1">
                          <a:solidFill>
                            <a:srgbClr val="FFFFFF"/>
                          </a:solidFill>
                          <a:latin typeface="Calibri"/>
                        </a:rPr>
                        <a:t>Linh kiện</a:t>
                      </a:r>
                    </a:p>
                  </a:txBody>
                  <a:tcPr marL="73152" marR="73152" marT="36576" marB="36576" anchor="ctr">
                    <a:solidFill>
                      <a:srgbClr val="F59E0B"/>
                    </a:solidFill>
                  </a:tcPr>
                </a:tc>
                <a:tc>
                  <a:txBody>
                    <a:bodyPr wrap="square"/>
                    <a:lstStyle/>
                    <a:p>
                      <a:pPr algn="ctr"/>
                      <a:r>
                        <a:rPr sz="1400" b="1">
                          <a:solidFill>
                            <a:srgbClr val="FFFFFF"/>
                          </a:solidFill>
                          <a:latin typeface="Calibri"/>
                        </a:rPr>
                        <a:t>Chức năng</a:t>
                      </a:r>
                    </a:p>
                  </a:txBody>
                  <a:tcPr marL="73152" marR="73152" marT="36576" marB="36576" anchor="ctr">
                    <a:solidFill>
                      <a:srgbClr val="F59E0B"/>
                    </a:solidFill>
                  </a:tcPr>
                </a:tc>
                <a:tc>
                  <a:txBody>
                    <a:bodyPr wrap="square"/>
                    <a:lstStyle/>
                    <a:p>
                      <a:pPr algn="ctr"/>
                      <a:r>
                        <a:rPr sz="1400" b="1">
                          <a:solidFill>
                            <a:srgbClr val="FFFFFF"/>
                          </a:solidFill>
                          <a:latin typeface="Calibri"/>
                        </a:rPr>
                        <a:t>Chân kết nối</a:t>
                      </a:r>
                    </a:p>
                  </a:txBody>
                  <a:tcPr marL="73152" marR="73152" marT="36576" marB="36576" anchor="ctr">
                    <a:solidFill>
                      <a:srgbClr val="F59E0B"/>
                    </a:solidFill>
                  </a:tcPr>
                </a:tc>
              </a:tr>
              <a:tr h="757645">
                <a:tc>
                  <a:txBody>
                    <a:bodyPr wrap="square"/>
                    <a:lstStyle/>
                    <a:p>
                      <a:pPr algn="l"/>
                      <a:r>
                        <a:rPr sz="1300" b="0">
                          <a:solidFill>
                            <a:srgbClr val="1E293B"/>
                          </a:solidFill>
                          <a:latin typeface="Calibri"/>
                        </a:rPr>
                        <a:t>ESP32-S3-DevKitC-1</a:t>
                      </a:r>
                    </a:p>
                  </a:txBody>
                  <a:tcPr marL="73152" marR="73152" marT="36576" marB="36576" anchor="ctr">
                    <a:solidFill>
                      <a:srgbClr val="FFFFFF"/>
                    </a:solidFill>
                  </a:tcPr>
                </a:tc>
                <a:tc>
                  <a:txBody>
                    <a:bodyPr wrap="square"/>
                    <a:lstStyle/>
                    <a:p>
                      <a:pPr algn="l"/>
                      <a:r>
                        <a:rPr sz="1300" b="0">
                          <a:solidFill>
                            <a:srgbClr val="475569"/>
                          </a:solidFill>
                          <a:latin typeface="Calibri"/>
                        </a:rPr>
                        <a:t>Vi điều khiển trung tâm, có sẵn WiFi/Bluetooth cho Cloud thực tế</a:t>
                      </a:r>
                    </a:p>
                  </a:txBody>
                  <a:tcPr marL="73152" marR="73152" marT="36576" marB="36576" anchor="ctr">
                    <a:solidFill>
                      <a:srgbClr val="FFFFFF"/>
                    </a:solidFill>
                  </a:tcPr>
                </a:tc>
                <a:tc>
                  <a:txBody>
                    <a:bodyPr wrap="square"/>
                    <a:lstStyle/>
                    <a:p>
                      <a:pPr algn="ctr"/>
                      <a:r>
                        <a:rPr sz="1300" b="0">
                          <a:solidFill>
                            <a:srgbClr val="3B82F6"/>
                          </a:solidFill>
                          <a:latin typeface="Calibri"/>
                        </a:rPr>
                        <a:t>—</a:t>
                      </a:r>
                    </a:p>
                  </a:txBody>
                  <a:tcPr marL="73152" marR="73152" marT="36576" marB="36576" anchor="ctr">
                    <a:solidFill>
                      <a:srgbClr val="FFFFFF"/>
                    </a:solidFill>
                  </a:tcPr>
                </a:tc>
              </a:tr>
              <a:tr h="757645">
                <a:tc>
                  <a:txBody>
                    <a:bodyPr wrap="square"/>
                    <a:lstStyle/>
                    <a:p>
                      <a:pPr algn="l"/>
                      <a:r>
                        <a:rPr sz="1300" b="0">
                          <a:solidFill>
                            <a:srgbClr val="1E293B"/>
                          </a:solidFill>
                          <a:latin typeface="Calibri"/>
                        </a:rPr>
                        <a:t>DHT11</a:t>
                      </a:r>
                    </a:p>
                  </a:txBody>
                  <a:tcPr marL="73152" marR="73152" marT="36576" marB="36576" anchor="ctr">
                    <a:solidFill>
                      <a:srgbClr val="FFFFFF"/>
                    </a:solidFill>
                  </a:tcPr>
                </a:tc>
                <a:tc>
                  <a:txBody>
                    <a:bodyPr wrap="square"/>
                    <a:lstStyle/>
                    <a:p>
                      <a:pPr algn="l"/>
                      <a:r>
                        <a:rPr sz="1300" b="0">
                          <a:solidFill>
                            <a:srgbClr val="475569"/>
                          </a:solidFill>
                          <a:latin typeface="Calibri"/>
                        </a:rPr>
                        <a:t>Nhiệt độ &amp; độ ẩm không khí</a:t>
                      </a:r>
                    </a:p>
                  </a:txBody>
                  <a:tcPr marL="73152" marR="73152" marT="36576" marB="36576" anchor="ctr">
                    <a:solidFill>
                      <a:srgbClr val="FFFFFF"/>
                    </a:solidFill>
                  </a:tcPr>
                </a:tc>
                <a:tc>
                  <a:txBody>
                    <a:bodyPr wrap="square"/>
                    <a:lstStyle/>
                    <a:p>
                      <a:pPr algn="ctr"/>
                      <a:r>
                        <a:rPr sz="1300" b="0">
                          <a:solidFill>
                            <a:srgbClr val="10B981"/>
                          </a:solidFill>
                          <a:latin typeface="Calibri"/>
                        </a:rPr>
                        <a:t>GPIO15</a:t>
                      </a:r>
                    </a:p>
                  </a:txBody>
                  <a:tcPr marL="73152" marR="73152" marT="36576" marB="36576" anchor="ctr">
                    <a:solidFill>
                      <a:srgbClr val="FFFFFF"/>
                    </a:solidFill>
                  </a:tcPr>
                </a:tc>
              </a:tr>
              <a:tr h="757645">
                <a:tc>
                  <a:txBody>
                    <a:bodyPr wrap="square"/>
                    <a:lstStyle/>
                    <a:p>
                      <a:pPr algn="l"/>
                      <a:r>
                        <a:rPr sz="1300" b="0">
                          <a:solidFill>
                            <a:srgbClr val="1E293B"/>
                          </a:solidFill>
                          <a:latin typeface="Calibri"/>
                        </a:rPr>
                        <a:t>MQ-2</a:t>
                      </a:r>
                    </a:p>
                  </a:txBody>
                  <a:tcPr marL="73152" marR="73152" marT="36576" marB="36576" anchor="ctr">
                    <a:solidFill>
                      <a:srgbClr val="FFFFFF"/>
                    </a:solidFill>
                  </a:tcPr>
                </a:tc>
                <a:tc>
                  <a:txBody>
                    <a:bodyPr wrap="square"/>
                    <a:lstStyle/>
                    <a:p>
                      <a:pPr algn="l"/>
                      <a:r>
                        <a:rPr sz="1300" b="0">
                          <a:solidFill>
                            <a:srgbClr val="475569"/>
                          </a:solidFill>
                          <a:latin typeface="Calibri"/>
                        </a:rPr>
                        <a:t>Nồng độ khí gas/khói</a:t>
                      </a:r>
                    </a:p>
                  </a:txBody>
                  <a:tcPr marL="73152" marR="73152" marT="36576" marB="36576" anchor="ctr">
                    <a:solidFill>
                      <a:srgbClr val="FFFFFF"/>
                    </a:solidFill>
                  </a:tcPr>
                </a:tc>
                <a:tc>
                  <a:txBody>
                    <a:bodyPr wrap="square"/>
                    <a:lstStyle/>
                    <a:p>
                      <a:pPr algn="ctr"/>
                      <a:r>
                        <a:rPr sz="1300" b="0">
                          <a:solidFill>
                            <a:srgbClr val="F59E0B"/>
                          </a:solidFill>
                          <a:latin typeface="Calibri"/>
                        </a:rPr>
                        <a:t>GPIO11</a:t>
                      </a:r>
                    </a:p>
                  </a:txBody>
                  <a:tcPr marL="73152" marR="73152" marT="36576" marB="36576" anchor="ctr">
                    <a:solidFill>
                      <a:srgbClr val="FFFFFF"/>
                    </a:solidFill>
                  </a:tcPr>
                </a:tc>
              </a:tr>
              <a:tr h="757645">
                <a:tc>
                  <a:txBody>
                    <a:bodyPr wrap="square"/>
                    <a:lstStyle/>
                    <a:p>
                      <a:pPr algn="l"/>
                      <a:r>
                        <a:rPr sz="1300" b="0">
                          <a:solidFill>
                            <a:srgbClr val="1E293B"/>
                          </a:solidFill>
                          <a:latin typeface="Calibri"/>
                        </a:rPr>
                        <a:t>HC-SR04</a:t>
                      </a:r>
                    </a:p>
                  </a:txBody>
                  <a:tcPr marL="73152" marR="73152" marT="36576" marB="36576" anchor="ctr">
                    <a:solidFill>
                      <a:srgbClr val="FFFFFF"/>
                    </a:solidFill>
                  </a:tcPr>
                </a:tc>
                <a:tc>
                  <a:txBody>
                    <a:bodyPr wrap="square"/>
                    <a:lstStyle/>
                    <a:p>
                      <a:pPr algn="l"/>
                      <a:r>
                        <a:rPr sz="1300" b="0">
                          <a:solidFill>
                            <a:srgbClr val="475569"/>
                          </a:solidFill>
                          <a:latin typeface="Calibri"/>
                        </a:rPr>
                        <a:t>Mực nước (suy ra từ khoảng cách)</a:t>
                      </a:r>
                    </a:p>
                  </a:txBody>
                  <a:tcPr marL="73152" marR="73152" marT="36576" marB="36576" anchor="ctr">
                    <a:solidFill>
                      <a:srgbClr val="FFFFFF"/>
                    </a:solidFill>
                  </a:tcPr>
                </a:tc>
                <a:tc>
                  <a:txBody>
                    <a:bodyPr wrap="square"/>
                    <a:lstStyle/>
                    <a:p>
                      <a:pPr algn="ctr"/>
                      <a:r>
                        <a:rPr sz="1300" b="0">
                          <a:solidFill>
                            <a:srgbClr val="8B5CF6"/>
                          </a:solidFill>
                          <a:latin typeface="Calibri"/>
                        </a:rPr>
                        <a:t>TRIG: GPIO5 · ECHO: GPIO18</a:t>
                      </a:r>
                    </a:p>
                  </a:txBody>
                  <a:tcPr marL="73152" marR="73152" marT="36576" marB="36576" anchor="ctr">
                    <a:solidFill>
                      <a:srgbClr val="FFFFFF"/>
                    </a:solidFill>
                  </a:tcPr>
                </a:tc>
              </a:tr>
              <a:tr h="757645">
                <a:tc>
                  <a:txBody>
                    <a:bodyPr wrap="square"/>
                    <a:lstStyle/>
                    <a:p>
                      <a:pPr algn="l"/>
                      <a:r>
                        <a:rPr sz="1300" b="0">
                          <a:solidFill>
                            <a:srgbClr val="1E293B"/>
                          </a:solidFill>
                          <a:latin typeface="Calibri"/>
                        </a:rPr>
                        <a:t>LCD1602 (I2C)</a:t>
                      </a:r>
                    </a:p>
                  </a:txBody>
                  <a:tcPr marL="73152" marR="73152" marT="36576" marB="36576" anchor="ctr">
                    <a:solidFill>
                      <a:srgbClr val="FFFFFF"/>
                    </a:solidFill>
                  </a:tcPr>
                </a:tc>
                <a:tc>
                  <a:txBody>
                    <a:bodyPr wrap="square"/>
                    <a:lstStyle/>
                    <a:p>
                      <a:pPr algn="l"/>
                      <a:r>
                        <a:rPr sz="1300" b="0">
                          <a:solidFill>
                            <a:srgbClr val="475569"/>
                          </a:solidFill>
                          <a:latin typeface="Calibri"/>
                        </a:rPr>
                        <a:t>Hiển thị tổng hợp tại chỗ</a:t>
                      </a:r>
                    </a:p>
                  </a:txBody>
                  <a:tcPr marL="73152" marR="73152" marT="36576" marB="36576" anchor="ctr">
                    <a:solidFill>
                      <a:srgbClr val="FFFFFF"/>
                    </a:solidFill>
                  </a:tcPr>
                </a:tc>
                <a:tc>
                  <a:txBody>
                    <a:bodyPr wrap="square"/>
                    <a:lstStyle/>
                    <a:p>
                      <a:pPr algn="ctr"/>
                      <a:r>
                        <a:rPr sz="1300" b="0">
                          <a:solidFill>
                            <a:srgbClr val="06B6D4"/>
                          </a:solidFill>
                          <a:latin typeface="Calibri"/>
                        </a:rPr>
                        <a:t>SCL: GPIO9 · SDA: GPIO8</a:t>
                      </a:r>
                    </a:p>
                  </a:txBody>
                  <a:tcPr marL="73152" marR="73152" marT="36576" marB="36576" anchor="ctr">
                    <a:solidFill>
                      <a:srgbClr val="FFFFFF"/>
                    </a:solidFill>
                  </a:tcPr>
                </a:tc>
              </a:tr>
              <a:tr h="757650">
                <a:tc>
                  <a:txBody>
                    <a:bodyPr wrap="square"/>
                    <a:lstStyle/>
                    <a:p>
                      <a:pPr algn="l"/>
                      <a:r>
                        <a:rPr sz="1300" b="0">
                          <a:solidFill>
                            <a:srgbClr val="1E293B"/>
                          </a:solidFill>
                          <a:latin typeface="Calibri"/>
                        </a:rPr>
                        <a:t>Điện trở + LED</a:t>
                      </a:r>
                    </a:p>
                  </a:txBody>
                  <a:tcPr marL="73152" marR="73152" marT="36576" marB="36576" anchor="ctr">
                    <a:solidFill>
                      <a:srgbClr val="FFFFFF"/>
                    </a:solidFill>
                  </a:tcPr>
                </a:tc>
                <a:tc>
                  <a:txBody>
                    <a:bodyPr wrap="square"/>
                    <a:lstStyle/>
                    <a:p>
                      <a:pPr algn="l"/>
                      <a:r>
                        <a:rPr sz="1300" b="0">
                          <a:solidFill>
                            <a:srgbClr val="475569"/>
                          </a:solidFill>
                          <a:latin typeface="Calibri"/>
                        </a:rPr>
                        <a:t>Cảnh báo tổng hợp đa điều kiện</a:t>
                      </a:r>
                    </a:p>
                  </a:txBody>
                  <a:tcPr marL="73152" marR="73152" marT="36576" marB="36576" anchor="ctr">
                    <a:solidFill>
                      <a:srgbClr val="FFFFFF"/>
                    </a:solidFill>
                  </a:tcPr>
                </a:tc>
                <a:tc>
                  <a:txBody>
                    <a:bodyPr wrap="square"/>
                    <a:lstStyle/>
                    <a:p>
                      <a:pPr algn="ctr"/>
                      <a:r>
                        <a:rPr sz="1300" b="0">
                          <a:solidFill>
                            <a:srgbClr val="EC4899"/>
                          </a:solidFill>
                          <a:latin typeface="Calibri"/>
                        </a:rPr>
                        <a:t>GPIO16</a:t>
                      </a:r>
                    </a:p>
                  </a:txBody>
                  <a:tcPr marL="73152" marR="73152" marT="36576" marB="36576"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C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C4899"/>
                </a:solidFill>
                <a:latin typeface="Calibri"/>
              </a:rPr>
              <a:t>B6 · HÌNH ẢNH THIẾT BỊ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Nhận diện linh kiện phần cứng</a:t>
            </a:r>
          </a:p>
        </p:txBody>
      </p:sp>
      <p:sp>
        <p:nvSpPr>
          <p:cNvPr id="7" name="TextBox 6"/>
          <p:cNvSpPr txBox="1"/>
          <p:nvPr/>
        </p:nvSpPr>
        <p:spPr>
          <a:xfrm>
            <a:off x="502920" y="6236208"/>
            <a:ext cx="11185855" cy="237744"/>
          </a:xfrm>
          <a:prstGeom prst="rect">
            <a:avLst/>
          </a:prstGeom>
          <a:noFill/>
        </p:spPr>
        <p:txBody>
          <a:bodyPr wrap="square">
            <a:spAutoFit/>
          </a:bodyPr>
          <a:lstStyle/>
          <a:p>
            <a:pPr algn="r"/>
            <a:r>
              <a:rPr sz="800" b="0" i="1">
                <a:solidFill>
                  <a:srgbClr val="94A3B8"/>
                </a:solidFill>
                <a:latin typeface="Calibri"/>
              </a:rPr>
              <a:t>Nguồn ảnh: xem slide Nguồn tham khảo cuối bài B0</a:t>
            </a:r>
          </a:p>
        </p:txBody>
      </p:sp>
      <p:cxnSp>
        <p:nvCxnSpPr>
          <p:cNvPr id="8" name="Connector 7"/>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10" name="TextBox 9"/>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4</a:t>
            </a:r>
          </a:p>
        </p:txBody>
      </p:sp>
      <p:sp>
        <p:nvSpPr>
          <p:cNvPr id="11" name="Rounded Rectangle 10"/>
          <p:cNvSpPr/>
          <p:nvPr/>
        </p:nvSpPr>
        <p:spPr>
          <a:xfrm>
            <a:off x="548640" y="1417320"/>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sp32s3.jpg"/>
          <p:cNvPicPr>
            <a:picLocks noChangeAspect="1"/>
          </p:cNvPicPr>
          <p:nvPr/>
        </p:nvPicPr>
        <p:blipFill>
          <a:blip r:embed="rId2"/>
          <a:stretch>
            <a:fillRect/>
          </a:stretch>
        </p:blipFill>
        <p:spPr>
          <a:xfrm>
            <a:off x="872974" y="1508760"/>
            <a:ext cx="1925366" cy="1476755"/>
          </a:xfrm>
          <a:prstGeom prst="rect">
            <a:avLst/>
          </a:prstGeom>
        </p:spPr>
      </p:pic>
      <p:sp>
        <p:nvSpPr>
          <p:cNvPr id="13" name="Rectangle 12"/>
          <p:cNvSpPr/>
          <p:nvPr/>
        </p:nvSpPr>
        <p:spPr>
          <a:xfrm>
            <a:off x="548640" y="3076956"/>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113532"/>
            <a:ext cx="2391156" cy="256032"/>
          </a:xfrm>
          <a:prstGeom prst="rect">
            <a:avLst/>
          </a:prstGeom>
          <a:noFill/>
        </p:spPr>
        <p:txBody>
          <a:bodyPr wrap="square">
            <a:spAutoFit/>
          </a:bodyPr>
          <a:lstStyle/>
          <a:p>
            <a:pPr algn="ctr"/>
            <a:r>
              <a:rPr sz="1150" b="1" i="0">
                <a:solidFill>
                  <a:srgbClr val="1E293B"/>
                </a:solidFill>
                <a:latin typeface="Calibri"/>
              </a:rPr>
              <a:t>ESP32-S3-DevKitC-1</a:t>
            </a:r>
          </a:p>
        </p:txBody>
      </p:sp>
      <p:sp>
        <p:nvSpPr>
          <p:cNvPr id="15" name="TextBox 14"/>
          <p:cNvSpPr txBox="1"/>
          <p:nvPr/>
        </p:nvSpPr>
        <p:spPr>
          <a:xfrm>
            <a:off x="640080" y="3369563"/>
            <a:ext cx="2391156" cy="347471"/>
          </a:xfrm>
          <a:prstGeom prst="rect">
            <a:avLst/>
          </a:prstGeom>
          <a:noFill/>
        </p:spPr>
        <p:txBody>
          <a:bodyPr wrap="square">
            <a:spAutoFit/>
          </a:bodyPr>
          <a:lstStyle/>
          <a:p>
            <a:pPr algn="ctr"/>
            <a:r>
              <a:rPr sz="850" b="0" i="0">
                <a:solidFill>
                  <a:srgbClr val="475569"/>
                </a:solidFill>
                <a:latin typeface="Calibri"/>
              </a:rPr>
              <a:t>Vi điều khiển trung tâm (ảnh minh hoạ dòng ESP32 DevKit — board dùng trong bài là bản S3, 44 chân)</a:t>
            </a:r>
          </a:p>
        </p:txBody>
      </p:sp>
      <p:sp>
        <p:nvSpPr>
          <p:cNvPr id="16" name="Rounded Rectangle 15"/>
          <p:cNvSpPr/>
          <p:nvPr/>
        </p:nvSpPr>
        <p:spPr>
          <a:xfrm>
            <a:off x="3378708" y="1417320"/>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dht11.jpg"/>
          <p:cNvPicPr>
            <a:picLocks noChangeAspect="1"/>
          </p:cNvPicPr>
          <p:nvPr/>
        </p:nvPicPr>
        <p:blipFill>
          <a:blip r:embed="rId3"/>
          <a:stretch>
            <a:fillRect/>
          </a:stretch>
        </p:blipFill>
        <p:spPr>
          <a:xfrm>
            <a:off x="4111942" y="1508760"/>
            <a:ext cx="1107566" cy="1476755"/>
          </a:xfrm>
          <a:prstGeom prst="rect">
            <a:avLst/>
          </a:prstGeom>
        </p:spPr>
      </p:pic>
      <p:sp>
        <p:nvSpPr>
          <p:cNvPr id="18" name="Rectangle 17"/>
          <p:cNvSpPr/>
          <p:nvPr/>
        </p:nvSpPr>
        <p:spPr>
          <a:xfrm>
            <a:off x="3378708" y="3076956"/>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70148" y="3113532"/>
            <a:ext cx="2391156" cy="256032"/>
          </a:xfrm>
          <a:prstGeom prst="rect">
            <a:avLst/>
          </a:prstGeom>
          <a:noFill/>
        </p:spPr>
        <p:txBody>
          <a:bodyPr wrap="square">
            <a:spAutoFit/>
          </a:bodyPr>
          <a:lstStyle/>
          <a:p>
            <a:pPr algn="ctr"/>
            <a:r>
              <a:rPr sz="1150" b="1" i="0">
                <a:solidFill>
                  <a:srgbClr val="1E293B"/>
                </a:solidFill>
                <a:latin typeface="Calibri"/>
              </a:rPr>
              <a:t>DHT11</a:t>
            </a:r>
          </a:p>
        </p:txBody>
      </p:sp>
      <p:sp>
        <p:nvSpPr>
          <p:cNvPr id="20" name="TextBox 19"/>
          <p:cNvSpPr txBox="1"/>
          <p:nvPr/>
        </p:nvSpPr>
        <p:spPr>
          <a:xfrm>
            <a:off x="3470148" y="3369563"/>
            <a:ext cx="2391156" cy="347471"/>
          </a:xfrm>
          <a:prstGeom prst="rect">
            <a:avLst/>
          </a:prstGeom>
          <a:noFill/>
        </p:spPr>
        <p:txBody>
          <a:bodyPr wrap="square">
            <a:spAutoFit/>
          </a:bodyPr>
          <a:lstStyle/>
          <a:p>
            <a:pPr algn="ctr"/>
            <a:r>
              <a:rPr sz="850" b="0" i="0">
                <a:solidFill>
                  <a:srgbClr val="475569"/>
                </a:solidFill>
                <a:latin typeface="Calibri"/>
              </a:rPr>
              <a:t>Cảm biến nhiệt độ &amp; độ ẩm không khí</a:t>
            </a:r>
          </a:p>
        </p:txBody>
      </p:sp>
      <p:sp>
        <p:nvSpPr>
          <p:cNvPr id="21" name="Rounded Rectangle 20"/>
          <p:cNvSpPr/>
          <p:nvPr/>
        </p:nvSpPr>
        <p:spPr>
          <a:xfrm>
            <a:off x="6208775" y="1417320"/>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81927" y="1490472"/>
            <a:ext cx="2427732" cy="1513331"/>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MQ-2</a:t>
            </a:r>
          </a:p>
        </p:txBody>
      </p:sp>
      <p:sp>
        <p:nvSpPr>
          <p:cNvPr id="23" name="Rectangle 22"/>
          <p:cNvSpPr/>
          <p:nvPr/>
        </p:nvSpPr>
        <p:spPr>
          <a:xfrm>
            <a:off x="6208775" y="3076956"/>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0215" y="3113532"/>
            <a:ext cx="2391156" cy="256032"/>
          </a:xfrm>
          <a:prstGeom prst="rect">
            <a:avLst/>
          </a:prstGeom>
          <a:noFill/>
        </p:spPr>
        <p:txBody>
          <a:bodyPr wrap="square">
            <a:spAutoFit/>
          </a:bodyPr>
          <a:lstStyle/>
          <a:p>
            <a:pPr algn="ctr"/>
            <a:r>
              <a:rPr sz="1150" b="1" i="0">
                <a:solidFill>
                  <a:srgbClr val="1E293B"/>
                </a:solidFill>
                <a:latin typeface="Calibri"/>
              </a:rPr>
              <a:t>MQ-2</a:t>
            </a:r>
          </a:p>
        </p:txBody>
      </p:sp>
      <p:sp>
        <p:nvSpPr>
          <p:cNvPr id="25" name="TextBox 24"/>
          <p:cNvSpPr txBox="1"/>
          <p:nvPr/>
        </p:nvSpPr>
        <p:spPr>
          <a:xfrm>
            <a:off x="6300215" y="3369563"/>
            <a:ext cx="2391156" cy="347471"/>
          </a:xfrm>
          <a:prstGeom prst="rect">
            <a:avLst/>
          </a:prstGeom>
          <a:noFill/>
        </p:spPr>
        <p:txBody>
          <a:bodyPr wrap="square">
            <a:spAutoFit/>
          </a:bodyPr>
          <a:lstStyle/>
          <a:p>
            <a:pPr algn="ctr"/>
            <a:r>
              <a:rPr sz="850" b="0" i="0">
                <a:solidFill>
                  <a:srgbClr val="475569"/>
                </a:solidFill>
                <a:latin typeface="Calibri"/>
              </a:rPr>
              <a:t>Cảm biến khí gas / khói bán dẫn — lớp cảm biến SnO2</a:t>
            </a:r>
          </a:p>
        </p:txBody>
      </p:sp>
      <p:sp>
        <p:nvSpPr>
          <p:cNvPr id="26" name="Rounded Rectangle 25"/>
          <p:cNvSpPr/>
          <p:nvPr/>
        </p:nvSpPr>
        <p:spPr>
          <a:xfrm>
            <a:off x="9038844" y="1417320"/>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hcsr04.jpg"/>
          <p:cNvPicPr>
            <a:picLocks noChangeAspect="1"/>
          </p:cNvPicPr>
          <p:nvPr/>
        </p:nvPicPr>
        <p:blipFill>
          <a:blip r:embed="rId4"/>
          <a:stretch>
            <a:fillRect/>
          </a:stretch>
        </p:blipFill>
        <p:spPr>
          <a:xfrm>
            <a:off x="9336079" y="1508760"/>
            <a:ext cx="1979565" cy="1476755"/>
          </a:xfrm>
          <a:prstGeom prst="rect">
            <a:avLst/>
          </a:prstGeom>
        </p:spPr>
      </p:pic>
      <p:sp>
        <p:nvSpPr>
          <p:cNvPr id="28" name="Rectangle 27"/>
          <p:cNvSpPr/>
          <p:nvPr/>
        </p:nvSpPr>
        <p:spPr>
          <a:xfrm>
            <a:off x="9038844" y="3076956"/>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30284" y="3113532"/>
            <a:ext cx="2391156" cy="256032"/>
          </a:xfrm>
          <a:prstGeom prst="rect">
            <a:avLst/>
          </a:prstGeom>
          <a:noFill/>
        </p:spPr>
        <p:txBody>
          <a:bodyPr wrap="square">
            <a:spAutoFit/>
          </a:bodyPr>
          <a:lstStyle/>
          <a:p>
            <a:pPr algn="ctr"/>
            <a:r>
              <a:rPr sz="1150" b="1" i="0">
                <a:solidFill>
                  <a:srgbClr val="1E293B"/>
                </a:solidFill>
                <a:latin typeface="Calibri"/>
              </a:rPr>
              <a:t>HC-SR04</a:t>
            </a:r>
          </a:p>
        </p:txBody>
      </p:sp>
      <p:sp>
        <p:nvSpPr>
          <p:cNvPr id="30" name="TextBox 29"/>
          <p:cNvSpPr txBox="1"/>
          <p:nvPr/>
        </p:nvSpPr>
        <p:spPr>
          <a:xfrm>
            <a:off x="9130284" y="3369563"/>
            <a:ext cx="2391156" cy="347471"/>
          </a:xfrm>
          <a:prstGeom prst="rect">
            <a:avLst/>
          </a:prstGeom>
          <a:noFill/>
        </p:spPr>
        <p:txBody>
          <a:bodyPr wrap="square">
            <a:spAutoFit/>
          </a:bodyPr>
          <a:lstStyle/>
          <a:p>
            <a:pPr algn="ctr"/>
            <a:r>
              <a:rPr sz="850" b="0" i="0">
                <a:solidFill>
                  <a:srgbClr val="475569"/>
                </a:solidFill>
                <a:latin typeface="Calibri"/>
              </a:rPr>
              <a:t>Cảm biến khoảng cách bằng sóng siêu âm</a:t>
            </a:r>
          </a:p>
        </p:txBody>
      </p:sp>
      <p:sp>
        <p:nvSpPr>
          <p:cNvPr id="31" name="Rounded Rectangle 30"/>
          <p:cNvSpPr/>
          <p:nvPr/>
        </p:nvSpPr>
        <p:spPr>
          <a:xfrm>
            <a:off x="548640" y="3991355"/>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cd1602.jpg"/>
          <p:cNvPicPr>
            <a:picLocks noChangeAspect="1"/>
          </p:cNvPicPr>
          <p:nvPr/>
        </p:nvPicPr>
        <p:blipFill>
          <a:blip r:embed="rId5"/>
          <a:stretch>
            <a:fillRect/>
          </a:stretch>
        </p:blipFill>
        <p:spPr>
          <a:xfrm>
            <a:off x="726982" y="4082795"/>
            <a:ext cx="2217351" cy="1476755"/>
          </a:xfrm>
          <a:prstGeom prst="rect">
            <a:avLst/>
          </a:prstGeom>
        </p:spPr>
      </p:pic>
      <p:sp>
        <p:nvSpPr>
          <p:cNvPr id="33" name="Rectangle 32"/>
          <p:cNvSpPr/>
          <p:nvPr/>
        </p:nvSpPr>
        <p:spPr>
          <a:xfrm>
            <a:off x="548640" y="5650991"/>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687567"/>
            <a:ext cx="2391156" cy="256032"/>
          </a:xfrm>
          <a:prstGeom prst="rect">
            <a:avLst/>
          </a:prstGeom>
          <a:noFill/>
        </p:spPr>
        <p:txBody>
          <a:bodyPr wrap="square">
            <a:spAutoFit/>
          </a:bodyPr>
          <a:lstStyle/>
          <a:p>
            <a:pPr algn="ctr"/>
            <a:r>
              <a:rPr sz="1150" b="1" i="0">
                <a:solidFill>
                  <a:srgbClr val="1E293B"/>
                </a:solidFill>
                <a:latin typeface="Calibri"/>
              </a:rPr>
              <a:t>LCD1602 (I2C)</a:t>
            </a:r>
          </a:p>
        </p:txBody>
      </p:sp>
      <p:sp>
        <p:nvSpPr>
          <p:cNvPr id="35" name="TextBox 34"/>
          <p:cNvSpPr txBox="1"/>
          <p:nvPr/>
        </p:nvSpPr>
        <p:spPr>
          <a:xfrm>
            <a:off x="640080" y="5943599"/>
            <a:ext cx="2391156" cy="347471"/>
          </a:xfrm>
          <a:prstGeom prst="rect">
            <a:avLst/>
          </a:prstGeom>
          <a:noFill/>
        </p:spPr>
        <p:txBody>
          <a:bodyPr wrap="square">
            <a:spAutoFit/>
          </a:bodyPr>
          <a:lstStyle/>
          <a:p>
            <a:pPr algn="ctr"/>
            <a:r>
              <a:rPr sz="850" b="0" i="0">
                <a:solidFill>
                  <a:srgbClr val="475569"/>
                </a:solidFill>
                <a:latin typeface="Calibri"/>
              </a:rPr>
              <a:t>Màn hình hiển thị 16×2 ký tự</a:t>
            </a:r>
          </a:p>
        </p:txBody>
      </p:sp>
      <p:sp>
        <p:nvSpPr>
          <p:cNvPr id="36" name="Rounded Rectangle 35"/>
          <p:cNvSpPr/>
          <p:nvPr/>
        </p:nvSpPr>
        <p:spPr>
          <a:xfrm>
            <a:off x="3378708" y="3991355"/>
            <a:ext cx="2574036" cy="1659635"/>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led.jpg"/>
          <p:cNvPicPr>
            <a:picLocks noChangeAspect="1"/>
          </p:cNvPicPr>
          <p:nvPr/>
        </p:nvPicPr>
        <p:blipFill>
          <a:blip r:embed="rId6"/>
          <a:stretch>
            <a:fillRect/>
          </a:stretch>
        </p:blipFill>
        <p:spPr>
          <a:xfrm>
            <a:off x="4114896" y="4082795"/>
            <a:ext cx="1101659" cy="1476755"/>
          </a:xfrm>
          <a:prstGeom prst="rect">
            <a:avLst/>
          </a:prstGeom>
        </p:spPr>
      </p:pic>
      <p:sp>
        <p:nvSpPr>
          <p:cNvPr id="38" name="Rectangle 37"/>
          <p:cNvSpPr/>
          <p:nvPr/>
        </p:nvSpPr>
        <p:spPr>
          <a:xfrm>
            <a:off x="3378708" y="5650991"/>
            <a:ext cx="2574036"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70148" y="5687567"/>
            <a:ext cx="2391156" cy="256032"/>
          </a:xfrm>
          <a:prstGeom prst="rect">
            <a:avLst/>
          </a:prstGeom>
          <a:noFill/>
        </p:spPr>
        <p:txBody>
          <a:bodyPr wrap="square">
            <a:spAutoFit/>
          </a:bodyPr>
          <a:lstStyle/>
          <a:p>
            <a:pPr algn="ctr"/>
            <a:r>
              <a:rPr sz="1150" b="1" i="0">
                <a:solidFill>
                  <a:srgbClr val="1E293B"/>
                </a:solidFill>
                <a:latin typeface="Calibri"/>
              </a:rPr>
              <a:t>LED đơn sắc</a:t>
            </a:r>
          </a:p>
        </p:txBody>
      </p:sp>
      <p:sp>
        <p:nvSpPr>
          <p:cNvPr id="40" name="TextBox 39"/>
          <p:cNvSpPr txBox="1"/>
          <p:nvPr/>
        </p:nvSpPr>
        <p:spPr>
          <a:xfrm>
            <a:off x="3470148" y="5943599"/>
            <a:ext cx="2391156" cy="347471"/>
          </a:xfrm>
          <a:prstGeom prst="rect">
            <a:avLst/>
          </a:prstGeom>
          <a:noFill/>
        </p:spPr>
        <p:txBody>
          <a:bodyPr wrap="square">
            <a:spAutoFit/>
          </a:bodyPr>
          <a:lstStyle/>
          <a:p>
            <a:pPr algn="ctr"/>
            <a:r>
              <a:rPr sz="850" b="0" i="0">
                <a:solidFill>
                  <a:srgbClr val="475569"/>
                </a:solidFill>
                <a:latin typeface="Calibri"/>
              </a:rPr>
              <a:t>Đèn báo trạng thái / cảnh báo trực quan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B6 · KIẾN TRÚC HỆ THỐNG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khối tín hiệu</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5</a:t>
            </a:r>
          </a:p>
        </p:txBody>
      </p:sp>
      <p:sp>
        <p:nvSpPr>
          <p:cNvPr id="10" name="Rounded Rectangle 9"/>
          <p:cNvSpPr/>
          <p:nvPr/>
        </p:nvSpPr>
        <p:spPr>
          <a:xfrm>
            <a:off x="548640" y="2377440"/>
            <a:ext cx="2331720" cy="1371600"/>
          </a:xfrm>
          <a:prstGeom prst="roundRect">
            <a:avLst/>
          </a:prstGeom>
          <a:solidFill>
            <a:srgbClr val="FFFFFF"/>
          </a:solidFill>
          <a:ln w="285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DHT11+MQ-2+
HC-SR04 (Đa cảm biến)</a:t>
            </a:r>
          </a:p>
        </p:txBody>
      </p:sp>
      <p:sp>
        <p:nvSpPr>
          <p:cNvPr id="11" name="Rectangle 10"/>
          <p:cNvSpPr/>
          <p:nvPr/>
        </p:nvSpPr>
        <p:spPr>
          <a:xfrm>
            <a:off x="548640" y="2377440"/>
            <a:ext cx="2331720"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294985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9480" y="2377440"/>
            <a:ext cx="2331720" cy="1371600"/>
          </a:xfrm>
          <a:prstGeom prst="roundRect">
            <a:avLst/>
          </a:prstGeom>
          <a:solidFill>
            <a:srgbClr val="FFFFFF"/>
          </a:solid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ESP32-S3
(Tổng hợp + Đóng gói JSON)</a:t>
            </a:r>
          </a:p>
        </p:txBody>
      </p:sp>
      <p:sp>
        <p:nvSpPr>
          <p:cNvPr id="14" name="Rectangle 13"/>
          <p:cNvSpPr/>
          <p:nvPr/>
        </p:nvSpPr>
        <p:spPr>
          <a:xfrm>
            <a:off x="3459480" y="2377440"/>
            <a:ext cx="23317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86069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70319" y="2377440"/>
            <a:ext cx="2331720" cy="1371600"/>
          </a:xfrm>
          <a:prstGeom prst="roundRect">
            <a:avLst/>
          </a:prstGeom>
          <a:solidFill>
            <a:srgbClr val="FFFFFF"/>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Serial → Cloud
(Telemetry)</a:t>
            </a:r>
          </a:p>
        </p:txBody>
      </p:sp>
      <p:sp>
        <p:nvSpPr>
          <p:cNvPr id="17" name="Rectangle 16"/>
          <p:cNvSpPr/>
          <p:nvPr/>
        </p:nvSpPr>
        <p:spPr>
          <a:xfrm>
            <a:off x="6370319" y="2377440"/>
            <a:ext cx="233172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77153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81159" y="2377440"/>
            <a:ext cx="2331720" cy="1371600"/>
          </a:xfrm>
          <a:prstGeom prst="roundRect">
            <a:avLst/>
          </a:prstGeom>
          <a:solidFill>
            <a:srgbClr val="FFFFFF"/>
          </a:solidFill>
          <a:ln w="28575">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LCD + LED
(Hiển thị &amp; Cảnh báo)</a:t>
            </a:r>
          </a:p>
        </p:txBody>
      </p:sp>
      <p:sp>
        <p:nvSpPr>
          <p:cNvPr id="20" name="Rectangle 19"/>
          <p:cNvSpPr/>
          <p:nvPr/>
        </p:nvSpPr>
        <p:spPr>
          <a:xfrm>
            <a:off x="9281159" y="2377440"/>
            <a:ext cx="2331720" cy="10972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297680"/>
            <a:ext cx="11064240" cy="457200"/>
          </a:xfrm>
          <a:prstGeom prst="rect">
            <a:avLst/>
          </a:prstGeom>
          <a:noFill/>
        </p:spPr>
        <p:txBody>
          <a:bodyPr wrap="square">
            <a:spAutoFit/>
          </a:bodyPr>
          <a:lstStyle/>
          <a:p>
            <a:pPr algn="l"/>
            <a:r>
              <a:rPr sz="1350" b="0" i="1">
                <a:solidFill>
                  <a:srgbClr val="475569"/>
                </a:solidFill>
                <a:latin typeface="Calibri"/>
              </a:rPr>
              <a:t>Dữ liệu chảy theo một chiều: cảm biến sinh tín hiệu → vi điều khiển đọc &amp; xử lý → kết quả đưa ra thiết bị đầu ra.</a:t>
            </a:r>
          </a:p>
        </p:txBody>
      </p:sp>
      <p:sp>
        <p:nvSpPr>
          <p:cNvPr id="22" name="Rounded Rectangle 21"/>
          <p:cNvSpPr/>
          <p:nvPr/>
        </p:nvSpPr>
        <p:spPr>
          <a:xfrm>
            <a:off x="548640" y="4892040"/>
            <a:ext cx="11064240" cy="141732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29200"/>
            <a:ext cx="10607040" cy="1188720"/>
          </a:xfrm>
          <a:prstGeom prst="rect">
            <a:avLst/>
          </a:prstGeom>
          <a:noFill/>
        </p:spPr>
        <p:txBody>
          <a:bodyPr wrap="square">
            <a:spAutoFit/>
          </a:bodyPr>
          <a:lstStyle/>
          <a:p>
            <a:pPr algn="l">
              <a:lnSpc>
                <a:spcPct val="125000"/>
              </a:lnSpc>
            </a:pPr>
            <a:r>
              <a:rPr sz="1300" b="0" i="0">
                <a:solidFill>
                  <a:srgbClr val="475569"/>
                </a:solidFill>
                <a:latin typeface="Calibri"/>
              </a:rPr>
              <a:t>B6 là điểm hội tụ của toàn bộ chuỗi bài giảng: 3 loại cảm biến của B1/B2/B4 cùng hoạt động trong 1 hệ thống, dữ liệu vừa hiển thị tại chỗ (như B5) vừa được đóng gói theo chuẩn JSON để minh hoạ bước tiếp theo — gửi lên nền tảng Cloud IoT (ThingsBoard, Blynk, Firebase...) phục vụ giám sát và lưu trữ dài hạn.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06B6D4"/>
                </a:solidFill>
                <a:latin typeface="Calibri"/>
              </a:rPr>
              <a:t>B6 · ĐẤU NỐI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đấu dây chi tiết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6</a:t>
            </a:r>
          </a:p>
        </p:txBody>
      </p:sp>
      <p:sp>
        <p:nvSpPr>
          <p:cNvPr id="10" name="Rounded Rectangle 9"/>
          <p:cNvSpPr/>
          <p:nvPr/>
        </p:nvSpPr>
        <p:spPr>
          <a:xfrm>
            <a:off x="640080" y="1828800"/>
            <a:ext cx="2377440" cy="329184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ESP32-S3
DevKitC-1</a:t>
            </a:r>
          </a:p>
        </p:txBody>
      </p:sp>
      <p:sp>
        <p:nvSpPr>
          <p:cNvPr id="11" name="Rounded Rectangle 10"/>
          <p:cNvSpPr/>
          <p:nvPr/>
        </p:nvSpPr>
        <p:spPr>
          <a:xfrm>
            <a:off x="6080760" y="1600200"/>
            <a:ext cx="2514600" cy="566927"/>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DHT11</a:t>
            </a:r>
          </a:p>
        </p:txBody>
      </p:sp>
      <p:sp>
        <p:nvSpPr>
          <p:cNvPr id="12" name="Rounded Rectangle 11"/>
          <p:cNvSpPr/>
          <p:nvPr/>
        </p:nvSpPr>
        <p:spPr>
          <a:xfrm>
            <a:off x="6080760" y="2395728"/>
            <a:ext cx="2514600" cy="566927"/>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MQ-2</a:t>
            </a:r>
          </a:p>
        </p:txBody>
      </p:sp>
      <p:sp>
        <p:nvSpPr>
          <p:cNvPr id="13" name="Rounded Rectangle 12"/>
          <p:cNvSpPr/>
          <p:nvPr/>
        </p:nvSpPr>
        <p:spPr>
          <a:xfrm>
            <a:off x="6080760" y="3191256"/>
            <a:ext cx="2514600" cy="566927"/>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HC-SR04</a:t>
            </a:r>
          </a:p>
        </p:txBody>
      </p:sp>
      <p:sp>
        <p:nvSpPr>
          <p:cNvPr id="14" name="Rounded Rectangle 13"/>
          <p:cNvSpPr/>
          <p:nvPr/>
        </p:nvSpPr>
        <p:spPr>
          <a:xfrm>
            <a:off x="6080760" y="3986783"/>
            <a:ext cx="2514600" cy="566927"/>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LCD1602</a:t>
            </a:r>
          </a:p>
        </p:txBody>
      </p:sp>
      <p:sp>
        <p:nvSpPr>
          <p:cNvPr id="15" name="Rounded Rectangle 14"/>
          <p:cNvSpPr/>
          <p:nvPr/>
        </p:nvSpPr>
        <p:spPr>
          <a:xfrm>
            <a:off x="6080760" y="4782312"/>
            <a:ext cx="2514600" cy="566927"/>
          </a:xfrm>
          <a:prstGeom prst="roundRect">
            <a:avLst/>
          </a:prstGeom>
          <a:solidFill>
            <a:srgbClr val="FFFFFF"/>
          </a:solidFill>
          <a:ln w="25400">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Điện trở</a:t>
            </a:r>
          </a:p>
        </p:txBody>
      </p:sp>
      <p:cxnSp>
        <p:nvCxnSpPr>
          <p:cNvPr id="16" name="Connector 15"/>
          <p:cNvCxnSpPr/>
          <p:nvPr/>
        </p:nvCxnSpPr>
        <p:spPr>
          <a:xfrm flipV="1">
            <a:off x="3017520" y="1883664"/>
            <a:ext cx="3063240" cy="402336"/>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17520" y="1883664"/>
            <a:ext cx="3063240" cy="572153"/>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017520" y="1883664"/>
            <a:ext cx="3063240" cy="741970"/>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017520" y="2679192"/>
            <a:ext cx="3063240" cy="116259"/>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17520" y="2679192"/>
            <a:ext cx="3063240" cy="286076"/>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017520" y="2679192"/>
            <a:ext cx="3063240" cy="455893"/>
          </a:xfrm>
          <a:prstGeom prst="line">
            <a:avLst/>
          </a:prstGeom>
          <a:ln w="28575">
            <a:solidFill>
              <a:srgbClr val="06B6D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017520" y="3304902"/>
            <a:ext cx="3063240" cy="169818"/>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17520" y="3474720"/>
            <a:ext cx="3063240" cy="0"/>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017520" y="3474720"/>
            <a:ext cx="3063240" cy="169817"/>
          </a:xfrm>
          <a:prstGeom prst="line">
            <a:avLst/>
          </a:prstGeom>
          <a:ln w="28575">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017520" y="3474720"/>
            <a:ext cx="3063240" cy="339634"/>
          </a:xfrm>
          <a:prstGeom prst="line">
            <a:avLst/>
          </a:prstGeom>
          <a:ln w="28575">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017520" y="3984171"/>
            <a:ext cx="3063240" cy="286076"/>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017520" y="4153988"/>
            <a:ext cx="3063240" cy="116259"/>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017520" y="2286000"/>
            <a:ext cx="3063240" cy="1984247"/>
          </a:xfrm>
          <a:prstGeom prst="line">
            <a:avLst/>
          </a:prstGeom>
          <a:ln w="28575">
            <a:solidFill>
              <a:srgbClr val="14B8A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017520" y="2455817"/>
            <a:ext cx="3063240" cy="1814430"/>
          </a:xfrm>
          <a:prstGeom prst="line">
            <a:avLst/>
          </a:prstGeom>
          <a:ln w="28575">
            <a:solidFill>
              <a:srgbClr val="EC489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017520" y="2625634"/>
            <a:ext cx="3063240" cy="2440141"/>
          </a:xfrm>
          <a:prstGeom prst="line">
            <a:avLst/>
          </a:prstGeom>
          <a:ln w="28575">
            <a:solidFill>
              <a:srgbClr val="6366F1"/>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5303520"/>
            <a:ext cx="3657600" cy="274320"/>
          </a:xfrm>
          <a:prstGeom prst="rect">
            <a:avLst/>
          </a:prstGeom>
          <a:noFill/>
        </p:spPr>
        <p:txBody>
          <a:bodyPr wrap="square">
            <a:spAutoFit/>
          </a:bodyPr>
          <a:lstStyle/>
          <a:p>
            <a:pPr algn="l"/>
            <a:r>
              <a:rPr sz="1200" b="1" i="0">
                <a:solidFill>
                  <a:srgbClr val="1E293B"/>
                </a:solidFill>
                <a:latin typeface="Calibri"/>
              </a:rPr>
              <a:t>Bảng tín hiệu:</a:t>
            </a:r>
          </a:p>
        </p:txBody>
      </p:sp>
      <p:sp>
        <p:nvSpPr>
          <p:cNvPr id="32" name="Rectangle 31"/>
          <p:cNvSpPr/>
          <p:nvPr/>
        </p:nvSpPr>
        <p:spPr>
          <a:xfrm>
            <a:off x="640080" y="5669280"/>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586984"/>
            <a:ext cx="2423160" cy="256032"/>
          </a:xfrm>
          <a:prstGeom prst="rect">
            <a:avLst/>
          </a:prstGeom>
          <a:noFill/>
        </p:spPr>
        <p:txBody>
          <a:bodyPr wrap="square">
            <a:spAutoFit/>
          </a:bodyPr>
          <a:lstStyle/>
          <a:p>
            <a:pPr algn="l"/>
            <a:r>
              <a:rPr sz="900" b="0" i="0">
                <a:solidFill>
                  <a:srgbClr val="475569"/>
                </a:solidFill>
                <a:latin typeface="Calibri"/>
              </a:rPr>
              <a:t>ESP32-S3 · 5V → DHT11 · VCC  (Nguồn 5V)</a:t>
            </a:r>
          </a:p>
        </p:txBody>
      </p:sp>
      <p:sp>
        <p:nvSpPr>
          <p:cNvPr id="34" name="Rectangle 33"/>
          <p:cNvSpPr/>
          <p:nvPr/>
        </p:nvSpPr>
        <p:spPr>
          <a:xfrm>
            <a:off x="3383280" y="5669280"/>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0" y="5586984"/>
            <a:ext cx="2423160" cy="256032"/>
          </a:xfrm>
          <a:prstGeom prst="rect">
            <a:avLst/>
          </a:prstGeom>
          <a:noFill/>
        </p:spPr>
        <p:txBody>
          <a:bodyPr wrap="square">
            <a:spAutoFit/>
          </a:bodyPr>
          <a:lstStyle/>
          <a:p>
            <a:pPr algn="l"/>
            <a:r>
              <a:rPr sz="900" b="0" i="0">
                <a:solidFill>
                  <a:srgbClr val="475569"/>
                </a:solidFill>
                <a:latin typeface="Calibri"/>
              </a:rPr>
              <a:t>ESP32-S3 · GND2 → DHT11 · GND  (Nối đất)</a:t>
            </a:r>
          </a:p>
        </p:txBody>
      </p:sp>
      <p:sp>
        <p:nvSpPr>
          <p:cNvPr id="36" name="Rectangle 35"/>
          <p:cNvSpPr/>
          <p:nvPr/>
        </p:nvSpPr>
        <p:spPr>
          <a:xfrm>
            <a:off x="6126480" y="5669280"/>
            <a:ext cx="182880" cy="1188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0" y="5586984"/>
            <a:ext cx="2423160" cy="256032"/>
          </a:xfrm>
          <a:prstGeom prst="rect">
            <a:avLst/>
          </a:prstGeom>
          <a:noFill/>
        </p:spPr>
        <p:txBody>
          <a:bodyPr wrap="square">
            <a:spAutoFit/>
          </a:bodyPr>
          <a:lstStyle/>
          <a:p>
            <a:pPr algn="l"/>
            <a:r>
              <a:rPr sz="900" b="0" i="0">
                <a:solidFill>
                  <a:srgbClr val="475569"/>
                </a:solidFill>
                <a:latin typeface="Calibri"/>
              </a:rPr>
              <a:t>ESP32-S3 · GPIO15 → DHT11 · DATA  (Tín hiệu số)</a:t>
            </a:r>
          </a:p>
        </p:txBody>
      </p:sp>
      <p:sp>
        <p:nvSpPr>
          <p:cNvPr id="38" name="Rectangle 37"/>
          <p:cNvSpPr/>
          <p:nvPr/>
        </p:nvSpPr>
        <p:spPr>
          <a:xfrm>
            <a:off x="8869680" y="5669280"/>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0" y="5586984"/>
            <a:ext cx="2423160" cy="256032"/>
          </a:xfrm>
          <a:prstGeom prst="rect">
            <a:avLst/>
          </a:prstGeom>
          <a:noFill/>
        </p:spPr>
        <p:txBody>
          <a:bodyPr wrap="square">
            <a:spAutoFit/>
          </a:bodyPr>
          <a:lstStyle/>
          <a:p>
            <a:pPr algn="l"/>
            <a:r>
              <a:rPr sz="900" b="0" i="0">
                <a:solidFill>
                  <a:srgbClr val="475569"/>
                </a:solidFill>
                <a:latin typeface="Calibri"/>
              </a:rPr>
              <a:t>ESP32-S3 · 5V → MQ-2 · VCC  (Nguồn 5V)</a:t>
            </a:r>
          </a:p>
        </p:txBody>
      </p:sp>
      <p:sp>
        <p:nvSpPr>
          <p:cNvPr id="40" name="Rectangle 39"/>
          <p:cNvSpPr/>
          <p:nvPr/>
        </p:nvSpPr>
        <p:spPr>
          <a:xfrm>
            <a:off x="640080" y="5925312"/>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5843016"/>
            <a:ext cx="2423160" cy="256032"/>
          </a:xfrm>
          <a:prstGeom prst="rect">
            <a:avLst/>
          </a:prstGeom>
          <a:noFill/>
        </p:spPr>
        <p:txBody>
          <a:bodyPr wrap="square">
            <a:spAutoFit/>
          </a:bodyPr>
          <a:lstStyle/>
          <a:p>
            <a:pPr algn="l"/>
            <a:r>
              <a:rPr sz="900" b="0" i="0">
                <a:solidFill>
                  <a:srgbClr val="475569"/>
                </a:solidFill>
                <a:latin typeface="Calibri"/>
              </a:rPr>
              <a:t>ESP32-S3 · GND1 → MQ-2 · GND  (Nối đất)</a:t>
            </a:r>
          </a:p>
        </p:txBody>
      </p:sp>
      <p:sp>
        <p:nvSpPr>
          <p:cNvPr id="42" name="Rectangle 41"/>
          <p:cNvSpPr/>
          <p:nvPr/>
        </p:nvSpPr>
        <p:spPr>
          <a:xfrm>
            <a:off x="3383280" y="5925312"/>
            <a:ext cx="182880" cy="11887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0" y="5843016"/>
            <a:ext cx="2423160" cy="256032"/>
          </a:xfrm>
          <a:prstGeom prst="rect">
            <a:avLst/>
          </a:prstGeom>
          <a:noFill/>
        </p:spPr>
        <p:txBody>
          <a:bodyPr wrap="square">
            <a:spAutoFit/>
          </a:bodyPr>
          <a:lstStyle/>
          <a:p>
            <a:pPr algn="l"/>
            <a:r>
              <a:rPr sz="900" b="0" i="0">
                <a:solidFill>
                  <a:srgbClr val="475569"/>
                </a:solidFill>
                <a:latin typeface="Calibri"/>
              </a:rPr>
              <a:t>ESP32-S3 · GPIO11 → MQ-2 · AO  (Tín hiệu Analog)</a:t>
            </a:r>
          </a:p>
        </p:txBody>
      </p:sp>
      <p:sp>
        <p:nvSpPr>
          <p:cNvPr id="44" name="Rectangle 43"/>
          <p:cNvSpPr/>
          <p:nvPr/>
        </p:nvSpPr>
        <p:spPr>
          <a:xfrm>
            <a:off x="6126480" y="5925312"/>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5843016"/>
            <a:ext cx="2423160" cy="256032"/>
          </a:xfrm>
          <a:prstGeom prst="rect">
            <a:avLst/>
          </a:prstGeom>
          <a:noFill/>
        </p:spPr>
        <p:txBody>
          <a:bodyPr wrap="square">
            <a:spAutoFit/>
          </a:bodyPr>
          <a:lstStyle/>
          <a:p>
            <a:pPr algn="l"/>
            <a:r>
              <a:rPr sz="900" b="0" i="0">
                <a:solidFill>
                  <a:srgbClr val="475569"/>
                </a:solidFill>
                <a:latin typeface="Calibri"/>
              </a:rPr>
              <a:t>ESP32-S3 · 5V → HC-SR04 · VCC  (Nguồn 5V)</a:t>
            </a:r>
          </a:p>
        </p:txBody>
      </p:sp>
      <p:sp>
        <p:nvSpPr>
          <p:cNvPr id="46" name="Rectangle 45"/>
          <p:cNvSpPr/>
          <p:nvPr/>
        </p:nvSpPr>
        <p:spPr>
          <a:xfrm>
            <a:off x="8869680" y="5925312"/>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144000" y="5843016"/>
            <a:ext cx="2423160" cy="256032"/>
          </a:xfrm>
          <a:prstGeom prst="rect">
            <a:avLst/>
          </a:prstGeom>
          <a:noFill/>
        </p:spPr>
        <p:txBody>
          <a:bodyPr wrap="square">
            <a:spAutoFit/>
          </a:bodyPr>
          <a:lstStyle/>
          <a:p>
            <a:pPr algn="l"/>
            <a:r>
              <a:rPr sz="900" b="0" i="0">
                <a:solidFill>
                  <a:srgbClr val="475569"/>
                </a:solidFill>
                <a:latin typeface="Calibri"/>
              </a:rPr>
              <a:t>ESP32-S3 · GND1 → HC-SR04 · GND  (Nối đất)</a:t>
            </a:r>
          </a:p>
        </p:txBody>
      </p:sp>
      <p:sp>
        <p:nvSpPr>
          <p:cNvPr id="48" name="Rectangle 47"/>
          <p:cNvSpPr/>
          <p:nvPr/>
        </p:nvSpPr>
        <p:spPr>
          <a:xfrm>
            <a:off x="640080" y="6181344"/>
            <a:ext cx="182880" cy="11887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4400" y="6099048"/>
            <a:ext cx="2423160" cy="256032"/>
          </a:xfrm>
          <a:prstGeom prst="rect">
            <a:avLst/>
          </a:prstGeom>
          <a:noFill/>
        </p:spPr>
        <p:txBody>
          <a:bodyPr wrap="square">
            <a:spAutoFit/>
          </a:bodyPr>
          <a:lstStyle/>
          <a:p>
            <a:pPr algn="l"/>
            <a:r>
              <a:rPr sz="900" b="0" i="0">
                <a:solidFill>
                  <a:srgbClr val="475569"/>
                </a:solidFill>
                <a:latin typeface="Calibri"/>
              </a:rPr>
              <a:t>ESP32-S3 · GPIO5 → HC-SR04 · TRIG  (Xung kích phát)</a:t>
            </a:r>
          </a:p>
        </p:txBody>
      </p:sp>
      <p:sp>
        <p:nvSpPr>
          <p:cNvPr id="50" name="Rectangle 49"/>
          <p:cNvSpPr/>
          <p:nvPr/>
        </p:nvSpPr>
        <p:spPr>
          <a:xfrm>
            <a:off x="3383280" y="6181344"/>
            <a:ext cx="182880" cy="118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657600" y="6099048"/>
            <a:ext cx="2423160" cy="256032"/>
          </a:xfrm>
          <a:prstGeom prst="rect">
            <a:avLst/>
          </a:prstGeom>
          <a:noFill/>
        </p:spPr>
        <p:txBody>
          <a:bodyPr wrap="square">
            <a:spAutoFit/>
          </a:bodyPr>
          <a:lstStyle/>
          <a:p>
            <a:pPr algn="l"/>
            <a:r>
              <a:rPr sz="900" b="0" i="0">
                <a:solidFill>
                  <a:srgbClr val="475569"/>
                </a:solidFill>
                <a:latin typeface="Calibri"/>
              </a:rPr>
              <a:t>ESP32-S3 · GPIO18 → HC-SR04 · ECHO  (Xung phản hồi)</a:t>
            </a:r>
          </a:p>
        </p:txBody>
      </p:sp>
      <p:sp>
        <p:nvSpPr>
          <p:cNvPr id="52" name="Rectangle 51"/>
          <p:cNvSpPr/>
          <p:nvPr/>
        </p:nvSpPr>
        <p:spPr>
          <a:xfrm>
            <a:off x="6126480" y="6181344"/>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0" y="6099048"/>
            <a:ext cx="2423160" cy="256032"/>
          </a:xfrm>
          <a:prstGeom prst="rect">
            <a:avLst/>
          </a:prstGeom>
          <a:noFill/>
        </p:spPr>
        <p:txBody>
          <a:bodyPr wrap="square">
            <a:spAutoFit/>
          </a:bodyPr>
          <a:lstStyle/>
          <a:p>
            <a:pPr algn="l"/>
            <a:r>
              <a:rPr sz="900" b="0" i="0">
                <a:solidFill>
                  <a:srgbClr val="475569"/>
                </a:solidFill>
                <a:latin typeface="Calibri"/>
              </a:rPr>
              <a:t>ESP32-S3 · 5V → LCD1602 · VCC  (Nguồn 5V)</a:t>
            </a:r>
          </a:p>
        </p:txBody>
      </p:sp>
      <p:sp>
        <p:nvSpPr>
          <p:cNvPr id="54" name="Rectangle 53"/>
          <p:cNvSpPr/>
          <p:nvPr/>
        </p:nvSpPr>
        <p:spPr>
          <a:xfrm>
            <a:off x="8869680" y="6181344"/>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44000" y="6099048"/>
            <a:ext cx="2423160" cy="256032"/>
          </a:xfrm>
          <a:prstGeom prst="rect">
            <a:avLst/>
          </a:prstGeom>
          <a:noFill/>
        </p:spPr>
        <p:txBody>
          <a:bodyPr wrap="square">
            <a:spAutoFit/>
          </a:bodyPr>
          <a:lstStyle/>
          <a:p>
            <a:pPr algn="l"/>
            <a:r>
              <a:rPr sz="900" b="0" i="0">
                <a:solidFill>
                  <a:srgbClr val="475569"/>
                </a:solidFill>
                <a:latin typeface="Calibri"/>
              </a:rPr>
              <a:t>ESP32-S3 · GND1 → LCD1602 · GND  (Nối đất)</a:t>
            </a:r>
          </a:p>
        </p:txBody>
      </p:sp>
      <p:sp>
        <p:nvSpPr>
          <p:cNvPr id="56" name="Rectangle 55"/>
          <p:cNvSpPr/>
          <p:nvPr/>
        </p:nvSpPr>
        <p:spPr>
          <a:xfrm>
            <a:off x="640080" y="6437376"/>
            <a:ext cx="182880" cy="11887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4400" y="6355080"/>
            <a:ext cx="2423160" cy="256032"/>
          </a:xfrm>
          <a:prstGeom prst="rect">
            <a:avLst/>
          </a:prstGeom>
          <a:noFill/>
        </p:spPr>
        <p:txBody>
          <a:bodyPr wrap="square">
            <a:spAutoFit/>
          </a:bodyPr>
          <a:lstStyle/>
          <a:p>
            <a:pPr algn="l"/>
            <a:r>
              <a:rPr sz="900" b="0" i="0">
                <a:solidFill>
                  <a:srgbClr val="475569"/>
                </a:solidFill>
                <a:latin typeface="Calibri"/>
              </a:rPr>
              <a:t>ESP32-S3 · GPIO9 → LCD1602 · SCL  (I2C Clock)</a:t>
            </a:r>
          </a:p>
        </p:txBody>
      </p:sp>
      <p:sp>
        <p:nvSpPr>
          <p:cNvPr id="58" name="Rectangle 57"/>
          <p:cNvSpPr/>
          <p:nvPr/>
        </p:nvSpPr>
        <p:spPr>
          <a:xfrm>
            <a:off x="3383280" y="6437376"/>
            <a:ext cx="182880" cy="11887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657600" y="6355080"/>
            <a:ext cx="2423160" cy="256032"/>
          </a:xfrm>
          <a:prstGeom prst="rect">
            <a:avLst/>
          </a:prstGeom>
          <a:noFill/>
        </p:spPr>
        <p:txBody>
          <a:bodyPr wrap="square">
            <a:spAutoFit/>
          </a:bodyPr>
          <a:lstStyle/>
          <a:p>
            <a:pPr algn="l"/>
            <a:r>
              <a:rPr sz="900" b="0" i="0">
                <a:solidFill>
                  <a:srgbClr val="475569"/>
                </a:solidFill>
                <a:latin typeface="Calibri"/>
              </a:rPr>
              <a:t>ESP32-S3 · GPIO8 → LCD1602 · SDA  (I2C Data)</a:t>
            </a:r>
          </a:p>
        </p:txBody>
      </p:sp>
      <p:sp>
        <p:nvSpPr>
          <p:cNvPr id="60" name="Rectangle 59"/>
          <p:cNvSpPr/>
          <p:nvPr/>
        </p:nvSpPr>
        <p:spPr>
          <a:xfrm>
            <a:off x="6126480" y="6437376"/>
            <a:ext cx="182880" cy="11887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400800" y="6355080"/>
            <a:ext cx="2423160" cy="256032"/>
          </a:xfrm>
          <a:prstGeom prst="rect">
            <a:avLst/>
          </a:prstGeom>
          <a:noFill/>
        </p:spPr>
        <p:txBody>
          <a:bodyPr wrap="square">
            <a:spAutoFit/>
          </a:bodyPr>
          <a:lstStyle/>
          <a:p>
            <a:pPr algn="l"/>
            <a:r>
              <a:rPr sz="900" b="0" i="0">
                <a:solidFill>
                  <a:srgbClr val="475569"/>
                </a:solidFill>
                <a:latin typeface="Calibri"/>
              </a:rPr>
              <a:t>ESP32-S3 · GPIO16 → Điện trở · L  (Tín hiệu LED (qua trở hạn dòng))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B6 · THUẬT TOÁN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Lưu đồ xử lý trong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7</a:t>
            </a:r>
          </a:p>
        </p:txBody>
      </p:sp>
      <p:sp>
        <p:nvSpPr>
          <p:cNvPr id="10" name="Rounded Rectangle 9"/>
          <p:cNvSpPr/>
          <p:nvPr/>
        </p:nvSpPr>
        <p:spPr>
          <a:xfrm>
            <a:off x="1188720" y="1604772"/>
            <a:ext cx="2377440" cy="43891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FFFFF"/>
                </a:solidFill>
                <a:latin typeface="Calibri"/>
              </a:rPr>
              <a:t>setup(): Khởi tạo Serial/LCD/chân I-O</a:t>
            </a:r>
          </a:p>
        </p:txBody>
      </p:sp>
      <p:sp>
        <p:nvSpPr>
          <p:cNvPr id="11" name="Down Arrow 10"/>
          <p:cNvSpPr/>
          <p:nvPr/>
        </p:nvSpPr>
        <p:spPr>
          <a:xfrm>
            <a:off x="2286000" y="2061972"/>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88720" y="2189988"/>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Đọc DHT11 (nhiệt/ẩm), MQ-2 (gas) và HC-SR04 (mực nước)</a:t>
            </a:r>
          </a:p>
        </p:txBody>
      </p:sp>
      <p:sp>
        <p:nvSpPr>
          <p:cNvPr id="13" name="Down Arrow 12"/>
          <p:cNvSpPr/>
          <p:nvPr/>
        </p:nvSpPr>
        <p:spPr>
          <a:xfrm>
            <a:off x="2286000" y="2647188"/>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8720" y="2775204"/>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Lắp ráp &amp; gửi chuỗi JSON qua Serial (mô phỏng gửi Cloud MQTT/HTTP)</a:t>
            </a:r>
          </a:p>
        </p:txBody>
      </p:sp>
      <p:sp>
        <p:nvSpPr>
          <p:cNvPr id="15" name="Down Arrow 14"/>
          <p:cNvSpPr/>
          <p:nvPr/>
        </p:nvSpPr>
        <p:spPr>
          <a:xfrm>
            <a:off x="2286000" y="3232404"/>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88720" y="3360420"/>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Cập nhật LCD dòng 1 (T/H/Gas) và dòng 2 (mực nước)</a:t>
            </a:r>
          </a:p>
        </p:txBody>
      </p:sp>
      <p:sp>
        <p:nvSpPr>
          <p:cNvPr id="17" name="Down Arrow 16"/>
          <p:cNvSpPr/>
          <p:nvPr/>
        </p:nvSpPr>
        <p:spPr>
          <a:xfrm>
            <a:off x="2286000" y="3817620"/>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iamond 17"/>
          <p:cNvSpPr/>
          <p:nvPr/>
        </p:nvSpPr>
        <p:spPr>
          <a:xfrm>
            <a:off x="685800" y="3945636"/>
            <a:ext cx="3383280" cy="68580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FFFFFF"/>
                </a:solidFill>
                <a:latin typeface="Calibri"/>
              </a:rPr>
              <a:t>Gas &gt; 300 PPM  HOẶC  Mực nước &lt; 15cm ?</a:t>
            </a:r>
          </a:p>
        </p:txBody>
      </p:sp>
      <p:cxnSp>
        <p:nvCxnSpPr>
          <p:cNvPr id="19" name="Connector 18"/>
          <p:cNvCxnSpPr/>
          <p:nvPr/>
        </p:nvCxnSpPr>
        <p:spPr>
          <a:xfrm>
            <a:off x="685800" y="4288536"/>
            <a:ext cx="77724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463040" y="4288536"/>
            <a:ext cx="0" cy="61722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1" name="Down Arrow 20"/>
          <p:cNvSpPr/>
          <p:nvPr/>
        </p:nvSpPr>
        <p:spPr>
          <a:xfrm>
            <a:off x="1371600" y="4887468"/>
            <a:ext cx="182880" cy="164592"/>
          </a:xfrm>
          <a:prstGeom prst="down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977640"/>
            <a:ext cx="1645920" cy="237744"/>
          </a:xfrm>
          <a:prstGeom prst="rect">
            <a:avLst/>
          </a:prstGeom>
          <a:noFill/>
        </p:spPr>
        <p:txBody>
          <a:bodyPr wrap="square">
            <a:spAutoFit/>
          </a:bodyPr>
          <a:lstStyle/>
          <a:p>
            <a:pPr algn="ctr"/>
            <a:r>
              <a:rPr sz="950" b="1" i="0">
                <a:solidFill>
                  <a:srgbClr val="10B981"/>
                </a:solidFill>
                <a:latin typeface="Calibri"/>
              </a:rPr>
              <a:t>ĐÚNG</a:t>
            </a:r>
          </a:p>
        </p:txBody>
      </p:sp>
      <p:sp>
        <p:nvSpPr>
          <p:cNvPr id="23" name="Rounded Rectangle 22"/>
          <p:cNvSpPr/>
          <p:nvPr/>
        </p:nvSpPr>
        <p:spPr>
          <a:xfrm>
            <a:off x="457200" y="5088636"/>
            <a:ext cx="2011680" cy="566928"/>
          </a:xfrm>
          <a:prstGeom prst="roundRect">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EF4444"/>
                </a:solidFill>
                <a:latin typeface="Calibri"/>
              </a:rPr>
              <a:t>digitalWrite(LED_PIN, HIGH) — cảnh báo tổng hợp</a:t>
            </a:r>
          </a:p>
        </p:txBody>
      </p:sp>
      <p:cxnSp>
        <p:nvCxnSpPr>
          <p:cNvPr id="24" name="Connector 23"/>
          <p:cNvCxnSpPr/>
          <p:nvPr/>
        </p:nvCxnSpPr>
        <p:spPr>
          <a:xfrm flipH="1">
            <a:off x="3063240" y="4288536"/>
            <a:ext cx="100584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063240" y="4288536"/>
            <a:ext cx="0" cy="61722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26" name="Down Arrow 25"/>
          <p:cNvSpPr/>
          <p:nvPr/>
        </p:nvSpPr>
        <p:spPr>
          <a:xfrm>
            <a:off x="2971800" y="4887468"/>
            <a:ext cx="182880" cy="164592"/>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40280" y="3977640"/>
            <a:ext cx="1645920" cy="237744"/>
          </a:xfrm>
          <a:prstGeom prst="rect">
            <a:avLst/>
          </a:prstGeom>
          <a:noFill/>
        </p:spPr>
        <p:txBody>
          <a:bodyPr wrap="square">
            <a:spAutoFit/>
          </a:bodyPr>
          <a:lstStyle/>
          <a:p>
            <a:pPr algn="ctr"/>
            <a:r>
              <a:rPr sz="950" b="1" i="0">
                <a:solidFill>
                  <a:srgbClr val="475569"/>
                </a:solidFill>
                <a:latin typeface="Calibri"/>
              </a:rPr>
              <a:t>SAI</a:t>
            </a:r>
          </a:p>
        </p:txBody>
      </p:sp>
      <p:sp>
        <p:nvSpPr>
          <p:cNvPr id="28" name="Rounded Rectangle 27"/>
          <p:cNvSpPr/>
          <p:nvPr/>
        </p:nvSpPr>
        <p:spPr>
          <a:xfrm>
            <a:off x="2057400" y="5088636"/>
            <a:ext cx="2011680" cy="566928"/>
          </a:xfrm>
          <a:prstGeom prst="roundRect">
            <a:avLst/>
          </a:prstGeom>
          <a:solidFill>
            <a:srgbClr val="DCFCE7"/>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10B981"/>
                </a:solidFill>
                <a:latin typeface="Calibri"/>
              </a:rPr>
              <a:t>digitalWrite(LED_PIN, LOW) — hệ thống an toàn</a:t>
            </a:r>
          </a:p>
        </p:txBody>
      </p:sp>
      <p:cxnSp>
        <p:nvCxnSpPr>
          <p:cNvPr id="29" name="Connector 28"/>
          <p:cNvCxnSpPr/>
          <p:nvPr/>
        </p:nvCxnSpPr>
        <p:spPr>
          <a:xfrm>
            <a:off x="1463040" y="5655564"/>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063240" y="5655564"/>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63040" y="5856732"/>
            <a:ext cx="160020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2" name="Down Arrow 31"/>
          <p:cNvSpPr/>
          <p:nvPr/>
        </p:nvSpPr>
        <p:spPr>
          <a:xfrm>
            <a:off x="2286000" y="5856732"/>
            <a:ext cx="182880" cy="182880"/>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188720" y="6057900"/>
            <a:ext cx="2377440" cy="38404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FFFFFF"/>
                </a:solidFill>
                <a:latin typeface="Calibri"/>
              </a:rPr>
              <a:t>delay(600ms) → quay lại loop()</a:t>
            </a:r>
          </a:p>
        </p:txBody>
      </p:sp>
      <p:sp>
        <p:nvSpPr>
          <p:cNvPr id="34" name="TextBox 33"/>
          <p:cNvSpPr txBox="1"/>
          <p:nvPr/>
        </p:nvSpPr>
        <p:spPr>
          <a:xfrm>
            <a:off x="6309360" y="1463040"/>
            <a:ext cx="5303520" cy="4937760"/>
          </a:xfrm>
          <a:prstGeom prst="rect">
            <a:avLst/>
          </a:prstGeom>
          <a:noFill/>
        </p:spPr>
        <p:txBody>
          <a:bodyPr wrap="square">
            <a:spAutoFit/>
          </a:bodyPr>
          <a:lstStyle/>
          <a:p>
            <a:pPr algn="l">
              <a:lnSpc>
                <a:spcPct val="130000"/>
              </a:lnSpc>
            </a:pPr>
            <a:r>
              <a:rPr sz="1350" b="0" i="0">
                <a:solidFill>
                  <a:srgbClr val="475569"/>
                </a:solidFill>
                <a:latin typeface="Calibri"/>
              </a:rPr>
              <a:t>Điểm mới quan trọng nhất của B6: điều kiện rẽ nhánh dùng toán tử LOGIC OR (||) kết hợp 2 cảm biến ĐỘC LẬP — LED sẽ bật nếu BẤT KỲ điều kiện nào đúng, bất kể điều kiện còn lại thế nào. Đây là kỹ năng thiết yếu khi hệ thống thật luôn cần theo dõi nhiều nguy cơ cùng lúc chứ không chỉ 1 cảm biến đơn lẻ như các bài trước.
Khối gửi JSON độc lập với khối LCD/LED — dữ liệu luôn được "gửi Cloud" ở mọi vòng lặp bất kể có cảnh báo hay không, đúng nguyên tắc telemetry liên tục (continuous monitoring) chứ không chỉ gửi khi có sự cố.</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B6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setup()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8</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setup() {</a:t>
            </a:r>
          </a:p>
          <a:p>
            <a:pPr>
              <a:spcAft>
                <a:spcPts val="100"/>
              </a:spcAft>
            </a:pPr>
            <a:r>
              <a:rPr sz="1250">
                <a:solidFill>
                  <a:srgbClr val="7DE6A8"/>
                </a:solidFill>
                <a:latin typeface="Consolas"/>
              </a:rPr>
              <a:t>  Serial.begin(115200);</a:t>
            </a:r>
          </a:p>
          <a:p>
            <a:pPr>
              <a:spcAft>
                <a:spcPts val="100"/>
              </a:spcAft>
            </a:pPr>
            <a:r>
              <a:rPr sz="1250">
                <a:solidFill>
                  <a:srgbClr val="7DE6A8"/>
                </a:solidFill>
                <a:latin typeface="Consolas"/>
              </a:rPr>
              <a:t>  pinMode(TRIG_PIN, OUTPUT);</a:t>
            </a:r>
          </a:p>
          <a:p>
            <a:pPr>
              <a:spcAft>
                <a:spcPts val="100"/>
              </a:spcAft>
            </a:pPr>
            <a:r>
              <a:rPr sz="1250">
                <a:solidFill>
                  <a:srgbClr val="7DE6A8"/>
                </a:solidFill>
                <a:latin typeface="Consolas"/>
              </a:rPr>
              <a:t>  pinMode(ECHO_PIN, INPUT);</a:t>
            </a:r>
          </a:p>
          <a:p>
            <a:pPr>
              <a:spcAft>
                <a:spcPts val="100"/>
              </a:spcAft>
            </a:pPr>
            <a:r>
              <a:rPr sz="1250">
                <a:solidFill>
                  <a:srgbClr val="7DE6A8"/>
                </a:solidFill>
                <a:latin typeface="Consolas"/>
              </a:rPr>
              <a:t>  pinMode(LED_PIN, OUTPUT);</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lcd.begin(16, 2);</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lcd.print("IOT ENV STATION");</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lcd.print("SYSTEM ONLINE");</a:t>
            </a:r>
          </a:p>
          <a:p>
            <a:pPr>
              <a:spcAft>
                <a:spcPts val="100"/>
              </a:spcAft>
            </a:pPr>
            <a:r>
              <a:rPr sz="1250">
                <a:solidFill>
                  <a:srgbClr val="7DE6A8"/>
                </a:solidFill>
                <a:latin typeface="Consolas"/>
              </a:rPr>
              <a:t>  delay(1500);</a:t>
            </a:r>
          </a:p>
          <a:p>
            <a:pPr>
              <a:spcAft>
                <a:spcPts val="100"/>
              </a:spcAft>
            </a:pPr>
            <a:r>
              <a:rPr sz="1250">
                <a:solidFill>
                  <a:srgbClr val="7DE6A8"/>
                </a:solidFill>
                <a:latin typeface="Consolas"/>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B6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9</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loop() {</a:t>
            </a:r>
          </a:p>
          <a:p>
            <a:pPr>
              <a:spcAft>
                <a:spcPts val="100"/>
              </a:spcAft>
            </a:pPr>
            <a:r>
              <a:rPr sz="1250">
                <a:solidFill>
                  <a:srgbClr val="7DE6A8"/>
                </a:solidFill>
                <a:latin typeface="Consolas"/>
              </a:rPr>
              <a:t>  int temp = analogRead(DHT_PIN);</a:t>
            </a:r>
          </a:p>
          <a:p>
            <a:pPr>
              <a:spcAft>
                <a:spcPts val="100"/>
              </a:spcAft>
            </a:pPr>
            <a:r>
              <a:rPr sz="1250">
                <a:solidFill>
                  <a:srgbClr val="7DE6A8"/>
                </a:solidFill>
                <a:latin typeface="Consolas"/>
              </a:rPr>
              <a:t>  int humi = dhtReadHumidity(DHT_PIN);</a:t>
            </a:r>
          </a:p>
          <a:p>
            <a:pPr>
              <a:spcAft>
                <a:spcPts val="100"/>
              </a:spcAft>
            </a:pPr>
            <a:r>
              <a:rPr sz="1250">
                <a:solidFill>
                  <a:srgbClr val="7DE6A8"/>
                </a:solidFill>
                <a:latin typeface="Consolas"/>
              </a:rPr>
              <a:t>  int gasPpm = analogRead(GAS_PIN);</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digitalWrite(TRIG_PIN, LOW);</a:t>
            </a:r>
          </a:p>
          <a:p>
            <a:pPr>
              <a:spcAft>
                <a:spcPts val="100"/>
              </a:spcAft>
            </a:pPr>
            <a:r>
              <a:rPr sz="1250">
                <a:solidFill>
                  <a:srgbClr val="7DE6A8"/>
                </a:solidFill>
                <a:latin typeface="Consolas"/>
              </a:rPr>
              <a:t>  delayMicroseconds(2);</a:t>
            </a:r>
          </a:p>
          <a:p>
            <a:pPr>
              <a:spcAft>
                <a:spcPts val="100"/>
              </a:spcAft>
            </a:pPr>
            <a:r>
              <a:rPr sz="1250">
                <a:solidFill>
                  <a:srgbClr val="7DE6A8"/>
                </a:solidFill>
                <a:latin typeface="Consolas"/>
              </a:rPr>
              <a:t>  digitalWrite(TRIG_PIN, HIGH);</a:t>
            </a:r>
          </a:p>
          <a:p>
            <a:pPr>
              <a:spcAft>
                <a:spcPts val="100"/>
              </a:spcAft>
            </a:pPr>
            <a:r>
              <a:rPr sz="1250">
                <a:solidFill>
                  <a:srgbClr val="7DE6A8"/>
                </a:solidFill>
                <a:latin typeface="Consolas"/>
              </a:rPr>
              <a:t>  delayMicroseconds(10);</a:t>
            </a:r>
          </a:p>
          <a:p>
            <a:pPr>
              <a:spcAft>
                <a:spcPts val="100"/>
              </a:spcAft>
            </a:pPr>
            <a:r>
              <a:rPr sz="1250">
                <a:solidFill>
                  <a:srgbClr val="7DE6A8"/>
                </a:solidFill>
                <a:latin typeface="Consolas"/>
              </a:rPr>
              <a:t>  digitalWrite(TRIG_PIN, LOW);</a:t>
            </a:r>
          </a:p>
          <a:p>
            <a:pPr>
              <a:spcAft>
                <a:spcPts val="100"/>
              </a:spcAft>
            </a:pPr>
            <a:r>
              <a:rPr sz="1250">
                <a:solidFill>
                  <a:srgbClr val="7DE6A8"/>
                </a:solidFill>
                <a:latin typeface="Consolas"/>
              </a:rPr>
              <a:t>  long duration = pulseIn(ECHO_PIN, HIGH);</a:t>
            </a:r>
          </a:p>
          <a:p>
            <a:pPr>
              <a:spcAft>
                <a:spcPts val="100"/>
              </a:spcAft>
            </a:pPr>
            <a:r>
              <a:rPr sz="1250">
                <a:solidFill>
                  <a:srgbClr val="7DE6A8"/>
                </a:solidFill>
                <a:latin typeface="Consolas"/>
              </a:rPr>
              <a:t>  int waterLevel = duration * 0.034 / 2;</a:t>
            </a:r>
          </a:p>
          <a:p>
            <a:pPr>
              <a:spcAft>
                <a:spcPts val="100"/>
              </a:spcAft>
            </a:pPr>
            <a:r>
              <a:rPr sz="1250">
                <a:solidFill>
                  <a:srgbClr val="7DE6A8"/>
                </a:solidFill>
                <a:latin typeface="Consolas"/>
              </a:rPr>
              <a:t> </a:t>
            </a:r>
          </a:p>
          <a:p>
            <a:pPr>
              <a:spcAft>
                <a:spcPts val="100"/>
              </a:spcAft>
            </a:pPr>
            <a:r>
              <a:rPr sz="1250">
                <a:solidFill>
                  <a:srgbClr val="64748B"/>
                </a:solidFill>
                <a:latin typeface="Consolas"/>
              </a:rPr>
              <a:t>  // Gui chuoi telemetry JSON qua Cloud MQTT/HTTP</a:t>
            </a:r>
          </a:p>
          <a:p>
            <a:pPr>
              <a:spcAft>
                <a:spcPts val="100"/>
              </a:spcAft>
            </a:pPr>
            <a:r>
              <a:rPr sz="1250">
                <a:solidFill>
                  <a:srgbClr val="7DE6A8"/>
                </a:solidFill>
                <a:latin typeface="Consolas"/>
              </a:rPr>
              <a:t>  Serial.print("{\"station\":\"KMT_LAB_01\", \"temp\":");</a:t>
            </a:r>
          </a:p>
          <a:p>
            <a:pPr>
              <a:spcAft>
                <a:spcPts val="100"/>
              </a:spcAft>
            </a:pPr>
            <a:r>
              <a:rPr sz="1250">
                <a:solidFill>
                  <a:srgbClr val="7DE6A8"/>
                </a:solidFill>
                <a:latin typeface="Consolas"/>
              </a:rPr>
              <a:t>  Serial.print(temp);</a:t>
            </a:r>
          </a:p>
          <a:p>
            <a:pPr>
              <a:spcAft>
                <a:spcPts val="100"/>
              </a:spcAft>
            </a:pPr>
            <a:r>
              <a:rPr sz="1250">
                <a:solidFill>
                  <a:srgbClr val="7DE6A8"/>
                </a:solidFill>
                <a:latin typeface="Consolas"/>
              </a:rPr>
              <a:t>  Serial.print(", \"humi\":");</a:t>
            </a:r>
          </a:p>
          <a:p>
            <a:pPr>
              <a:spcAft>
                <a:spcPts val="100"/>
              </a:spcAft>
            </a:pPr>
            <a:r>
              <a:rPr sz="1250">
                <a:solidFill>
                  <a:srgbClr val="7DE6A8"/>
                </a:solidFill>
                <a:latin typeface="Consolas"/>
              </a:rPr>
              <a:t>  Serial.print(humi);</a:t>
            </a:r>
          </a:p>
          <a:p>
            <a:pPr>
              <a:spcAft>
                <a:spcPts val="100"/>
              </a:spcAft>
            </a:pPr>
            <a:r>
              <a:rPr sz="1250">
                <a:solidFill>
                  <a:srgbClr val="7DE6A8"/>
                </a:solidFill>
                <a:latin typeface="Consolas"/>
              </a:rPr>
              <a:t>  Serial.print(", \"gas\":");</a:t>
            </a:r>
          </a:p>
          <a:p>
            <a:pPr>
              <a:spcAft>
                <a:spcPts val="100"/>
              </a:spcAft>
            </a:pPr>
            <a:r>
              <a:rPr sz="1250">
                <a:solidFill>
                  <a:srgbClr val="7DE6A8"/>
                </a:solidFill>
                <a:latin typeface="Consolas"/>
              </a:rPr>
              <a:t>  Serial.print(gasPpm);</a:t>
            </a:r>
          </a:p>
          <a:p>
            <a:pPr>
              <a:spcAft>
                <a:spcPts val="100"/>
              </a:spcAft>
            </a:pPr>
            <a:r>
              <a:rPr sz="1250">
                <a:solidFill>
                  <a:srgbClr val="7DE6A8"/>
                </a:solidFill>
                <a:latin typeface="Consolas"/>
              </a:rPr>
              <a:t>  Serial.print(", \"water\":");</a:t>
            </a:r>
          </a:p>
          <a:p>
            <a:pPr>
              <a:spcAft>
                <a:spcPts val="100"/>
              </a:spcAft>
            </a:pPr>
            <a:r>
              <a:rPr sz="1250">
                <a:solidFill>
                  <a:srgbClr val="7DE6A8"/>
                </a:solidFill>
                <a:latin typeface="Consolas"/>
              </a:rPr>
              <a:t>  Serial.print(waterLevel);</a:t>
            </a:r>
          </a:p>
          <a:p>
            <a:pPr>
              <a:spcAft>
                <a:spcPts val="100"/>
              </a:spcAft>
            </a:pPr>
            <a:r>
              <a:rPr sz="1250">
                <a:solidFill>
                  <a:srgbClr val="7DE6A8"/>
                </a:solidFill>
                <a:latin typeface="Consolas"/>
              </a:rPr>
              <a:t>  Serial.println("}");</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lcd.print("T:");</a:t>
            </a:r>
          </a:p>
          <a:p>
            <a:pPr>
              <a:spcAft>
                <a:spcPts val="100"/>
              </a:spcAft>
            </a:pPr>
            <a:r>
              <a:rPr sz="1250">
                <a:solidFill>
                  <a:srgbClr val="7DE6A8"/>
                </a:solidFill>
                <a:latin typeface="Consolas"/>
              </a:rPr>
              <a:t>  lcd.print(temp);</a:t>
            </a:r>
          </a:p>
          <a:p>
            <a:pPr>
              <a:spcAft>
                <a:spcPts val="100"/>
              </a:spcAft>
            </a:pPr>
            <a:r>
              <a:rPr sz="1250">
                <a:solidFill>
                  <a:srgbClr val="7DE6A8"/>
                </a:solidFill>
                <a:latin typeface="Consolas"/>
              </a:rPr>
              <a:t>  lcd.print("C H:");</a:t>
            </a:r>
          </a:p>
          <a:p>
            <a:pPr>
              <a:spcAft>
                <a:spcPts val="100"/>
              </a:spcAft>
            </a:pPr>
            <a:r>
              <a:rPr sz="1250">
                <a:solidFill>
                  <a:srgbClr val="7DE6A8"/>
                </a:solidFill>
                <a:latin typeface="Consolas"/>
              </a:rPr>
              <a:t>  lcd.print(humi);</a:t>
            </a:r>
          </a:p>
          <a:p>
            <a:pPr>
              <a:spcAft>
                <a:spcPts val="100"/>
              </a:spcAft>
            </a:pPr>
            <a:r>
              <a:rPr sz="1250">
                <a:solidFill>
                  <a:srgbClr val="7DE6A8"/>
                </a:solidFill>
                <a:latin typeface="Consolas"/>
              </a:rPr>
              <a:t>  lcd.print("% G:");</a:t>
            </a:r>
          </a:p>
          <a:p>
            <a:pPr>
              <a:spcAft>
                <a:spcPts val="100"/>
              </a:spcAft>
            </a:pPr>
            <a:r>
              <a:rPr sz="1250">
                <a:solidFill>
                  <a:srgbClr val="7DE6A8"/>
                </a:solidFill>
                <a:latin typeface="Consolas"/>
              </a:rPr>
              <a:t>  lcd.print(gasPpm);</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lcd.print("Water: ");</a:t>
            </a:r>
          </a:p>
          <a:p>
            <a:pPr>
              <a:spcAft>
                <a:spcPts val="100"/>
              </a:spcAft>
            </a:pPr>
            <a:r>
              <a:rPr sz="1250">
                <a:solidFill>
                  <a:srgbClr val="7DE6A8"/>
                </a:solidFill>
                <a:latin typeface="Consolas"/>
              </a:rPr>
              <a:t>  lcd.print(waterLevel);</a:t>
            </a:r>
          </a:p>
          <a:p>
            <a:pPr>
              <a:spcAft>
                <a:spcPts val="100"/>
              </a:spcAft>
            </a:pPr>
            <a:r>
              <a:rPr sz="1250">
                <a:solidFill>
                  <a:srgbClr val="7DE6A8"/>
                </a:solidFill>
                <a:latin typeface="Consolas"/>
              </a:rPr>
              <a:t>  lcd.print("cm OK  ");</a:t>
            </a:r>
          </a:p>
          <a:p>
            <a:pPr>
              <a:spcAft>
                <a:spcPts val="100"/>
              </a:spcAft>
            </a:pPr>
            <a:r>
              <a:rPr sz="1250">
                <a:solidFill>
                  <a:srgbClr val="7DE6A8"/>
                </a:solidFill>
                <a:latin typeface="Consolas"/>
              </a:rPr>
              <a:t> </a:t>
            </a:r>
          </a:p>
          <a:p>
            <a:pPr>
              <a:spcAft>
                <a:spcPts val="100"/>
              </a:spcAft>
            </a:pPr>
            <a:r>
              <a:rPr sz="1250">
                <a:solidFill>
                  <a:srgbClr val="64748B"/>
                </a:solidFill>
                <a:latin typeface="Consolas"/>
              </a:rPr>
              <a:t>  // Den LED canh bao - bat khi khi gas cao HOAC muc nuoc dang ngap</a:t>
            </a:r>
          </a:p>
          <a:p>
            <a:pPr>
              <a:spcAft>
                <a:spcPts val="100"/>
              </a:spcAft>
            </a:pPr>
            <a:r>
              <a:rPr sz="1250">
                <a:solidFill>
                  <a:srgbClr val="7DE6A8"/>
                </a:solidFill>
                <a:latin typeface="Consolas"/>
              </a:rPr>
              <a:t>  if (gasPpm &gt; 300 || waterLevel &lt; 15) {</a:t>
            </a:r>
          </a:p>
          <a:p>
            <a:pPr>
              <a:spcAft>
                <a:spcPts val="100"/>
              </a:spcAft>
            </a:pPr>
            <a:r>
              <a:rPr sz="1250">
                <a:solidFill>
                  <a:srgbClr val="7DE6A8"/>
                </a:solidFill>
                <a:latin typeface="Consolas"/>
              </a:rPr>
              <a:t>    digitalWrite(LED_PIN, HIGH);</a:t>
            </a:r>
          </a:p>
          <a:p>
            <a:pPr>
              <a:spcAft>
                <a:spcPts val="100"/>
              </a:spcAft>
            </a:pPr>
            <a:r>
              <a:rPr sz="1250">
                <a:solidFill>
                  <a:srgbClr val="7DE6A8"/>
                </a:solidFill>
                <a:latin typeface="Consolas"/>
              </a:rPr>
              <a:t>  } else {</a:t>
            </a:r>
          </a:p>
          <a:p>
            <a:pPr>
              <a:spcAft>
                <a:spcPts val="100"/>
              </a:spcAft>
            </a:pPr>
            <a:r>
              <a:rPr sz="1250">
                <a:solidFill>
                  <a:srgbClr val="7DE6A8"/>
                </a:solidFill>
                <a:latin typeface="Consolas"/>
              </a:rPr>
              <a:t>    digitalWrite(LED_PIN, LOW);</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delay(600);</a:t>
            </a:r>
          </a:p>
          <a:p>
            <a:pPr>
              <a:spcAft>
                <a:spcPts val="100"/>
              </a:spcAft>
            </a:pPr>
            <a:r>
              <a:rPr sz="1250">
                <a:solidFill>
                  <a:srgbClr val="7DE6A8"/>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B6 · LOGIC RA QUYẾT ĐỊNH</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Bảng ngưỡng &amp; hành động điều khiển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10</a:t>
            </a:r>
          </a:p>
        </p:txBody>
      </p:sp>
      <p:graphicFrame>
        <p:nvGraphicFramePr>
          <p:cNvPr id="10" name="Table 9"/>
          <p:cNvGraphicFramePr>
            <a:graphicFrameLocks noGrp="1"/>
          </p:cNvGraphicFramePr>
          <p:nvPr/>
        </p:nvGraphicFramePr>
        <p:xfrm>
          <a:off x="548640" y="1417320"/>
          <a:ext cx="11064240" cy="3108960"/>
        </p:xfrm>
        <a:graphic>
          <a:graphicData uri="http://schemas.openxmlformats.org/drawingml/2006/table">
            <a:tbl>
              <a:tblPr>
                <a:tableStyleId>{5C22544A-7EE6-4342-B048-85BDC9FD1C3A}</a:tableStyleId>
              </a:tblPr>
              <a:tblGrid>
                <a:gridCol w="3840480"/>
                <a:gridCol w="2194560"/>
                <a:gridCol w="5029200"/>
              </a:tblGrid>
              <a:tr h="777240">
                <a:tc>
                  <a:txBody>
                    <a:bodyPr wrap="square"/>
                    <a:lstStyle/>
                    <a:p>
                      <a:pPr algn="ctr"/>
                      <a:r>
                        <a:rPr sz="1400" b="1">
                          <a:solidFill>
                            <a:srgbClr val="FFFFFF"/>
                          </a:solidFill>
                          <a:latin typeface="Calibri"/>
                        </a:rPr>
                        <a:t>Điều kiện cảm biến</a:t>
                      </a:r>
                    </a:p>
                  </a:txBody>
                  <a:tcPr marL="73152" marR="73152" marT="36576" marB="36576" anchor="ctr">
                    <a:solidFill>
                      <a:srgbClr val="F59E0B"/>
                    </a:solidFill>
                  </a:tcPr>
                </a:tc>
                <a:tc>
                  <a:txBody>
                    <a:bodyPr wrap="square"/>
                    <a:lstStyle/>
                    <a:p>
                      <a:pPr algn="ctr"/>
                      <a:r>
                        <a:rPr sz="1400" b="1">
                          <a:solidFill>
                            <a:srgbClr val="FFFFFF"/>
                          </a:solidFill>
                          <a:latin typeface="Calibri"/>
                        </a:rPr>
                        <a:t>Ngưỡng</a:t>
                      </a:r>
                    </a:p>
                  </a:txBody>
                  <a:tcPr marL="73152" marR="73152" marT="36576" marB="36576" anchor="ctr">
                    <a:solidFill>
                      <a:srgbClr val="F59E0B"/>
                    </a:solidFill>
                  </a:tcPr>
                </a:tc>
                <a:tc>
                  <a:txBody>
                    <a:bodyPr wrap="square"/>
                    <a:lstStyle/>
                    <a:p>
                      <a:pPr algn="ctr"/>
                      <a:r>
                        <a:rPr sz="1400" b="1">
                          <a:solidFill>
                            <a:srgbClr val="FFFFFF"/>
                          </a:solidFill>
                          <a:latin typeface="Calibri"/>
                        </a:rPr>
                        <a:t>Hành động của hệ thống</a:t>
                      </a:r>
                    </a:p>
                  </a:txBody>
                  <a:tcPr marL="73152" marR="73152" marT="36576" marB="36576" anchor="ctr">
                    <a:solidFill>
                      <a:srgbClr val="F59E0B"/>
                    </a:solidFill>
                  </a:tcPr>
                </a:tc>
              </a:tr>
              <a:tr h="777240">
                <a:tc>
                  <a:txBody>
                    <a:bodyPr wrap="square"/>
                    <a:lstStyle/>
                    <a:p>
                      <a:pPr algn="l"/>
                      <a:r>
                        <a:rPr sz="1300" b="0">
                          <a:solidFill>
                            <a:srgbClr val="1E293B"/>
                          </a:solidFill>
                          <a:latin typeface="Calibri"/>
                        </a:rPr>
                        <a:t>Nồng độ khí Gas (MQ-2)</a:t>
                      </a:r>
                    </a:p>
                  </a:txBody>
                  <a:tcPr marL="73152" marR="73152" marT="36576" marB="36576" anchor="ctr">
                    <a:solidFill>
                      <a:srgbClr val="FFFFFF"/>
                    </a:solidFill>
                  </a:tcPr>
                </a:tc>
                <a:tc>
                  <a:txBody>
                    <a:bodyPr wrap="square"/>
                    <a:lstStyle/>
                    <a:p>
                      <a:pPr algn="ctr"/>
                      <a:r>
                        <a:rPr sz="1300" b="0">
                          <a:solidFill>
                            <a:srgbClr val="EF4444"/>
                          </a:solidFill>
                          <a:latin typeface="Calibri"/>
                        </a:rPr>
                        <a:t>&gt; 300 PPM</a:t>
                      </a:r>
                    </a:p>
                  </a:txBody>
                  <a:tcPr marL="73152" marR="73152" marT="36576" marB="36576" anchor="ctr">
                    <a:solidFill>
                      <a:srgbClr val="FEE2E2"/>
                    </a:solidFill>
                  </a:tcPr>
                </a:tc>
                <a:tc>
                  <a:txBody>
                    <a:bodyPr wrap="square"/>
                    <a:lstStyle/>
                    <a:p>
                      <a:pPr algn="l"/>
                      <a:r>
                        <a:rPr sz="1300" b="0">
                          <a:solidFill>
                            <a:srgbClr val="475569"/>
                          </a:solidFill>
                          <a:latin typeface="Calibri"/>
                        </a:rPr>
                        <a:t>LED cảnh báo BẬT (điều kiện 1 của phép OR)</a:t>
                      </a:r>
                    </a:p>
                  </a:txBody>
                  <a:tcPr marL="73152" marR="73152" marT="36576" marB="36576" anchor="ctr">
                    <a:solidFill>
                      <a:srgbClr val="FFFFFF"/>
                    </a:solidFill>
                  </a:tcPr>
                </a:tc>
              </a:tr>
              <a:tr h="777240">
                <a:tc>
                  <a:txBody>
                    <a:bodyPr wrap="square"/>
                    <a:lstStyle/>
                    <a:p>
                      <a:pPr algn="l"/>
                      <a:r>
                        <a:rPr sz="1300" b="0">
                          <a:solidFill>
                            <a:srgbClr val="1E293B"/>
                          </a:solidFill>
                          <a:latin typeface="Calibri"/>
                        </a:rPr>
                        <a:t>Mực nước (HC-SR04)</a:t>
                      </a:r>
                    </a:p>
                  </a:txBody>
                  <a:tcPr marL="73152" marR="73152" marT="36576" marB="36576" anchor="ctr">
                    <a:solidFill>
                      <a:srgbClr val="FFFFFF"/>
                    </a:solidFill>
                  </a:tcPr>
                </a:tc>
                <a:tc>
                  <a:txBody>
                    <a:bodyPr wrap="square"/>
                    <a:lstStyle/>
                    <a:p>
                      <a:pPr algn="ctr"/>
                      <a:r>
                        <a:rPr sz="1300" b="0">
                          <a:solidFill>
                            <a:srgbClr val="EF4444"/>
                          </a:solidFill>
                          <a:latin typeface="Calibri"/>
                        </a:rPr>
                        <a:t>&lt; 15 cm</a:t>
                      </a:r>
                    </a:p>
                  </a:txBody>
                  <a:tcPr marL="73152" marR="73152" marT="36576" marB="36576" anchor="ctr">
                    <a:solidFill>
                      <a:srgbClr val="FEE2E2"/>
                    </a:solidFill>
                  </a:tcPr>
                </a:tc>
                <a:tc>
                  <a:txBody>
                    <a:bodyPr wrap="square"/>
                    <a:lstStyle/>
                    <a:p>
                      <a:pPr algn="l"/>
                      <a:r>
                        <a:rPr sz="1300" b="0">
                          <a:solidFill>
                            <a:srgbClr val="475569"/>
                          </a:solidFill>
                          <a:latin typeface="Calibri"/>
                        </a:rPr>
                        <a:t>LED cảnh báo BẬT (điều kiện 2 của phép OR)</a:t>
                      </a:r>
                    </a:p>
                  </a:txBody>
                  <a:tcPr marL="73152" marR="73152" marT="36576" marB="36576" anchor="ctr">
                    <a:solidFill>
                      <a:srgbClr val="FFFFFF"/>
                    </a:solidFill>
                  </a:tcPr>
                </a:tc>
              </a:tr>
              <a:tr h="777240">
                <a:tc>
                  <a:txBody>
                    <a:bodyPr wrap="square"/>
                    <a:lstStyle/>
                    <a:p>
                      <a:pPr algn="l"/>
                      <a:r>
                        <a:rPr sz="1300" b="0">
                          <a:solidFill>
                            <a:srgbClr val="1E293B"/>
                          </a:solidFill>
                          <a:latin typeface="Calibri"/>
                        </a:rPr>
                        <a:t>Cả 2 điều kiện trên</a:t>
                      </a:r>
                    </a:p>
                  </a:txBody>
                  <a:tcPr marL="73152" marR="73152" marT="36576" marB="36576" anchor="ctr">
                    <a:solidFill>
                      <a:srgbClr val="FFFFFF"/>
                    </a:solidFill>
                  </a:tcPr>
                </a:tc>
                <a:tc>
                  <a:txBody>
                    <a:bodyPr wrap="square"/>
                    <a:lstStyle/>
                    <a:p>
                      <a:pPr algn="ctr"/>
                      <a:r>
                        <a:rPr sz="1300" b="0">
                          <a:solidFill>
                            <a:srgbClr val="10B981"/>
                          </a:solidFill>
                          <a:latin typeface="Calibri"/>
                        </a:rPr>
                        <a:t>Không thoả mãn</a:t>
                      </a:r>
                    </a:p>
                  </a:txBody>
                  <a:tcPr marL="73152" marR="73152" marT="36576" marB="36576" anchor="ctr">
                    <a:solidFill>
                      <a:srgbClr val="DCFCE7"/>
                    </a:solidFill>
                  </a:tcPr>
                </a:tc>
                <a:tc>
                  <a:txBody>
                    <a:bodyPr wrap="square"/>
                    <a:lstStyle/>
                    <a:p>
                      <a:pPr algn="l"/>
                      <a:r>
                        <a:rPr sz="1300" b="0">
                          <a:solidFill>
                            <a:srgbClr val="475569"/>
                          </a:solidFill>
                          <a:latin typeface="Calibri"/>
                        </a:rPr>
                        <a:t>LED cảnh báo TẮT — hệ thống an toàn toàn diện</a:t>
                      </a:r>
                    </a:p>
                  </a:txBody>
                  <a:tcPr marL="73152" marR="73152" marT="36576" marB="36576" anchor="ctr">
                    <a:solidFill>
                      <a:srgbClr val="FFFFFF"/>
                    </a:solidFill>
                  </a:tcPr>
                </a:tc>
              </a:tr>
            </a:tbl>
          </a:graphicData>
        </a:graphic>
      </p:graphicFrame>
      <p:sp>
        <p:nvSpPr>
          <p:cNvPr id="11" name="TextBox 10"/>
          <p:cNvSpPr txBox="1"/>
          <p:nvPr/>
        </p:nvSpPr>
        <p:spPr>
          <a:xfrm>
            <a:off x="548640" y="4846320"/>
            <a:ext cx="11064240" cy="1097280"/>
          </a:xfrm>
          <a:prstGeom prst="rect">
            <a:avLst/>
          </a:prstGeom>
          <a:noFill/>
        </p:spPr>
        <p:txBody>
          <a:bodyPr wrap="square">
            <a:spAutoFit/>
          </a:bodyPr>
          <a:lstStyle/>
          <a:p>
            <a:pPr algn="l">
              <a:lnSpc>
                <a:spcPct val="125000"/>
              </a:lnSpc>
            </a:pPr>
            <a:r>
              <a:rPr sz="1250" b="0" i="1">
                <a:solidFill>
                  <a:srgbClr val="475569"/>
                </a:solidFill>
                <a:latin typeface="Calibri"/>
              </a:rPr>
              <a:t>Ngưỡng dùng lại chính xác giá trị đã học ở Buổi 2 (mực nước) và Buổi 4 (khí gas) — cho thấy B6 là bài TỔNG HỢP chứ không giới thiệu khái niệm ngưỡng mới, trọng tâm là cách KẾT HỢP nhiều điều kiện bằng toán tử logic.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B6 · DỮ LIỆU MINH HOẠ</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Xu hướng dữ liệu cảm biến theo thời gian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11</a:t>
            </a:r>
          </a:p>
        </p:txBody>
      </p:sp>
      <p:graphicFrame>
        <p:nvGraphicFramePr>
          <p:cNvPr id="10" name="Chart 9"/>
          <p:cNvGraphicFramePr>
            <a:graphicFrameLocks noGrp="1"/>
          </p:cNvGraphicFramePr>
          <p:nvPr/>
        </p:nvGraphicFramePr>
        <p:xfrm>
          <a:off x="731520" y="1463040"/>
          <a:ext cx="7498079" cy="4754880"/>
        </p:xfrm>
        <a:graphic>
          <a:graphicData uri="http://schemas.openxmlformats.org/drawingml/2006/chart">
            <c:chart xmlns:c="http://schemas.openxmlformats.org/drawingml/2006/chart" r:id="rId2"/>
          </a:graphicData>
        </a:graphic>
      </p:graphicFrame>
      <p:sp>
        <p:nvSpPr>
          <p:cNvPr id="11" name="Rounded Rectangle 10"/>
          <p:cNvSpPr/>
          <p:nvPr/>
        </p:nvSpPr>
        <p:spPr>
          <a:xfrm>
            <a:off x="8503920" y="1463040"/>
            <a:ext cx="3108960" cy="47548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645920"/>
            <a:ext cx="2651760" cy="365760"/>
          </a:xfrm>
          <a:prstGeom prst="rect">
            <a:avLst/>
          </a:prstGeom>
          <a:noFill/>
        </p:spPr>
        <p:txBody>
          <a:bodyPr wrap="square">
            <a:spAutoFit/>
          </a:bodyPr>
          <a:lstStyle/>
          <a:p>
            <a:pPr algn="l"/>
            <a:r>
              <a:rPr sz="1400" b="1" i="0">
                <a:solidFill>
                  <a:srgbClr val="1E293B"/>
                </a:solidFill>
                <a:latin typeface="Calibri"/>
              </a:rPr>
              <a:t>Nhận xét</a:t>
            </a:r>
          </a:p>
        </p:txBody>
      </p:sp>
      <p:sp>
        <p:nvSpPr>
          <p:cNvPr id="13" name="TextBox 12"/>
          <p:cNvSpPr txBox="1"/>
          <p:nvPr/>
        </p:nvSpPr>
        <p:spPr>
          <a:xfrm>
            <a:off x="8732520" y="2103120"/>
            <a:ext cx="2697480" cy="3931920"/>
          </a:xfrm>
          <a:prstGeom prst="rect">
            <a:avLst/>
          </a:prstGeom>
          <a:noFill/>
        </p:spPr>
        <p:txBody>
          <a:bodyPr wrap="square">
            <a:spAutoFit/>
          </a:bodyPr>
          <a:lstStyle/>
          <a:p>
            <a:pPr algn="l">
              <a:spcAft>
                <a:spcPts val="1000"/>
              </a:spcAft>
            </a:pPr>
            <a:r>
              <a:rPr sz="1150" b="1">
                <a:solidFill>
                  <a:srgbClr val="3B82F6"/>
                </a:solidFill>
                <a:latin typeface="Calibri"/>
              </a:rPr>
              <a:t>●  </a:t>
            </a:r>
            <a:r>
              <a:rPr sz="1150" b="0">
                <a:solidFill>
                  <a:srgbClr val="475569"/>
                </a:solidFill>
                <a:latin typeface="Calibri"/>
              </a:rPr>
              <a:t>Biểu đồ minh hoạ 2 cảm biến biến thiên ĐỘC LẬP — Gas tăng chậm trong khi mực nước dâng nhanh hơn (khoảng cách giảm nhanh).</a:t>
            </a:r>
          </a:p>
          <a:p>
            <a:pPr algn="l">
              <a:spcAft>
                <a:spcPts val="1000"/>
              </a:spcAft>
            </a:pPr>
            <a:r>
              <a:rPr sz="1150" b="1">
                <a:solidFill>
                  <a:srgbClr val="3B82F6"/>
                </a:solidFill>
                <a:latin typeface="Calibri"/>
              </a:rPr>
              <a:t>●  </a:t>
            </a:r>
            <a:r>
              <a:rPr sz="1150" b="0">
                <a:solidFill>
                  <a:srgbClr val="475569"/>
                </a:solidFill>
                <a:latin typeface="Calibri"/>
              </a:rPr>
              <a:t>LED sẽ bật ngay khi khoảng cách xuống dưới 15cm (khoảng giây 15), dù nồng độ Gas lúc đó (230 PPM) vẫn còn dưới ngưỡng 300 PPM.</a:t>
            </a:r>
          </a:p>
          <a:p>
            <a:pPr algn="l">
              <a:spcAft>
                <a:spcPts val="1000"/>
              </a:spcAft>
            </a:pPr>
            <a:r>
              <a:rPr sz="1150" b="1">
                <a:solidFill>
                  <a:srgbClr val="3B82F6"/>
                </a:solidFill>
                <a:latin typeface="Calibri"/>
              </a:rPr>
              <a:t>●  </a:t>
            </a:r>
            <a:r>
              <a:rPr sz="1150" b="0">
                <a:solidFill>
                  <a:srgbClr val="475569"/>
                </a:solidFill>
                <a:latin typeface="Calibri"/>
              </a:rPr>
              <a:t>Đây chính là giá trị của phép OR: hệ thống phản ứng với nguy cơ ĐẦU TIÊN xuất hiện, không cần chờ TẤT CẢ điều kiện cùng vượt ngưỡng.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B6 · ỨNG DỤNG THỰC TIỄN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Ứng dụng trong Kỹ thuật Môi trường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12</a:t>
            </a:r>
          </a:p>
        </p:txBody>
      </p:sp>
      <p:sp>
        <p:nvSpPr>
          <p:cNvPr id="10" name="Rounded Rectangle 9"/>
          <p:cNvSpPr/>
          <p:nvPr/>
        </p:nvSpPr>
        <p:spPr>
          <a:xfrm>
            <a:off x="548640" y="1417320"/>
            <a:ext cx="5349240" cy="1965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09728" cy="1965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581912"/>
            <a:ext cx="4800600" cy="457200"/>
          </a:xfrm>
          <a:prstGeom prst="rect">
            <a:avLst/>
          </a:prstGeom>
          <a:noFill/>
        </p:spPr>
        <p:txBody>
          <a:bodyPr wrap="square">
            <a:spAutoFit/>
          </a:bodyPr>
          <a:lstStyle/>
          <a:p>
            <a:pPr algn="l"/>
            <a:r>
              <a:rPr sz="1550" b="1" i="0">
                <a:solidFill>
                  <a:srgbClr val="1E293B"/>
                </a:solidFill>
                <a:latin typeface="Calibri"/>
              </a:rPr>
              <a:t>Nền tảng giám sát môi trường thời gian thực</a:t>
            </a:r>
          </a:p>
        </p:txBody>
      </p:sp>
      <p:sp>
        <p:nvSpPr>
          <p:cNvPr id="13" name="TextBox 12"/>
          <p:cNvSpPr txBox="1"/>
          <p:nvPr/>
        </p:nvSpPr>
        <p:spPr>
          <a:xfrm>
            <a:off x="868680"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Dashboard Cloud (ThingsBoard/Blynk/Grafana) tổng hợp dữ liệu từ nhiều trạm quan trắc phân tán.</a:t>
            </a:r>
          </a:p>
        </p:txBody>
      </p:sp>
      <p:sp>
        <p:nvSpPr>
          <p:cNvPr id="14" name="Rounded Rectangle 13"/>
          <p:cNvSpPr/>
          <p:nvPr/>
        </p:nvSpPr>
        <p:spPr>
          <a:xfrm>
            <a:off x="6263640" y="1417320"/>
            <a:ext cx="5349240" cy="1965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41732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79" y="1581912"/>
            <a:ext cx="4800600" cy="457200"/>
          </a:xfrm>
          <a:prstGeom prst="rect">
            <a:avLst/>
          </a:prstGeom>
          <a:noFill/>
        </p:spPr>
        <p:txBody>
          <a:bodyPr wrap="square">
            <a:spAutoFit/>
          </a:bodyPr>
          <a:lstStyle/>
          <a:p>
            <a:pPr algn="l"/>
            <a:r>
              <a:rPr sz="1550" b="1" i="0">
                <a:solidFill>
                  <a:srgbClr val="1E293B"/>
                </a:solidFill>
                <a:latin typeface="Calibri"/>
              </a:rPr>
              <a:t>Hệ thống cảnh báo đa nguy cơ cho nhà máy</a:t>
            </a:r>
          </a:p>
        </p:txBody>
      </p:sp>
      <p:sp>
        <p:nvSpPr>
          <p:cNvPr id="17" name="TextBox 16"/>
          <p:cNvSpPr txBox="1"/>
          <p:nvPr/>
        </p:nvSpPr>
        <p:spPr>
          <a:xfrm>
            <a:off x="6583679"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Một LED/còi duy nhất đại diện cho "có sự cố" tổng quát, chi tiết nguyên nhân xem trên Cloud.</a:t>
            </a:r>
          </a:p>
        </p:txBody>
      </p:sp>
      <p:sp>
        <p:nvSpPr>
          <p:cNvPr id="18" name="Rounded Rectangle 17"/>
          <p:cNvSpPr/>
          <p:nvPr/>
        </p:nvSpPr>
        <p:spPr>
          <a:xfrm>
            <a:off x="548640" y="3703320"/>
            <a:ext cx="5349240" cy="1965960"/>
          </a:xfrm>
          <a:prstGeom prst="roundRect">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03320"/>
            <a:ext cx="109728" cy="1965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67911"/>
            <a:ext cx="4800600" cy="457200"/>
          </a:xfrm>
          <a:prstGeom prst="rect">
            <a:avLst/>
          </a:prstGeom>
          <a:noFill/>
        </p:spPr>
        <p:txBody>
          <a:bodyPr wrap="square">
            <a:spAutoFit/>
          </a:bodyPr>
          <a:lstStyle/>
          <a:p>
            <a:pPr algn="l"/>
            <a:r>
              <a:rPr sz="1550" b="1" i="0">
                <a:solidFill>
                  <a:srgbClr val="1E293B"/>
                </a:solidFill>
                <a:latin typeface="Calibri"/>
              </a:rPr>
              <a:t>Tích hợp cảnh báo qua ứng dụng nhắn tin</a:t>
            </a:r>
          </a:p>
        </p:txBody>
      </p:sp>
      <p:sp>
        <p:nvSpPr>
          <p:cNvPr id="21" name="TextBox 20"/>
          <p:cNvSpPr txBox="1"/>
          <p:nvPr/>
        </p:nvSpPr>
        <p:spPr>
          <a:xfrm>
            <a:off x="868680"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Mở rộng: khi phát hiện nguy hiểm, gửi thông báo tức thời qua Telegram/Zalo Bot thay vì chỉ đèn LED tại chỗ.</a:t>
            </a:r>
          </a:p>
        </p:txBody>
      </p:sp>
      <p:sp>
        <p:nvSpPr>
          <p:cNvPr id="22" name="Rounded Rectangle 21"/>
          <p:cNvSpPr/>
          <p:nvPr/>
        </p:nvSpPr>
        <p:spPr>
          <a:xfrm>
            <a:off x="6263640" y="3703320"/>
            <a:ext cx="5349240" cy="1965960"/>
          </a:xfrm>
          <a:prstGeom prst="roundRect">
            <a:avLst/>
          </a:prstGeom>
          <a:solidFill>
            <a:srgbClr val="FFFFFF"/>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109728" cy="196596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79" y="3867911"/>
            <a:ext cx="4800600" cy="457200"/>
          </a:xfrm>
          <a:prstGeom prst="rect">
            <a:avLst/>
          </a:prstGeom>
          <a:noFill/>
        </p:spPr>
        <p:txBody>
          <a:bodyPr wrap="square">
            <a:spAutoFit/>
          </a:bodyPr>
          <a:lstStyle/>
          <a:p>
            <a:pPr algn="l"/>
            <a:r>
              <a:rPr sz="1550" b="1" i="0">
                <a:solidFill>
                  <a:srgbClr val="1E293B"/>
                </a:solidFill>
                <a:latin typeface="Calibri"/>
              </a:rPr>
              <a:t>Dữ liệu lớn &amp; phân tích xu hướng môi trường</a:t>
            </a:r>
          </a:p>
        </p:txBody>
      </p:sp>
      <p:sp>
        <p:nvSpPr>
          <p:cNvPr id="25" name="TextBox 24"/>
          <p:cNvSpPr txBox="1"/>
          <p:nvPr/>
        </p:nvSpPr>
        <p:spPr>
          <a:xfrm>
            <a:off x="6583679"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Lưu trữ chuỗi telemetry dài hạn phục vụ nghiên cứu biến đổi khí hậu, đánh giá chất lượng môi trường theo thời gian.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B6 · LƯU Ý TRIỂN KHAI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Sai sót thường gặp &amp; lưu ý khi lắp đặt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13</a:t>
            </a:r>
          </a:p>
        </p:txBody>
      </p:sp>
      <p:sp>
        <p:nvSpPr>
          <p:cNvPr id="10" name="Oval 9"/>
          <p:cNvSpPr/>
          <p:nvPr/>
        </p:nvSpPr>
        <p:spPr>
          <a:xfrm>
            <a:off x="548640" y="1444752"/>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1" name="TextBox 10"/>
          <p:cNvSpPr txBox="1"/>
          <p:nvPr/>
        </p:nvSpPr>
        <p:spPr>
          <a:xfrm>
            <a:off x="1188720" y="1417320"/>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Bảo mật khi gửi dữ liệu lên Cloud thật: cần TLS/SSL và API Key/Token, tuyệt đối không gửi dữ liệu thô không mã hoá qua mạng công cộng.</a:t>
            </a:r>
          </a:p>
        </p:txBody>
      </p:sp>
      <p:sp>
        <p:nvSpPr>
          <p:cNvPr id="12" name="Oval 11"/>
          <p:cNvSpPr/>
          <p:nvPr/>
        </p:nvSpPr>
        <p:spPr>
          <a:xfrm>
            <a:off x="548640" y="2295144"/>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3" name="TextBox 12"/>
          <p:cNvSpPr txBox="1"/>
          <p:nvPr/>
        </p:nvSpPr>
        <p:spPr>
          <a:xfrm>
            <a:off x="1188720" y="2267712"/>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Tần suất gửi dữ liệu cần cân bằng hợp lý — gửi quá dày gây nghẽn băng thông &amp; tốn điện năng, gửi quá thưa bỏ lỡ sự kiện quan trọng.</a:t>
            </a:r>
          </a:p>
        </p:txBody>
      </p:sp>
      <p:sp>
        <p:nvSpPr>
          <p:cNvPr id="14" name="Oval 13"/>
          <p:cNvSpPr/>
          <p:nvPr/>
        </p:nvSpPr>
        <p:spPr>
          <a:xfrm>
            <a:off x="548640" y="3145536"/>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5" name="TextBox 14"/>
          <p:cNvSpPr txBox="1"/>
          <p:nvPr/>
        </p:nvSpPr>
        <p:spPr>
          <a:xfrm>
            <a:off x="1188720" y="3118104"/>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Cần xử lý tình huống mất kết nối WiFi: lưu đệm (buffer) dữ liệu cục bộ và gửi bù khi kết nối lại, tránh mất dữ liệu.</a:t>
            </a:r>
          </a:p>
        </p:txBody>
      </p:sp>
      <p:sp>
        <p:nvSpPr>
          <p:cNvPr id="16" name="Oval 15"/>
          <p:cNvSpPr/>
          <p:nvPr/>
        </p:nvSpPr>
        <p:spPr>
          <a:xfrm>
            <a:off x="548640" y="3995928"/>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7" name="TextBox 16"/>
          <p:cNvSpPr txBox="1"/>
          <p:nvPr/>
        </p:nvSpPr>
        <p:spPr>
          <a:xfrm>
            <a:off x="1188720" y="3968496"/>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Khi kết hợp nhiều cảm biến trên 1 board, cần rà soát kỹ xung đột chân GPIO, đặc biệt các chân có chức năng đặc biệt (strapping pin) trên ESP32-S3.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B6 · ÔN TẬP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Câu hỏi thảo luận cuối buổi</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14</a:t>
            </a:r>
          </a:p>
        </p:txBody>
      </p:sp>
      <p:sp>
        <p:nvSpPr>
          <p:cNvPr id="10" name="Rounded Rectangle 9"/>
          <p:cNvSpPr/>
          <p:nvPr/>
        </p:nvSpPr>
        <p:spPr>
          <a:xfrm>
            <a:off x="548640" y="146304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Q1</a:t>
            </a:r>
          </a:p>
        </p:txBody>
      </p:sp>
      <p:sp>
        <p:nvSpPr>
          <p:cNvPr id="11" name="TextBox 10"/>
          <p:cNvSpPr txBox="1"/>
          <p:nvPr/>
        </p:nvSpPr>
        <p:spPr>
          <a:xfrm>
            <a:off x="1234440" y="144475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Giải thích ý nghĩa từng trường dữ liệu trong gói JSON được gửi qua Serial Monitor ở bài này.</a:t>
            </a:r>
          </a:p>
        </p:txBody>
      </p:sp>
      <p:sp>
        <p:nvSpPr>
          <p:cNvPr id="12" name="Rounded Rectangle 11"/>
          <p:cNvSpPr/>
          <p:nvPr/>
        </p:nvSpPr>
        <p:spPr>
          <a:xfrm>
            <a:off x="548640" y="233172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Q2</a:t>
            </a:r>
          </a:p>
        </p:txBody>
      </p:sp>
      <p:sp>
        <p:nvSpPr>
          <p:cNvPr id="13" name="TextBox 12"/>
          <p:cNvSpPr txBox="1"/>
          <p:nvPr/>
        </p:nvSpPr>
        <p:spPr>
          <a:xfrm>
            <a:off x="1234440" y="231343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Vì sao dùng toán tử || (OR) mà không phải &amp;&amp; (AND) trong điều kiện bật LED cảnh báo tổng hợp?</a:t>
            </a:r>
          </a:p>
        </p:txBody>
      </p:sp>
      <p:sp>
        <p:nvSpPr>
          <p:cNvPr id="14" name="Rounded Rectangle 13"/>
          <p:cNvSpPr/>
          <p:nvPr/>
        </p:nvSpPr>
        <p:spPr>
          <a:xfrm>
            <a:off x="548640" y="320040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Q3</a:t>
            </a:r>
          </a:p>
        </p:txBody>
      </p:sp>
      <p:sp>
        <p:nvSpPr>
          <p:cNvPr id="15" name="TextBox 14"/>
          <p:cNvSpPr txBox="1"/>
          <p:nvPr/>
        </p:nvSpPr>
        <p:spPr>
          <a:xfrm>
            <a:off x="1234440" y="318211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Nếu muốn biết CHÍNH XÁC nguyên nhân nào gây cảnh báo (gas hay nước) chỉ nhìn đèn LED, ta cần cải tiến phần cứng/phần mềm như thế nào?</a:t>
            </a:r>
          </a:p>
        </p:txBody>
      </p:sp>
      <p:sp>
        <p:nvSpPr>
          <p:cNvPr id="16" name="Rounded Rectangle 15"/>
          <p:cNvSpPr/>
          <p:nvPr/>
        </p:nvSpPr>
        <p:spPr>
          <a:xfrm>
            <a:off x="548640" y="406908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Q4</a:t>
            </a:r>
          </a:p>
        </p:txBody>
      </p:sp>
      <p:sp>
        <p:nvSpPr>
          <p:cNvPr id="17" name="TextBox 16"/>
          <p:cNvSpPr txBox="1"/>
          <p:nvPr/>
        </p:nvSpPr>
        <p:spPr>
          <a:xfrm>
            <a:off x="1234440" y="405079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Nêu các bước cần bổ sung (thư viện, phần cứng) để gói JSON này thực sự được gửi lên một server Cloud qua WiFi.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B6 · TỔNG KẾT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Tổng kết buổi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B6</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15</a:t>
            </a:r>
          </a:p>
        </p:txBody>
      </p:sp>
      <p:sp>
        <p:nvSpPr>
          <p:cNvPr id="10" name="TextBox 9"/>
          <p:cNvSpPr txBox="1"/>
          <p:nvPr/>
        </p:nvSpPr>
        <p:spPr>
          <a:xfrm>
            <a:off x="548640" y="1371600"/>
            <a:ext cx="10881360" cy="365760"/>
          </a:xfrm>
          <a:prstGeom prst="rect">
            <a:avLst/>
          </a:prstGeom>
          <a:noFill/>
        </p:spPr>
        <p:txBody>
          <a:bodyPr wrap="square">
            <a:spAutoFit/>
          </a:bodyPr>
          <a:lstStyle/>
          <a:p>
            <a:pPr algn="l"/>
            <a:r>
              <a:rPr sz="1500" b="1" i="0">
                <a:solidFill>
                  <a:srgbClr val="1E293B"/>
                </a:solidFill>
                <a:latin typeface="Calibri"/>
              </a:rPr>
              <a:t>Những điều đã đạt được:</a:t>
            </a:r>
          </a:p>
        </p:txBody>
      </p:sp>
      <p:sp>
        <p:nvSpPr>
          <p:cNvPr id="11" name="TextBox 10"/>
          <p:cNvSpPr txBox="1"/>
          <p:nvPr/>
        </p:nvSpPr>
        <p:spPr>
          <a:xfrm>
            <a:off x="548640" y="1783080"/>
            <a:ext cx="10881360" cy="2377440"/>
          </a:xfrm>
          <a:prstGeom prst="rect">
            <a:avLst/>
          </a:prstGeom>
          <a:noFill/>
        </p:spPr>
        <p:txBody>
          <a:bodyPr wrap="square">
            <a:spAutoFit/>
          </a:bodyPr>
          <a:lstStyle/>
          <a:p>
            <a:pPr algn="l">
              <a:spcAft>
                <a:spcPts val="1000"/>
              </a:spcAft>
            </a:pPr>
            <a:r>
              <a:rPr sz="1450" b="1">
                <a:solidFill>
                  <a:srgbClr val="10B981"/>
                </a:solidFill>
                <a:latin typeface="Calibri"/>
              </a:rPr>
              <a:t>●  </a:t>
            </a:r>
            <a:r>
              <a:rPr sz="1450" b="0">
                <a:solidFill>
                  <a:srgbClr val="1E293B"/>
                </a:solidFill>
                <a:latin typeface="Calibri"/>
              </a:rPr>
              <a:t>Đã hoàn thành đồ án tổng hợp: tích hợp 3 loại cảm biến, xử lý đa điều kiện và chuẩn hoá dữ liệu theo định dạng JSON.</a:t>
            </a:r>
          </a:p>
          <a:p>
            <a:pPr algn="l">
              <a:spcAft>
                <a:spcPts val="1000"/>
              </a:spcAft>
            </a:pPr>
            <a:r>
              <a:rPr sz="1450" b="1">
                <a:solidFill>
                  <a:srgbClr val="10B981"/>
                </a:solidFill>
                <a:latin typeface="Calibri"/>
              </a:rPr>
              <a:t>●  </a:t>
            </a:r>
            <a:r>
              <a:rPr sz="1450" b="0">
                <a:solidFill>
                  <a:srgbClr val="1E293B"/>
                </a:solidFill>
                <a:latin typeface="Calibri"/>
              </a:rPr>
              <a:t>Nắm được toàn cảnh một hệ thống IoT quan trắc môi trường hoàn chỉnh, từ cảm biến vật lý đến khái niệm truyền dữ liệu Cloud.</a:t>
            </a:r>
          </a:p>
          <a:p>
            <a:pPr algn="l">
              <a:spcAft>
                <a:spcPts val="1000"/>
              </a:spcAft>
            </a:pPr>
            <a:r>
              <a:rPr sz="1450" b="1">
                <a:solidFill>
                  <a:srgbClr val="10B981"/>
                </a:solidFill>
                <a:latin typeface="Calibri"/>
              </a:rPr>
              <a:t>●  </a:t>
            </a:r>
            <a:r>
              <a:rPr sz="1450" b="0">
                <a:solidFill>
                  <a:srgbClr val="1E293B"/>
                </a:solidFill>
                <a:latin typeface="Calibri"/>
              </a:rPr>
              <a:t>Có nền tảng vững chắc để tiếp tục tự học và mở rộng dự án cá nhân: WiFi, MQTT, Dashboard, Cảnh báo qua ứng dụng di động.</a:t>
            </a:r>
          </a:p>
        </p:txBody>
      </p:sp>
      <p:sp>
        <p:nvSpPr>
          <p:cNvPr id="12" name="Rounded Rectangle 11"/>
          <p:cNvSpPr/>
          <p:nvPr/>
        </p:nvSpPr>
        <p:spPr>
          <a:xfrm>
            <a:off x="548640" y="4343400"/>
            <a:ext cx="10881360" cy="160020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10332720" cy="365760"/>
          </a:xfrm>
          <a:prstGeom prst="rect">
            <a:avLst/>
          </a:prstGeom>
          <a:noFill/>
        </p:spPr>
        <p:txBody>
          <a:bodyPr wrap="square">
            <a:spAutoFit/>
          </a:bodyPr>
          <a:lstStyle/>
          <a:p>
            <a:pPr algn="l"/>
            <a:r>
              <a:rPr sz="1300" b="1" i="0">
                <a:solidFill>
                  <a:srgbClr val="10B981"/>
                </a:solidFill>
                <a:latin typeface="Calibri"/>
              </a:rPr>
              <a:t>CHUẨN BỊ CHO BUỔI TIẾP THEO</a:t>
            </a:r>
          </a:p>
        </p:txBody>
      </p:sp>
      <p:sp>
        <p:nvSpPr>
          <p:cNvPr id="14" name="TextBox 13"/>
          <p:cNvSpPr txBox="1"/>
          <p:nvPr/>
        </p:nvSpPr>
        <p:spPr>
          <a:xfrm>
            <a:off x="822960" y="4892040"/>
            <a:ext cx="10332720" cy="960120"/>
          </a:xfrm>
          <a:prstGeom prst="rect">
            <a:avLst/>
          </a:prstGeom>
          <a:noFill/>
        </p:spPr>
        <p:txBody>
          <a:bodyPr wrap="square">
            <a:spAutoFit/>
          </a:bodyPr>
          <a:lstStyle/>
          <a:p>
            <a:pPr algn="l">
              <a:lnSpc>
                <a:spcPct val="120000"/>
              </a:lnSpc>
            </a:pPr>
            <a:r>
              <a:rPr sz="1500" b="0" i="0">
                <a:solidFill>
                  <a:srgbClr val="FFFFFF"/>
                </a:solidFill>
                <a:latin typeface="Calibri"/>
              </a:rPr>
              <a:t>Kết thúc chuỗi 6 buổi học — sinh viên có thể tự chọn 1 chủ đề môi trường quan tâm để phát triển thành đồ án cá nhân dựa trên nền tảng đã học.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11277295" cy="594360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66663" y="100584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822960" y="1965960"/>
            <a:ext cx="10545775" cy="914400"/>
          </a:xfrm>
          <a:prstGeom prst="rect">
            <a:avLst/>
          </a:prstGeom>
          <a:noFill/>
        </p:spPr>
        <p:txBody>
          <a:bodyPr wrap="square">
            <a:spAutoFit/>
          </a:bodyPr>
          <a:lstStyle/>
          <a:p>
            <a:pPr algn="ctr"/>
            <a:r>
              <a:rPr sz="3200" b="1" i="0">
                <a:solidFill>
                  <a:srgbClr val="1E293B"/>
                </a:solidFill>
                <a:latin typeface="Calibri"/>
              </a:rPr>
              <a:t>CẢM ƠN CÁC BẠN ĐÃ THEO DÕI</a:t>
            </a:r>
          </a:p>
        </p:txBody>
      </p:sp>
      <p:sp>
        <p:nvSpPr>
          <p:cNvPr id="6" name="TextBox 5"/>
          <p:cNvSpPr txBox="1"/>
          <p:nvPr/>
        </p:nvSpPr>
        <p:spPr>
          <a:xfrm>
            <a:off x="822960" y="2834640"/>
            <a:ext cx="10545775" cy="548640"/>
          </a:xfrm>
          <a:prstGeom prst="rect">
            <a:avLst/>
          </a:prstGeom>
          <a:noFill/>
        </p:spPr>
        <p:txBody>
          <a:bodyPr wrap="square">
            <a:spAutoFit/>
          </a:bodyPr>
          <a:lstStyle/>
          <a:p>
            <a:pPr algn="ctr"/>
            <a:r>
              <a:rPr sz="1500" b="0" i="0">
                <a:solidFill>
                  <a:srgbClr val="10B981"/>
                </a:solidFill>
                <a:latin typeface="Calibri"/>
              </a:rPr>
              <a:t>Hỏi đáp &amp; Thực hành trực tiếp trên trình mô phỏng — B6</a:t>
            </a:r>
          </a:p>
        </p:txBody>
      </p:sp>
      <p:sp>
        <p:nvSpPr>
          <p:cNvPr id="7" name="Rounded Rectangle 6"/>
          <p:cNvSpPr/>
          <p:nvPr/>
        </p:nvSpPr>
        <p:spPr>
          <a:xfrm>
            <a:off x="147812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sp32s3.jpg"/>
          <p:cNvPicPr>
            <a:picLocks noChangeAspect="1"/>
          </p:cNvPicPr>
          <p:nvPr/>
        </p:nvPicPr>
        <p:blipFill>
          <a:blip r:embed="rId2"/>
          <a:stretch>
            <a:fillRect/>
          </a:stretch>
        </p:blipFill>
        <p:spPr>
          <a:xfrm>
            <a:off x="1569567" y="3835587"/>
            <a:ext cx="1920239" cy="1472824"/>
          </a:xfrm>
          <a:prstGeom prst="rect">
            <a:avLst/>
          </a:prstGeom>
        </p:spPr>
      </p:pic>
      <p:sp>
        <p:nvSpPr>
          <p:cNvPr id="9" name="Rounded Rectangle 8"/>
          <p:cNvSpPr/>
          <p:nvPr/>
        </p:nvSpPr>
        <p:spPr>
          <a:xfrm>
            <a:off x="385556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ht11.jpg"/>
          <p:cNvPicPr>
            <a:picLocks noChangeAspect="1"/>
          </p:cNvPicPr>
          <p:nvPr/>
        </p:nvPicPr>
        <p:blipFill>
          <a:blip r:embed="rId3"/>
          <a:stretch>
            <a:fillRect/>
          </a:stretch>
        </p:blipFill>
        <p:spPr>
          <a:xfrm>
            <a:off x="4289907" y="3749039"/>
            <a:ext cx="1234440" cy="1645920"/>
          </a:xfrm>
          <a:prstGeom prst="rect">
            <a:avLst/>
          </a:prstGeom>
        </p:spPr>
      </p:pic>
      <p:sp>
        <p:nvSpPr>
          <p:cNvPr id="11" name="Rounded Rectangle 10"/>
          <p:cNvSpPr/>
          <p:nvPr/>
        </p:nvSpPr>
        <p:spPr>
          <a:xfrm>
            <a:off x="623300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6159" y="3730752"/>
            <a:ext cx="1956815" cy="1682496"/>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MQ-2</a:t>
            </a:r>
          </a:p>
        </p:txBody>
      </p:sp>
      <p:sp>
        <p:nvSpPr>
          <p:cNvPr id="13" name="Rounded Rectangle 12"/>
          <p:cNvSpPr/>
          <p:nvPr/>
        </p:nvSpPr>
        <p:spPr>
          <a:xfrm>
            <a:off x="861044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csr04.jpg"/>
          <p:cNvPicPr>
            <a:picLocks noChangeAspect="1"/>
          </p:cNvPicPr>
          <p:nvPr/>
        </p:nvPicPr>
        <p:blipFill>
          <a:blip r:embed="rId4"/>
          <a:stretch>
            <a:fillRect/>
          </a:stretch>
        </p:blipFill>
        <p:spPr>
          <a:xfrm>
            <a:off x="8701887" y="3855750"/>
            <a:ext cx="1920239" cy="1432499"/>
          </a:xfrm>
          <a:prstGeom prst="rect">
            <a:avLst/>
          </a:prstGeom>
        </p:spPr>
      </p:pic>
      <p:sp>
        <p:nvSpPr>
          <p:cNvPr id="15" name="TextBox 14"/>
          <p:cNvSpPr txBox="1"/>
          <p:nvPr/>
        </p:nvSpPr>
        <p:spPr>
          <a:xfrm>
            <a:off x="822960" y="6035040"/>
            <a:ext cx="10545775" cy="365760"/>
          </a:xfrm>
          <a:prstGeom prst="rect">
            <a:avLst/>
          </a:prstGeom>
          <a:noFill/>
        </p:spPr>
        <p:txBody>
          <a:bodyPr wrap="square">
            <a:spAutoFit/>
          </a:bodyPr>
          <a:lstStyle/>
          <a:p>
            <a:pPr algn="ctr"/>
            <a:r>
              <a:rPr sz="1150" b="0" i="0">
                <a:solidFill>
                  <a:srgbClr val="475569"/>
                </a:solidFill>
                <a:latin typeface="Calibri"/>
              </a:rPr>
              <a:t>Giảng viên hướng dẫn: Nguyễn Lê Tấn Đạt  ·  datnlt@tdmu.edu.vn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