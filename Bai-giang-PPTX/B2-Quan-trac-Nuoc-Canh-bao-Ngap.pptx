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Khoảng cách đo được (cm)</c:v>
                </c:pt>
              </c:strCache>
            </c:strRef>
          </c:tx>
          <c:spPr>
            <a:ln w="31750">
              <a:solidFill>
                <a:srgbClr val="3B82F6"/>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Sheet1!$B$2:$B$9</c:f>
              <c:numCache>
                <c:formatCode>General</c:formatCode>
                <c:ptCount val="8"/>
                <c:pt idx="0">
                  <c:v>42</c:v>
                </c:pt>
                <c:pt idx="1">
                  <c:v>38</c:v>
                </c:pt>
                <c:pt idx="2">
                  <c:v>33</c:v>
                </c:pt>
                <c:pt idx="3">
                  <c:v>27</c:v>
                </c:pt>
                <c:pt idx="4">
                  <c:v>21</c:v>
                </c:pt>
                <c:pt idx="5">
                  <c:v>17</c:v>
                </c:pt>
                <c:pt idx="6">
                  <c:v>13</c:v>
                </c:pt>
                <c:pt idx="7">
                  <c:v>10</c:v>
                </c:pt>
              </c:numCache>
            </c:numRef>
          </c:val>
          <c:smooth val="0"/>
        </c:ser>
        <c:ser>
          <c:idx val="1"/>
          <c:order val="1"/>
          <c:tx>
            <c:strRef>
              <c:f>Sheet1!$C$1</c:f>
              <c:strCache>
                <c:ptCount val="1"/>
                <c:pt idx="0">
                  <c:v>Ngưỡng cảnh báo (cm)</c:v>
                </c:pt>
              </c:strCache>
            </c:strRef>
          </c:tx>
          <c:spPr>
            <a:ln w="31750">
              <a:solidFill>
                <a:srgbClr val="EF4444"/>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Sheet1!$C$2:$C$9</c:f>
              <c:numCache>
                <c:formatCode>General</c:formatCode>
                <c:ptCount val="8"/>
                <c:pt idx="0">
                  <c:v>15</c:v>
                </c:pt>
                <c:pt idx="1">
                  <c:v>15</c:v>
                </c:pt>
                <c:pt idx="2">
                  <c:v>15</c:v>
                </c:pt>
                <c:pt idx="3">
                  <c:v>15</c:v>
                </c:pt>
                <c:pt idx="4">
                  <c:v>15</c:v>
                </c:pt>
                <c:pt idx="5">
                  <c:v>15</c:v>
                </c:pt>
                <c:pt idx="6">
                  <c:v>15</c:v>
                </c:pt>
                <c:pt idx="7">
                  <c:v>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3093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63640" y="0"/>
            <a:ext cx="54864"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50292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IoT</a:t>
            </a:r>
          </a:p>
        </p:txBody>
      </p:sp>
      <p:sp>
        <p:nvSpPr>
          <p:cNvPr id="6" name="TextBox 5"/>
          <p:cNvSpPr txBox="1"/>
          <p:nvPr/>
        </p:nvSpPr>
        <p:spPr>
          <a:xfrm>
            <a:off x="1463040" y="548640"/>
            <a:ext cx="4663440" cy="274320"/>
          </a:xfrm>
          <a:prstGeom prst="rect">
            <a:avLst/>
          </a:prstGeom>
          <a:noFill/>
        </p:spPr>
        <p:txBody>
          <a:bodyPr wrap="square">
            <a:spAutoFit/>
          </a:bodyPr>
          <a:lstStyle/>
          <a:p>
            <a:pPr algn="l"/>
            <a:r>
              <a:rPr sz="1200" b="1" i="0">
                <a:solidFill>
                  <a:srgbClr val="94A3B8"/>
                </a:solidFill>
                <a:latin typeface="Calibri"/>
              </a:rPr>
              <a:t>ĐẠI HỌC THỦ DẦU MỘT</a:t>
            </a:r>
          </a:p>
        </p:txBody>
      </p:sp>
      <p:sp>
        <p:nvSpPr>
          <p:cNvPr id="7" name="TextBox 6"/>
          <p:cNvSpPr txBox="1"/>
          <p:nvPr/>
        </p:nvSpPr>
        <p:spPr>
          <a:xfrm>
            <a:off x="1463040" y="804672"/>
            <a:ext cx="4663440" cy="320040"/>
          </a:xfrm>
          <a:prstGeom prst="rect">
            <a:avLst/>
          </a:prstGeom>
          <a:noFill/>
        </p:spPr>
        <p:txBody>
          <a:bodyPr wrap="square">
            <a:spAutoFit/>
          </a:bodyPr>
          <a:lstStyle/>
          <a:p>
            <a:pPr algn="l"/>
            <a:r>
              <a:rPr sz="1300" b="1" i="0">
                <a:solidFill>
                  <a:srgbClr val="10B981"/>
                </a:solidFill>
                <a:latin typeface="Calibri"/>
              </a:rPr>
              <a:t>IOT TRONG KỸ THUẬT MÔI TRƯỜNG</a:t>
            </a:r>
          </a:p>
        </p:txBody>
      </p:sp>
      <p:sp>
        <p:nvSpPr>
          <p:cNvPr id="8" name="TextBox 7"/>
          <p:cNvSpPr txBox="1"/>
          <p:nvPr/>
        </p:nvSpPr>
        <p:spPr>
          <a:xfrm>
            <a:off x="640080" y="1600200"/>
            <a:ext cx="5486400" cy="365760"/>
          </a:xfrm>
          <a:prstGeom prst="rect">
            <a:avLst/>
          </a:prstGeom>
          <a:noFill/>
        </p:spPr>
        <p:txBody>
          <a:bodyPr wrap="square">
            <a:spAutoFit/>
          </a:bodyPr>
          <a:lstStyle/>
          <a:p>
            <a:pPr algn="l"/>
            <a:r>
              <a:rPr sz="1400" b="1" i="0">
                <a:solidFill>
                  <a:srgbClr val="F59E0B"/>
                </a:solidFill>
                <a:latin typeface="Calibri"/>
              </a:rPr>
              <a:t>BUỔI 2/6</a:t>
            </a:r>
          </a:p>
        </p:txBody>
      </p:sp>
      <p:sp>
        <p:nvSpPr>
          <p:cNvPr id="9" name="TextBox 8"/>
          <p:cNvSpPr txBox="1"/>
          <p:nvPr/>
        </p:nvSpPr>
        <p:spPr>
          <a:xfrm>
            <a:off x="640080" y="1965960"/>
            <a:ext cx="5532120" cy="1737360"/>
          </a:xfrm>
          <a:prstGeom prst="rect">
            <a:avLst/>
          </a:prstGeom>
          <a:noFill/>
        </p:spPr>
        <p:txBody>
          <a:bodyPr wrap="square">
            <a:spAutoFit/>
          </a:bodyPr>
          <a:lstStyle/>
          <a:p>
            <a:pPr algn="l">
              <a:lnSpc>
                <a:spcPct val="108000"/>
              </a:lnSpc>
            </a:pPr>
            <a:r>
              <a:rPr sz="3000" b="1" i="0">
                <a:solidFill>
                  <a:srgbClr val="1E293B"/>
                </a:solidFill>
                <a:latin typeface="Calibri"/>
              </a:rPr>
              <a:t>B2: Quan trắc Nguồn nước &amp; Cảnh báo Ngập lụt</a:t>
            </a:r>
          </a:p>
        </p:txBody>
      </p:sp>
      <p:sp>
        <p:nvSpPr>
          <p:cNvPr id="10" name="TextBox 9"/>
          <p:cNvSpPr txBox="1"/>
          <p:nvPr/>
        </p:nvSpPr>
        <p:spPr>
          <a:xfrm>
            <a:off x="640080" y="3657600"/>
            <a:ext cx="5394960" cy="1371600"/>
          </a:xfrm>
          <a:prstGeom prst="rect">
            <a:avLst/>
          </a:prstGeom>
          <a:noFill/>
        </p:spPr>
        <p:txBody>
          <a:bodyPr wrap="square">
            <a:spAutoFit/>
          </a:bodyPr>
          <a:lstStyle/>
          <a:p>
            <a:pPr algn="l">
              <a:lnSpc>
                <a:spcPct val="125000"/>
              </a:lnSpc>
            </a:pPr>
            <a:r>
              <a:rPr sz="1350" b="0" i="0">
                <a:solidFill>
                  <a:srgbClr val="475569"/>
                </a:solidFill>
                <a:latin typeface="Calibri"/>
              </a:rPr>
              <a:t>Đo mực nước bằng sóng siêu âm HC-SR04, kết hợp nhiệt độ nước DS18B20, tự động cảnh báo khi nước dâng cao</a:t>
            </a:r>
          </a:p>
        </p:txBody>
      </p:sp>
      <p:cxnSp>
        <p:nvCxnSpPr>
          <p:cNvPr id="11" name="Connector 10"/>
          <p:cNvCxnSpPr/>
          <p:nvPr/>
        </p:nvCxnSpPr>
        <p:spPr>
          <a:xfrm>
            <a:off x="640080" y="5257800"/>
            <a:ext cx="4480560"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5413248"/>
            <a:ext cx="5394960" cy="320040"/>
          </a:xfrm>
          <a:prstGeom prst="rect">
            <a:avLst/>
          </a:prstGeom>
          <a:noFill/>
        </p:spPr>
        <p:txBody>
          <a:bodyPr wrap="square">
            <a:spAutoFit/>
          </a:bodyPr>
          <a:lstStyle/>
          <a:p>
            <a:pPr algn="l"/>
            <a:r>
              <a:rPr sz="1150" b="1" i="0">
                <a:solidFill>
                  <a:srgbClr val="1E293B"/>
                </a:solidFill>
                <a:latin typeface="Calibri"/>
              </a:rPr>
              <a:t>Giảng viên hướng dẫn: Nguyễn Lê Tấn Đạt</a:t>
            </a:r>
          </a:p>
        </p:txBody>
      </p:sp>
      <p:sp>
        <p:nvSpPr>
          <p:cNvPr id="13" name="TextBox 12"/>
          <p:cNvSpPr txBox="1"/>
          <p:nvPr/>
        </p:nvSpPr>
        <p:spPr>
          <a:xfrm>
            <a:off x="640080" y="5705856"/>
            <a:ext cx="5394960" cy="274320"/>
          </a:xfrm>
          <a:prstGeom prst="rect">
            <a:avLst/>
          </a:prstGeom>
          <a:noFill/>
        </p:spPr>
        <p:txBody>
          <a:bodyPr wrap="square">
            <a:spAutoFit/>
          </a:bodyPr>
          <a:lstStyle/>
          <a:p>
            <a:pPr algn="l"/>
            <a:r>
              <a:rPr sz="1050" b="0" i="0">
                <a:solidFill>
                  <a:srgbClr val="475569"/>
                </a:solidFill>
                <a:latin typeface="Calibri"/>
              </a:rPr>
              <a:t>Board sử dụng: ESP32-S3-DevKitC-1</a:t>
            </a:r>
          </a:p>
        </p:txBody>
      </p:sp>
      <p:sp>
        <p:nvSpPr>
          <p:cNvPr id="14" name="TextBox 13"/>
          <p:cNvSpPr txBox="1"/>
          <p:nvPr/>
        </p:nvSpPr>
        <p:spPr>
          <a:xfrm>
            <a:off x="640080" y="5961888"/>
            <a:ext cx="5394960" cy="274320"/>
          </a:xfrm>
          <a:prstGeom prst="rect">
            <a:avLst/>
          </a:prstGeom>
          <a:noFill/>
        </p:spPr>
        <p:txBody>
          <a:bodyPr wrap="square">
            <a:spAutoFit/>
          </a:bodyPr>
          <a:lstStyle/>
          <a:p>
            <a:pPr algn="l"/>
            <a:r>
              <a:rPr sz="1050" b="0" i="0">
                <a:solidFill>
                  <a:srgbClr val="475569"/>
                </a:solidFill>
                <a:latin typeface="Calibri"/>
              </a:rPr>
              <a:t>datnlt@tdmu.edu.vn</a:t>
            </a:r>
          </a:p>
        </p:txBody>
      </p:sp>
      <p:sp>
        <p:nvSpPr>
          <p:cNvPr id="15" name="Rounded Rectangle 14"/>
          <p:cNvSpPr/>
          <p:nvPr/>
        </p:nvSpPr>
        <p:spPr>
          <a:xfrm>
            <a:off x="6720840" y="640080"/>
            <a:ext cx="2743200" cy="306324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sp32s3.jpg"/>
          <p:cNvPicPr>
            <a:picLocks noChangeAspect="1"/>
          </p:cNvPicPr>
          <p:nvPr/>
        </p:nvPicPr>
        <p:blipFill>
          <a:blip r:embed="rId2"/>
          <a:stretch>
            <a:fillRect/>
          </a:stretch>
        </p:blipFill>
        <p:spPr>
          <a:xfrm>
            <a:off x="6812279" y="1189817"/>
            <a:ext cx="2560320" cy="1963765"/>
          </a:xfrm>
          <a:prstGeom prst="rect">
            <a:avLst/>
          </a:prstGeom>
        </p:spPr>
      </p:pic>
      <p:sp>
        <p:nvSpPr>
          <p:cNvPr id="17" name="Rounded Rectangle 16"/>
          <p:cNvSpPr/>
          <p:nvPr/>
        </p:nvSpPr>
        <p:spPr>
          <a:xfrm>
            <a:off x="9281160" y="2148840"/>
            <a:ext cx="2423160" cy="27432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csr04.jpg"/>
          <p:cNvPicPr>
            <a:picLocks noChangeAspect="1"/>
          </p:cNvPicPr>
          <p:nvPr/>
        </p:nvPicPr>
        <p:blipFill>
          <a:blip r:embed="rId3"/>
          <a:stretch>
            <a:fillRect/>
          </a:stretch>
        </p:blipFill>
        <p:spPr>
          <a:xfrm>
            <a:off x="9372600" y="2684815"/>
            <a:ext cx="2240279" cy="1671248"/>
          </a:xfrm>
          <a:prstGeom prst="rect">
            <a:avLst/>
          </a:prstGeom>
        </p:spPr>
      </p:pic>
      <p:sp>
        <p:nvSpPr>
          <p:cNvPr id="19" name="Rounded Rectangle 18"/>
          <p:cNvSpPr/>
          <p:nvPr/>
        </p:nvSpPr>
        <p:spPr>
          <a:xfrm>
            <a:off x="7635240" y="3977639"/>
            <a:ext cx="3291840" cy="233172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esp32s3.jpg"/>
          <p:cNvPicPr>
            <a:picLocks noChangeAspect="1"/>
          </p:cNvPicPr>
          <p:nvPr/>
        </p:nvPicPr>
        <p:blipFill>
          <a:blip r:embed="rId2"/>
          <a:stretch>
            <a:fillRect/>
          </a:stretch>
        </p:blipFill>
        <p:spPr>
          <a:xfrm>
            <a:off x="7880351" y="4069079"/>
            <a:ext cx="2801616" cy="2148839"/>
          </a:xfrm>
          <a:prstGeom prst="rect">
            <a:avLst/>
          </a:prstGeom>
        </p:spPr>
      </p:pic>
      <p:sp>
        <p:nvSpPr>
          <p:cNvPr id="21" name="TextBox 20"/>
          <p:cNvSpPr txBox="1"/>
          <p:nvPr/>
        </p:nvSpPr>
        <p:spPr>
          <a:xfrm>
            <a:off x="6720840" y="6473952"/>
            <a:ext cx="4937760" cy="274320"/>
          </a:xfrm>
          <a:prstGeom prst="rect">
            <a:avLst/>
          </a:prstGeom>
          <a:noFill/>
        </p:spPr>
        <p:txBody>
          <a:bodyPr wrap="square">
            <a:spAutoFit/>
          </a:bodyPr>
          <a:lstStyle/>
          <a:p>
            <a:pPr algn="r"/>
            <a:r>
              <a:rPr sz="850" b="0" i="1">
                <a:solidFill>
                  <a:srgbClr val="94A3B8"/>
                </a:solidFill>
                <a:latin typeface="Calibri"/>
              </a:rPr>
              <a:t>Ảnh minh hoạ thiết bị thực tế sử dụng trong bài học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B2 · MỞ ĐẦU</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Mục tiêu bài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a:t>
            </a:r>
          </a:p>
        </p:txBody>
      </p:sp>
      <p:sp>
        <p:nvSpPr>
          <p:cNvPr id="10" name="Oval 9"/>
          <p:cNvSpPr/>
          <p:nvPr/>
        </p:nvSpPr>
        <p:spPr>
          <a:xfrm>
            <a:off x="548640" y="1417320"/>
            <a:ext cx="566928" cy="56692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1</a:t>
            </a:r>
          </a:p>
        </p:txBody>
      </p:sp>
      <p:sp>
        <p:nvSpPr>
          <p:cNvPr id="11" name="TextBox 10"/>
          <p:cNvSpPr txBox="1"/>
          <p:nvPr/>
        </p:nvSpPr>
        <p:spPr>
          <a:xfrm>
            <a:off x="1325880" y="1444752"/>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Hiểu nguyên lý đo khoảng cách bằng sóng siêu âm (Time-of-Flight) qua module HC-SR04.</a:t>
            </a:r>
          </a:p>
        </p:txBody>
      </p:sp>
      <p:sp>
        <p:nvSpPr>
          <p:cNvPr id="12" name="Oval 11"/>
          <p:cNvSpPr/>
          <p:nvPr/>
        </p:nvSpPr>
        <p:spPr>
          <a:xfrm>
            <a:off x="548640" y="235000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2</a:t>
            </a:r>
          </a:p>
        </p:txBody>
      </p:sp>
      <p:sp>
        <p:nvSpPr>
          <p:cNvPr id="13" name="TextBox 12"/>
          <p:cNvSpPr txBox="1"/>
          <p:nvPr/>
        </p:nvSpPr>
        <p:spPr>
          <a:xfrm>
            <a:off x="1325880" y="2377440"/>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Đọc nhiệt độ nguồn nước bằng cảm biến số chống nước DS18B20 (giao thức 1-Wire).</a:t>
            </a:r>
          </a:p>
        </p:txBody>
      </p:sp>
      <p:sp>
        <p:nvSpPr>
          <p:cNvPr id="14" name="Oval 13"/>
          <p:cNvSpPr/>
          <p:nvPr/>
        </p:nvSpPr>
        <p:spPr>
          <a:xfrm>
            <a:off x="548640" y="328269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3</a:t>
            </a:r>
          </a:p>
        </p:txBody>
      </p:sp>
      <p:sp>
        <p:nvSpPr>
          <p:cNvPr id="15" name="TextBox 14"/>
          <p:cNvSpPr txBox="1"/>
          <p:nvPr/>
        </p:nvSpPr>
        <p:spPr>
          <a:xfrm>
            <a:off x="1325880" y="3310128"/>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Lập trình logic so sánh ngưỡng (if/else) đầu tiên trong chuỗi bài giảng — nền tảng cho mọi bài sau.</a:t>
            </a:r>
          </a:p>
        </p:txBody>
      </p:sp>
      <p:sp>
        <p:nvSpPr>
          <p:cNvPr id="16" name="Oval 15"/>
          <p:cNvSpPr/>
          <p:nvPr/>
        </p:nvSpPr>
        <p:spPr>
          <a:xfrm>
            <a:off x="548640" y="4215384"/>
            <a:ext cx="566928" cy="56692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4</a:t>
            </a:r>
          </a:p>
        </p:txBody>
      </p:sp>
      <p:sp>
        <p:nvSpPr>
          <p:cNvPr id="17" name="TextBox 16"/>
          <p:cNvSpPr txBox="1"/>
          <p:nvPr/>
        </p:nvSpPr>
        <p:spPr>
          <a:xfrm>
            <a:off x="1325880" y="4242816"/>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Hiển thị kết quả đo và trạng thái cảnh báo theo thời gian thực lên LCD1602.</a:t>
            </a:r>
          </a:p>
        </p:txBody>
      </p:sp>
      <p:sp>
        <p:nvSpPr>
          <p:cNvPr id="18" name="Rectangle 17"/>
          <p:cNvSpPr/>
          <p:nvPr/>
        </p:nvSpPr>
        <p:spPr>
          <a:xfrm>
            <a:off x="548640" y="5193792"/>
            <a:ext cx="10881360" cy="18288"/>
          </a:xfrm>
          <a:prstGeom prst="rect">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330952"/>
            <a:ext cx="10881360" cy="457200"/>
          </a:xfrm>
          <a:prstGeom prst="rect">
            <a:avLst/>
          </a:prstGeom>
          <a:noFill/>
        </p:spPr>
        <p:txBody>
          <a:bodyPr wrap="square">
            <a:spAutoFit/>
          </a:bodyPr>
          <a:lstStyle/>
          <a:p>
            <a:pPr algn="l"/>
            <a:r>
              <a:rPr sz="1250" b="1" i="0">
                <a:solidFill>
                  <a:srgbClr val="475569"/>
                </a:solidFill>
                <a:latin typeface="Calibri"/>
              </a:rPr>
              <a:t>Board sử dụng: ESP32-S3-DevKitC-1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B2 · LÝ THUYẾT NỀN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Nguyên lý đo khoảng cách siêu âm &amp; cảm biến 1-Wire</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a:t>
            </a:r>
          </a:p>
        </p:txBody>
      </p:sp>
      <p:sp>
        <p:nvSpPr>
          <p:cNvPr id="10" name="TextBox 9"/>
          <p:cNvSpPr txBox="1"/>
          <p:nvPr/>
        </p:nvSpPr>
        <p:spPr>
          <a:xfrm>
            <a:off x="548640" y="1417320"/>
            <a:ext cx="11064240" cy="4846320"/>
          </a:xfrm>
          <a:prstGeom prst="rect">
            <a:avLst/>
          </a:prstGeom>
          <a:noFill/>
        </p:spPr>
        <p:txBody>
          <a:bodyPr wrap="square">
            <a:spAutoFit/>
          </a:bodyPr>
          <a:lstStyle/>
          <a:p>
            <a:pPr algn="l">
              <a:spcAft>
                <a:spcPts val="1400"/>
              </a:spcAft>
            </a:pPr>
            <a:r>
              <a:rPr sz="1550" b="1">
                <a:solidFill>
                  <a:srgbClr val="3B82F6"/>
                </a:solidFill>
                <a:latin typeface="Calibri"/>
              </a:rPr>
              <a:t>●  </a:t>
            </a:r>
            <a:r>
              <a:rPr sz="1550" b="0">
                <a:solidFill>
                  <a:srgbClr val="1E293B"/>
                </a:solidFill>
                <a:latin typeface="Calibri"/>
              </a:rPr>
              <a:t>HC-SR04 phát 8 xung sóng âm 40kHz từ chân TRIG (kích hoạt bằng xung HIGH ≥10µs), sóng phản xạ lại mặt vật cản rồi được thu về ở chân ECHO.</a:t>
            </a:r>
          </a:p>
          <a:p>
            <a:pPr algn="l">
              <a:spcAft>
                <a:spcPts val="1400"/>
              </a:spcAft>
            </a:pPr>
            <a:r>
              <a:rPr sz="1550" b="1">
                <a:solidFill>
                  <a:srgbClr val="3B82F6"/>
                </a:solidFill>
                <a:latin typeface="Calibri"/>
              </a:rPr>
              <a:t>●  </a:t>
            </a:r>
            <a:r>
              <a:rPr sz="1550" b="0">
                <a:solidFill>
                  <a:srgbClr val="1E293B"/>
                </a:solidFill>
                <a:latin typeface="Calibri"/>
              </a:rPr>
              <a:t>Thời gian sóng đi và về được đo bằng hàm pulseIn(ECHO, HIGH); khoảng cách = thời gian × vận tốc âm thanh (≈0.034 cm/µs) ÷ 2 — chia 2 vì sóng phải đi rồi phản xạ về.</a:t>
            </a:r>
          </a:p>
          <a:p>
            <a:pPr algn="l">
              <a:spcAft>
                <a:spcPts val="1400"/>
              </a:spcAft>
            </a:pPr>
            <a:r>
              <a:rPr sz="1550" b="1">
                <a:solidFill>
                  <a:srgbClr val="3B82F6"/>
                </a:solidFill>
                <a:latin typeface="Calibri"/>
              </a:rPr>
              <a:t>●  </a:t>
            </a:r>
            <a:r>
              <a:rPr sz="1550" b="0">
                <a:solidFill>
                  <a:srgbClr val="1E293B"/>
                </a:solidFill>
                <a:latin typeface="Calibri"/>
              </a:rPr>
              <a:t>DS18B20 giao tiếp số theo chuẩn 1-Wire (Dallas) — chỉ cần 1 dây DATA cho cả điều khiển lẫn trao đổi dữ liệu; mạch thật cần thêm điện trở kéo lên (pull-up) 4.7kΩ giữa DATA và VCC.</a:t>
            </a:r>
          </a:p>
          <a:p>
            <a:pPr algn="l">
              <a:spcAft>
                <a:spcPts val="1400"/>
              </a:spcAft>
            </a:pPr>
            <a:r>
              <a:rPr sz="1550" b="1">
                <a:solidFill>
                  <a:srgbClr val="3B82F6"/>
                </a:solidFill>
                <a:latin typeface="Calibri"/>
              </a:rPr>
              <a:t>●  </a:t>
            </a:r>
            <a:r>
              <a:rPr sz="1550" b="0">
                <a:solidFill>
                  <a:srgbClr val="1E293B"/>
                </a:solidFill>
                <a:latin typeface="Calibri"/>
              </a:rPr>
              <a:t>Dải đo HC-SR04: 2cm–400cm, góc quét hẹp (~15°) — nên lắp thẳng đứng phía trên bề mặt cần đo để có phản xạ tốt nhất.</a:t>
            </a:r>
          </a:p>
          <a:p>
            <a:pPr algn="l">
              <a:spcAft>
                <a:spcPts val="1400"/>
              </a:spcAft>
            </a:pPr>
            <a:r>
              <a:rPr sz="1550" b="1">
                <a:solidFill>
                  <a:srgbClr val="3B82F6"/>
                </a:solidFill>
                <a:latin typeface="Calibri"/>
              </a:rPr>
              <a:t>●  </a:t>
            </a:r>
            <a:r>
              <a:rPr sz="1550" b="0">
                <a:solidFill>
                  <a:srgbClr val="1E293B"/>
                </a:solidFill>
                <a:latin typeface="Calibri"/>
              </a:rPr>
              <a:t>Nguyên lý cảnh báo ngập: cảm biến đặt cố định phía trên (ví dụ miệng cống, thành bể) — khoảng cách đo được CÀNG NHỎ nghĩa là mực nước dâng CÀNG CAO (nước tiến gần cảm biến hơn).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B2 ·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Danh sách linh kiện sử dụng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3</a:t>
            </a:r>
          </a:p>
        </p:txBody>
      </p:sp>
      <p:graphicFrame>
        <p:nvGraphicFramePr>
          <p:cNvPr id="10" name="Table 9"/>
          <p:cNvGraphicFramePr>
            <a:graphicFrameLocks noGrp="1"/>
          </p:cNvGraphicFramePr>
          <p:nvPr/>
        </p:nvGraphicFramePr>
        <p:xfrm>
          <a:off x="548640" y="1417320"/>
          <a:ext cx="11064240" cy="3749039"/>
        </p:xfrm>
        <a:graphic>
          <a:graphicData uri="http://schemas.openxmlformats.org/drawingml/2006/table">
            <a:tbl>
              <a:tblPr>
                <a:tableStyleId>{5C22544A-7EE6-4342-B048-85BDC9FD1C3A}</a:tableStyleId>
              </a:tblPr>
              <a:tblGrid>
                <a:gridCol w="2766060"/>
                <a:gridCol w="5532120"/>
                <a:gridCol w="2766060"/>
              </a:tblGrid>
              <a:tr h="749807">
                <a:tc>
                  <a:txBody>
                    <a:bodyPr wrap="square"/>
                    <a:lstStyle/>
                    <a:p>
                      <a:pPr algn="ctr"/>
                      <a:r>
                        <a:rPr sz="1400" b="1">
                          <a:solidFill>
                            <a:srgbClr val="FFFFFF"/>
                          </a:solidFill>
                          <a:latin typeface="Calibri"/>
                        </a:rPr>
                        <a:t>Linh kiện</a:t>
                      </a:r>
                    </a:p>
                  </a:txBody>
                  <a:tcPr marL="73152" marR="73152" marT="36576" marB="36576" anchor="ctr">
                    <a:solidFill>
                      <a:srgbClr val="F59E0B"/>
                    </a:solidFill>
                  </a:tcPr>
                </a:tc>
                <a:tc>
                  <a:txBody>
                    <a:bodyPr wrap="square"/>
                    <a:lstStyle/>
                    <a:p>
                      <a:pPr algn="ctr"/>
                      <a:r>
                        <a:rPr sz="1400" b="1">
                          <a:solidFill>
                            <a:srgbClr val="FFFFFF"/>
                          </a:solidFill>
                          <a:latin typeface="Calibri"/>
                        </a:rPr>
                        <a:t>Chức năng</a:t>
                      </a:r>
                    </a:p>
                  </a:txBody>
                  <a:tcPr marL="73152" marR="73152" marT="36576" marB="36576" anchor="ctr">
                    <a:solidFill>
                      <a:srgbClr val="F59E0B"/>
                    </a:solidFill>
                  </a:tcPr>
                </a:tc>
                <a:tc>
                  <a:txBody>
                    <a:bodyPr wrap="square"/>
                    <a:lstStyle/>
                    <a:p>
                      <a:pPr algn="ctr"/>
                      <a:r>
                        <a:rPr sz="1400" b="1">
                          <a:solidFill>
                            <a:srgbClr val="FFFFFF"/>
                          </a:solidFill>
                          <a:latin typeface="Calibri"/>
                        </a:rPr>
                        <a:t>Chân kết nối</a:t>
                      </a:r>
                    </a:p>
                  </a:txBody>
                  <a:tcPr marL="73152" marR="73152" marT="36576" marB="36576" anchor="ctr">
                    <a:solidFill>
                      <a:srgbClr val="F59E0B"/>
                    </a:solidFill>
                  </a:tcPr>
                </a:tc>
              </a:tr>
              <a:tr h="749807">
                <a:tc>
                  <a:txBody>
                    <a:bodyPr wrap="square"/>
                    <a:lstStyle/>
                    <a:p>
                      <a:pPr algn="l"/>
                      <a:r>
                        <a:rPr sz="1300" b="0">
                          <a:solidFill>
                            <a:srgbClr val="1E293B"/>
                          </a:solidFill>
                          <a:latin typeface="Calibri"/>
                        </a:rPr>
                        <a:t>ESP32-S3-DevKitC-1</a:t>
                      </a:r>
                    </a:p>
                  </a:txBody>
                  <a:tcPr marL="73152" marR="73152" marT="36576" marB="36576" anchor="ctr">
                    <a:solidFill>
                      <a:srgbClr val="FFFFFF"/>
                    </a:solidFill>
                  </a:tcPr>
                </a:tc>
                <a:tc>
                  <a:txBody>
                    <a:bodyPr wrap="square"/>
                    <a:lstStyle/>
                    <a:p>
                      <a:pPr algn="l"/>
                      <a:r>
                        <a:rPr sz="1300" b="0">
                          <a:solidFill>
                            <a:srgbClr val="475569"/>
                          </a:solidFill>
                          <a:latin typeface="Calibri"/>
                        </a:rPr>
                        <a:t>Vi điều khiển trung tâm</a:t>
                      </a:r>
                    </a:p>
                  </a:txBody>
                  <a:tcPr marL="73152" marR="73152" marT="36576" marB="36576" anchor="ctr">
                    <a:solidFill>
                      <a:srgbClr val="FFFFFF"/>
                    </a:solidFill>
                  </a:tcPr>
                </a:tc>
                <a:tc>
                  <a:txBody>
                    <a:bodyPr wrap="square"/>
                    <a:lstStyle/>
                    <a:p>
                      <a:pPr algn="ctr"/>
                      <a:r>
                        <a:rPr sz="1300" b="0">
                          <a:solidFill>
                            <a:srgbClr val="3B82F6"/>
                          </a:solidFill>
                          <a:latin typeface="Calibri"/>
                        </a:rPr>
                        <a:t>—</a:t>
                      </a:r>
                    </a:p>
                  </a:txBody>
                  <a:tcPr marL="73152" marR="73152" marT="36576" marB="36576" anchor="ctr">
                    <a:solidFill>
                      <a:srgbClr val="FFFFFF"/>
                    </a:solidFill>
                  </a:tcPr>
                </a:tc>
              </a:tr>
              <a:tr h="749807">
                <a:tc>
                  <a:txBody>
                    <a:bodyPr wrap="square"/>
                    <a:lstStyle/>
                    <a:p>
                      <a:pPr algn="l"/>
                      <a:r>
                        <a:rPr sz="1300" b="0">
                          <a:solidFill>
                            <a:srgbClr val="1E293B"/>
                          </a:solidFill>
                          <a:latin typeface="Calibri"/>
                        </a:rPr>
                        <a:t>HC-SR04</a:t>
                      </a:r>
                    </a:p>
                  </a:txBody>
                  <a:tcPr marL="73152" marR="73152" marT="36576" marB="36576" anchor="ctr">
                    <a:solidFill>
                      <a:srgbClr val="FFFFFF"/>
                    </a:solidFill>
                  </a:tcPr>
                </a:tc>
                <a:tc>
                  <a:txBody>
                    <a:bodyPr wrap="square"/>
                    <a:lstStyle/>
                    <a:p>
                      <a:pPr algn="l"/>
                      <a:r>
                        <a:rPr sz="1300" b="0">
                          <a:solidFill>
                            <a:srgbClr val="475569"/>
                          </a:solidFill>
                          <a:latin typeface="Calibri"/>
                        </a:rPr>
                        <a:t>Cảm biến siêu âm đo khoảng cách (suy ra mực nước)</a:t>
                      </a:r>
                    </a:p>
                  </a:txBody>
                  <a:tcPr marL="73152" marR="73152" marT="36576" marB="36576" anchor="ctr">
                    <a:solidFill>
                      <a:srgbClr val="FFFFFF"/>
                    </a:solidFill>
                  </a:tcPr>
                </a:tc>
                <a:tc>
                  <a:txBody>
                    <a:bodyPr wrap="square"/>
                    <a:lstStyle/>
                    <a:p>
                      <a:pPr algn="ctr"/>
                      <a:r>
                        <a:rPr sz="1300" b="0">
                          <a:solidFill>
                            <a:srgbClr val="10B981"/>
                          </a:solidFill>
                          <a:latin typeface="Calibri"/>
                        </a:rPr>
                        <a:t>TRIG: GPIO5 · ECHO: GPIO18</a:t>
                      </a:r>
                    </a:p>
                  </a:txBody>
                  <a:tcPr marL="73152" marR="73152" marT="36576" marB="36576" anchor="ctr">
                    <a:solidFill>
                      <a:srgbClr val="FFFFFF"/>
                    </a:solidFill>
                  </a:tcPr>
                </a:tc>
              </a:tr>
              <a:tr h="749807">
                <a:tc>
                  <a:txBody>
                    <a:bodyPr wrap="square"/>
                    <a:lstStyle/>
                    <a:p>
                      <a:pPr algn="l"/>
                      <a:r>
                        <a:rPr sz="1300" b="0">
                          <a:solidFill>
                            <a:srgbClr val="1E293B"/>
                          </a:solidFill>
                          <a:latin typeface="Calibri"/>
                        </a:rPr>
                        <a:t>DS18B20</a:t>
                      </a:r>
                    </a:p>
                  </a:txBody>
                  <a:tcPr marL="73152" marR="73152" marT="36576" marB="36576" anchor="ctr">
                    <a:solidFill>
                      <a:srgbClr val="FFFFFF"/>
                    </a:solidFill>
                  </a:tcPr>
                </a:tc>
                <a:tc>
                  <a:txBody>
                    <a:bodyPr wrap="square"/>
                    <a:lstStyle/>
                    <a:p>
                      <a:pPr algn="l"/>
                      <a:r>
                        <a:rPr sz="1300" b="0">
                          <a:solidFill>
                            <a:srgbClr val="475569"/>
                          </a:solidFill>
                          <a:latin typeface="Calibri"/>
                        </a:rPr>
                        <a:t>Cảm biến nhiệt độ số, đầu dò chống nước</a:t>
                      </a:r>
                    </a:p>
                  </a:txBody>
                  <a:tcPr marL="73152" marR="73152" marT="36576" marB="36576" anchor="ctr">
                    <a:solidFill>
                      <a:srgbClr val="FFFFFF"/>
                    </a:solidFill>
                  </a:tcPr>
                </a:tc>
                <a:tc>
                  <a:txBody>
                    <a:bodyPr wrap="square"/>
                    <a:lstStyle/>
                    <a:p>
                      <a:pPr algn="ctr"/>
                      <a:r>
                        <a:rPr sz="1300" b="0">
                          <a:solidFill>
                            <a:srgbClr val="F59E0B"/>
                          </a:solidFill>
                          <a:latin typeface="Calibri"/>
                        </a:rPr>
                        <a:t>GPIO4</a:t>
                      </a:r>
                    </a:p>
                  </a:txBody>
                  <a:tcPr marL="73152" marR="73152" marT="36576" marB="36576" anchor="ctr">
                    <a:solidFill>
                      <a:srgbClr val="FFFFFF"/>
                    </a:solidFill>
                  </a:tcPr>
                </a:tc>
              </a:tr>
              <a:tr h="749811">
                <a:tc>
                  <a:txBody>
                    <a:bodyPr wrap="square"/>
                    <a:lstStyle/>
                    <a:p>
                      <a:pPr algn="l"/>
                      <a:r>
                        <a:rPr sz="1300" b="0">
                          <a:solidFill>
                            <a:srgbClr val="1E293B"/>
                          </a:solidFill>
                          <a:latin typeface="Calibri"/>
                        </a:rPr>
                        <a:t>LCD1602 (I2C)</a:t>
                      </a:r>
                    </a:p>
                  </a:txBody>
                  <a:tcPr marL="73152" marR="73152" marT="36576" marB="36576" anchor="ctr">
                    <a:solidFill>
                      <a:srgbClr val="FFFFFF"/>
                    </a:solidFill>
                  </a:tcPr>
                </a:tc>
                <a:tc>
                  <a:txBody>
                    <a:bodyPr wrap="square"/>
                    <a:lstStyle/>
                    <a:p>
                      <a:pPr algn="l"/>
                      <a:r>
                        <a:rPr sz="1300" b="0">
                          <a:solidFill>
                            <a:srgbClr val="475569"/>
                          </a:solidFill>
                          <a:latin typeface="Calibri"/>
                        </a:rPr>
                        <a:t>Hiển thị mực nước &amp; trạng thái cảnh báo</a:t>
                      </a:r>
                    </a:p>
                  </a:txBody>
                  <a:tcPr marL="73152" marR="73152" marT="36576" marB="36576" anchor="ctr">
                    <a:solidFill>
                      <a:srgbClr val="FFFFFF"/>
                    </a:solidFill>
                  </a:tcPr>
                </a:tc>
                <a:tc>
                  <a:txBody>
                    <a:bodyPr wrap="square"/>
                    <a:lstStyle/>
                    <a:p>
                      <a:pPr algn="ctr"/>
                      <a:r>
                        <a:rPr sz="1300" b="0">
                          <a:solidFill>
                            <a:srgbClr val="8B5CF6"/>
                          </a:solidFill>
                          <a:latin typeface="Calibri"/>
                        </a:rPr>
                        <a:t>SCL: GPIO9 · SDA: GPIO8</a:t>
                      </a:r>
                    </a:p>
                  </a:txBody>
                  <a:tcPr marL="73152" marR="73152" marT="36576" marB="36576"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C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C4899"/>
                </a:solidFill>
                <a:latin typeface="Calibri"/>
              </a:rPr>
              <a:t>B2 · HÌNH ẢNH THIẾT BỊ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Nhận diện linh kiện phần cứng</a:t>
            </a:r>
          </a:p>
        </p:txBody>
      </p:sp>
      <p:sp>
        <p:nvSpPr>
          <p:cNvPr id="7" name="TextBox 6"/>
          <p:cNvSpPr txBox="1"/>
          <p:nvPr/>
        </p:nvSpPr>
        <p:spPr>
          <a:xfrm>
            <a:off x="502920" y="6236208"/>
            <a:ext cx="11185855" cy="237744"/>
          </a:xfrm>
          <a:prstGeom prst="rect">
            <a:avLst/>
          </a:prstGeom>
          <a:noFill/>
        </p:spPr>
        <p:txBody>
          <a:bodyPr wrap="square">
            <a:spAutoFit/>
          </a:bodyPr>
          <a:lstStyle/>
          <a:p>
            <a:pPr algn="r"/>
            <a:r>
              <a:rPr sz="800" b="0" i="1">
                <a:solidFill>
                  <a:srgbClr val="94A3B8"/>
                </a:solidFill>
                <a:latin typeface="Calibri"/>
              </a:rPr>
              <a:t>Nguồn ảnh: xem slide Nguồn tham khảo cuối bài B0</a:t>
            </a:r>
          </a:p>
        </p:txBody>
      </p:sp>
      <p:cxnSp>
        <p:nvCxnSpPr>
          <p:cNvPr id="8" name="Connector 7"/>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10" name="TextBox 9"/>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4</a:t>
            </a:r>
          </a:p>
        </p:txBody>
      </p:sp>
      <p:sp>
        <p:nvSpPr>
          <p:cNvPr id="11" name="Rounded Rectangle 10"/>
          <p:cNvSpPr/>
          <p:nvPr/>
        </p:nvSpPr>
        <p:spPr>
          <a:xfrm>
            <a:off x="548640" y="1417320"/>
            <a:ext cx="2574036"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sp32s3.jpg"/>
          <p:cNvPicPr>
            <a:picLocks noChangeAspect="1"/>
          </p:cNvPicPr>
          <p:nvPr/>
        </p:nvPicPr>
        <p:blipFill>
          <a:blip r:embed="rId2"/>
          <a:stretch>
            <a:fillRect/>
          </a:stretch>
        </p:blipFill>
        <p:spPr>
          <a:xfrm>
            <a:off x="804424" y="1508760"/>
            <a:ext cx="2062466" cy="1581912"/>
          </a:xfrm>
          <a:prstGeom prst="rect">
            <a:avLst/>
          </a:prstGeom>
        </p:spPr>
      </p:pic>
      <p:sp>
        <p:nvSpPr>
          <p:cNvPr id="13" name="Rectangle 12"/>
          <p:cNvSpPr/>
          <p:nvPr/>
        </p:nvSpPr>
        <p:spPr>
          <a:xfrm>
            <a:off x="548640" y="3182112"/>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218688"/>
            <a:ext cx="2391156" cy="256032"/>
          </a:xfrm>
          <a:prstGeom prst="rect">
            <a:avLst/>
          </a:prstGeom>
          <a:noFill/>
        </p:spPr>
        <p:txBody>
          <a:bodyPr wrap="square">
            <a:spAutoFit/>
          </a:bodyPr>
          <a:lstStyle/>
          <a:p>
            <a:pPr algn="ctr"/>
            <a:r>
              <a:rPr sz="1150" b="1" i="0">
                <a:solidFill>
                  <a:srgbClr val="1E293B"/>
                </a:solidFill>
                <a:latin typeface="Calibri"/>
              </a:rPr>
              <a:t>ESP32-S3-DevKitC-1</a:t>
            </a:r>
          </a:p>
        </p:txBody>
      </p:sp>
      <p:sp>
        <p:nvSpPr>
          <p:cNvPr id="15" name="TextBox 14"/>
          <p:cNvSpPr txBox="1"/>
          <p:nvPr/>
        </p:nvSpPr>
        <p:spPr>
          <a:xfrm>
            <a:off x="640080" y="3474720"/>
            <a:ext cx="2391156" cy="347471"/>
          </a:xfrm>
          <a:prstGeom prst="rect">
            <a:avLst/>
          </a:prstGeom>
          <a:noFill/>
        </p:spPr>
        <p:txBody>
          <a:bodyPr wrap="square">
            <a:spAutoFit/>
          </a:bodyPr>
          <a:lstStyle/>
          <a:p>
            <a:pPr algn="ctr"/>
            <a:r>
              <a:rPr sz="850" b="0" i="0">
                <a:solidFill>
                  <a:srgbClr val="475569"/>
                </a:solidFill>
                <a:latin typeface="Calibri"/>
              </a:rPr>
              <a:t>Vi điều khiển trung tâm (ảnh minh hoạ dòng ESP32 DevKit — board dùng trong bài là bản S3, 44 chân)</a:t>
            </a:r>
          </a:p>
        </p:txBody>
      </p:sp>
      <p:sp>
        <p:nvSpPr>
          <p:cNvPr id="16" name="Rounded Rectangle 15"/>
          <p:cNvSpPr/>
          <p:nvPr/>
        </p:nvSpPr>
        <p:spPr>
          <a:xfrm>
            <a:off x="3378708" y="1417320"/>
            <a:ext cx="2574036"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csr04.jpg"/>
          <p:cNvPicPr>
            <a:picLocks noChangeAspect="1"/>
          </p:cNvPicPr>
          <p:nvPr/>
        </p:nvPicPr>
        <p:blipFill>
          <a:blip r:embed="rId3"/>
          <a:stretch>
            <a:fillRect/>
          </a:stretch>
        </p:blipFill>
        <p:spPr>
          <a:xfrm>
            <a:off x="3605463" y="1508760"/>
            <a:ext cx="2120525" cy="1581912"/>
          </a:xfrm>
          <a:prstGeom prst="rect">
            <a:avLst/>
          </a:prstGeom>
        </p:spPr>
      </p:pic>
      <p:sp>
        <p:nvSpPr>
          <p:cNvPr id="18" name="Rectangle 17"/>
          <p:cNvSpPr/>
          <p:nvPr/>
        </p:nvSpPr>
        <p:spPr>
          <a:xfrm>
            <a:off x="3378708" y="3182112"/>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0148" y="3218688"/>
            <a:ext cx="2391156" cy="256032"/>
          </a:xfrm>
          <a:prstGeom prst="rect">
            <a:avLst/>
          </a:prstGeom>
          <a:noFill/>
        </p:spPr>
        <p:txBody>
          <a:bodyPr wrap="square">
            <a:spAutoFit/>
          </a:bodyPr>
          <a:lstStyle/>
          <a:p>
            <a:pPr algn="ctr"/>
            <a:r>
              <a:rPr sz="1150" b="1" i="0">
                <a:solidFill>
                  <a:srgbClr val="1E293B"/>
                </a:solidFill>
                <a:latin typeface="Calibri"/>
              </a:rPr>
              <a:t>HC-SR04</a:t>
            </a:r>
          </a:p>
        </p:txBody>
      </p:sp>
      <p:sp>
        <p:nvSpPr>
          <p:cNvPr id="20" name="TextBox 19"/>
          <p:cNvSpPr txBox="1"/>
          <p:nvPr/>
        </p:nvSpPr>
        <p:spPr>
          <a:xfrm>
            <a:off x="3470148" y="3474720"/>
            <a:ext cx="2391156" cy="347471"/>
          </a:xfrm>
          <a:prstGeom prst="rect">
            <a:avLst/>
          </a:prstGeom>
          <a:noFill/>
        </p:spPr>
        <p:txBody>
          <a:bodyPr wrap="square">
            <a:spAutoFit/>
          </a:bodyPr>
          <a:lstStyle/>
          <a:p>
            <a:pPr algn="ctr"/>
            <a:r>
              <a:rPr sz="850" b="0" i="0">
                <a:solidFill>
                  <a:srgbClr val="475569"/>
                </a:solidFill>
                <a:latin typeface="Calibri"/>
              </a:rPr>
              <a:t>Cảm biến khoảng cách bằng sóng siêu âm</a:t>
            </a:r>
          </a:p>
        </p:txBody>
      </p:sp>
      <p:sp>
        <p:nvSpPr>
          <p:cNvPr id="21" name="Rounded Rectangle 20"/>
          <p:cNvSpPr/>
          <p:nvPr/>
        </p:nvSpPr>
        <p:spPr>
          <a:xfrm>
            <a:off x="6208775" y="1417320"/>
            <a:ext cx="2574036"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ds18b20.jpg"/>
          <p:cNvPicPr>
            <a:picLocks noChangeAspect="1"/>
          </p:cNvPicPr>
          <p:nvPr/>
        </p:nvPicPr>
        <p:blipFill>
          <a:blip r:embed="rId4"/>
          <a:stretch>
            <a:fillRect/>
          </a:stretch>
        </p:blipFill>
        <p:spPr>
          <a:xfrm>
            <a:off x="6704838" y="1508760"/>
            <a:ext cx="1581912" cy="1581912"/>
          </a:xfrm>
          <a:prstGeom prst="rect">
            <a:avLst/>
          </a:prstGeom>
        </p:spPr>
      </p:pic>
      <p:sp>
        <p:nvSpPr>
          <p:cNvPr id="23" name="Rectangle 22"/>
          <p:cNvSpPr/>
          <p:nvPr/>
        </p:nvSpPr>
        <p:spPr>
          <a:xfrm>
            <a:off x="6208775" y="3182112"/>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0215" y="3218688"/>
            <a:ext cx="2391156" cy="256032"/>
          </a:xfrm>
          <a:prstGeom prst="rect">
            <a:avLst/>
          </a:prstGeom>
          <a:noFill/>
        </p:spPr>
        <p:txBody>
          <a:bodyPr wrap="square">
            <a:spAutoFit/>
          </a:bodyPr>
          <a:lstStyle/>
          <a:p>
            <a:pPr algn="ctr"/>
            <a:r>
              <a:rPr sz="1150" b="1" i="0">
                <a:solidFill>
                  <a:srgbClr val="1E293B"/>
                </a:solidFill>
                <a:latin typeface="Calibri"/>
              </a:rPr>
              <a:t>DS18B20</a:t>
            </a:r>
          </a:p>
        </p:txBody>
      </p:sp>
      <p:sp>
        <p:nvSpPr>
          <p:cNvPr id="25" name="TextBox 24"/>
          <p:cNvSpPr txBox="1"/>
          <p:nvPr/>
        </p:nvSpPr>
        <p:spPr>
          <a:xfrm>
            <a:off x="6300215" y="3474720"/>
            <a:ext cx="2391156" cy="347471"/>
          </a:xfrm>
          <a:prstGeom prst="rect">
            <a:avLst/>
          </a:prstGeom>
          <a:noFill/>
        </p:spPr>
        <p:txBody>
          <a:bodyPr wrap="square">
            <a:spAutoFit/>
          </a:bodyPr>
          <a:lstStyle/>
          <a:p>
            <a:pPr algn="ctr"/>
            <a:r>
              <a:rPr sz="850" b="0" i="0">
                <a:solidFill>
                  <a:srgbClr val="475569"/>
                </a:solidFill>
                <a:latin typeface="Calibri"/>
              </a:rPr>
              <a:t>Cảm biến nhiệt độ số, đầu dò chống nước</a:t>
            </a:r>
          </a:p>
        </p:txBody>
      </p:sp>
      <p:sp>
        <p:nvSpPr>
          <p:cNvPr id="26" name="Rounded Rectangle 25"/>
          <p:cNvSpPr/>
          <p:nvPr/>
        </p:nvSpPr>
        <p:spPr>
          <a:xfrm>
            <a:off x="9038844" y="1417320"/>
            <a:ext cx="2574036"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cd1602.jpg"/>
          <p:cNvPicPr>
            <a:picLocks noChangeAspect="1"/>
          </p:cNvPicPr>
          <p:nvPr/>
        </p:nvPicPr>
        <p:blipFill>
          <a:blip r:embed="rId5"/>
          <a:stretch>
            <a:fillRect/>
          </a:stretch>
        </p:blipFill>
        <p:spPr>
          <a:xfrm>
            <a:off x="9138240" y="1508760"/>
            <a:ext cx="2375243" cy="1581912"/>
          </a:xfrm>
          <a:prstGeom prst="rect">
            <a:avLst/>
          </a:prstGeom>
        </p:spPr>
      </p:pic>
      <p:sp>
        <p:nvSpPr>
          <p:cNvPr id="28" name="Rectangle 27"/>
          <p:cNvSpPr/>
          <p:nvPr/>
        </p:nvSpPr>
        <p:spPr>
          <a:xfrm>
            <a:off x="9038844" y="3182112"/>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30284" y="3218688"/>
            <a:ext cx="2391156" cy="256032"/>
          </a:xfrm>
          <a:prstGeom prst="rect">
            <a:avLst/>
          </a:prstGeom>
          <a:noFill/>
        </p:spPr>
        <p:txBody>
          <a:bodyPr wrap="square">
            <a:spAutoFit/>
          </a:bodyPr>
          <a:lstStyle/>
          <a:p>
            <a:pPr algn="ctr"/>
            <a:r>
              <a:rPr sz="1150" b="1" i="0">
                <a:solidFill>
                  <a:srgbClr val="1E293B"/>
                </a:solidFill>
                <a:latin typeface="Calibri"/>
              </a:rPr>
              <a:t>LCD1602 (I2C)</a:t>
            </a:r>
          </a:p>
        </p:txBody>
      </p:sp>
      <p:sp>
        <p:nvSpPr>
          <p:cNvPr id="30" name="TextBox 29"/>
          <p:cNvSpPr txBox="1"/>
          <p:nvPr/>
        </p:nvSpPr>
        <p:spPr>
          <a:xfrm>
            <a:off x="9130284" y="3474720"/>
            <a:ext cx="2391156" cy="347471"/>
          </a:xfrm>
          <a:prstGeom prst="rect">
            <a:avLst/>
          </a:prstGeom>
          <a:noFill/>
        </p:spPr>
        <p:txBody>
          <a:bodyPr wrap="square">
            <a:spAutoFit/>
          </a:bodyPr>
          <a:lstStyle/>
          <a:p>
            <a:pPr algn="ctr"/>
            <a:r>
              <a:rPr sz="850" b="0" i="0">
                <a:solidFill>
                  <a:srgbClr val="475569"/>
                </a:solidFill>
                <a:latin typeface="Calibri"/>
              </a:rPr>
              <a:t>Màn hình hiển thị 16×2 ký tự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B2 · KIẾN TRÚC HỆ THỐNG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khối tín hiệu</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5</a:t>
            </a:r>
          </a:p>
        </p:txBody>
      </p:sp>
      <p:sp>
        <p:nvSpPr>
          <p:cNvPr id="10" name="Rounded Rectangle 9"/>
          <p:cNvSpPr/>
          <p:nvPr/>
        </p:nvSpPr>
        <p:spPr>
          <a:xfrm>
            <a:off x="548640" y="2377440"/>
            <a:ext cx="2331720" cy="1371600"/>
          </a:xfrm>
          <a:prstGeom prst="roundRect">
            <a:avLst/>
          </a:prstGeom>
          <a:solidFill>
            <a:srgbClr val="FFFFFF"/>
          </a:solidFill>
          <a:ln w="285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HC-SR04 + DS18B20
(Đa cảm biến)</a:t>
            </a:r>
          </a:p>
        </p:txBody>
      </p:sp>
      <p:sp>
        <p:nvSpPr>
          <p:cNvPr id="11" name="Rectangle 10"/>
          <p:cNvSpPr/>
          <p:nvPr/>
        </p:nvSpPr>
        <p:spPr>
          <a:xfrm>
            <a:off x="548640" y="2377440"/>
            <a:ext cx="2331720"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294985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9480" y="2377440"/>
            <a:ext cx="2331720" cy="1371600"/>
          </a:xfrm>
          <a:prstGeom prst="roundRect">
            <a:avLst/>
          </a:prstGeom>
          <a:solidFill>
            <a:srgbClr val="FFFFFF"/>
          </a:solid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ESP32-S3
(Đo thời gian &amp; Tính toán)</a:t>
            </a:r>
          </a:p>
        </p:txBody>
      </p:sp>
      <p:sp>
        <p:nvSpPr>
          <p:cNvPr id="14" name="Rectangle 13"/>
          <p:cNvSpPr/>
          <p:nvPr/>
        </p:nvSpPr>
        <p:spPr>
          <a:xfrm>
            <a:off x="3459480" y="2377440"/>
            <a:ext cx="23317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86069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70319" y="2377440"/>
            <a:ext cx="2331720" cy="1371600"/>
          </a:xfrm>
          <a:prstGeom prst="roundRect">
            <a:avLst/>
          </a:prstGeom>
          <a:solidFill>
            <a:srgbClr val="FFFFFF"/>
          </a:solid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So sánh Ngưỡng
(&lt; 15cm ?)</a:t>
            </a:r>
          </a:p>
        </p:txBody>
      </p:sp>
      <p:sp>
        <p:nvSpPr>
          <p:cNvPr id="17" name="Rectangle 16"/>
          <p:cNvSpPr/>
          <p:nvPr/>
        </p:nvSpPr>
        <p:spPr>
          <a:xfrm>
            <a:off x="6370319" y="2377440"/>
            <a:ext cx="233172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77153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81159" y="2377440"/>
            <a:ext cx="2331720" cy="1371600"/>
          </a:xfrm>
          <a:prstGeom prst="roundRect">
            <a:avLst/>
          </a:prstGeom>
          <a:solidFill>
            <a:srgbClr val="FFFFFF"/>
          </a:solidFill>
          <a:ln w="28575">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LCD1602
(Cảnh báo NGẬP)</a:t>
            </a:r>
          </a:p>
        </p:txBody>
      </p:sp>
      <p:sp>
        <p:nvSpPr>
          <p:cNvPr id="20" name="Rectangle 19"/>
          <p:cNvSpPr/>
          <p:nvPr/>
        </p:nvSpPr>
        <p:spPr>
          <a:xfrm>
            <a:off x="9281159" y="2377440"/>
            <a:ext cx="2331720" cy="10972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297680"/>
            <a:ext cx="11064240" cy="457200"/>
          </a:xfrm>
          <a:prstGeom prst="rect">
            <a:avLst/>
          </a:prstGeom>
          <a:noFill/>
        </p:spPr>
        <p:txBody>
          <a:bodyPr wrap="square">
            <a:spAutoFit/>
          </a:bodyPr>
          <a:lstStyle/>
          <a:p>
            <a:pPr algn="l"/>
            <a:r>
              <a:rPr sz="1350" b="0" i="1">
                <a:solidFill>
                  <a:srgbClr val="475569"/>
                </a:solidFill>
                <a:latin typeface="Calibri"/>
              </a:rPr>
              <a:t>Dữ liệu chảy theo một chiều: cảm biến sinh tín hiệu → vi điều khiển đọc &amp; xử lý → kết quả đưa ra thiết bị đầu ra.</a:t>
            </a:r>
          </a:p>
        </p:txBody>
      </p:sp>
      <p:sp>
        <p:nvSpPr>
          <p:cNvPr id="22" name="Rounded Rectangle 21"/>
          <p:cNvSpPr/>
          <p:nvPr/>
        </p:nvSpPr>
        <p:spPr>
          <a:xfrm>
            <a:off x="548640" y="4892040"/>
            <a:ext cx="11064240" cy="141732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29200"/>
            <a:ext cx="10607040" cy="1188720"/>
          </a:xfrm>
          <a:prstGeom prst="rect">
            <a:avLst/>
          </a:prstGeom>
          <a:noFill/>
        </p:spPr>
        <p:txBody>
          <a:bodyPr wrap="square">
            <a:spAutoFit/>
          </a:bodyPr>
          <a:lstStyle/>
          <a:p>
            <a:pPr algn="l">
              <a:lnSpc>
                <a:spcPct val="125000"/>
              </a:lnSpc>
            </a:pPr>
            <a:r>
              <a:rPr sz="1300" b="0" i="0">
                <a:solidFill>
                  <a:srgbClr val="475569"/>
                </a:solidFill>
                <a:latin typeface="Calibri"/>
              </a:rPr>
              <a:t>Điểm mới so với B1: hệ thống có 2 cảm biến (khoảng cách + nhiệt độ) VÀ có khối "So sánh Ngưỡng" — bộ não ra quyết định của toàn hệ thống. Đây là lần đầu tiên chương trình không chỉ hiển thị dữ liệu thô mà còn DIỄN GIẢI dữ liệu đó thành một cảnh báo có ý nghĩa cho người vận hành.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06B6D4"/>
                </a:solidFill>
                <a:latin typeface="Calibri"/>
              </a:rPr>
              <a:t>B2 · ĐẤU NỐI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đấu dây chi tiết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6</a:t>
            </a:r>
          </a:p>
        </p:txBody>
      </p:sp>
      <p:sp>
        <p:nvSpPr>
          <p:cNvPr id="10" name="Rounded Rectangle 9"/>
          <p:cNvSpPr/>
          <p:nvPr/>
        </p:nvSpPr>
        <p:spPr>
          <a:xfrm>
            <a:off x="640080" y="1828800"/>
            <a:ext cx="2377440" cy="329184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ESP32-S3
DevKitC-1</a:t>
            </a:r>
          </a:p>
        </p:txBody>
      </p:sp>
      <p:sp>
        <p:nvSpPr>
          <p:cNvPr id="11" name="Rounded Rectangle 10"/>
          <p:cNvSpPr/>
          <p:nvPr/>
        </p:nvSpPr>
        <p:spPr>
          <a:xfrm>
            <a:off x="6080760" y="1600200"/>
            <a:ext cx="2514600" cy="868680"/>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HC-SR04</a:t>
            </a:r>
          </a:p>
        </p:txBody>
      </p:sp>
      <p:sp>
        <p:nvSpPr>
          <p:cNvPr id="12" name="Rounded Rectangle 11"/>
          <p:cNvSpPr/>
          <p:nvPr/>
        </p:nvSpPr>
        <p:spPr>
          <a:xfrm>
            <a:off x="6080760" y="2926080"/>
            <a:ext cx="2514600" cy="868680"/>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DS18B20</a:t>
            </a:r>
          </a:p>
        </p:txBody>
      </p:sp>
      <p:sp>
        <p:nvSpPr>
          <p:cNvPr id="13" name="Rounded Rectangle 12"/>
          <p:cNvSpPr/>
          <p:nvPr/>
        </p:nvSpPr>
        <p:spPr>
          <a:xfrm>
            <a:off x="6080760" y="4251960"/>
            <a:ext cx="2514600" cy="868680"/>
          </a:xfrm>
          <a:prstGeom prst="roundRect">
            <a:avLst/>
          </a:prstGeom>
          <a:solidFill>
            <a:srgbClr val="FFFFFF"/>
          </a:solidFill>
          <a:ln w="254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LCD1602</a:t>
            </a:r>
          </a:p>
        </p:txBody>
      </p:sp>
      <p:cxnSp>
        <p:nvCxnSpPr>
          <p:cNvPr id="14" name="Connector 13"/>
          <p:cNvCxnSpPr/>
          <p:nvPr/>
        </p:nvCxnSpPr>
        <p:spPr>
          <a:xfrm flipV="1">
            <a:off x="3017520" y="2034540"/>
            <a:ext cx="3063240" cy="251460"/>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017520" y="2034540"/>
            <a:ext cx="3063240" cy="548640"/>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017520" y="2034540"/>
            <a:ext cx="3063240" cy="845820"/>
          </a:xfrm>
          <a:prstGeom prst="line">
            <a:avLst/>
          </a:prstGeom>
          <a:ln w="28575">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017520" y="2034540"/>
            <a:ext cx="3063240" cy="1143000"/>
          </a:xfrm>
          <a:prstGeom prst="line">
            <a:avLst/>
          </a:prstGeom>
          <a:ln w="28575">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017520" y="3360420"/>
            <a:ext cx="3063240" cy="114300"/>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017520" y="3360420"/>
            <a:ext cx="3063240" cy="411480"/>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017520" y="3360420"/>
            <a:ext cx="3063240" cy="708660"/>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017520" y="4366260"/>
            <a:ext cx="3063240" cy="320040"/>
          </a:xfrm>
          <a:prstGeom prst="line">
            <a:avLst/>
          </a:prstGeom>
          <a:ln w="28575">
            <a:solidFill>
              <a:srgbClr val="06B6D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017520" y="4663440"/>
            <a:ext cx="3063240" cy="22860"/>
          </a:xfrm>
          <a:prstGeom prst="line">
            <a:avLst/>
          </a:prstGeom>
          <a:ln w="28575">
            <a:solidFill>
              <a:srgbClr val="EC489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5303520"/>
            <a:ext cx="3657600" cy="274320"/>
          </a:xfrm>
          <a:prstGeom prst="rect">
            <a:avLst/>
          </a:prstGeom>
          <a:noFill/>
        </p:spPr>
        <p:txBody>
          <a:bodyPr wrap="square">
            <a:spAutoFit/>
          </a:bodyPr>
          <a:lstStyle/>
          <a:p>
            <a:pPr algn="l"/>
            <a:r>
              <a:rPr sz="1200" b="1" i="0">
                <a:solidFill>
                  <a:srgbClr val="1E293B"/>
                </a:solidFill>
                <a:latin typeface="Calibri"/>
              </a:rPr>
              <a:t>Bảng tín hiệu:</a:t>
            </a:r>
          </a:p>
        </p:txBody>
      </p:sp>
      <p:sp>
        <p:nvSpPr>
          <p:cNvPr id="24" name="Rectangle 23"/>
          <p:cNvSpPr/>
          <p:nvPr/>
        </p:nvSpPr>
        <p:spPr>
          <a:xfrm>
            <a:off x="640080" y="5669280"/>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586984"/>
            <a:ext cx="3428999" cy="292608"/>
          </a:xfrm>
          <a:prstGeom prst="rect">
            <a:avLst/>
          </a:prstGeom>
          <a:noFill/>
        </p:spPr>
        <p:txBody>
          <a:bodyPr wrap="square">
            <a:spAutoFit/>
          </a:bodyPr>
          <a:lstStyle/>
          <a:p>
            <a:pPr algn="l"/>
            <a:r>
              <a:rPr sz="900" b="0" i="0">
                <a:solidFill>
                  <a:srgbClr val="475569"/>
                </a:solidFill>
                <a:latin typeface="Calibri"/>
              </a:rPr>
              <a:t>ESP32-S3 · 5V → HC-SR04 · VCC  (Nguồn 5V)</a:t>
            </a:r>
          </a:p>
        </p:txBody>
      </p:sp>
      <p:sp>
        <p:nvSpPr>
          <p:cNvPr id="26" name="Rectangle 25"/>
          <p:cNvSpPr/>
          <p:nvPr/>
        </p:nvSpPr>
        <p:spPr>
          <a:xfrm>
            <a:off x="4389120" y="5669280"/>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5586984"/>
            <a:ext cx="3428999" cy="292608"/>
          </a:xfrm>
          <a:prstGeom prst="rect">
            <a:avLst/>
          </a:prstGeom>
          <a:noFill/>
        </p:spPr>
        <p:txBody>
          <a:bodyPr wrap="square">
            <a:spAutoFit/>
          </a:bodyPr>
          <a:lstStyle/>
          <a:p>
            <a:pPr algn="l"/>
            <a:r>
              <a:rPr sz="900" b="0" i="0">
                <a:solidFill>
                  <a:srgbClr val="475569"/>
                </a:solidFill>
                <a:latin typeface="Calibri"/>
              </a:rPr>
              <a:t>ESP32-S3 · GND1 → HC-SR04 · GND  (Nối đất)</a:t>
            </a:r>
          </a:p>
        </p:txBody>
      </p:sp>
      <p:sp>
        <p:nvSpPr>
          <p:cNvPr id="28" name="Rectangle 27"/>
          <p:cNvSpPr/>
          <p:nvPr/>
        </p:nvSpPr>
        <p:spPr>
          <a:xfrm>
            <a:off x="8138159" y="5669280"/>
            <a:ext cx="182880" cy="11887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5586984"/>
            <a:ext cx="3428999" cy="292608"/>
          </a:xfrm>
          <a:prstGeom prst="rect">
            <a:avLst/>
          </a:prstGeom>
          <a:noFill/>
        </p:spPr>
        <p:txBody>
          <a:bodyPr wrap="square">
            <a:spAutoFit/>
          </a:bodyPr>
          <a:lstStyle/>
          <a:p>
            <a:pPr algn="l"/>
            <a:r>
              <a:rPr sz="900" b="0" i="0">
                <a:solidFill>
                  <a:srgbClr val="475569"/>
                </a:solidFill>
                <a:latin typeface="Calibri"/>
              </a:rPr>
              <a:t>ESP32-S3 · GPIO5 → HC-SR04 · TRIG  (Xung kích phát)</a:t>
            </a:r>
          </a:p>
        </p:txBody>
      </p:sp>
      <p:sp>
        <p:nvSpPr>
          <p:cNvPr id="30" name="Rectangle 29"/>
          <p:cNvSpPr/>
          <p:nvPr/>
        </p:nvSpPr>
        <p:spPr>
          <a:xfrm>
            <a:off x="640080" y="5961888"/>
            <a:ext cx="182880" cy="118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879592"/>
            <a:ext cx="3428999" cy="292608"/>
          </a:xfrm>
          <a:prstGeom prst="rect">
            <a:avLst/>
          </a:prstGeom>
          <a:noFill/>
        </p:spPr>
        <p:txBody>
          <a:bodyPr wrap="square">
            <a:spAutoFit/>
          </a:bodyPr>
          <a:lstStyle/>
          <a:p>
            <a:pPr algn="l"/>
            <a:r>
              <a:rPr sz="900" b="0" i="0">
                <a:solidFill>
                  <a:srgbClr val="475569"/>
                </a:solidFill>
                <a:latin typeface="Calibri"/>
              </a:rPr>
              <a:t>ESP32-S3 · GPIO18 → HC-SR04 · ECHO  (Xung phản hồi)</a:t>
            </a:r>
          </a:p>
        </p:txBody>
      </p:sp>
      <p:sp>
        <p:nvSpPr>
          <p:cNvPr id="32" name="Rectangle 31"/>
          <p:cNvSpPr/>
          <p:nvPr/>
        </p:nvSpPr>
        <p:spPr>
          <a:xfrm>
            <a:off x="4389120" y="5961888"/>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3440" y="5879592"/>
            <a:ext cx="3428999" cy="292608"/>
          </a:xfrm>
          <a:prstGeom prst="rect">
            <a:avLst/>
          </a:prstGeom>
          <a:noFill/>
        </p:spPr>
        <p:txBody>
          <a:bodyPr wrap="square">
            <a:spAutoFit/>
          </a:bodyPr>
          <a:lstStyle/>
          <a:p>
            <a:pPr algn="l"/>
            <a:r>
              <a:rPr sz="900" b="0" i="0">
                <a:solidFill>
                  <a:srgbClr val="475569"/>
                </a:solidFill>
                <a:latin typeface="Calibri"/>
              </a:rPr>
              <a:t>ESP32-S3 · 3V3_1 → DS18B20 · VCC  (Nguồn 3.3V)</a:t>
            </a:r>
          </a:p>
        </p:txBody>
      </p:sp>
      <p:sp>
        <p:nvSpPr>
          <p:cNvPr id="34" name="Rectangle 33"/>
          <p:cNvSpPr/>
          <p:nvPr/>
        </p:nvSpPr>
        <p:spPr>
          <a:xfrm>
            <a:off x="8138159" y="5961888"/>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0" y="5879592"/>
            <a:ext cx="3428999" cy="292608"/>
          </a:xfrm>
          <a:prstGeom prst="rect">
            <a:avLst/>
          </a:prstGeom>
          <a:noFill/>
        </p:spPr>
        <p:txBody>
          <a:bodyPr wrap="square">
            <a:spAutoFit/>
          </a:bodyPr>
          <a:lstStyle/>
          <a:p>
            <a:pPr algn="l"/>
            <a:r>
              <a:rPr sz="900" b="0" i="0">
                <a:solidFill>
                  <a:srgbClr val="475569"/>
                </a:solidFill>
                <a:latin typeface="Calibri"/>
              </a:rPr>
              <a:t>ESP32-S3 · GND2 → DS18B20 · GND  (Nối đất)</a:t>
            </a:r>
          </a:p>
        </p:txBody>
      </p:sp>
      <p:sp>
        <p:nvSpPr>
          <p:cNvPr id="36" name="Rectangle 35"/>
          <p:cNvSpPr/>
          <p:nvPr/>
        </p:nvSpPr>
        <p:spPr>
          <a:xfrm>
            <a:off x="640080" y="6254496"/>
            <a:ext cx="182880" cy="1188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6172200"/>
            <a:ext cx="3428999" cy="292608"/>
          </a:xfrm>
          <a:prstGeom prst="rect">
            <a:avLst/>
          </a:prstGeom>
          <a:noFill/>
        </p:spPr>
        <p:txBody>
          <a:bodyPr wrap="square">
            <a:spAutoFit/>
          </a:bodyPr>
          <a:lstStyle/>
          <a:p>
            <a:pPr algn="l"/>
            <a:r>
              <a:rPr sz="900" b="0" i="0">
                <a:solidFill>
                  <a:srgbClr val="475569"/>
                </a:solidFill>
                <a:latin typeface="Calibri"/>
              </a:rPr>
              <a:t>ESP32-S3 · GPIO4 → DS18B20 · DATA  (1-Wire Data)</a:t>
            </a:r>
          </a:p>
        </p:txBody>
      </p:sp>
      <p:sp>
        <p:nvSpPr>
          <p:cNvPr id="38" name="Rectangle 37"/>
          <p:cNvSpPr/>
          <p:nvPr/>
        </p:nvSpPr>
        <p:spPr>
          <a:xfrm>
            <a:off x="4389120" y="6254496"/>
            <a:ext cx="182880" cy="11887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6172200"/>
            <a:ext cx="3428999" cy="292608"/>
          </a:xfrm>
          <a:prstGeom prst="rect">
            <a:avLst/>
          </a:prstGeom>
          <a:noFill/>
        </p:spPr>
        <p:txBody>
          <a:bodyPr wrap="square">
            <a:spAutoFit/>
          </a:bodyPr>
          <a:lstStyle/>
          <a:p>
            <a:pPr algn="l"/>
            <a:r>
              <a:rPr sz="900" b="0" i="0">
                <a:solidFill>
                  <a:srgbClr val="475569"/>
                </a:solidFill>
                <a:latin typeface="Calibri"/>
              </a:rPr>
              <a:t>ESP32-S3 · GPIO9 → LCD1602 · SCL  (I2C Clock)</a:t>
            </a:r>
          </a:p>
        </p:txBody>
      </p:sp>
      <p:sp>
        <p:nvSpPr>
          <p:cNvPr id="40" name="Rectangle 39"/>
          <p:cNvSpPr/>
          <p:nvPr/>
        </p:nvSpPr>
        <p:spPr>
          <a:xfrm>
            <a:off x="8138159" y="6254496"/>
            <a:ext cx="182880" cy="118872"/>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2480" y="6172200"/>
            <a:ext cx="3428999" cy="292608"/>
          </a:xfrm>
          <a:prstGeom prst="rect">
            <a:avLst/>
          </a:prstGeom>
          <a:noFill/>
        </p:spPr>
        <p:txBody>
          <a:bodyPr wrap="square">
            <a:spAutoFit/>
          </a:bodyPr>
          <a:lstStyle/>
          <a:p>
            <a:pPr algn="l"/>
            <a:r>
              <a:rPr sz="900" b="0" i="0">
                <a:solidFill>
                  <a:srgbClr val="475569"/>
                </a:solidFill>
                <a:latin typeface="Calibri"/>
              </a:rPr>
              <a:t>ESP32-S3 · GPIO8 → LCD1602 · SDA  (I2C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B2 · THUẬT TOÁN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Lưu đồ xử lý trong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7</a:t>
            </a:r>
          </a:p>
        </p:txBody>
      </p:sp>
      <p:sp>
        <p:nvSpPr>
          <p:cNvPr id="10" name="Rounded Rectangle 9"/>
          <p:cNvSpPr/>
          <p:nvPr/>
        </p:nvSpPr>
        <p:spPr>
          <a:xfrm>
            <a:off x="1188720" y="1604772"/>
            <a:ext cx="2377440" cy="438912"/>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FFFFF"/>
                </a:solidFill>
                <a:latin typeface="Calibri"/>
              </a:rPr>
              <a:t>setup(): Khởi tạo Serial/LCD/chân I-O</a:t>
            </a:r>
          </a:p>
        </p:txBody>
      </p:sp>
      <p:sp>
        <p:nvSpPr>
          <p:cNvPr id="11" name="Down Arrow 10"/>
          <p:cNvSpPr/>
          <p:nvPr/>
        </p:nvSpPr>
        <p:spPr>
          <a:xfrm>
            <a:off x="2286000" y="2061972"/>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88720" y="2189988"/>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Phát xung TRIG 10µs kích hoạt HC-SR04</a:t>
            </a:r>
          </a:p>
        </p:txBody>
      </p:sp>
      <p:sp>
        <p:nvSpPr>
          <p:cNvPr id="13" name="Down Arrow 12"/>
          <p:cNvSpPr/>
          <p:nvPr/>
        </p:nvSpPr>
        <p:spPr>
          <a:xfrm>
            <a:off x="2286000" y="2647188"/>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8720" y="2775204"/>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Đo thời gian ECHO bằng pulseIn() → suy ra khoảng cách (cm)</a:t>
            </a:r>
          </a:p>
        </p:txBody>
      </p:sp>
      <p:sp>
        <p:nvSpPr>
          <p:cNvPr id="15" name="Down Arrow 14"/>
          <p:cNvSpPr/>
          <p:nvPr/>
        </p:nvSpPr>
        <p:spPr>
          <a:xfrm>
            <a:off x="2286000" y="3232404"/>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188720" y="3360420"/>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Đọc nhiệt độ nước LIVE từ DS18B20</a:t>
            </a:r>
          </a:p>
        </p:txBody>
      </p:sp>
      <p:sp>
        <p:nvSpPr>
          <p:cNvPr id="17" name="Down Arrow 16"/>
          <p:cNvSpPr/>
          <p:nvPr/>
        </p:nvSpPr>
        <p:spPr>
          <a:xfrm>
            <a:off x="2286000" y="3817620"/>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685800" y="3945636"/>
            <a:ext cx="3383280" cy="68580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FFFFFF"/>
                </a:solidFill>
                <a:latin typeface="Calibri"/>
              </a:rPr>
              <a:t>Khoảng cách đo được &lt; 15 cm ?</a:t>
            </a:r>
          </a:p>
        </p:txBody>
      </p:sp>
      <p:cxnSp>
        <p:nvCxnSpPr>
          <p:cNvPr id="19" name="Connector 18"/>
          <p:cNvCxnSpPr/>
          <p:nvPr/>
        </p:nvCxnSpPr>
        <p:spPr>
          <a:xfrm>
            <a:off x="685800" y="4288536"/>
            <a:ext cx="77724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463040" y="4288536"/>
            <a:ext cx="0" cy="61722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1" name="Down Arrow 20"/>
          <p:cNvSpPr/>
          <p:nvPr/>
        </p:nvSpPr>
        <p:spPr>
          <a:xfrm>
            <a:off x="1371600" y="4887468"/>
            <a:ext cx="182880" cy="164592"/>
          </a:xfrm>
          <a:prstGeom prst="down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977640"/>
            <a:ext cx="1645920" cy="237744"/>
          </a:xfrm>
          <a:prstGeom prst="rect">
            <a:avLst/>
          </a:prstGeom>
          <a:noFill/>
        </p:spPr>
        <p:txBody>
          <a:bodyPr wrap="square">
            <a:spAutoFit/>
          </a:bodyPr>
          <a:lstStyle/>
          <a:p>
            <a:pPr algn="ctr"/>
            <a:r>
              <a:rPr sz="950" b="1" i="0">
                <a:solidFill>
                  <a:srgbClr val="10B981"/>
                </a:solidFill>
                <a:latin typeface="Calibri"/>
              </a:rPr>
              <a:t>ĐÚNG</a:t>
            </a:r>
          </a:p>
        </p:txBody>
      </p:sp>
      <p:sp>
        <p:nvSpPr>
          <p:cNvPr id="23" name="Rounded Rectangle 22"/>
          <p:cNvSpPr/>
          <p:nvPr/>
        </p:nvSpPr>
        <p:spPr>
          <a:xfrm>
            <a:off x="457200" y="5088636"/>
            <a:ext cx="2011680" cy="566928"/>
          </a:xfrm>
          <a:prstGeom prst="roundRect">
            <a:avLst/>
          </a:prstGeom>
          <a:solidFill>
            <a:srgbClr val="FEE2E2"/>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EF4444"/>
                </a:solidFill>
                <a:latin typeface="Calibri"/>
              </a:rPr>
              <a:t>LCD dòng 2 hiện "CẢNH BÁO: NGẬP!"</a:t>
            </a:r>
          </a:p>
        </p:txBody>
      </p:sp>
      <p:cxnSp>
        <p:nvCxnSpPr>
          <p:cNvPr id="24" name="Connector 23"/>
          <p:cNvCxnSpPr/>
          <p:nvPr/>
        </p:nvCxnSpPr>
        <p:spPr>
          <a:xfrm flipH="1">
            <a:off x="3063240" y="4288536"/>
            <a:ext cx="100584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063240" y="4288536"/>
            <a:ext cx="0" cy="61722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26" name="Down Arrow 25"/>
          <p:cNvSpPr/>
          <p:nvPr/>
        </p:nvSpPr>
        <p:spPr>
          <a:xfrm>
            <a:off x="2971800" y="4887468"/>
            <a:ext cx="182880" cy="164592"/>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40280" y="3977640"/>
            <a:ext cx="1645920" cy="237744"/>
          </a:xfrm>
          <a:prstGeom prst="rect">
            <a:avLst/>
          </a:prstGeom>
          <a:noFill/>
        </p:spPr>
        <p:txBody>
          <a:bodyPr wrap="square">
            <a:spAutoFit/>
          </a:bodyPr>
          <a:lstStyle/>
          <a:p>
            <a:pPr algn="ctr"/>
            <a:r>
              <a:rPr sz="950" b="1" i="0">
                <a:solidFill>
                  <a:srgbClr val="475569"/>
                </a:solidFill>
                <a:latin typeface="Calibri"/>
              </a:rPr>
              <a:t>SAI</a:t>
            </a:r>
          </a:p>
        </p:txBody>
      </p:sp>
      <p:sp>
        <p:nvSpPr>
          <p:cNvPr id="28" name="Rounded Rectangle 27"/>
          <p:cNvSpPr/>
          <p:nvPr/>
        </p:nvSpPr>
        <p:spPr>
          <a:xfrm>
            <a:off x="2057400" y="5088636"/>
            <a:ext cx="2011680" cy="566928"/>
          </a:xfrm>
          <a:prstGeom prst="roundRect">
            <a:avLst/>
          </a:prstGeom>
          <a:solidFill>
            <a:srgbClr val="DCFCE7"/>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10B981"/>
                </a:solidFill>
                <a:latin typeface="Calibri"/>
              </a:rPr>
              <a:t>LCD dòng 2 hiện nhiệt độ nước hiện tại</a:t>
            </a:r>
          </a:p>
        </p:txBody>
      </p:sp>
      <p:cxnSp>
        <p:nvCxnSpPr>
          <p:cNvPr id="29" name="Connector 28"/>
          <p:cNvCxnSpPr/>
          <p:nvPr/>
        </p:nvCxnSpPr>
        <p:spPr>
          <a:xfrm>
            <a:off x="1463040" y="5655564"/>
            <a:ext cx="0" cy="201168"/>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063240" y="5655564"/>
            <a:ext cx="0" cy="201168"/>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63040" y="5856732"/>
            <a:ext cx="160020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32" name="Down Arrow 31"/>
          <p:cNvSpPr/>
          <p:nvPr/>
        </p:nvSpPr>
        <p:spPr>
          <a:xfrm>
            <a:off x="2286000" y="5856732"/>
            <a:ext cx="182880" cy="182880"/>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188720" y="6057900"/>
            <a:ext cx="2377440" cy="38404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FFFFFF"/>
                </a:solidFill>
                <a:latin typeface="Calibri"/>
              </a:rPr>
              <a:t>delay(600ms) → quay lại loop()</a:t>
            </a:r>
          </a:p>
        </p:txBody>
      </p:sp>
      <p:sp>
        <p:nvSpPr>
          <p:cNvPr id="34" name="TextBox 33"/>
          <p:cNvSpPr txBox="1"/>
          <p:nvPr/>
        </p:nvSpPr>
        <p:spPr>
          <a:xfrm>
            <a:off x="6309360" y="1463040"/>
            <a:ext cx="5303520" cy="4937760"/>
          </a:xfrm>
          <a:prstGeom prst="rect">
            <a:avLst/>
          </a:prstGeom>
          <a:noFill/>
        </p:spPr>
        <p:txBody>
          <a:bodyPr wrap="square">
            <a:spAutoFit/>
          </a:bodyPr>
          <a:lstStyle/>
          <a:p>
            <a:pPr algn="l">
              <a:lnSpc>
                <a:spcPct val="130000"/>
              </a:lnSpc>
            </a:pPr>
            <a:r>
              <a:rPr sz="1350" b="0" i="0">
                <a:solidFill>
                  <a:srgbClr val="475569"/>
                </a:solidFill>
                <a:latin typeface="Calibri"/>
              </a:rPr>
              <a:t>Đây là lần đầu chương trình có khối quyết định (hình thoi). Lưu ý: khoảng cách càng NHỎ tương ứng mực nước càng CAO — sinh viên cần hiểu đúng chiều quan hệ vật lý này trước khi đọc code, nếu không sẽ dễ hiểu nhầm logic if() bị "ngược".
Nhánh cảnh báo (Đúng) ưu tiên hiển thị lên LCD, che mất thông tin nhiệt độ nước — đây là lựa chọn thiết kế UX: khi có nguy hiểm, thông tin cảnh báo phải được ưu tiên hiển thị hơn dữ liệu thông thường.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B2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setup()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8</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setup() {</a:t>
            </a:r>
          </a:p>
          <a:p>
            <a:pPr>
              <a:spcAft>
                <a:spcPts val="100"/>
              </a:spcAft>
            </a:pPr>
            <a:r>
              <a:rPr sz="1250">
                <a:solidFill>
                  <a:srgbClr val="7DE6A8"/>
                </a:solidFill>
                <a:latin typeface="Consolas"/>
              </a:rPr>
              <a:t>  Serial.begin(115200);</a:t>
            </a:r>
          </a:p>
          <a:p>
            <a:pPr>
              <a:spcAft>
                <a:spcPts val="100"/>
              </a:spcAft>
            </a:pPr>
            <a:r>
              <a:rPr sz="1250">
                <a:solidFill>
                  <a:srgbClr val="7DE6A8"/>
                </a:solidFill>
                <a:latin typeface="Consolas"/>
              </a:rPr>
              <a:t>  pinMode(TRIG_PIN, OUTPUT);</a:t>
            </a:r>
          </a:p>
          <a:p>
            <a:pPr>
              <a:spcAft>
                <a:spcPts val="100"/>
              </a:spcAft>
            </a:pPr>
            <a:r>
              <a:rPr sz="1250">
                <a:solidFill>
                  <a:srgbClr val="7DE6A8"/>
                </a:solidFill>
                <a:latin typeface="Consolas"/>
              </a:rPr>
              <a:t>  pinMode(ECHO_PIN, INPUT);</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lcd.begin(16, 2);</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lcd.print("QUAN TRAC NUOC");</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lcd.print("KMT WATER LAB");</a:t>
            </a:r>
          </a:p>
          <a:p>
            <a:pPr>
              <a:spcAft>
                <a:spcPts val="100"/>
              </a:spcAft>
            </a:pPr>
            <a:r>
              <a:rPr sz="1250">
                <a:solidFill>
                  <a:srgbClr val="7DE6A8"/>
                </a:solidFill>
                <a:latin typeface="Consolas"/>
              </a:rPr>
              <a:t>  delay(1500);</a:t>
            </a:r>
          </a:p>
          <a:p>
            <a:pPr>
              <a:spcAft>
                <a:spcPts val="100"/>
              </a:spcAft>
            </a:pPr>
            <a:r>
              <a:rPr sz="1250">
                <a:solidFill>
                  <a:srgbClr val="7DE6A8"/>
                </a:solidFill>
                <a:latin typeface="Consolas"/>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B2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9</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loop() {</a:t>
            </a:r>
          </a:p>
          <a:p>
            <a:pPr>
              <a:spcAft>
                <a:spcPts val="100"/>
              </a:spcAft>
            </a:pPr>
            <a:r>
              <a:rPr sz="1250">
                <a:solidFill>
                  <a:srgbClr val="64748B"/>
                </a:solidFill>
                <a:latin typeface="Consolas"/>
              </a:rPr>
              <a:t>  // Doc khoang cach muc nuoc LIVE tu Sieu am HC-SR04</a:t>
            </a:r>
          </a:p>
          <a:p>
            <a:pPr>
              <a:spcAft>
                <a:spcPts val="100"/>
              </a:spcAft>
            </a:pPr>
            <a:r>
              <a:rPr sz="1250">
                <a:solidFill>
                  <a:srgbClr val="7DE6A8"/>
                </a:solidFill>
                <a:latin typeface="Consolas"/>
              </a:rPr>
              <a:t>  digitalWrite(TRIG_PIN, LOW);</a:t>
            </a:r>
          </a:p>
          <a:p>
            <a:pPr>
              <a:spcAft>
                <a:spcPts val="100"/>
              </a:spcAft>
            </a:pPr>
            <a:r>
              <a:rPr sz="1250">
                <a:solidFill>
                  <a:srgbClr val="7DE6A8"/>
                </a:solidFill>
                <a:latin typeface="Consolas"/>
              </a:rPr>
              <a:t>  delayMicroseconds(2);</a:t>
            </a:r>
          </a:p>
          <a:p>
            <a:pPr>
              <a:spcAft>
                <a:spcPts val="100"/>
              </a:spcAft>
            </a:pPr>
            <a:r>
              <a:rPr sz="1250">
                <a:solidFill>
                  <a:srgbClr val="7DE6A8"/>
                </a:solidFill>
                <a:latin typeface="Consolas"/>
              </a:rPr>
              <a:t>  digitalWrite(TRIG_PIN, HIGH);</a:t>
            </a:r>
          </a:p>
          <a:p>
            <a:pPr>
              <a:spcAft>
                <a:spcPts val="100"/>
              </a:spcAft>
            </a:pPr>
            <a:r>
              <a:rPr sz="1250">
                <a:solidFill>
                  <a:srgbClr val="7DE6A8"/>
                </a:solidFill>
                <a:latin typeface="Consolas"/>
              </a:rPr>
              <a:t>  delayMicroseconds(10);</a:t>
            </a:r>
          </a:p>
          <a:p>
            <a:pPr>
              <a:spcAft>
                <a:spcPts val="100"/>
              </a:spcAft>
            </a:pPr>
            <a:r>
              <a:rPr sz="1250">
                <a:solidFill>
                  <a:srgbClr val="7DE6A8"/>
                </a:solidFill>
                <a:latin typeface="Consolas"/>
              </a:rPr>
              <a:t>  digitalWrite(TRIG_PIN, LOW);</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long duration = pulseIn(ECHO_PIN, HIGH);</a:t>
            </a:r>
          </a:p>
          <a:p>
            <a:pPr>
              <a:spcAft>
                <a:spcPts val="100"/>
              </a:spcAft>
            </a:pPr>
            <a:r>
              <a:rPr sz="1250">
                <a:solidFill>
                  <a:srgbClr val="7DE6A8"/>
                </a:solidFill>
                <a:latin typeface="Consolas"/>
              </a:rPr>
              <a:t>  int distanceCm = duration * 0.034 / 2;</a:t>
            </a:r>
          </a:p>
          <a:p>
            <a:pPr>
              <a:spcAft>
                <a:spcPts val="100"/>
              </a:spcAft>
            </a:pPr>
            <a:r>
              <a:rPr sz="1250">
                <a:solidFill>
                  <a:srgbClr val="7DE6A8"/>
                </a:solidFill>
                <a:latin typeface="Consolas"/>
              </a:rPr>
              <a:t>  int waterTemp = analogRead(TEMP_PIN); // Nhiet do nuoc LIVE tu DS18B20</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Serial.print("[NUOC] Muc nuoc: ");</a:t>
            </a:r>
          </a:p>
          <a:p>
            <a:pPr>
              <a:spcAft>
                <a:spcPts val="100"/>
              </a:spcAft>
            </a:pPr>
            <a:r>
              <a:rPr sz="1250">
                <a:solidFill>
                  <a:srgbClr val="7DE6A8"/>
                </a:solidFill>
                <a:latin typeface="Consolas"/>
              </a:rPr>
              <a:t>  Serial.print(distanceCm);</a:t>
            </a:r>
          </a:p>
          <a:p>
            <a:pPr>
              <a:spcAft>
                <a:spcPts val="100"/>
              </a:spcAft>
            </a:pPr>
            <a:r>
              <a:rPr sz="1250">
                <a:solidFill>
                  <a:srgbClr val="7DE6A8"/>
                </a:solidFill>
                <a:latin typeface="Consolas"/>
              </a:rPr>
              <a:t>  Serial.print(" cm | Nhiet do nuoc: ");</a:t>
            </a:r>
          </a:p>
          <a:p>
            <a:pPr>
              <a:spcAft>
                <a:spcPts val="100"/>
              </a:spcAft>
            </a:pPr>
            <a:r>
              <a:rPr sz="1250">
                <a:solidFill>
                  <a:srgbClr val="7DE6A8"/>
                </a:solidFill>
                <a:latin typeface="Consolas"/>
              </a:rPr>
              <a:t>  Serial.print(waterTemp);</a:t>
            </a:r>
          </a:p>
          <a:p>
            <a:pPr>
              <a:spcAft>
                <a:spcPts val="100"/>
              </a:spcAft>
            </a:pPr>
            <a:r>
              <a:rPr sz="1250">
                <a:solidFill>
                  <a:srgbClr val="7DE6A8"/>
                </a:solidFill>
                <a:latin typeface="Consolas"/>
              </a:rPr>
              <a:t>  Serial.println(" C");</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lcd.print("MucNuoc: ");</a:t>
            </a:r>
          </a:p>
          <a:p>
            <a:pPr>
              <a:spcAft>
                <a:spcPts val="100"/>
              </a:spcAft>
            </a:pPr>
            <a:r>
              <a:rPr sz="1250">
                <a:solidFill>
                  <a:srgbClr val="7DE6A8"/>
                </a:solidFill>
                <a:latin typeface="Consolas"/>
              </a:rPr>
              <a:t>  lcd.print(distanceCm);</a:t>
            </a:r>
          </a:p>
          <a:p>
            <a:pPr>
              <a:spcAft>
                <a:spcPts val="100"/>
              </a:spcAft>
            </a:pPr>
            <a:r>
              <a:rPr sz="1250">
                <a:solidFill>
                  <a:srgbClr val="7DE6A8"/>
                </a:solidFill>
                <a:latin typeface="Consolas"/>
              </a:rPr>
              <a:t>  lcd.print(" cm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if (distanceCm &lt; 15) {</a:t>
            </a:r>
          </a:p>
          <a:p>
            <a:pPr>
              <a:spcAft>
                <a:spcPts val="100"/>
              </a:spcAft>
            </a:pPr>
            <a:r>
              <a:rPr sz="1250">
                <a:solidFill>
                  <a:srgbClr val="7DE6A8"/>
                </a:solidFill>
                <a:latin typeface="Consolas"/>
              </a:rPr>
              <a:t>    lcd.print("CANH BAO: NGAP! ");</a:t>
            </a:r>
          </a:p>
          <a:p>
            <a:pPr>
              <a:spcAft>
                <a:spcPts val="100"/>
              </a:spcAft>
            </a:pPr>
            <a:r>
              <a:rPr sz="1250">
                <a:solidFill>
                  <a:srgbClr val="7DE6A8"/>
                </a:solidFill>
                <a:latin typeface="Consolas"/>
              </a:rPr>
              <a:t>  } else {</a:t>
            </a:r>
          </a:p>
          <a:p>
            <a:pPr>
              <a:spcAft>
                <a:spcPts val="100"/>
              </a:spcAft>
            </a:pPr>
            <a:r>
              <a:rPr sz="1250">
                <a:solidFill>
                  <a:srgbClr val="7DE6A8"/>
                </a:solidFill>
                <a:latin typeface="Consolas"/>
              </a:rPr>
              <a:t>    lcd.print("NhietDo: ");</a:t>
            </a:r>
          </a:p>
          <a:p>
            <a:pPr>
              <a:spcAft>
                <a:spcPts val="100"/>
              </a:spcAft>
            </a:pPr>
            <a:r>
              <a:rPr sz="1250">
                <a:solidFill>
                  <a:srgbClr val="7DE6A8"/>
                </a:solidFill>
                <a:latin typeface="Consolas"/>
              </a:rPr>
              <a:t>    lcd.print(waterTemp);</a:t>
            </a:r>
          </a:p>
          <a:p>
            <a:pPr>
              <a:spcAft>
                <a:spcPts val="100"/>
              </a:spcAft>
            </a:pPr>
            <a:r>
              <a:rPr sz="1250">
                <a:solidFill>
                  <a:srgbClr val="7DE6A8"/>
                </a:solidFill>
                <a:latin typeface="Consolas"/>
              </a:rPr>
              <a:t>    lcd.print(" C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delay(600);</a:t>
            </a:r>
          </a:p>
          <a:p>
            <a:pPr>
              <a:spcAft>
                <a:spcPts val="100"/>
              </a:spcAft>
            </a:pPr>
            <a:r>
              <a:rPr sz="1250">
                <a:solidFill>
                  <a:srgbClr val="7DE6A8"/>
                </a:solidFill>
                <a:latin typeface="Consolas"/>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B2 · LOGIC RA QUYẾT ĐỊNH</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Bảng ngưỡng &amp; hành động điều khiển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10</a:t>
            </a:r>
          </a:p>
        </p:txBody>
      </p:sp>
      <p:graphicFrame>
        <p:nvGraphicFramePr>
          <p:cNvPr id="10" name="Table 9"/>
          <p:cNvGraphicFramePr>
            <a:graphicFrameLocks noGrp="1"/>
          </p:cNvGraphicFramePr>
          <p:nvPr/>
        </p:nvGraphicFramePr>
        <p:xfrm>
          <a:off x="548640" y="1417320"/>
          <a:ext cx="11064240" cy="2286000"/>
        </p:xfrm>
        <a:graphic>
          <a:graphicData uri="http://schemas.openxmlformats.org/drawingml/2006/table">
            <a:tbl>
              <a:tblPr>
                <a:tableStyleId>{5C22544A-7EE6-4342-B048-85BDC9FD1C3A}</a:tableStyleId>
              </a:tblPr>
              <a:tblGrid>
                <a:gridCol w="3840480"/>
                <a:gridCol w="2194560"/>
                <a:gridCol w="5029200"/>
              </a:tblGrid>
              <a:tr h="762000">
                <a:tc>
                  <a:txBody>
                    <a:bodyPr wrap="square"/>
                    <a:lstStyle/>
                    <a:p>
                      <a:pPr algn="ctr"/>
                      <a:r>
                        <a:rPr sz="1400" b="1">
                          <a:solidFill>
                            <a:srgbClr val="FFFFFF"/>
                          </a:solidFill>
                          <a:latin typeface="Calibri"/>
                        </a:rPr>
                        <a:t>Điều kiện cảm biến</a:t>
                      </a:r>
                    </a:p>
                  </a:txBody>
                  <a:tcPr marL="73152" marR="73152" marT="36576" marB="36576" anchor="ctr">
                    <a:solidFill>
                      <a:srgbClr val="F59E0B"/>
                    </a:solidFill>
                  </a:tcPr>
                </a:tc>
                <a:tc>
                  <a:txBody>
                    <a:bodyPr wrap="square"/>
                    <a:lstStyle/>
                    <a:p>
                      <a:pPr algn="ctr"/>
                      <a:r>
                        <a:rPr sz="1400" b="1">
                          <a:solidFill>
                            <a:srgbClr val="FFFFFF"/>
                          </a:solidFill>
                          <a:latin typeface="Calibri"/>
                        </a:rPr>
                        <a:t>Ngưỡng</a:t>
                      </a:r>
                    </a:p>
                  </a:txBody>
                  <a:tcPr marL="73152" marR="73152" marT="36576" marB="36576" anchor="ctr">
                    <a:solidFill>
                      <a:srgbClr val="F59E0B"/>
                    </a:solidFill>
                  </a:tcPr>
                </a:tc>
                <a:tc>
                  <a:txBody>
                    <a:bodyPr wrap="square"/>
                    <a:lstStyle/>
                    <a:p>
                      <a:pPr algn="ctr"/>
                      <a:r>
                        <a:rPr sz="1400" b="1">
                          <a:solidFill>
                            <a:srgbClr val="FFFFFF"/>
                          </a:solidFill>
                          <a:latin typeface="Calibri"/>
                        </a:rPr>
                        <a:t>Hành động của hệ thống</a:t>
                      </a:r>
                    </a:p>
                  </a:txBody>
                  <a:tcPr marL="73152" marR="73152" marT="36576" marB="36576" anchor="ctr">
                    <a:solidFill>
                      <a:srgbClr val="F59E0B"/>
                    </a:solidFill>
                  </a:tcPr>
                </a:tc>
              </a:tr>
              <a:tr h="762000">
                <a:tc>
                  <a:txBody>
                    <a:bodyPr wrap="square"/>
                    <a:lstStyle/>
                    <a:p>
                      <a:pPr algn="l"/>
                      <a:r>
                        <a:rPr sz="1300" b="0">
                          <a:solidFill>
                            <a:srgbClr val="1E293B"/>
                          </a:solidFill>
                          <a:latin typeface="Calibri"/>
                        </a:rPr>
                        <a:t>Khoảng cách đo được (mực nước)</a:t>
                      </a:r>
                    </a:p>
                  </a:txBody>
                  <a:tcPr marL="73152" marR="73152" marT="36576" marB="36576" anchor="ctr">
                    <a:solidFill>
                      <a:srgbClr val="FFFFFF"/>
                    </a:solidFill>
                  </a:tcPr>
                </a:tc>
                <a:tc>
                  <a:txBody>
                    <a:bodyPr wrap="square"/>
                    <a:lstStyle/>
                    <a:p>
                      <a:pPr algn="ctr"/>
                      <a:r>
                        <a:rPr sz="1300" b="0">
                          <a:solidFill>
                            <a:srgbClr val="EF4444"/>
                          </a:solidFill>
                          <a:latin typeface="Calibri"/>
                        </a:rPr>
                        <a:t>&lt; 15 cm</a:t>
                      </a:r>
                    </a:p>
                  </a:txBody>
                  <a:tcPr marL="73152" marR="73152" marT="36576" marB="36576" anchor="ctr">
                    <a:solidFill>
                      <a:srgbClr val="FEE2E2"/>
                    </a:solidFill>
                  </a:tcPr>
                </a:tc>
                <a:tc>
                  <a:txBody>
                    <a:bodyPr wrap="square"/>
                    <a:lstStyle/>
                    <a:p>
                      <a:pPr algn="l"/>
                      <a:r>
                        <a:rPr sz="1300" b="0">
                          <a:solidFill>
                            <a:srgbClr val="475569"/>
                          </a:solidFill>
                          <a:latin typeface="Calibri"/>
                        </a:rPr>
                        <a:t>Hiện "CẢNH BÁO: NGẬP!" — mực nước đã dâng đến ngưỡng nguy hiểm</a:t>
                      </a:r>
                    </a:p>
                  </a:txBody>
                  <a:tcPr marL="73152" marR="73152" marT="36576" marB="36576" anchor="ctr">
                    <a:solidFill>
                      <a:srgbClr val="FFFFFF"/>
                    </a:solidFill>
                  </a:tcPr>
                </a:tc>
              </a:tr>
              <a:tr h="762000">
                <a:tc>
                  <a:txBody>
                    <a:bodyPr wrap="square"/>
                    <a:lstStyle/>
                    <a:p>
                      <a:pPr algn="l"/>
                      <a:r>
                        <a:rPr sz="1300" b="0">
                          <a:solidFill>
                            <a:srgbClr val="1E293B"/>
                          </a:solidFill>
                          <a:latin typeface="Calibri"/>
                        </a:rPr>
                        <a:t>Khoảng cách đo được (mực nước)</a:t>
                      </a:r>
                    </a:p>
                  </a:txBody>
                  <a:tcPr marL="73152" marR="73152" marT="36576" marB="36576" anchor="ctr">
                    <a:solidFill>
                      <a:srgbClr val="FFFFFF"/>
                    </a:solidFill>
                  </a:tcPr>
                </a:tc>
                <a:tc>
                  <a:txBody>
                    <a:bodyPr wrap="square"/>
                    <a:lstStyle/>
                    <a:p>
                      <a:pPr algn="ctr"/>
                      <a:r>
                        <a:rPr sz="1300" b="0">
                          <a:solidFill>
                            <a:srgbClr val="10B981"/>
                          </a:solidFill>
                          <a:latin typeface="Calibri"/>
                        </a:rPr>
                        <a:t>≥ 15 cm</a:t>
                      </a:r>
                    </a:p>
                  </a:txBody>
                  <a:tcPr marL="73152" marR="73152" marT="36576" marB="36576" anchor="ctr">
                    <a:solidFill>
                      <a:srgbClr val="DCFCE7"/>
                    </a:solidFill>
                  </a:tcPr>
                </a:tc>
                <a:tc>
                  <a:txBody>
                    <a:bodyPr wrap="square"/>
                    <a:lstStyle/>
                    <a:p>
                      <a:pPr algn="l"/>
                      <a:r>
                        <a:rPr sz="1300" b="0">
                          <a:solidFill>
                            <a:srgbClr val="475569"/>
                          </a:solidFill>
                          <a:latin typeface="Calibri"/>
                        </a:rPr>
                        <a:t>Hiện nhiệt độ nước — mực nước đang trong ngưỡng an toàn</a:t>
                      </a:r>
                    </a:p>
                  </a:txBody>
                  <a:tcPr marL="73152" marR="73152" marT="36576" marB="36576" anchor="ctr">
                    <a:solidFill>
                      <a:srgbClr val="FFFFFF"/>
                    </a:solidFill>
                  </a:tcPr>
                </a:tc>
              </a:tr>
            </a:tbl>
          </a:graphicData>
        </a:graphic>
      </p:graphicFrame>
      <p:sp>
        <p:nvSpPr>
          <p:cNvPr id="11" name="TextBox 10"/>
          <p:cNvSpPr txBox="1"/>
          <p:nvPr/>
        </p:nvSpPr>
        <p:spPr>
          <a:xfrm>
            <a:off x="548640" y="4023359"/>
            <a:ext cx="11064240" cy="1097280"/>
          </a:xfrm>
          <a:prstGeom prst="rect">
            <a:avLst/>
          </a:prstGeom>
          <a:noFill/>
        </p:spPr>
        <p:txBody>
          <a:bodyPr wrap="square">
            <a:spAutoFit/>
          </a:bodyPr>
          <a:lstStyle/>
          <a:p>
            <a:pPr algn="l">
              <a:lnSpc>
                <a:spcPct val="125000"/>
              </a:lnSpc>
            </a:pPr>
            <a:r>
              <a:rPr sz="1250" b="0" i="1">
                <a:solidFill>
                  <a:srgbClr val="475569"/>
                </a:solidFill>
                <a:latin typeface="Calibri"/>
              </a:rPr>
              <a:t>Ngưỡng 15cm chỉ mang tính minh hoạ cho bài giảng. Khi triển khai thực tế cần khảo sát địa hình cụ thể (độ sâu cống, mực nước lịch sử theo mùa) để chọn ngưỡng phù hợp — nên chia nhiều mức (an toàn / theo dõi / nguy hiểm) thay vì chỉ 1 ngưỡng nhị phân như bài học minh hoạ.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B2 · DỮ LIỆU MINH HOẠ</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Xu hướng dữ liệu cảm biến theo thời gian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11</a:t>
            </a:r>
          </a:p>
        </p:txBody>
      </p:sp>
      <p:graphicFrame>
        <p:nvGraphicFramePr>
          <p:cNvPr id="10" name="Chart 9"/>
          <p:cNvGraphicFramePr>
            <a:graphicFrameLocks noGrp="1"/>
          </p:cNvGraphicFramePr>
          <p:nvPr/>
        </p:nvGraphicFramePr>
        <p:xfrm>
          <a:off x="731520" y="1463040"/>
          <a:ext cx="7498079" cy="4754880"/>
        </p:xfrm>
        <a:graphic>
          <a:graphicData uri="http://schemas.openxmlformats.org/drawingml/2006/chart">
            <c:chart xmlns:c="http://schemas.openxmlformats.org/drawingml/2006/chart" r:id="rId2"/>
          </a:graphicData>
        </a:graphic>
      </p:graphicFrame>
      <p:sp>
        <p:nvSpPr>
          <p:cNvPr id="11" name="Rounded Rectangle 10"/>
          <p:cNvSpPr/>
          <p:nvPr/>
        </p:nvSpPr>
        <p:spPr>
          <a:xfrm>
            <a:off x="8503920" y="1463040"/>
            <a:ext cx="3108960" cy="47548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645920"/>
            <a:ext cx="2651760" cy="365760"/>
          </a:xfrm>
          <a:prstGeom prst="rect">
            <a:avLst/>
          </a:prstGeom>
          <a:noFill/>
        </p:spPr>
        <p:txBody>
          <a:bodyPr wrap="square">
            <a:spAutoFit/>
          </a:bodyPr>
          <a:lstStyle/>
          <a:p>
            <a:pPr algn="l"/>
            <a:r>
              <a:rPr sz="1400" b="1" i="0">
                <a:solidFill>
                  <a:srgbClr val="1E293B"/>
                </a:solidFill>
                <a:latin typeface="Calibri"/>
              </a:rPr>
              <a:t>Nhận xét</a:t>
            </a:r>
          </a:p>
        </p:txBody>
      </p:sp>
      <p:sp>
        <p:nvSpPr>
          <p:cNvPr id="13" name="TextBox 12"/>
          <p:cNvSpPr txBox="1"/>
          <p:nvPr/>
        </p:nvSpPr>
        <p:spPr>
          <a:xfrm>
            <a:off x="8732520" y="2103120"/>
            <a:ext cx="2697480" cy="3931920"/>
          </a:xfrm>
          <a:prstGeom prst="rect">
            <a:avLst/>
          </a:prstGeom>
          <a:noFill/>
        </p:spPr>
        <p:txBody>
          <a:bodyPr wrap="square">
            <a:spAutoFit/>
          </a:bodyPr>
          <a:lstStyle/>
          <a:p>
            <a:pPr algn="l">
              <a:spcAft>
                <a:spcPts val="1000"/>
              </a:spcAft>
            </a:pPr>
            <a:r>
              <a:rPr sz="1150" b="1">
                <a:solidFill>
                  <a:srgbClr val="3B82F6"/>
                </a:solidFill>
                <a:latin typeface="Calibri"/>
              </a:rPr>
              <a:t>●  </a:t>
            </a:r>
            <a:r>
              <a:rPr sz="1150" b="0">
                <a:solidFill>
                  <a:srgbClr val="475569"/>
                </a:solidFill>
                <a:latin typeface="Calibri"/>
              </a:rPr>
              <a:t>Khoảng cách GIẢM dần theo thời gian mô phỏng mực nước đang DÂNG LÊN dần (mưa lớn, triều cường...).</a:t>
            </a:r>
          </a:p>
          <a:p>
            <a:pPr algn="l">
              <a:spcAft>
                <a:spcPts val="1000"/>
              </a:spcAft>
            </a:pPr>
            <a:r>
              <a:rPr sz="1150" b="1">
                <a:solidFill>
                  <a:srgbClr val="3B82F6"/>
                </a:solidFill>
                <a:latin typeface="Calibri"/>
              </a:rPr>
              <a:t>●  </a:t>
            </a:r>
            <a:r>
              <a:rPr sz="1150" b="0">
                <a:solidFill>
                  <a:srgbClr val="475569"/>
                </a:solidFill>
                <a:latin typeface="Calibri"/>
              </a:rPr>
              <a:t>Khi đường dữ liệu cắt xuống dưới đường ngưỡng (15cm) tại khoảng giây thứ 15-18, hệ thống chuyển sang trạng thái CẢNH BÁO.</a:t>
            </a:r>
          </a:p>
          <a:p>
            <a:pPr algn="l">
              <a:spcAft>
                <a:spcPts val="1000"/>
              </a:spcAft>
            </a:pPr>
            <a:r>
              <a:rPr sz="1150" b="1">
                <a:solidFill>
                  <a:srgbClr val="3B82F6"/>
                </a:solidFill>
                <a:latin typeface="Calibri"/>
              </a:rPr>
              <a:t>●  </a:t>
            </a:r>
            <a:r>
              <a:rPr sz="1150" b="0">
                <a:solidFill>
                  <a:srgbClr val="475569"/>
                </a:solidFill>
                <a:latin typeface="Calibri"/>
              </a:rPr>
              <a:t>Đây là dạng biểu đồ điển hình dùng để hiệu chỉnh ngưỡng cảnh báo — quan sát tốc độ dâng nước thực tế để chọn ngưỡng có đủ thời gian phản ứng.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B2 · ỨNG DỤNG THỰC TIỄN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Ứng dụng trong Kỹ thuật Môi trường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12</a:t>
            </a:r>
          </a:p>
        </p:txBody>
      </p:sp>
      <p:sp>
        <p:nvSpPr>
          <p:cNvPr id="10" name="Rounded Rectangle 9"/>
          <p:cNvSpPr/>
          <p:nvPr/>
        </p:nvSpPr>
        <p:spPr>
          <a:xfrm>
            <a:off x="548640" y="1417320"/>
            <a:ext cx="5349240" cy="1965960"/>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109728" cy="19659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581912"/>
            <a:ext cx="4800600" cy="457200"/>
          </a:xfrm>
          <a:prstGeom prst="rect">
            <a:avLst/>
          </a:prstGeom>
          <a:noFill/>
        </p:spPr>
        <p:txBody>
          <a:bodyPr wrap="square">
            <a:spAutoFit/>
          </a:bodyPr>
          <a:lstStyle/>
          <a:p>
            <a:pPr algn="l"/>
            <a:r>
              <a:rPr sz="1550" b="1" i="0">
                <a:solidFill>
                  <a:srgbClr val="1E293B"/>
                </a:solidFill>
                <a:latin typeface="Calibri"/>
              </a:rPr>
              <a:t>Cảnh báo lũ đô thị</a:t>
            </a:r>
          </a:p>
        </p:txBody>
      </p:sp>
      <p:sp>
        <p:nvSpPr>
          <p:cNvPr id="13" name="TextBox 12"/>
          <p:cNvSpPr txBox="1"/>
          <p:nvPr/>
        </p:nvSpPr>
        <p:spPr>
          <a:xfrm>
            <a:off x="868680"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Lắp tại miệng cống, kênh thoát nước để cảnh báo sớm ngập úng khi mưa lớn.</a:t>
            </a:r>
          </a:p>
        </p:txBody>
      </p:sp>
      <p:sp>
        <p:nvSpPr>
          <p:cNvPr id="14" name="Rounded Rectangle 13"/>
          <p:cNvSpPr/>
          <p:nvPr/>
        </p:nvSpPr>
        <p:spPr>
          <a:xfrm>
            <a:off x="6263640" y="1417320"/>
            <a:ext cx="5349240" cy="196596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41732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79" y="1581912"/>
            <a:ext cx="4800600" cy="457200"/>
          </a:xfrm>
          <a:prstGeom prst="rect">
            <a:avLst/>
          </a:prstGeom>
          <a:noFill/>
        </p:spPr>
        <p:txBody>
          <a:bodyPr wrap="square">
            <a:spAutoFit/>
          </a:bodyPr>
          <a:lstStyle/>
          <a:p>
            <a:pPr algn="l"/>
            <a:r>
              <a:rPr sz="1550" b="1" i="0">
                <a:solidFill>
                  <a:srgbClr val="1E293B"/>
                </a:solidFill>
                <a:latin typeface="Calibri"/>
              </a:rPr>
              <a:t>Giám sát hồ chứa / đập thuỷ lợi</a:t>
            </a:r>
          </a:p>
        </p:txBody>
      </p:sp>
      <p:sp>
        <p:nvSpPr>
          <p:cNvPr id="17" name="TextBox 16"/>
          <p:cNvSpPr txBox="1"/>
          <p:nvPr/>
        </p:nvSpPr>
        <p:spPr>
          <a:xfrm>
            <a:off x="6583679"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Theo dõi liên tục mực nước hồ chứa, hỗ trợ vận hành xả lũ an toàn.</a:t>
            </a:r>
          </a:p>
        </p:txBody>
      </p:sp>
      <p:sp>
        <p:nvSpPr>
          <p:cNvPr id="18" name="Rounded Rectangle 17"/>
          <p:cNvSpPr/>
          <p:nvPr/>
        </p:nvSpPr>
        <p:spPr>
          <a:xfrm>
            <a:off x="548640" y="3703320"/>
            <a:ext cx="5349240" cy="1965960"/>
          </a:xfrm>
          <a:prstGeom prst="roundRect">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03320"/>
            <a:ext cx="109728" cy="1965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67911"/>
            <a:ext cx="4800600" cy="457200"/>
          </a:xfrm>
          <a:prstGeom prst="rect">
            <a:avLst/>
          </a:prstGeom>
          <a:noFill/>
        </p:spPr>
        <p:txBody>
          <a:bodyPr wrap="square">
            <a:spAutoFit/>
          </a:bodyPr>
          <a:lstStyle/>
          <a:p>
            <a:pPr algn="l"/>
            <a:r>
              <a:rPr sz="1550" b="1" i="0">
                <a:solidFill>
                  <a:srgbClr val="1E293B"/>
                </a:solidFill>
                <a:latin typeface="Calibri"/>
              </a:rPr>
              <a:t>Quản lý bể chứa nước sạch</a:t>
            </a:r>
          </a:p>
        </p:txBody>
      </p:sp>
      <p:sp>
        <p:nvSpPr>
          <p:cNvPr id="21" name="TextBox 20"/>
          <p:cNvSpPr txBox="1"/>
          <p:nvPr/>
        </p:nvSpPr>
        <p:spPr>
          <a:xfrm>
            <a:off x="868680"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Đo mức nước trong bể chứa sinh hoạt/công nghiệp, tự động bơm bổ sung khi cạn.</a:t>
            </a:r>
          </a:p>
        </p:txBody>
      </p:sp>
      <p:sp>
        <p:nvSpPr>
          <p:cNvPr id="22" name="Rounded Rectangle 21"/>
          <p:cNvSpPr/>
          <p:nvPr/>
        </p:nvSpPr>
        <p:spPr>
          <a:xfrm>
            <a:off x="6263640" y="3703320"/>
            <a:ext cx="5349240" cy="1965960"/>
          </a:xfrm>
          <a:prstGeom prst="roundRect">
            <a:avLst/>
          </a:prstGeom>
          <a:solidFill>
            <a:srgbClr val="FFFFFF"/>
          </a:solidFill>
          <a:ln w="1905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703320"/>
            <a:ext cx="109728" cy="196596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79" y="3867911"/>
            <a:ext cx="4800600" cy="457200"/>
          </a:xfrm>
          <a:prstGeom prst="rect">
            <a:avLst/>
          </a:prstGeom>
          <a:noFill/>
        </p:spPr>
        <p:txBody>
          <a:bodyPr wrap="square">
            <a:spAutoFit/>
          </a:bodyPr>
          <a:lstStyle/>
          <a:p>
            <a:pPr algn="l"/>
            <a:r>
              <a:rPr sz="1550" b="1" i="0">
                <a:solidFill>
                  <a:srgbClr val="1E293B"/>
                </a:solidFill>
                <a:latin typeface="Calibri"/>
              </a:rPr>
              <a:t>Trạm quan trắc chất lượng nước sông</a:t>
            </a:r>
          </a:p>
        </p:txBody>
      </p:sp>
      <p:sp>
        <p:nvSpPr>
          <p:cNvPr id="25" name="TextBox 24"/>
          <p:cNvSpPr txBox="1"/>
          <p:nvPr/>
        </p:nvSpPr>
        <p:spPr>
          <a:xfrm>
            <a:off x="6583679"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Kết hợp đo nhiệt độ nước để theo dõi biến động môi trường thuỷ sinh theo mùa.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B2 · LƯU Ý TRIỂN KHAI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Sai sót thường gặp &amp; lưu ý khi lắp đặt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13</a:t>
            </a:r>
          </a:p>
        </p:txBody>
      </p:sp>
      <p:sp>
        <p:nvSpPr>
          <p:cNvPr id="10" name="Oval 9"/>
          <p:cNvSpPr/>
          <p:nvPr/>
        </p:nvSpPr>
        <p:spPr>
          <a:xfrm>
            <a:off x="548640" y="1444752"/>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1" name="TextBox 10"/>
          <p:cNvSpPr txBox="1"/>
          <p:nvPr/>
        </p:nvSpPr>
        <p:spPr>
          <a:xfrm>
            <a:off x="1188720" y="1417320"/>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HC-SR04 cần bề mặt phản xạ tương đối phẳng — mặt nước có sóng gợn có thể gây sai số hoặc mất tín hiệu ECHO.</a:t>
            </a:r>
          </a:p>
        </p:txBody>
      </p:sp>
      <p:sp>
        <p:nvSpPr>
          <p:cNvPr id="12" name="Oval 11"/>
          <p:cNvSpPr/>
          <p:nvPr/>
        </p:nvSpPr>
        <p:spPr>
          <a:xfrm>
            <a:off x="548640" y="2295144"/>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3" name="TextBox 12"/>
          <p:cNvSpPr txBox="1"/>
          <p:nvPr/>
        </p:nvSpPr>
        <p:spPr>
          <a:xfrm>
            <a:off x="1188720" y="2267712"/>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Vùng chết của HC-SR04 là dưới 2cm và tối đa khoảng 400cm — cần tính toán khoảng cách lắp đặt phù hợp với dải đo.</a:t>
            </a:r>
          </a:p>
        </p:txBody>
      </p:sp>
      <p:sp>
        <p:nvSpPr>
          <p:cNvPr id="14" name="Oval 13"/>
          <p:cNvSpPr/>
          <p:nvPr/>
        </p:nvSpPr>
        <p:spPr>
          <a:xfrm>
            <a:off x="548640" y="3145536"/>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5" name="TextBox 14"/>
          <p:cNvSpPr txBox="1"/>
          <p:nvPr/>
        </p:nvSpPr>
        <p:spPr>
          <a:xfrm>
            <a:off x="1188720" y="3118104"/>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DS18B20 cần điện trở pull-up 4.7kΩ giữa DATA và VCC khi lắp mạch thật (bộ mô phỏng đã lược bỏ chi tiết này để đơn giản hoá).</a:t>
            </a:r>
          </a:p>
        </p:txBody>
      </p:sp>
      <p:sp>
        <p:nvSpPr>
          <p:cNvPr id="16" name="Oval 15"/>
          <p:cNvSpPr/>
          <p:nvPr/>
        </p:nvSpPr>
        <p:spPr>
          <a:xfrm>
            <a:off x="548640" y="3995928"/>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7" name="TextBox 16"/>
          <p:cNvSpPr txBox="1"/>
          <p:nvPr/>
        </p:nvSpPr>
        <p:spPr>
          <a:xfrm>
            <a:off x="1188720" y="3968496"/>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Nên bọc chống ẩm cho module HC-SR04 nếu lắp ở môi trường ngoài trời/độ ẩm cao vì bo mạch điều khiển không chống nước.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B2 · ÔN TẬP</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Câu hỏi thảo luận cuối buổi</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14</a:t>
            </a:r>
          </a:p>
        </p:txBody>
      </p:sp>
      <p:sp>
        <p:nvSpPr>
          <p:cNvPr id="10" name="Rounded Rectangle 9"/>
          <p:cNvSpPr/>
          <p:nvPr/>
        </p:nvSpPr>
        <p:spPr>
          <a:xfrm>
            <a:off x="548640" y="146304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Q1</a:t>
            </a:r>
          </a:p>
        </p:txBody>
      </p:sp>
      <p:sp>
        <p:nvSpPr>
          <p:cNvPr id="11" name="TextBox 10"/>
          <p:cNvSpPr txBox="1"/>
          <p:nvPr/>
        </p:nvSpPr>
        <p:spPr>
          <a:xfrm>
            <a:off x="1234440" y="144475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Vì sao công thức tính khoảng cách phải chia 2 cho thời gian đo được từ pulseIn()?</a:t>
            </a:r>
          </a:p>
        </p:txBody>
      </p:sp>
      <p:sp>
        <p:nvSpPr>
          <p:cNvPr id="12" name="Rounded Rectangle 11"/>
          <p:cNvSpPr/>
          <p:nvPr/>
        </p:nvSpPr>
        <p:spPr>
          <a:xfrm>
            <a:off x="548640" y="233172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Q2</a:t>
            </a:r>
          </a:p>
        </p:txBody>
      </p:sp>
      <p:sp>
        <p:nvSpPr>
          <p:cNvPr id="13" name="TextBox 12"/>
          <p:cNvSpPr txBox="1"/>
          <p:nvPr/>
        </p:nvSpPr>
        <p:spPr>
          <a:xfrm>
            <a:off x="1234440" y="231343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Nếu mực nước dâng cao thêm 10cm, giá trị khoảng cách đo được từ HC-SR04 sẽ tăng hay giảm? Vì sao?</a:t>
            </a:r>
          </a:p>
        </p:txBody>
      </p:sp>
      <p:sp>
        <p:nvSpPr>
          <p:cNvPr id="14" name="Rounded Rectangle 13"/>
          <p:cNvSpPr/>
          <p:nvPr/>
        </p:nvSpPr>
        <p:spPr>
          <a:xfrm>
            <a:off x="548640" y="320040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Q3</a:t>
            </a:r>
          </a:p>
        </p:txBody>
      </p:sp>
      <p:sp>
        <p:nvSpPr>
          <p:cNvPr id="15" name="TextBox 14"/>
          <p:cNvSpPr txBox="1"/>
          <p:nvPr/>
        </p:nvSpPr>
        <p:spPr>
          <a:xfrm>
            <a:off x="1234440" y="318211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Đề xuất cách cải tiến hệ thống để có nhiều mức cảnh báo (an toàn/theo dõi/nguy hiểm) thay vì chỉ 1 ngưỡng duy nhất.</a:t>
            </a:r>
          </a:p>
        </p:txBody>
      </p:sp>
      <p:sp>
        <p:nvSpPr>
          <p:cNvPr id="16" name="Rounded Rectangle 15"/>
          <p:cNvSpPr/>
          <p:nvPr/>
        </p:nvSpPr>
        <p:spPr>
          <a:xfrm>
            <a:off x="548640" y="406908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Q4</a:t>
            </a:r>
          </a:p>
        </p:txBody>
      </p:sp>
      <p:sp>
        <p:nvSpPr>
          <p:cNvPr id="17" name="TextBox 16"/>
          <p:cNvSpPr txBox="1"/>
          <p:nvPr/>
        </p:nvSpPr>
        <p:spPr>
          <a:xfrm>
            <a:off x="1234440" y="405079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DS18B20 dùng giao thức 1-Wire — nêu 1 ưu điểm của giao thức này so với việc dùng nhiều chân analog riêng cho nhiều cảm biến nhiệt độ.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B2 · TỔNG KẾT</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Tổng kết buổi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B2</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15</a:t>
            </a:r>
          </a:p>
        </p:txBody>
      </p:sp>
      <p:sp>
        <p:nvSpPr>
          <p:cNvPr id="10" name="TextBox 9"/>
          <p:cNvSpPr txBox="1"/>
          <p:nvPr/>
        </p:nvSpPr>
        <p:spPr>
          <a:xfrm>
            <a:off x="548640" y="1371600"/>
            <a:ext cx="10881360" cy="365760"/>
          </a:xfrm>
          <a:prstGeom prst="rect">
            <a:avLst/>
          </a:prstGeom>
          <a:noFill/>
        </p:spPr>
        <p:txBody>
          <a:bodyPr wrap="square">
            <a:spAutoFit/>
          </a:bodyPr>
          <a:lstStyle/>
          <a:p>
            <a:pPr algn="l"/>
            <a:r>
              <a:rPr sz="1500" b="1" i="0">
                <a:solidFill>
                  <a:srgbClr val="1E293B"/>
                </a:solidFill>
                <a:latin typeface="Calibri"/>
              </a:rPr>
              <a:t>Những điều đã đạt được:</a:t>
            </a:r>
          </a:p>
        </p:txBody>
      </p:sp>
      <p:sp>
        <p:nvSpPr>
          <p:cNvPr id="11" name="TextBox 10"/>
          <p:cNvSpPr txBox="1"/>
          <p:nvPr/>
        </p:nvSpPr>
        <p:spPr>
          <a:xfrm>
            <a:off x="548640" y="1783080"/>
            <a:ext cx="10881360" cy="2377440"/>
          </a:xfrm>
          <a:prstGeom prst="rect">
            <a:avLst/>
          </a:prstGeom>
          <a:noFill/>
        </p:spPr>
        <p:txBody>
          <a:bodyPr wrap="square">
            <a:spAutoFit/>
          </a:bodyPr>
          <a:lstStyle/>
          <a:p>
            <a:pPr algn="l">
              <a:spcAft>
                <a:spcPts val="1000"/>
              </a:spcAft>
            </a:pPr>
            <a:r>
              <a:rPr sz="1450" b="1">
                <a:solidFill>
                  <a:srgbClr val="10B981"/>
                </a:solidFill>
                <a:latin typeface="Calibri"/>
              </a:rPr>
              <a:t>●  </a:t>
            </a:r>
            <a:r>
              <a:rPr sz="1450" b="0">
                <a:solidFill>
                  <a:srgbClr val="1E293B"/>
                </a:solidFill>
                <a:latin typeface="Calibri"/>
              </a:rPr>
              <a:t>Đã kết hợp 2 cảm biến (siêu âm + nhiệt độ số) trong cùng 1 hệ thống và xử lý dữ liệu song song.</a:t>
            </a:r>
          </a:p>
          <a:p>
            <a:pPr algn="l">
              <a:spcAft>
                <a:spcPts val="1000"/>
              </a:spcAft>
            </a:pPr>
            <a:r>
              <a:rPr sz="1450" b="1">
                <a:solidFill>
                  <a:srgbClr val="10B981"/>
                </a:solidFill>
                <a:latin typeface="Calibri"/>
              </a:rPr>
              <a:t>●  </a:t>
            </a:r>
            <a:r>
              <a:rPr sz="1450" b="0">
                <a:solidFill>
                  <a:srgbClr val="1E293B"/>
                </a:solidFill>
                <a:latin typeface="Calibri"/>
              </a:rPr>
              <a:t>Lần đầu áp dụng cấu trúc if/else để chuyển dữ liệu thô thành cảnh báo có ý nghĩa — kỹ năng nền tảng cho mọi bài tiếp theo.</a:t>
            </a:r>
          </a:p>
          <a:p>
            <a:pPr algn="l">
              <a:spcAft>
                <a:spcPts val="1000"/>
              </a:spcAft>
            </a:pPr>
            <a:r>
              <a:rPr sz="1450" b="1">
                <a:solidFill>
                  <a:srgbClr val="10B981"/>
                </a:solidFill>
                <a:latin typeface="Calibri"/>
              </a:rPr>
              <a:t>●  </a:t>
            </a:r>
            <a:r>
              <a:rPr sz="1450" b="0">
                <a:solidFill>
                  <a:srgbClr val="1E293B"/>
                </a:solidFill>
                <a:latin typeface="Calibri"/>
              </a:rPr>
              <a:t>Hiểu được mối liên hệ giữa đại lượng vật lý đo được (khoảng cách) và ý nghĩa thực tế cần diễn giải (mực nước dâng).</a:t>
            </a:r>
          </a:p>
        </p:txBody>
      </p:sp>
      <p:sp>
        <p:nvSpPr>
          <p:cNvPr id="12" name="Rounded Rectangle 11"/>
          <p:cNvSpPr/>
          <p:nvPr/>
        </p:nvSpPr>
        <p:spPr>
          <a:xfrm>
            <a:off x="548640" y="4343400"/>
            <a:ext cx="10881360" cy="160020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10332720" cy="365760"/>
          </a:xfrm>
          <a:prstGeom prst="rect">
            <a:avLst/>
          </a:prstGeom>
          <a:noFill/>
        </p:spPr>
        <p:txBody>
          <a:bodyPr wrap="square">
            <a:spAutoFit/>
          </a:bodyPr>
          <a:lstStyle/>
          <a:p>
            <a:pPr algn="l"/>
            <a:r>
              <a:rPr sz="1300" b="1" i="0">
                <a:solidFill>
                  <a:srgbClr val="10B981"/>
                </a:solidFill>
                <a:latin typeface="Calibri"/>
              </a:rPr>
              <a:t>CHUẨN BỊ CHO BUỔI TIẾP THEO</a:t>
            </a:r>
          </a:p>
        </p:txBody>
      </p:sp>
      <p:sp>
        <p:nvSpPr>
          <p:cNvPr id="14" name="TextBox 13"/>
          <p:cNvSpPr txBox="1"/>
          <p:nvPr/>
        </p:nvSpPr>
        <p:spPr>
          <a:xfrm>
            <a:off x="822960" y="4892040"/>
            <a:ext cx="10332720" cy="960120"/>
          </a:xfrm>
          <a:prstGeom prst="rect">
            <a:avLst/>
          </a:prstGeom>
          <a:noFill/>
        </p:spPr>
        <p:txBody>
          <a:bodyPr wrap="square">
            <a:spAutoFit/>
          </a:bodyPr>
          <a:lstStyle/>
          <a:p>
            <a:pPr algn="l">
              <a:lnSpc>
                <a:spcPct val="120000"/>
              </a:lnSpc>
            </a:pPr>
            <a:r>
              <a:rPr sz="1500" b="0" i="0">
                <a:solidFill>
                  <a:srgbClr val="FFFFFF"/>
                </a:solidFill>
                <a:latin typeface="Calibri"/>
              </a:rPr>
              <a:t>Buổi 3: Hệ thống tưới cây tự động — dùng cảm biến độ ẩm đất điều khiển Relay đóng/ngắt máy bơm nước, giới thiệu khái niệm cách ly mạch điều khiển và mạch tải công suất.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11277295" cy="594360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66663" y="100584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822960" y="1965960"/>
            <a:ext cx="10545775" cy="914400"/>
          </a:xfrm>
          <a:prstGeom prst="rect">
            <a:avLst/>
          </a:prstGeom>
          <a:noFill/>
        </p:spPr>
        <p:txBody>
          <a:bodyPr wrap="square">
            <a:spAutoFit/>
          </a:bodyPr>
          <a:lstStyle/>
          <a:p>
            <a:pPr algn="ctr"/>
            <a:r>
              <a:rPr sz="3200" b="1" i="0">
                <a:solidFill>
                  <a:srgbClr val="1E293B"/>
                </a:solidFill>
                <a:latin typeface="Calibri"/>
              </a:rPr>
              <a:t>CẢM ƠN CÁC BẠN ĐÃ THEO DÕI</a:t>
            </a:r>
          </a:p>
        </p:txBody>
      </p:sp>
      <p:sp>
        <p:nvSpPr>
          <p:cNvPr id="6" name="TextBox 5"/>
          <p:cNvSpPr txBox="1"/>
          <p:nvPr/>
        </p:nvSpPr>
        <p:spPr>
          <a:xfrm>
            <a:off x="822960" y="2834640"/>
            <a:ext cx="10545775" cy="548640"/>
          </a:xfrm>
          <a:prstGeom prst="rect">
            <a:avLst/>
          </a:prstGeom>
          <a:noFill/>
        </p:spPr>
        <p:txBody>
          <a:bodyPr wrap="square">
            <a:spAutoFit/>
          </a:bodyPr>
          <a:lstStyle/>
          <a:p>
            <a:pPr algn="ctr"/>
            <a:r>
              <a:rPr sz="1500" b="0" i="0">
                <a:solidFill>
                  <a:srgbClr val="10B981"/>
                </a:solidFill>
                <a:latin typeface="Calibri"/>
              </a:rPr>
              <a:t>Hỏi đáp &amp; Thực hành trực tiếp trên trình mô phỏng — B2</a:t>
            </a:r>
          </a:p>
        </p:txBody>
      </p:sp>
      <p:sp>
        <p:nvSpPr>
          <p:cNvPr id="7" name="Rounded Rectangle 6"/>
          <p:cNvSpPr/>
          <p:nvPr/>
        </p:nvSpPr>
        <p:spPr>
          <a:xfrm>
            <a:off x="147812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sp32s3.jpg"/>
          <p:cNvPicPr>
            <a:picLocks noChangeAspect="1"/>
          </p:cNvPicPr>
          <p:nvPr/>
        </p:nvPicPr>
        <p:blipFill>
          <a:blip r:embed="rId2"/>
          <a:stretch>
            <a:fillRect/>
          </a:stretch>
        </p:blipFill>
        <p:spPr>
          <a:xfrm>
            <a:off x="1569567" y="3835587"/>
            <a:ext cx="1920239" cy="1472824"/>
          </a:xfrm>
          <a:prstGeom prst="rect">
            <a:avLst/>
          </a:prstGeom>
        </p:spPr>
      </p:pic>
      <p:sp>
        <p:nvSpPr>
          <p:cNvPr id="9" name="Rounded Rectangle 8"/>
          <p:cNvSpPr/>
          <p:nvPr/>
        </p:nvSpPr>
        <p:spPr>
          <a:xfrm>
            <a:off x="385556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csr04.jpg"/>
          <p:cNvPicPr>
            <a:picLocks noChangeAspect="1"/>
          </p:cNvPicPr>
          <p:nvPr/>
        </p:nvPicPr>
        <p:blipFill>
          <a:blip r:embed="rId3"/>
          <a:stretch>
            <a:fillRect/>
          </a:stretch>
        </p:blipFill>
        <p:spPr>
          <a:xfrm>
            <a:off x="3947007" y="3855750"/>
            <a:ext cx="1920239" cy="1432499"/>
          </a:xfrm>
          <a:prstGeom prst="rect">
            <a:avLst/>
          </a:prstGeom>
        </p:spPr>
      </p:pic>
      <p:sp>
        <p:nvSpPr>
          <p:cNvPr id="11" name="Rounded Rectangle 10"/>
          <p:cNvSpPr/>
          <p:nvPr/>
        </p:nvSpPr>
        <p:spPr>
          <a:xfrm>
            <a:off x="623300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s18b20.jpg"/>
          <p:cNvPicPr>
            <a:picLocks noChangeAspect="1"/>
          </p:cNvPicPr>
          <p:nvPr/>
        </p:nvPicPr>
        <p:blipFill>
          <a:blip r:embed="rId4"/>
          <a:stretch>
            <a:fillRect/>
          </a:stretch>
        </p:blipFill>
        <p:spPr>
          <a:xfrm>
            <a:off x="6461607" y="3749039"/>
            <a:ext cx="1645920" cy="1645920"/>
          </a:xfrm>
          <a:prstGeom prst="rect">
            <a:avLst/>
          </a:prstGeom>
        </p:spPr>
      </p:pic>
      <p:sp>
        <p:nvSpPr>
          <p:cNvPr id="13" name="Rounded Rectangle 12"/>
          <p:cNvSpPr/>
          <p:nvPr/>
        </p:nvSpPr>
        <p:spPr>
          <a:xfrm>
            <a:off x="861044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cd1602.jpg"/>
          <p:cNvPicPr>
            <a:picLocks noChangeAspect="1"/>
          </p:cNvPicPr>
          <p:nvPr/>
        </p:nvPicPr>
        <p:blipFill>
          <a:blip r:embed="rId5"/>
          <a:stretch>
            <a:fillRect/>
          </a:stretch>
        </p:blipFill>
        <p:spPr>
          <a:xfrm>
            <a:off x="8701887" y="3932560"/>
            <a:ext cx="1920239" cy="1278879"/>
          </a:xfrm>
          <a:prstGeom prst="rect">
            <a:avLst/>
          </a:prstGeom>
        </p:spPr>
      </p:pic>
      <p:sp>
        <p:nvSpPr>
          <p:cNvPr id="15" name="TextBox 14"/>
          <p:cNvSpPr txBox="1"/>
          <p:nvPr/>
        </p:nvSpPr>
        <p:spPr>
          <a:xfrm>
            <a:off x="822960" y="6035040"/>
            <a:ext cx="10545775" cy="365760"/>
          </a:xfrm>
          <a:prstGeom prst="rect">
            <a:avLst/>
          </a:prstGeom>
          <a:noFill/>
        </p:spPr>
        <p:txBody>
          <a:bodyPr wrap="square">
            <a:spAutoFit/>
          </a:bodyPr>
          <a:lstStyle/>
          <a:p>
            <a:pPr algn="ctr"/>
            <a:r>
              <a:rPr sz="1150" b="0" i="0">
                <a:solidFill>
                  <a:srgbClr val="475569"/>
                </a:solidFill>
                <a:latin typeface="Calibri"/>
              </a:rPr>
              <a:t>Giảng viên hướng dẫn: Nguyễn Lê Tấn Đạt  ·  datnlt@tdmu.edu.vn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