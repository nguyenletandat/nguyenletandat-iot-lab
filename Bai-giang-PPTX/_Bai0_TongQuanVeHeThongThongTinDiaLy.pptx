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1"/>
  </p:notesMasterIdLst>
  <p:sldIdLst>
    <p:sldId id="256" r:id="rId2"/>
    <p:sldId id="352" r:id="rId3"/>
    <p:sldId id="356" r:id="rId4"/>
    <p:sldId id="357" r:id="rId5"/>
    <p:sldId id="358" r:id="rId6"/>
    <p:sldId id="363" r:id="rId7"/>
    <p:sldId id="362" r:id="rId8"/>
    <p:sldId id="359" r:id="rId9"/>
    <p:sldId id="360" r:id="rId10"/>
    <p:sldId id="361" r:id="rId11"/>
    <p:sldId id="284" r:id="rId12"/>
    <p:sldId id="285" r:id="rId13"/>
    <p:sldId id="365" r:id="rId14"/>
    <p:sldId id="364" r:id="rId15"/>
    <p:sldId id="366" r:id="rId16"/>
    <p:sldId id="367" r:id="rId17"/>
    <p:sldId id="368" r:id="rId18"/>
    <p:sldId id="369" r:id="rId19"/>
    <p:sldId id="3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7373"/>
    <a:srgbClr val="A4A4A4"/>
    <a:srgbClr val="B6B6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4" autoAdjust="0"/>
    <p:restoredTop sz="92943" autoAdjust="0"/>
  </p:normalViewPr>
  <p:slideViewPr>
    <p:cSldViewPr snapToGrid="0">
      <p:cViewPr varScale="1">
        <p:scale>
          <a:sx n="107" d="100"/>
          <a:sy n="107" d="100"/>
        </p:scale>
        <p:origin x="1074"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FBF6-D396-459F-92B4-0F20EC707EC7}" type="datetimeFigureOut">
              <a:rPr lang="en-US" smtClean="0"/>
              <a:t>2026/08/10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F04A4-11F6-406C-A78F-E2060CFC7BE1}" type="slidenum">
              <a:rPr lang="en-US" smtClean="0"/>
              <a:t>‹#›</a:t>
            </a:fld>
            <a:endParaRPr lang="en-US"/>
          </a:p>
        </p:txBody>
      </p:sp>
    </p:spTree>
    <p:extLst>
      <p:ext uri="{BB962C8B-B14F-4D97-AF65-F5344CB8AC3E}">
        <p14:creationId xmlns:p14="http://schemas.microsoft.com/office/powerpoint/2010/main" val="942955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4F04A4-11F6-406C-A78F-E2060CFC7BE1}" type="slidenum">
              <a:rPr lang="en-US" smtClean="0"/>
              <a:t>1</a:t>
            </a:fld>
            <a:endParaRPr lang="en-US"/>
          </a:p>
        </p:txBody>
      </p:sp>
    </p:spTree>
    <p:extLst>
      <p:ext uri="{BB962C8B-B14F-4D97-AF65-F5344CB8AC3E}">
        <p14:creationId xmlns:p14="http://schemas.microsoft.com/office/powerpoint/2010/main" val="2470484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4F04A4-11F6-406C-A78F-E2060CFC7BE1}" type="slidenum">
              <a:rPr lang="en-US" smtClean="0"/>
              <a:t>13</a:t>
            </a:fld>
            <a:endParaRPr lang="en-US"/>
          </a:p>
        </p:txBody>
      </p:sp>
    </p:spTree>
    <p:extLst>
      <p:ext uri="{BB962C8B-B14F-4D97-AF65-F5344CB8AC3E}">
        <p14:creationId xmlns:p14="http://schemas.microsoft.com/office/powerpoint/2010/main" val="1338025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a:prstGeom prst="rect">
            <a:avLst/>
          </a:prstGeom>
        </p:spPr>
        <p:txBody>
          <a:bodyPr anchor="b">
            <a:normAutofit/>
          </a:bodyPr>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335071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45127" y="365760"/>
            <a:ext cx="10515600" cy="1325562"/>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845127" y="1828802"/>
            <a:ext cx="10515600" cy="43513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3905741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a:prstGeom prst="rect">
            <a:avLst/>
          </a:prstGeom>
        </p:spPr>
        <p:txBody>
          <a:bodyPr anchor="b">
            <a:normAutofit/>
          </a:bodyPr>
          <a:lstStyle>
            <a:lvl1pPr>
              <a:defRPr sz="6000" b="0"/>
            </a:lvl1pPr>
          </a:lstStyle>
          <a:p>
            <a:r>
              <a:rPr lang="en-US"/>
              <a:t>Click to edit Master title style</a:t>
            </a:r>
            <a:endParaRPr lang="en-US" dirty="0"/>
          </a:p>
        </p:txBody>
      </p:sp>
      <p:sp>
        <p:nvSpPr>
          <p:cNvPr id="3" name="Text Placeholder 2"/>
          <p:cNvSpPr>
            <a:spLocks noGrp="1"/>
          </p:cNvSpPr>
          <p:nvPr>
            <p:ph type="body" idx="1"/>
          </p:nvPr>
        </p:nvSpPr>
        <p:spPr>
          <a:xfrm>
            <a:off x="831851" y="4552635"/>
            <a:ext cx="10515600" cy="1500187"/>
          </a:xfrm>
          <a:prstGeom prst="rect">
            <a:avLst/>
          </a:prstGeo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3240287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45127" y="365760"/>
            <a:ext cx="10515600" cy="1325562"/>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845127" y="1828802"/>
            <a:ext cx="5181600" cy="43513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8802"/>
            <a:ext cx="5181600" cy="435133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2840818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a:prstGeom prst="rect">
            <a:avLst/>
          </a:prstGeo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5127" y="2507552"/>
            <a:ext cx="5156200" cy="3680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851"/>
            <a:ext cx="5181601" cy="825698"/>
          </a:xfrm>
          <a:prstGeom prst="rect">
            <a:avLst/>
          </a:prstGeo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7552"/>
            <a:ext cx="5181601" cy="3680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
        <p:nvSpPr>
          <p:cNvPr id="10" name="Title 9"/>
          <p:cNvSpPr>
            <a:spLocks noGrp="1"/>
          </p:cNvSpPr>
          <p:nvPr>
            <p:ph type="title"/>
          </p:nvPr>
        </p:nvSpPr>
        <p:spPr>
          <a:xfrm>
            <a:off x="845127" y="365760"/>
            <a:ext cx="10515600" cy="1325562"/>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042784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
        <p:nvSpPr>
          <p:cNvPr id="6" name="Title 5"/>
          <p:cNvSpPr>
            <a:spLocks noGrp="1"/>
          </p:cNvSpPr>
          <p:nvPr>
            <p:ph type="title"/>
          </p:nvPr>
        </p:nvSpPr>
        <p:spPr>
          <a:xfrm>
            <a:off x="845127" y="365760"/>
            <a:ext cx="10515600" cy="132556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837756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742715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2"/>
            <a:ext cx="3931920" cy="1600197"/>
          </a:xfrm>
          <a:prstGeom prst="rect">
            <a:avLst/>
          </a:prstGeom>
        </p:spPr>
        <p:txBody>
          <a:bodyPr anchor="b">
            <a:normAutofit/>
          </a:bodyPr>
          <a:lstStyle>
            <a:lvl1pPr>
              <a:defRPr sz="3200" b="0"/>
            </a:lvl1pPr>
          </a:lstStyle>
          <a:p>
            <a:r>
              <a:rPr lang="en-US"/>
              <a:t>Click to edit Master title style</a:t>
            </a:r>
            <a:endParaRPr lang="en-US" dirty="0"/>
          </a:p>
        </p:txBody>
      </p:sp>
      <p:sp>
        <p:nvSpPr>
          <p:cNvPr id="3" name="Content Placeholder 2"/>
          <p:cNvSpPr>
            <a:spLocks noGrp="1"/>
          </p:cNvSpPr>
          <p:nvPr>
            <p:ph idx="1"/>
          </p:nvPr>
        </p:nvSpPr>
        <p:spPr>
          <a:xfrm>
            <a:off x="5181600" y="990600"/>
            <a:ext cx="6172200" cy="48768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57399"/>
            <a:ext cx="3931920" cy="3810001"/>
          </a:xfrm>
          <a:prstGeom prst="rect">
            <a:avLst/>
          </a:prstGeo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310746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a:prstGeom prst="rect">
            <a:avLst/>
          </a:prstGeo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p:cNvSpPr>
          <p:nvPr>
            <p:ph type="pic" idx="1"/>
          </p:nvPr>
        </p:nvSpPr>
        <p:spPr>
          <a:xfrm>
            <a:off x="5181600" y="990600"/>
            <a:ext cx="6172200" cy="4876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41248" y="2057400"/>
            <a:ext cx="3931920" cy="3810000"/>
          </a:xfrm>
          <a:prstGeom prst="rect">
            <a:avLst/>
          </a:prstGeo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3481741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45127" y="365760"/>
            <a:ext cx="10515600" cy="1325562"/>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45127" y="1828802"/>
            <a:ext cx="10515600" cy="435133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183579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0362"/>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0364"/>
            <a:ext cx="7734300" cy="581183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631E893C-AEC9-4330-A2B8-9907C995F161}" type="datetimeFigureOut">
              <a:rPr lang="en-US" smtClean="0"/>
              <a:t>2026/08/10</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7527" y="6356352"/>
            <a:ext cx="2743200" cy="365125"/>
          </a:xfrm>
          <a:prstGeom prst="rect">
            <a:avLst/>
          </a:prstGeom>
        </p:spPr>
        <p:txBody>
          <a:bodyPr/>
          <a:lstStyle/>
          <a:p>
            <a:fld id="{81313E06-955D-4D34-B02D-37B2C54E8B5D}" type="slidenum">
              <a:rPr lang="en-US" smtClean="0"/>
              <a:t>‹#›</a:t>
            </a:fld>
            <a:endParaRPr lang="en-US"/>
          </a:p>
        </p:txBody>
      </p:sp>
    </p:spTree>
    <p:extLst>
      <p:ext uri="{BB962C8B-B14F-4D97-AF65-F5344CB8AC3E}">
        <p14:creationId xmlns:p14="http://schemas.microsoft.com/office/powerpoint/2010/main" val="3407497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13" cstate="print">
            <a:extLst>
              <a:ext uri="{BEBA8EAE-BF5A-486C-A8C5-ECC9F3942E4B}">
                <a14:imgProps xmlns:a14="http://schemas.microsoft.com/office/drawing/2010/main">
                  <a14:imgLayer r:embed="rId14">
                    <a14:imgEffect>
                      <a14:sharpenSoften amount="-50000"/>
                    </a14:imgEffect>
                    <a14:imgEffect>
                      <a14:colorTemperature colorTemp="6000"/>
                    </a14:imgEffect>
                  </a14:imgLayer>
                </a14:imgProps>
              </a:ext>
              <a:ext uri="{28A0092B-C50C-407E-A947-70E740481C1C}">
                <a14:useLocalDpi xmlns:a14="http://schemas.microsoft.com/office/drawing/2010/main" val="0"/>
              </a:ext>
            </a:extLst>
          </a:blip>
          <a:srcRect l="6613" t="15150" r="1223" b="1802"/>
          <a:stretch/>
        </p:blipFill>
        <p:spPr>
          <a:xfrm>
            <a:off x="-19051" y="-19050"/>
            <a:ext cx="12211051" cy="6877050"/>
          </a:xfrm>
          <a:prstGeom prst="rect">
            <a:avLst/>
          </a:prstGeom>
        </p:spPr>
      </p:pic>
      <p:sp>
        <p:nvSpPr>
          <p:cNvPr id="11"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p:cNvSpPr>
            <a:spLocks noGrp="1"/>
          </p:cNvSpPr>
          <p:nvPr>
            <p:ph type="body" idx="1"/>
          </p:nvPr>
        </p:nvSpPr>
        <p:spPr>
          <a:xfrm>
            <a:off x="845127" y="1828802"/>
            <a:ext cx="105156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31E893C-AEC9-4330-A2B8-9907C995F161}" type="datetimeFigureOut">
              <a:rPr lang="en-US" smtClean="0"/>
              <a:t>2026/08/10</a:t>
            </a:fld>
            <a:endParaRPr lang="en-US"/>
          </a:p>
        </p:txBody>
      </p:sp>
      <p:sp>
        <p:nvSpPr>
          <p:cNvPr id="14"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15" name="Slide Number Placeholder 5"/>
          <p:cNvSpPr>
            <a:spLocks noGrp="1"/>
          </p:cNvSpPr>
          <p:nvPr>
            <p:ph type="sldNum" sz="quarter" idx="4"/>
          </p:nvPr>
        </p:nvSpPr>
        <p:spPr>
          <a:xfrm>
            <a:off x="8617527" y="6356352"/>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81313E06-955D-4D34-B02D-37B2C54E8B5D}" type="slidenum">
              <a:rPr lang="en-US" smtClean="0"/>
              <a:t>‹#›</a:t>
            </a:fld>
            <a:endParaRPr lang="en-US"/>
          </a:p>
        </p:txBody>
      </p:sp>
    </p:spTree>
    <p:extLst>
      <p:ext uri="{BB962C8B-B14F-4D97-AF65-F5344CB8AC3E}">
        <p14:creationId xmlns:p14="http://schemas.microsoft.com/office/powerpoint/2010/main" val="384299262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hyperlink" Target="https://www.researchgate.net/profile/Nguyen_Dat24" TargetMode="External"/><Relationship Id="rId3" Type="http://schemas.openxmlformats.org/officeDocument/2006/relationships/image" Target="../media/image11.png"/><Relationship Id="rId7" Type="http://schemas.openxmlformats.org/officeDocument/2006/relationships/image" Target="../media/image14.png"/><Relationship Id="rId12" Type="http://schemas.openxmlformats.org/officeDocument/2006/relationships/hyperlink" Target="http://www.youtube.com/c/T%E1%BA%A5n%C4%90%E1%BA%A1tNguy%E1%BB%85nL%C3%AA" TargetMode="External"/><Relationship Id="rId2" Type="http://schemas.openxmlformats.org/officeDocument/2006/relationships/image" Target="../media/image10.png"/><Relationship Id="rId16" Type="http://schemas.openxmlformats.org/officeDocument/2006/relationships/image" Target="../media/image7.png"/><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hyperlink" Target="https://www.flickr.com/photos/nguyenletandat" TargetMode="External"/><Relationship Id="rId5" Type="http://schemas.openxmlformats.org/officeDocument/2006/relationships/image" Target="../media/image13.png"/><Relationship Id="rId15" Type="http://schemas.openxmlformats.org/officeDocument/2006/relationships/hyperlink" Target="https://www.linkedin.com/in/nguyenletandat/" TargetMode="External"/><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 Id="rId14" Type="http://schemas.openxmlformats.org/officeDocument/2006/relationships/hyperlink" Target="https://nguyenletandat.wordpress.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facebook.com/profile.php?id=100064049285188&amp;sk=reels_tab&amp;__tn__=-%5d"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facebook.com/profile.php?id=61581220204083&amp;sk=reels_tab&amp;__tn__=-%5d"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48984"/>
            <a:ext cx="12192000" cy="1128642"/>
          </a:xfrm>
        </p:spPr>
        <p:txBody>
          <a:bodyPr>
            <a:noAutofit/>
          </a:bodyPr>
          <a:lstStyle/>
          <a:p>
            <a:r>
              <a:rPr lang="en-US" sz="4800" b="1" dirty="0">
                <a:solidFill>
                  <a:schemeClr val="accent1">
                    <a:lumMod val="50000"/>
                  </a:schemeClr>
                </a:solidFill>
                <a:latin typeface="Times New Roman" panose="02020603050405020304" pitchFamily="18" charset="0"/>
                <a:cs typeface="Times New Roman" panose="02020603050405020304" pitchFamily="18" charset="0"/>
              </a:rPr>
              <a:t>IOT TRONG KỸ THUẬT MÔI TRƯỜNG</a:t>
            </a:r>
          </a:p>
        </p:txBody>
      </p:sp>
      <p:sp>
        <p:nvSpPr>
          <p:cNvPr id="11" name="Title 3"/>
          <p:cNvSpPr txBox="1">
            <a:spLocks/>
          </p:cNvSpPr>
          <p:nvPr/>
        </p:nvSpPr>
        <p:spPr>
          <a:xfrm>
            <a:off x="3113810" y="198776"/>
            <a:ext cx="7554191" cy="100054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bg1"/>
                </a:solidFill>
                <a:effectLst>
                  <a:outerShdw blurRad="50800" dist="38100" dir="2700000" algn="tl" rotWithShape="0">
                    <a:prstClr val="black">
                      <a:alpha val="40000"/>
                    </a:prstClr>
                  </a:outerShdw>
                  <a:reflection blurRad="6350" stA="55000" endA="300" endPos="45500" dir="5400000" sy="-100000" algn="bl" rotWithShape="0"/>
                </a:effectLst>
                <a:latin typeface="Times New Roman" pitchFamily="18" charset="0"/>
                <a:ea typeface="+mj-ea"/>
                <a:cs typeface="Times New Roman" pitchFamily="18" charset="0"/>
              </a:defRPr>
            </a:lvl1pPr>
          </a:lstStyle>
          <a:p>
            <a:r>
              <a:rPr lang="en-US" sz="2800" dirty="0">
                <a:ln w="10541" cmpd="sng">
                  <a:solidFill>
                    <a:srgbClr val="7D7D7D">
                      <a:tint val="100000"/>
                      <a:shade val="100000"/>
                      <a:satMod val="110000"/>
                    </a:srgbClr>
                  </a:solidFill>
                  <a:prstDash val="solid"/>
                </a:ln>
                <a:solidFill>
                  <a:schemeClr val="tx2"/>
                </a:solidFill>
                <a:effectLst/>
              </a:rPr>
              <a:t>Đại học Thủ </a:t>
            </a:r>
            <a:r>
              <a:rPr lang="en-US" sz="2800" dirty="0" err="1">
                <a:ln w="10541" cmpd="sng">
                  <a:solidFill>
                    <a:srgbClr val="7D7D7D">
                      <a:tint val="100000"/>
                      <a:shade val="100000"/>
                      <a:satMod val="110000"/>
                    </a:srgbClr>
                  </a:solidFill>
                  <a:prstDash val="solid"/>
                </a:ln>
                <a:solidFill>
                  <a:schemeClr val="tx2"/>
                </a:solidFill>
                <a:effectLst/>
              </a:rPr>
              <a:t>Dầu</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Một</a:t>
            </a:r>
            <a:br>
              <a:rPr lang="vi-VN" sz="2800" dirty="0">
                <a:ln w="10541" cmpd="sng">
                  <a:solidFill>
                    <a:srgbClr val="7D7D7D">
                      <a:tint val="100000"/>
                      <a:shade val="100000"/>
                      <a:satMod val="110000"/>
                    </a:srgbClr>
                  </a:solidFill>
                  <a:prstDash val="solid"/>
                </a:ln>
                <a:solidFill>
                  <a:schemeClr val="tx2"/>
                </a:solidFill>
                <a:effectLst/>
              </a:rPr>
            </a:br>
            <a:r>
              <a:rPr lang="en-US" sz="2800" dirty="0">
                <a:ln w="10541" cmpd="sng">
                  <a:solidFill>
                    <a:srgbClr val="7D7D7D">
                      <a:tint val="100000"/>
                      <a:shade val="100000"/>
                      <a:satMod val="110000"/>
                    </a:srgbClr>
                  </a:solidFill>
                  <a:prstDash val="solid"/>
                </a:ln>
                <a:solidFill>
                  <a:schemeClr val="tx2"/>
                </a:solidFill>
                <a:effectLst/>
              </a:rPr>
              <a:t>Viện Công </a:t>
            </a:r>
            <a:r>
              <a:rPr lang="en-US" sz="2800" dirty="0" err="1">
                <a:ln w="10541" cmpd="sng">
                  <a:solidFill>
                    <a:srgbClr val="7D7D7D">
                      <a:tint val="100000"/>
                      <a:shade val="100000"/>
                      <a:satMod val="110000"/>
                    </a:srgbClr>
                  </a:solidFill>
                  <a:prstDash val="solid"/>
                </a:ln>
                <a:solidFill>
                  <a:schemeClr val="tx2"/>
                </a:solidFill>
                <a:effectLst/>
              </a:rPr>
              <a:t>nghệ</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xanh</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và</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bền</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vững</a:t>
            </a:r>
            <a:endParaRPr lang="en-US" sz="2800" dirty="0">
              <a:ln w="10541" cmpd="sng">
                <a:solidFill>
                  <a:srgbClr val="7D7D7D">
                    <a:tint val="100000"/>
                    <a:shade val="100000"/>
                    <a:satMod val="110000"/>
                  </a:srgbClr>
                </a:solidFill>
                <a:prstDash val="solid"/>
              </a:ln>
              <a:solidFill>
                <a:schemeClr val="tx2"/>
              </a:solidFill>
              <a:effectLst/>
            </a:endParaRPr>
          </a:p>
          <a:p>
            <a:r>
              <a:rPr lang="en-US" sz="2800" dirty="0" err="1">
                <a:ln w="10541" cmpd="sng">
                  <a:solidFill>
                    <a:srgbClr val="7D7D7D">
                      <a:tint val="100000"/>
                      <a:shade val="100000"/>
                      <a:satMod val="110000"/>
                    </a:srgbClr>
                  </a:solidFill>
                  <a:prstDash val="solid"/>
                </a:ln>
                <a:solidFill>
                  <a:schemeClr val="tx2"/>
                </a:solidFill>
                <a:effectLst/>
              </a:rPr>
              <a:t>Chương</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trình</a:t>
            </a:r>
            <a:r>
              <a:rPr lang="en-US" sz="2800" dirty="0">
                <a:ln w="10541" cmpd="sng">
                  <a:solidFill>
                    <a:srgbClr val="7D7D7D">
                      <a:tint val="100000"/>
                      <a:shade val="100000"/>
                      <a:satMod val="110000"/>
                    </a:srgbClr>
                  </a:solidFill>
                  <a:prstDash val="solid"/>
                </a:ln>
                <a:solidFill>
                  <a:schemeClr val="tx2"/>
                </a:solidFill>
                <a:effectLst/>
              </a:rPr>
              <a:t> Quản </a:t>
            </a:r>
            <a:r>
              <a:rPr lang="en-US" sz="2800" dirty="0" err="1">
                <a:ln w="10541" cmpd="sng">
                  <a:solidFill>
                    <a:srgbClr val="7D7D7D">
                      <a:tint val="100000"/>
                      <a:shade val="100000"/>
                      <a:satMod val="110000"/>
                    </a:srgbClr>
                  </a:solidFill>
                  <a:prstDash val="solid"/>
                </a:ln>
                <a:solidFill>
                  <a:schemeClr val="tx2"/>
                </a:solidFill>
                <a:effectLst/>
              </a:rPr>
              <a:t>lý</a:t>
            </a:r>
            <a:r>
              <a:rPr lang="en-US" sz="2800" dirty="0">
                <a:ln w="10541" cmpd="sng">
                  <a:solidFill>
                    <a:srgbClr val="7D7D7D">
                      <a:tint val="100000"/>
                      <a:shade val="100000"/>
                      <a:satMod val="110000"/>
                    </a:srgbClr>
                  </a:solidFill>
                  <a:prstDash val="solid"/>
                </a:ln>
                <a:solidFill>
                  <a:schemeClr val="tx2"/>
                </a:solidFill>
                <a:effectLst/>
              </a:rPr>
              <a:t> Tài </a:t>
            </a:r>
            <a:r>
              <a:rPr lang="en-US" sz="2800" dirty="0" err="1">
                <a:ln w="10541" cmpd="sng">
                  <a:solidFill>
                    <a:srgbClr val="7D7D7D">
                      <a:tint val="100000"/>
                      <a:shade val="100000"/>
                      <a:satMod val="110000"/>
                    </a:srgbClr>
                  </a:solidFill>
                  <a:prstDash val="solid"/>
                </a:ln>
                <a:solidFill>
                  <a:schemeClr val="tx2"/>
                </a:solidFill>
                <a:effectLst/>
              </a:rPr>
              <a:t>nguyên</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Môi</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trường</a:t>
            </a:r>
            <a:endParaRPr lang="en-US" sz="2800" dirty="0">
              <a:ln w="10541" cmpd="sng">
                <a:solidFill>
                  <a:srgbClr val="7D7D7D">
                    <a:tint val="100000"/>
                    <a:shade val="100000"/>
                    <a:satMod val="110000"/>
                  </a:srgbClr>
                </a:solidFill>
                <a:prstDash val="solid"/>
              </a:ln>
              <a:solidFill>
                <a:schemeClr val="tx2"/>
              </a:solidFill>
              <a:effectLst/>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762221">
            <a:off x="8101369" y="4389375"/>
            <a:ext cx="2653653" cy="2653653"/>
          </a:xfrm>
          <a:prstGeom prst="rect">
            <a:avLst/>
          </a:prstGeom>
        </p:spPr>
      </p:pic>
      <p:pic>
        <p:nvPicPr>
          <p:cNvPr id="13" name="Picture 12">
            <a:extLst>
              <a:ext uri="{FF2B5EF4-FFF2-40B4-BE49-F238E27FC236}">
                <a16:creationId xmlns:a16="http://schemas.microsoft.com/office/drawing/2014/main" id="{5C21BEFD-15A1-4C2C-8E2F-A77A1A3F1CA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9933" b="90909" l="4673" r="89720">
                        <a14:foregroundMark x1="4673" y1="24579" x2="10592" y2="24579"/>
                        <a14:foregroundMark x1="16511" y1="90909" x2="16511" y2="86869"/>
                        <a14:backgroundMark x1="39408" y1="17172" x2="33178" y2="16667"/>
                      </a14:backgroundRemoval>
                    </a14:imgEffect>
                  </a14:imgLayer>
                </a14:imgProps>
              </a:ext>
              <a:ext uri="{28A0092B-C50C-407E-A947-70E740481C1C}">
                <a14:useLocalDpi xmlns:a14="http://schemas.microsoft.com/office/drawing/2010/main" val="0"/>
              </a:ext>
            </a:extLst>
          </a:blip>
          <a:srcRect t="5781" r="61157"/>
          <a:stretch/>
        </p:blipFill>
        <p:spPr>
          <a:xfrm flipH="1">
            <a:off x="7083575" y="4305820"/>
            <a:ext cx="2000146" cy="2670431"/>
          </a:xfrm>
          <a:prstGeom prst="rect">
            <a:avLst/>
          </a:prstGeom>
        </p:spPr>
      </p:pic>
      <p:pic>
        <p:nvPicPr>
          <p:cNvPr id="14" name="Picture 2" descr="HÃ¬nh áº£nh cÃ³ liÃªn quan">
            <a:extLst>
              <a:ext uri="{FF2B5EF4-FFF2-40B4-BE49-F238E27FC236}">
                <a16:creationId xmlns:a16="http://schemas.microsoft.com/office/drawing/2014/main" id="{61DDB15B-4C1D-4E8C-AC79-584878C66C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6567" y="2657268"/>
            <a:ext cx="4246338" cy="256229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612D45FA-96DB-44AD-BDB4-3D40766FBB5E}"/>
              </a:ext>
            </a:extLst>
          </p:cNvPr>
          <p:cNvSpPr/>
          <p:nvPr/>
        </p:nvSpPr>
        <p:spPr>
          <a:xfrm>
            <a:off x="1556568" y="5611517"/>
            <a:ext cx="4975311" cy="125124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07000"/>
              </a:lnSpc>
            </a:pPr>
            <a:r>
              <a:rPr lang="vi-VN"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Nguyễn Lê Tấn Đạt</a:t>
            </a:r>
            <a:endPar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endParaRPr>
          </a:p>
          <a:p>
            <a:pPr>
              <a:lnSpc>
                <a:spcPct val="107000"/>
              </a:lnSpc>
            </a:pPr>
            <a:r>
              <a:rPr lang="en-US" sz="2400" b="1" dirty="0" err="1">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Điện</a:t>
            </a:r>
            <a:r>
              <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 </a:t>
            </a:r>
            <a:r>
              <a:rPr lang="en-US" sz="2400" b="1" dirty="0" err="1">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thoại</a:t>
            </a:r>
            <a:r>
              <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 0386.787.234</a:t>
            </a:r>
          </a:p>
          <a:p>
            <a:pPr>
              <a:lnSpc>
                <a:spcPct val="107000"/>
              </a:lnSpc>
            </a:pPr>
            <a:r>
              <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datnlt@tdmu.edu.vn</a:t>
            </a:r>
            <a:endParaRPr lang="vi-VN"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18" name="Picture 2" descr="Káº¿t quáº£ hÃ¬nh áº£nh cho layer png">
            <a:extLst>
              <a:ext uri="{FF2B5EF4-FFF2-40B4-BE49-F238E27FC236}">
                <a16:creationId xmlns:a16="http://schemas.microsoft.com/office/drawing/2014/main" id="{1997D826-4285-4FD7-99DE-2B33617E85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5302" y="2912039"/>
            <a:ext cx="3497742" cy="34977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E1B95CB-9B44-C38E-12C2-39C7573CE6E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0256" y="99317"/>
            <a:ext cx="2763554" cy="1555881"/>
          </a:xfrm>
          <a:prstGeom prst="rect">
            <a:avLst/>
          </a:prstGeom>
        </p:spPr>
      </p:pic>
    </p:spTree>
    <p:extLst>
      <p:ext uri="{BB962C8B-B14F-4D97-AF65-F5344CB8AC3E}">
        <p14:creationId xmlns:p14="http://schemas.microsoft.com/office/powerpoint/2010/main" val="2103588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129158-237B-4518-9A97-4702548512FE}"/>
              </a:ext>
            </a:extLst>
          </p:cNvPr>
          <p:cNvSpPr txBox="1"/>
          <p:nvPr/>
        </p:nvSpPr>
        <p:spPr>
          <a:xfrm>
            <a:off x="1727238" y="1166213"/>
            <a:ext cx="8940762" cy="4955203"/>
          </a:xfrm>
          <a:prstGeom prst="rect">
            <a:avLst/>
          </a:prstGeom>
          <a:noFill/>
        </p:spPr>
        <p:txBody>
          <a:bodyPr wrap="square">
            <a:spAutoFit/>
          </a:bodyPr>
          <a:lstStyle/>
          <a:p>
            <a:r>
              <a:rPr lang="vi-VN" sz="2800" b="1" dirty="0">
                <a:solidFill>
                  <a:schemeClr val="accent1">
                    <a:lumMod val="50000"/>
                  </a:schemeClr>
                </a:solidFill>
              </a:rPr>
              <a:t>Cơ sở hệ thống thông tin địa lý</a:t>
            </a:r>
            <a:r>
              <a:rPr lang="en-US" sz="2800" b="1" dirty="0">
                <a:solidFill>
                  <a:schemeClr val="accent1">
                    <a:lumMod val="50000"/>
                  </a:schemeClr>
                </a:solidFill>
              </a:rPr>
              <a:t> (2+0)</a:t>
            </a:r>
          </a:p>
          <a:p>
            <a:r>
              <a:rPr lang="en-US" sz="2800" b="1" dirty="0">
                <a:solidFill>
                  <a:schemeClr val="accent1">
                    <a:lumMod val="50000"/>
                  </a:schemeClr>
                </a:solidFill>
              </a:rPr>
              <a:t>BASIC OF GEOGRAPHIC INFORMATION SYSTEM </a:t>
            </a:r>
          </a:p>
          <a:p>
            <a:r>
              <a:rPr lang="en-US" sz="3200" dirty="0" err="1">
                <a:solidFill>
                  <a:schemeClr val="accent1">
                    <a:lumMod val="50000"/>
                  </a:schemeClr>
                </a:solidFill>
              </a:rPr>
              <a:t>Mã</a:t>
            </a:r>
            <a:r>
              <a:rPr lang="en-US" sz="3200" dirty="0">
                <a:solidFill>
                  <a:schemeClr val="accent1">
                    <a:lumMod val="50000"/>
                  </a:schemeClr>
                </a:solidFill>
              </a:rPr>
              <a:t> </a:t>
            </a:r>
            <a:r>
              <a:rPr lang="en-US" sz="3200" dirty="0" err="1">
                <a:solidFill>
                  <a:schemeClr val="accent1">
                    <a:lumMod val="50000"/>
                  </a:schemeClr>
                </a:solidFill>
              </a:rPr>
              <a:t>môn</a:t>
            </a:r>
            <a:r>
              <a:rPr lang="en-US" sz="3200" dirty="0">
                <a:solidFill>
                  <a:schemeClr val="accent1">
                    <a:lumMod val="50000"/>
                  </a:schemeClr>
                </a:solidFill>
              </a:rPr>
              <a:t> học:  LING021</a:t>
            </a:r>
          </a:p>
          <a:p>
            <a:pPr marL="457200" indent="-457200">
              <a:buFont typeface="Arial" panose="020B0604020202020204" pitchFamily="34" charset="0"/>
              <a:buChar char="•"/>
            </a:pPr>
            <a:r>
              <a:rPr lang="en-US" sz="3200" dirty="0" err="1">
                <a:solidFill>
                  <a:schemeClr val="accent1">
                    <a:lumMod val="50000"/>
                  </a:schemeClr>
                </a:solidFill>
              </a:rPr>
              <a:t>Môn</a:t>
            </a:r>
            <a:r>
              <a:rPr lang="en-US" sz="3200" dirty="0">
                <a:solidFill>
                  <a:schemeClr val="accent1">
                    <a:lumMod val="50000"/>
                  </a:schemeClr>
                </a:solidFill>
              </a:rPr>
              <a:t> cơ sở </a:t>
            </a:r>
            <a:r>
              <a:rPr lang="en-US" sz="3200" dirty="0" err="1">
                <a:solidFill>
                  <a:schemeClr val="accent1">
                    <a:lumMod val="50000"/>
                  </a:schemeClr>
                </a:solidFill>
              </a:rPr>
              <a:t>ngành</a:t>
            </a:r>
            <a:endParaRPr lang="en-US" sz="3200" dirty="0">
              <a:solidFill>
                <a:schemeClr val="accent1">
                  <a:lumMod val="50000"/>
                </a:schemeClr>
              </a:solidFill>
            </a:endParaRPr>
          </a:p>
          <a:p>
            <a:pPr marL="457200" indent="-457200">
              <a:buFont typeface="Arial" panose="020B0604020202020204" pitchFamily="34" charset="0"/>
              <a:buChar char="•"/>
            </a:pPr>
            <a:r>
              <a:rPr lang="en-US" sz="3200" dirty="0">
                <a:solidFill>
                  <a:schemeClr val="accent1">
                    <a:lumMod val="50000"/>
                  </a:schemeClr>
                </a:solidFill>
              </a:rPr>
              <a:t>Số </a:t>
            </a:r>
            <a:r>
              <a:rPr lang="en-US" sz="3200" dirty="0" err="1">
                <a:solidFill>
                  <a:schemeClr val="accent1">
                    <a:lumMod val="50000"/>
                  </a:schemeClr>
                </a:solidFill>
              </a:rPr>
              <a:t>tín</a:t>
            </a:r>
            <a:r>
              <a:rPr lang="en-US" sz="3200" dirty="0">
                <a:solidFill>
                  <a:schemeClr val="accent1">
                    <a:lumMod val="50000"/>
                  </a:schemeClr>
                </a:solidFill>
              </a:rPr>
              <a:t> </a:t>
            </a:r>
            <a:r>
              <a:rPr lang="en-US" sz="3200" dirty="0" err="1">
                <a:solidFill>
                  <a:schemeClr val="accent1">
                    <a:lumMod val="50000"/>
                  </a:schemeClr>
                </a:solidFill>
              </a:rPr>
              <a:t>chỉ</a:t>
            </a:r>
            <a:r>
              <a:rPr lang="en-US" sz="3200" dirty="0">
                <a:solidFill>
                  <a:schemeClr val="accent1">
                    <a:lumMod val="50000"/>
                  </a:schemeClr>
                </a:solidFill>
              </a:rPr>
              <a:t>: 2+0</a:t>
            </a:r>
          </a:p>
          <a:p>
            <a:pPr marL="457200" indent="-457200">
              <a:buFont typeface="Arial" panose="020B0604020202020204" pitchFamily="34" charset="0"/>
              <a:buChar char="•"/>
            </a:pPr>
            <a:r>
              <a:rPr lang="en-US" sz="3200" dirty="0">
                <a:solidFill>
                  <a:schemeClr val="accent1">
                    <a:lumMod val="50000"/>
                  </a:schemeClr>
                </a:solidFill>
              </a:rPr>
              <a:t>Nghe </a:t>
            </a:r>
            <a:r>
              <a:rPr lang="en-US" sz="3200" dirty="0" err="1">
                <a:solidFill>
                  <a:schemeClr val="accent1">
                    <a:lumMod val="50000"/>
                  </a:schemeClr>
                </a:solidFill>
              </a:rPr>
              <a:t>giảng</a:t>
            </a:r>
            <a:r>
              <a:rPr lang="en-US" sz="3200" dirty="0">
                <a:solidFill>
                  <a:schemeClr val="accent1">
                    <a:lumMod val="50000"/>
                  </a:schemeClr>
                </a:solidFill>
              </a:rPr>
              <a:t> lý </a:t>
            </a:r>
            <a:r>
              <a:rPr lang="en-US" sz="3200" dirty="0" err="1">
                <a:solidFill>
                  <a:schemeClr val="accent1">
                    <a:lumMod val="50000"/>
                  </a:schemeClr>
                </a:solidFill>
              </a:rPr>
              <a:t>thuyết</a:t>
            </a:r>
            <a:r>
              <a:rPr lang="en-US" sz="3200" dirty="0">
                <a:solidFill>
                  <a:schemeClr val="accent1">
                    <a:lumMod val="50000"/>
                  </a:schemeClr>
                </a:solidFill>
              </a:rPr>
              <a:t>: 30</a:t>
            </a:r>
          </a:p>
          <a:p>
            <a:pPr marL="457200" indent="-457200">
              <a:buFont typeface="Arial" panose="020B0604020202020204" pitchFamily="34" charset="0"/>
              <a:buChar char="•"/>
            </a:pPr>
            <a:r>
              <a:rPr lang="en-US" sz="3200" dirty="0" err="1">
                <a:solidFill>
                  <a:schemeClr val="accent1">
                    <a:lumMod val="50000"/>
                  </a:schemeClr>
                </a:solidFill>
              </a:rPr>
              <a:t>Thực</a:t>
            </a:r>
            <a:r>
              <a:rPr lang="en-US" sz="3200" dirty="0">
                <a:solidFill>
                  <a:schemeClr val="accent1">
                    <a:lumMod val="50000"/>
                  </a:schemeClr>
                </a:solidFill>
              </a:rPr>
              <a:t> hành, </a:t>
            </a:r>
            <a:r>
              <a:rPr lang="en-US" sz="3200" dirty="0" err="1">
                <a:solidFill>
                  <a:schemeClr val="accent1">
                    <a:lumMod val="50000"/>
                  </a:schemeClr>
                </a:solidFill>
              </a:rPr>
              <a:t>thực</a:t>
            </a:r>
            <a:r>
              <a:rPr lang="en-US" sz="3200" dirty="0">
                <a:solidFill>
                  <a:schemeClr val="accent1">
                    <a:lumMod val="50000"/>
                  </a:schemeClr>
                </a:solidFill>
              </a:rPr>
              <a:t> tập : 0</a:t>
            </a:r>
          </a:p>
          <a:p>
            <a:pPr marL="457200" indent="-457200">
              <a:buFont typeface="Arial" panose="020B0604020202020204" pitchFamily="34" charset="0"/>
              <a:buChar char="•"/>
            </a:pPr>
            <a:r>
              <a:rPr lang="vi-VN" sz="2800" dirty="0">
                <a:solidFill>
                  <a:schemeClr val="accent1">
                    <a:lumMod val="50000"/>
                  </a:schemeClr>
                </a:solidFill>
              </a:rPr>
              <a:t>Tự học: 120 tiết </a:t>
            </a:r>
          </a:p>
          <a:p>
            <a:pPr lvl="1"/>
            <a:r>
              <a:rPr lang="vi-VN" sz="2400" dirty="0">
                <a:solidFill>
                  <a:schemeClr val="accent1">
                    <a:lumMod val="50000"/>
                  </a:schemeClr>
                </a:solidFill>
              </a:rPr>
              <a:t>+ Đọc tài liệu, đọc trước bài, củng cố bài học: </a:t>
            </a:r>
            <a:r>
              <a:rPr lang="en-US" sz="2400" dirty="0">
                <a:solidFill>
                  <a:schemeClr val="accent1">
                    <a:lumMod val="50000"/>
                  </a:schemeClr>
                </a:solidFill>
              </a:rPr>
              <a:t>40</a:t>
            </a:r>
            <a:r>
              <a:rPr lang="vi-VN" sz="2400" dirty="0">
                <a:solidFill>
                  <a:schemeClr val="accent1">
                    <a:lumMod val="50000"/>
                  </a:schemeClr>
                </a:solidFill>
              </a:rPr>
              <a:t> tiết; </a:t>
            </a:r>
          </a:p>
          <a:p>
            <a:pPr lvl="1"/>
            <a:r>
              <a:rPr lang="vi-VN" sz="2400" dirty="0">
                <a:solidFill>
                  <a:schemeClr val="accent1">
                    <a:lumMod val="50000"/>
                  </a:schemeClr>
                </a:solidFill>
              </a:rPr>
              <a:t>+ Làm bài tập: 40 tiết</a:t>
            </a:r>
            <a:endParaRPr lang="en-US" sz="2400" dirty="0">
              <a:solidFill>
                <a:schemeClr val="accent1">
                  <a:lumMod val="50000"/>
                </a:schemeClr>
              </a:solidFill>
            </a:endParaRPr>
          </a:p>
          <a:p>
            <a:pPr lvl="1"/>
            <a:r>
              <a:rPr lang="pt-BR" sz="2400" dirty="0">
                <a:solidFill>
                  <a:schemeClr val="accent1">
                    <a:lumMod val="50000"/>
                  </a:schemeClr>
                </a:solidFill>
              </a:rPr>
              <a:t>+ Làm báo cáo seminar: 40 tiết</a:t>
            </a:r>
            <a:endParaRPr lang="en-US" sz="2400" dirty="0">
              <a:solidFill>
                <a:schemeClr val="accent1">
                  <a:lumMod val="50000"/>
                </a:schemeClr>
              </a:solidFill>
            </a:endParaRPr>
          </a:p>
        </p:txBody>
      </p:sp>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tx2">
                    <a:lumMod val="75000"/>
                  </a:schemeClr>
                </a:solidFill>
                <a:latin typeface="Arial (Body)"/>
              </a:rPr>
              <a:t>1. Thông tin </a:t>
            </a:r>
            <a:r>
              <a:rPr lang="en-US" sz="3600" b="1" dirty="0" err="1">
                <a:solidFill>
                  <a:schemeClr val="tx2">
                    <a:lumMod val="75000"/>
                  </a:schemeClr>
                </a:solidFill>
                <a:latin typeface="Arial (Body)"/>
              </a:rPr>
              <a:t>môn</a:t>
            </a:r>
            <a:r>
              <a:rPr lang="en-US" sz="3600" b="1" dirty="0">
                <a:solidFill>
                  <a:schemeClr val="tx2">
                    <a:lumMod val="75000"/>
                  </a:schemeClr>
                </a:solidFill>
                <a:latin typeface="Arial (Body)"/>
              </a:rPr>
              <a:t> học</a:t>
            </a:r>
            <a:endParaRPr lang="vi-VN" sz="3600" dirty="0"/>
          </a:p>
        </p:txBody>
      </p:sp>
    </p:spTree>
    <p:extLst>
      <p:ext uri="{BB962C8B-B14F-4D97-AF65-F5344CB8AC3E}">
        <p14:creationId xmlns:p14="http://schemas.microsoft.com/office/powerpoint/2010/main" val="1349114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129158-237B-4518-9A97-4702548512FE}"/>
              </a:ext>
            </a:extLst>
          </p:cNvPr>
          <p:cNvSpPr txBox="1"/>
          <p:nvPr/>
        </p:nvSpPr>
        <p:spPr>
          <a:xfrm>
            <a:off x="1727238" y="1151698"/>
            <a:ext cx="8564842" cy="4832092"/>
          </a:xfrm>
          <a:prstGeom prst="rect">
            <a:avLst/>
          </a:prstGeom>
          <a:noFill/>
        </p:spPr>
        <p:txBody>
          <a:bodyPr wrap="square">
            <a:spAutoFit/>
          </a:bodyPr>
          <a:lstStyle/>
          <a:p>
            <a:r>
              <a:rPr lang="vi-VN" sz="2800" dirty="0">
                <a:solidFill>
                  <a:schemeClr val="accent1">
                    <a:lumMod val="50000"/>
                  </a:schemeClr>
                </a:solidFill>
                <a:latin typeface="Verdana" panose="020B0604030504040204" pitchFamily="34" charset="0"/>
              </a:rPr>
              <a:t>Học phần bao gồm 6 chương nhằm trình bày các kiến thức về hệ thống thông tin địa lý (GIS), các thành phần và chức năng của hệ thống thông tin địa lý, mô hình và cấu trúc dữ liệu, các phép phân tích dữ liệu trong GIS và giới thiệu một số ứng dụng của hệ thống thông tin địa lý trong quản lý tài nguyên và môi trường. Song song đó, môn học tích hợp giảng dạy các kỹ năng như: tư duy phân tích, tư duy phản biện, tư duy giải quyết vấn đề và kỹ năng làm việc nhóm.</a:t>
            </a:r>
            <a:endParaRPr lang="en-US" sz="2400" dirty="0">
              <a:solidFill>
                <a:schemeClr val="accent1">
                  <a:lumMod val="50000"/>
                </a:schemeClr>
              </a:solidFill>
            </a:endParaRPr>
          </a:p>
        </p:txBody>
      </p:sp>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accent1">
                    <a:lumMod val="50000"/>
                  </a:schemeClr>
                </a:solidFill>
                <a:latin typeface="Verdana" panose="020B0604030504040204" pitchFamily="34" charset="0"/>
              </a:rPr>
              <a:t>2. </a:t>
            </a:r>
            <a:r>
              <a:rPr lang="vi-VN" sz="3600" b="1" dirty="0">
                <a:solidFill>
                  <a:schemeClr val="accent1">
                    <a:lumMod val="50000"/>
                  </a:schemeClr>
                </a:solidFill>
                <a:latin typeface="Verdana" panose="020B0604030504040204" pitchFamily="34" charset="0"/>
              </a:rPr>
              <a:t>Mô tả học phần</a:t>
            </a:r>
            <a:endParaRPr lang="en-US" sz="3600" b="1" dirty="0">
              <a:solidFill>
                <a:schemeClr val="accent1">
                  <a:lumMod val="50000"/>
                </a:schemeClr>
              </a:solidFill>
              <a:latin typeface="Verdana" panose="020B0604030504040204" pitchFamily="34" charset="0"/>
            </a:endParaRPr>
          </a:p>
        </p:txBody>
      </p:sp>
      <p:pic>
        <p:nvPicPr>
          <p:cNvPr id="8" name="Picture 7">
            <a:extLst>
              <a:ext uri="{FF2B5EF4-FFF2-40B4-BE49-F238E27FC236}">
                <a16:creationId xmlns:a16="http://schemas.microsoft.com/office/drawing/2014/main" id="{EEDAB0E2-4125-FE0D-46F1-5334FD28BB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893232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129158-237B-4518-9A97-4702548512FE}"/>
              </a:ext>
            </a:extLst>
          </p:cNvPr>
          <p:cNvSpPr txBox="1"/>
          <p:nvPr/>
        </p:nvSpPr>
        <p:spPr>
          <a:xfrm>
            <a:off x="1727238" y="1151698"/>
            <a:ext cx="8585162" cy="4154984"/>
          </a:xfrm>
          <a:prstGeom prst="rect">
            <a:avLst/>
          </a:prstGeom>
          <a:noFill/>
        </p:spPr>
        <p:txBody>
          <a:bodyPr wrap="square">
            <a:spAutoFit/>
          </a:bodyPr>
          <a:lstStyle/>
          <a:p>
            <a:endParaRPr lang="vi-VN" sz="2400" dirty="0">
              <a:solidFill>
                <a:schemeClr val="accent1">
                  <a:lumMod val="50000"/>
                </a:schemeClr>
              </a:solidFill>
              <a:latin typeface="Verdana" panose="020B0604030504040204" pitchFamily="34" charset="0"/>
            </a:endParaRPr>
          </a:p>
          <a:p>
            <a:r>
              <a:rPr lang="vi-VN" sz="2400" dirty="0">
                <a:solidFill>
                  <a:schemeClr val="accent1">
                    <a:lumMod val="50000"/>
                  </a:schemeClr>
                </a:solidFill>
                <a:latin typeface="Verdana" panose="020B0604030504040204" pitchFamily="34" charset="0"/>
              </a:rPr>
              <a:t>Học phần trang bị cho người học các kiến thức tổng quan về hệ thống thông tin địa lý, các thành phần, chức năng, mô hình dữ liệu, cấu trúc dữ liệu và các phép phân tích trong GIS và giới thiệu một số ứng dụng của hệ thống thông tin địa lý trong quản lý tài nguyên và môi trường.</a:t>
            </a:r>
          </a:p>
          <a:p>
            <a:r>
              <a:rPr lang="vi-VN" sz="2400" dirty="0">
                <a:solidFill>
                  <a:schemeClr val="accent1">
                    <a:lumMod val="50000"/>
                  </a:schemeClr>
                </a:solidFill>
                <a:latin typeface="Verdana" panose="020B0604030504040204" pitchFamily="34" charset="0"/>
              </a:rPr>
              <a:t>Rèn luyện cho người học các kỹ năng như: kỹ năng làm việc nhóm, kỹ năng tư duy giải quyết vấn đề, đưa ra các giải pháp khắc phục lỗi, tư duy phân tích và tư duy phản biện.</a:t>
            </a:r>
            <a:endParaRPr lang="en-US" sz="2400" dirty="0">
              <a:solidFill>
                <a:schemeClr val="accent1">
                  <a:lumMod val="50000"/>
                </a:schemeClr>
              </a:solidFill>
            </a:endParaRPr>
          </a:p>
        </p:txBody>
      </p:sp>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tx2">
                    <a:lumMod val="75000"/>
                  </a:schemeClr>
                </a:solidFill>
                <a:latin typeface="Arial (Body)"/>
              </a:rPr>
              <a:t>2. </a:t>
            </a:r>
            <a:r>
              <a:rPr lang="vi-VN" sz="3600" b="1" dirty="0">
                <a:solidFill>
                  <a:schemeClr val="accent1">
                    <a:lumMod val="50000"/>
                  </a:schemeClr>
                </a:solidFill>
                <a:latin typeface="Verdana" panose="020B0604030504040204" pitchFamily="34" charset="0"/>
              </a:rPr>
              <a:t>Mục tiêu học phần </a:t>
            </a:r>
            <a:endParaRPr lang="en-US" sz="3600" b="1" dirty="0">
              <a:solidFill>
                <a:schemeClr val="accent1">
                  <a:lumMod val="50000"/>
                </a:schemeClr>
              </a:solidFill>
              <a:latin typeface="Verdana" panose="020B0604030504040204" pitchFamily="34" charset="0"/>
            </a:endParaRPr>
          </a:p>
        </p:txBody>
      </p:sp>
      <p:pic>
        <p:nvPicPr>
          <p:cNvPr id="3" name="Picture 2">
            <a:extLst>
              <a:ext uri="{FF2B5EF4-FFF2-40B4-BE49-F238E27FC236}">
                <a16:creationId xmlns:a16="http://schemas.microsoft.com/office/drawing/2014/main" id="{6E8F9EF5-A9A8-DC53-0E5B-BC407BDF97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2521648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129158-237B-4518-9A97-4702548512FE}"/>
              </a:ext>
            </a:extLst>
          </p:cNvPr>
          <p:cNvSpPr txBox="1"/>
          <p:nvPr/>
        </p:nvSpPr>
        <p:spPr>
          <a:xfrm>
            <a:off x="1727238" y="1056449"/>
            <a:ext cx="8524202" cy="4401205"/>
          </a:xfrm>
          <a:prstGeom prst="rect">
            <a:avLst/>
          </a:prstGeom>
          <a:noFill/>
        </p:spPr>
        <p:txBody>
          <a:bodyPr wrap="square">
            <a:spAutoFit/>
          </a:bodyPr>
          <a:lstStyle/>
          <a:p>
            <a:r>
              <a:rPr lang="vi-VN" sz="2000" b="1" dirty="0">
                <a:solidFill>
                  <a:schemeClr val="accent1">
                    <a:lumMod val="50000"/>
                  </a:schemeClr>
                </a:solidFill>
                <a:latin typeface="Verdana" panose="020B0604030504040204" pitchFamily="34" charset="0"/>
              </a:rPr>
              <a:t>Với bản thân:</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Chuyên cần, chủ động, tích cực,</a:t>
            </a:r>
            <a:r>
              <a:rPr lang="en-US" sz="2000" dirty="0">
                <a:solidFill>
                  <a:schemeClr val="accent1">
                    <a:lumMod val="50000"/>
                  </a:schemeClr>
                </a:solidFill>
                <a:latin typeface="Verdana" panose="020B0604030504040204" pitchFamily="34" charset="0"/>
              </a:rPr>
              <a:t> không </a:t>
            </a:r>
            <a:r>
              <a:rPr lang="en-US" sz="2000" dirty="0" err="1">
                <a:solidFill>
                  <a:schemeClr val="accent1">
                    <a:lumMod val="50000"/>
                  </a:schemeClr>
                </a:solidFill>
                <a:latin typeface="Verdana" panose="020B0604030504040204" pitchFamily="34" charset="0"/>
              </a:rPr>
              <a:t>gian</a:t>
            </a:r>
            <a:r>
              <a:rPr lang="en-US" sz="2000" dirty="0">
                <a:solidFill>
                  <a:schemeClr val="accent1">
                    <a:lumMod val="50000"/>
                  </a:schemeClr>
                </a:solidFill>
                <a:latin typeface="Verdana" panose="020B0604030504040204" pitchFamily="34" charset="0"/>
              </a:rPr>
              <a:t> </a:t>
            </a:r>
            <a:r>
              <a:rPr lang="en-US" sz="2000" dirty="0" err="1">
                <a:solidFill>
                  <a:schemeClr val="accent1">
                    <a:lumMod val="50000"/>
                  </a:schemeClr>
                </a:solidFill>
                <a:latin typeface="Verdana" panose="020B0604030504040204" pitchFamily="34" charset="0"/>
              </a:rPr>
              <a:t>yên</a:t>
            </a:r>
            <a:r>
              <a:rPr lang="en-US" sz="2000" dirty="0">
                <a:solidFill>
                  <a:schemeClr val="accent1">
                    <a:lumMod val="50000"/>
                  </a:schemeClr>
                </a:solidFill>
                <a:latin typeface="Verdana" panose="020B0604030504040204" pitchFamily="34" charset="0"/>
              </a:rPr>
              <a:t> </a:t>
            </a:r>
            <a:r>
              <a:rPr lang="en-US" sz="2000" dirty="0" err="1">
                <a:solidFill>
                  <a:schemeClr val="accent1">
                    <a:lumMod val="50000"/>
                  </a:schemeClr>
                </a:solidFill>
                <a:latin typeface="Verdana" panose="020B0604030504040204" pitchFamily="34" charset="0"/>
              </a:rPr>
              <a:t>tĩnh</a:t>
            </a:r>
            <a:r>
              <a:rPr lang="en-US" sz="2000" dirty="0">
                <a:solidFill>
                  <a:schemeClr val="accent1">
                    <a:lumMod val="50000"/>
                  </a:schemeClr>
                </a:solidFill>
                <a:latin typeface="Verdana" panose="020B0604030504040204" pitchFamily="34" charset="0"/>
              </a:rPr>
              <a:t>, không </a:t>
            </a:r>
            <a:r>
              <a:rPr lang="en-US" sz="2000" dirty="0" err="1">
                <a:solidFill>
                  <a:schemeClr val="accent1">
                    <a:lumMod val="50000"/>
                  </a:schemeClr>
                </a:solidFill>
                <a:latin typeface="Verdana" panose="020B0604030504040204" pitchFamily="34" charset="0"/>
              </a:rPr>
              <a:t>làm</a:t>
            </a:r>
            <a:r>
              <a:rPr lang="en-US" sz="2000" dirty="0">
                <a:solidFill>
                  <a:schemeClr val="accent1">
                    <a:lumMod val="50000"/>
                  </a:schemeClr>
                </a:solidFill>
                <a:latin typeface="Verdana" panose="020B0604030504040204" pitchFamily="34" charset="0"/>
              </a:rPr>
              <a:t> việc </a:t>
            </a:r>
            <a:r>
              <a:rPr lang="en-US" sz="2000" dirty="0" err="1">
                <a:solidFill>
                  <a:schemeClr val="accent1">
                    <a:lumMod val="50000"/>
                  </a:schemeClr>
                </a:solidFill>
                <a:latin typeface="Verdana" panose="020B0604030504040204" pitchFamily="34" charset="0"/>
              </a:rPr>
              <a:t>khác</a:t>
            </a:r>
            <a:r>
              <a:rPr lang="en-US" sz="2000" dirty="0">
                <a:solidFill>
                  <a:schemeClr val="accent1">
                    <a:lumMod val="50000"/>
                  </a:schemeClr>
                </a:solidFill>
                <a:latin typeface="Verdana" panose="020B0604030504040204" pitchFamily="34" charset="0"/>
              </a:rPr>
              <a:t> trong </a:t>
            </a:r>
            <a:r>
              <a:rPr lang="en-US" sz="2000" dirty="0" err="1">
                <a:solidFill>
                  <a:schemeClr val="accent1">
                    <a:lumMod val="50000"/>
                  </a:schemeClr>
                </a:solidFill>
                <a:latin typeface="Verdana" panose="020B0604030504040204" pitchFamily="34" charset="0"/>
              </a:rPr>
              <a:t>giờ</a:t>
            </a:r>
            <a:r>
              <a:rPr lang="en-US" sz="2000" dirty="0">
                <a:solidFill>
                  <a:schemeClr val="accent1">
                    <a:lumMod val="50000"/>
                  </a:schemeClr>
                </a:solidFill>
                <a:latin typeface="Verdana" panose="020B0604030504040204" pitchFamily="34" charset="0"/>
              </a:rPr>
              <a:t> học </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Nghe giảng trên lớp + tự học, tự nghiên cứu ở nhà,</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Kết hợp kiến thức trong giáo trình, tài liệu với bài giảng.</a:t>
            </a:r>
            <a:endParaRPr lang="en-US" sz="2000" dirty="0">
              <a:solidFill>
                <a:schemeClr val="accent1">
                  <a:lumMod val="50000"/>
                </a:schemeClr>
              </a:solidFill>
              <a:latin typeface="Verdana" panose="020B0604030504040204" pitchFamily="34" charset="0"/>
            </a:endParaRPr>
          </a:p>
          <a:p>
            <a:pPr marL="342900" indent="-342900">
              <a:buFont typeface="Arial" panose="020B0604020202020204" pitchFamily="34" charset="0"/>
              <a:buChar char="•"/>
            </a:pPr>
            <a:r>
              <a:rPr lang="en-US" sz="2000" dirty="0" err="1">
                <a:solidFill>
                  <a:schemeClr val="accent1">
                    <a:lumMod val="50000"/>
                  </a:schemeClr>
                </a:solidFill>
                <a:latin typeface="Verdana" panose="020B0604030504040204" pitchFamily="34" charset="0"/>
              </a:rPr>
              <a:t>Chỉ</a:t>
            </a:r>
            <a:r>
              <a:rPr lang="en-US" sz="2000" dirty="0">
                <a:solidFill>
                  <a:schemeClr val="accent1">
                    <a:lumMod val="50000"/>
                  </a:schemeClr>
                </a:solidFill>
                <a:latin typeface="Verdana" panose="020B0604030504040204" pitchFamily="34" charset="0"/>
              </a:rPr>
              <a:t> được chia </a:t>
            </a:r>
            <a:r>
              <a:rPr lang="en-US" sz="2000" dirty="0" err="1">
                <a:solidFill>
                  <a:schemeClr val="accent1">
                    <a:lumMod val="50000"/>
                  </a:schemeClr>
                </a:solidFill>
                <a:latin typeface="Verdana" panose="020B0604030504040204" pitchFamily="34" charset="0"/>
              </a:rPr>
              <a:t>sẻ</a:t>
            </a:r>
            <a:r>
              <a:rPr lang="en-US" sz="2000" dirty="0">
                <a:solidFill>
                  <a:schemeClr val="accent1">
                    <a:lumMod val="50000"/>
                  </a:schemeClr>
                </a:solidFill>
                <a:latin typeface="Verdana" panose="020B0604030504040204" pitchFamily="34" charset="0"/>
              </a:rPr>
              <a:t> </a:t>
            </a:r>
            <a:r>
              <a:rPr lang="en-US" sz="2000" dirty="0" err="1">
                <a:solidFill>
                  <a:schemeClr val="accent1">
                    <a:lumMod val="50000"/>
                  </a:schemeClr>
                </a:solidFill>
                <a:latin typeface="Verdana" panose="020B0604030504040204" pitchFamily="34" charset="0"/>
              </a:rPr>
              <a:t>màn</a:t>
            </a:r>
            <a:r>
              <a:rPr lang="en-US" sz="2000" dirty="0">
                <a:solidFill>
                  <a:schemeClr val="accent1">
                    <a:lumMod val="50000"/>
                  </a:schemeClr>
                </a:solidFill>
                <a:latin typeface="Verdana" panose="020B0604030504040204" pitchFamily="34" charset="0"/>
              </a:rPr>
              <a:t> </a:t>
            </a:r>
            <a:r>
              <a:rPr lang="en-US" sz="2000" dirty="0" err="1">
                <a:solidFill>
                  <a:schemeClr val="accent1">
                    <a:lumMod val="50000"/>
                  </a:schemeClr>
                </a:solidFill>
                <a:latin typeface="Verdana" panose="020B0604030504040204" pitchFamily="34" charset="0"/>
              </a:rPr>
              <a:t>hình</a:t>
            </a:r>
            <a:r>
              <a:rPr lang="en-US" sz="2000" dirty="0">
                <a:solidFill>
                  <a:schemeClr val="accent1">
                    <a:lumMod val="50000"/>
                  </a:schemeClr>
                </a:solidFill>
                <a:latin typeface="Verdana" panose="020B0604030504040204" pitchFamily="34" charset="0"/>
              </a:rPr>
              <a:t> </a:t>
            </a:r>
            <a:r>
              <a:rPr lang="en-US" sz="2000" dirty="0" err="1">
                <a:solidFill>
                  <a:schemeClr val="accent1">
                    <a:lumMod val="50000"/>
                  </a:schemeClr>
                </a:solidFill>
                <a:latin typeface="Verdana" panose="020B0604030504040204" pitchFamily="34" charset="0"/>
              </a:rPr>
              <a:t>khi</a:t>
            </a:r>
            <a:r>
              <a:rPr lang="en-US" sz="2000" dirty="0">
                <a:solidFill>
                  <a:schemeClr val="accent1">
                    <a:lumMod val="50000"/>
                  </a:schemeClr>
                </a:solidFill>
                <a:latin typeface="Verdana" panose="020B0604030504040204" pitchFamily="34" charset="0"/>
              </a:rPr>
              <a:t> được </a:t>
            </a:r>
            <a:r>
              <a:rPr lang="en-US" sz="2000" dirty="0" err="1">
                <a:solidFill>
                  <a:schemeClr val="accent1">
                    <a:lumMod val="50000"/>
                  </a:schemeClr>
                </a:solidFill>
                <a:latin typeface="Verdana" panose="020B0604030504040204" pitchFamily="34" charset="0"/>
              </a:rPr>
              <a:t>sự</a:t>
            </a:r>
            <a:r>
              <a:rPr lang="en-US" sz="2000" dirty="0">
                <a:solidFill>
                  <a:schemeClr val="accent1">
                    <a:lumMod val="50000"/>
                  </a:schemeClr>
                </a:solidFill>
                <a:latin typeface="Verdana" panose="020B0604030504040204" pitchFamily="34" charset="0"/>
              </a:rPr>
              <a:t> </a:t>
            </a:r>
            <a:r>
              <a:rPr lang="en-US" sz="2000" dirty="0" err="1">
                <a:solidFill>
                  <a:schemeClr val="accent1">
                    <a:lumMod val="50000"/>
                  </a:schemeClr>
                </a:solidFill>
                <a:latin typeface="Verdana" panose="020B0604030504040204" pitchFamily="34" charset="0"/>
              </a:rPr>
              <a:t>đồng</a:t>
            </a:r>
            <a:r>
              <a:rPr lang="en-US" sz="2000" dirty="0">
                <a:solidFill>
                  <a:schemeClr val="accent1">
                    <a:lumMod val="50000"/>
                  </a:schemeClr>
                </a:solidFill>
                <a:latin typeface="Verdana" panose="020B0604030504040204" pitchFamily="34" charset="0"/>
              </a:rPr>
              <a:t> ý của GV</a:t>
            </a:r>
          </a:p>
          <a:p>
            <a:endParaRPr lang="vi-VN" sz="2000" b="1" dirty="0">
              <a:solidFill>
                <a:schemeClr val="accent1">
                  <a:lumMod val="50000"/>
                </a:schemeClr>
              </a:solidFill>
              <a:latin typeface="Verdana" panose="020B0604030504040204" pitchFamily="34" charset="0"/>
            </a:endParaRPr>
          </a:p>
          <a:p>
            <a:r>
              <a:rPr lang="vi-VN" sz="2000" b="1" dirty="0">
                <a:solidFill>
                  <a:schemeClr val="accent1">
                    <a:lumMod val="50000"/>
                  </a:schemeClr>
                </a:solidFill>
                <a:latin typeface="Verdana" panose="020B0604030504040204" pitchFamily="34" charset="0"/>
              </a:rPr>
              <a:t>Với sinh viên khác:</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Tích cực thảo luận, trao đổi</a:t>
            </a:r>
          </a:p>
          <a:p>
            <a:endParaRPr lang="en-US" sz="2000" b="1" dirty="0">
              <a:solidFill>
                <a:schemeClr val="accent1">
                  <a:lumMod val="50000"/>
                </a:schemeClr>
              </a:solidFill>
              <a:latin typeface="Verdana" panose="020B0604030504040204" pitchFamily="34" charset="0"/>
            </a:endParaRPr>
          </a:p>
          <a:p>
            <a:r>
              <a:rPr lang="vi-VN" sz="2000" b="1" dirty="0">
                <a:solidFill>
                  <a:schemeClr val="accent1">
                    <a:lumMod val="50000"/>
                  </a:schemeClr>
                </a:solidFill>
                <a:latin typeface="Verdana" panose="020B0604030504040204" pitchFamily="34" charset="0"/>
              </a:rPr>
              <a:t>Với giảng viên:</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Tôn trọng,</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Mạnh dạn phát biểu (điểm cộng)</a:t>
            </a:r>
          </a:p>
          <a:p>
            <a:pPr marL="342900" indent="-342900">
              <a:buFont typeface="Arial" panose="020B0604020202020204" pitchFamily="34" charset="0"/>
              <a:buChar char="•"/>
            </a:pPr>
            <a:r>
              <a:rPr lang="vi-VN" sz="2000" dirty="0">
                <a:solidFill>
                  <a:schemeClr val="accent1">
                    <a:lumMod val="50000"/>
                  </a:schemeClr>
                </a:solidFill>
                <a:latin typeface="Verdana" panose="020B0604030504040204" pitchFamily="34" charset="0"/>
              </a:rPr>
              <a:t>Tích cực trao đổi, góp ý</a:t>
            </a:r>
            <a:endParaRPr lang="en-US" sz="2000" dirty="0">
              <a:solidFill>
                <a:schemeClr val="accent1">
                  <a:lumMod val="50000"/>
                </a:schemeClr>
              </a:solidFill>
              <a:latin typeface="Verdana" panose="020B0604030504040204" pitchFamily="34" charset="0"/>
            </a:endParaRPr>
          </a:p>
        </p:txBody>
      </p:sp>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accent1">
                    <a:lumMod val="50000"/>
                  </a:schemeClr>
                </a:solidFill>
                <a:latin typeface="Verdana" panose="020B0604030504040204" pitchFamily="34" charset="0"/>
              </a:rPr>
              <a:t>3. </a:t>
            </a:r>
            <a:r>
              <a:rPr lang="en-US" sz="3600" b="1" dirty="0" err="1">
                <a:solidFill>
                  <a:schemeClr val="accent1">
                    <a:lumMod val="50000"/>
                  </a:schemeClr>
                </a:solidFill>
                <a:latin typeface="Verdana" panose="020B0604030504040204" pitchFamily="34" charset="0"/>
              </a:rPr>
              <a:t>Yêu</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cầu</a:t>
            </a:r>
            <a:r>
              <a:rPr lang="en-US" sz="3600" b="1" dirty="0">
                <a:solidFill>
                  <a:schemeClr val="accent1">
                    <a:lumMod val="50000"/>
                  </a:schemeClr>
                </a:solidFill>
                <a:latin typeface="Verdana" panose="020B0604030504040204" pitchFamily="34" charset="0"/>
              </a:rPr>
              <a:t> học </a:t>
            </a:r>
            <a:r>
              <a:rPr lang="en-US" sz="3600" b="1" dirty="0" err="1">
                <a:solidFill>
                  <a:schemeClr val="accent1">
                    <a:lumMod val="50000"/>
                  </a:schemeClr>
                </a:solidFill>
                <a:latin typeface="Verdana" panose="020B0604030504040204" pitchFamily="34" charset="0"/>
              </a:rPr>
              <a:t>thuật</a:t>
            </a:r>
            <a:endParaRPr lang="en-US" sz="3600" b="1" dirty="0">
              <a:solidFill>
                <a:schemeClr val="accent1">
                  <a:lumMod val="50000"/>
                </a:schemeClr>
              </a:solidFill>
              <a:latin typeface="Verdana" panose="020B0604030504040204" pitchFamily="34" charset="0"/>
            </a:endParaRPr>
          </a:p>
        </p:txBody>
      </p:sp>
      <p:pic>
        <p:nvPicPr>
          <p:cNvPr id="3" name="Picture 2">
            <a:extLst>
              <a:ext uri="{FF2B5EF4-FFF2-40B4-BE49-F238E27FC236}">
                <a16:creationId xmlns:a16="http://schemas.microsoft.com/office/drawing/2014/main" id="{33C6D7F5-77DC-2203-04A5-4F2444FAD1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2828105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426E32-659E-4BC6-8E36-8FFED3B2BAF9}"/>
              </a:ext>
            </a:extLst>
          </p:cNvPr>
          <p:cNvSpPr txBox="1"/>
          <p:nvPr/>
        </p:nvSpPr>
        <p:spPr>
          <a:xfrm>
            <a:off x="1622463" y="726812"/>
            <a:ext cx="8524202" cy="5201424"/>
          </a:xfrm>
          <a:prstGeom prst="rect">
            <a:avLst/>
          </a:prstGeom>
          <a:noFill/>
        </p:spPr>
        <p:txBody>
          <a:bodyPr wrap="square">
            <a:spAutoFit/>
          </a:bodyPr>
          <a:lstStyle/>
          <a:p>
            <a:endParaRPr lang="en-US" sz="2400" b="1" dirty="0">
              <a:solidFill>
                <a:schemeClr val="accent1">
                  <a:lumMod val="50000"/>
                </a:schemeClr>
              </a:solidFill>
              <a:latin typeface="Verdana" panose="020B0604030504040204" pitchFamily="34" charset="0"/>
            </a:endParaRPr>
          </a:p>
          <a:p>
            <a:r>
              <a:rPr lang="en-US" sz="2400" b="1" dirty="0" err="1">
                <a:solidFill>
                  <a:schemeClr val="accent1">
                    <a:lumMod val="50000"/>
                  </a:schemeClr>
                </a:solidFill>
                <a:latin typeface="Verdana" panose="020B0604030504040204" pitchFamily="34" charset="0"/>
              </a:rPr>
              <a:t>Quy</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tắc</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đặt</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tên</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Thư</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mục</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dữ</a:t>
            </a:r>
            <a:r>
              <a:rPr lang="en-US" sz="2400" b="1" dirty="0">
                <a:solidFill>
                  <a:schemeClr val="accent1">
                    <a:lumMod val="50000"/>
                  </a:schemeClr>
                </a:solidFill>
                <a:latin typeface="Verdana" panose="020B0604030504040204" pitchFamily="34" charset="0"/>
              </a:rPr>
              <a:t> liệu</a:t>
            </a:r>
            <a:r>
              <a:rPr lang="vi-VN" sz="2400" b="1" dirty="0">
                <a:solidFill>
                  <a:schemeClr val="accent1">
                    <a:lumMod val="50000"/>
                  </a:schemeClr>
                </a:solidFill>
                <a:latin typeface="Verdana" panose="020B0604030504040204" pitchFamily="34" charset="0"/>
              </a:rPr>
              <a:t>:</a:t>
            </a:r>
          </a:p>
          <a:p>
            <a:pPr marL="342900" indent="-342900">
              <a:buFont typeface="Arial" panose="020B0604020202020204" pitchFamily="34" charset="0"/>
              <a:buChar char="•"/>
            </a:pPr>
            <a:r>
              <a:rPr lang="en-US" sz="2400" dirty="0" err="1">
                <a:solidFill>
                  <a:schemeClr val="accent1">
                    <a:lumMod val="50000"/>
                  </a:schemeClr>
                </a:solidFill>
                <a:latin typeface="Verdana" panose="020B0604030504040204" pitchFamily="34" charset="0"/>
              </a:rPr>
              <a:t>Viết</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liền</a:t>
            </a:r>
            <a:r>
              <a:rPr lang="en-US" sz="2400" dirty="0">
                <a:solidFill>
                  <a:schemeClr val="accent1">
                    <a:lumMod val="50000"/>
                  </a:schemeClr>
                </a:solidFill>
                <a:latin typeface="Verdana" panose="020B0604030504040204" pitchFamily="34" charset="0"/>
              </a:rPr>
              <a:t>, không </a:t>
            </a:r>
            <a:r>
              <a:rPr lang="en-US" sz="2400" dirty="0" err="1">
                <a:solidFill>
                  <a:schemeClr val="accent1">
                    <a:lumMod val="50000"/>
                  </a:schemeClr>
                </a:solidFill>
                <a:latin typeface="Verdana" panose="020B0604030504040204" pitchFamily="34" charset="0"/>
              </a:rPr>
              <a:t>dấu</a:t>
            </a:r>
            <a:r>
              <a:rPr lang="en-US" sz="2400" dirty="0">
                <a:solidFill>
                  <a:schemeClr val="accent1">
                    <a:lumMod val="50000"/>
                  </a:schemeClr>
                </a:solidFill>
                <a:latin typeface="Verdana" panose="020B0604030504040204" pitchFamily="34" charset="0"/>
              </a:rPr>
              <a:t>, không </a:t>
            </a:r>
            <a:r>
              <a:rPr lang="en-US" sz="2400" dirty="0" err="1">
                <a:solidFill>
                  <a:schemeClr val="accent1">
                    <a:lumMod val="50000"/>
                  </a:schemeClr>
                </a:solidFill>
                <a:latin typeface="Verdana" panose="020B0604030504040204" pitchFamily="34" charset="0"/>
              </a:rPr>
              <a:t>cách</a:t>
            </a:r>
            <a:r>
              <a:rPr lang="en-US" sz="2400" dirty="0">
                <a:solidFill>
                  <a:schemeClr val="accent1">
                    <a:lumMod val="50000"/>
                  </a:schemeClr>
                </a:solidFill>
                <a:latin typeface="Verdana" panose="020B0604030504040204" pitchFamily="34" charset="0"/>
              </a:rPr>
              <a:t>, không </a:t>
            </a:r>
            <a:r>
              <a:rPr lang="en-US" sz="2400" dirty="0" err="1">
                <a:solidFill>
                  <a:schemeClr val="accent1">
                    <a:lumMod val="50000"/>
                  </a:schemeClr>
                </a:solidFill>
                <a:latin typeface="Verdana" panose="020B0604030504040204" pitchFamily="34" charset="0"/>
              </a:rPr>
              <a:t>ký</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tự</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đặt</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biệt</a:t>
            </a:r>
            <a:endParaRPr lang="en-US" sz="2400" dirty="0">
              <a:solidFill>
                <a:schemeClr val="accent1">
                  <a:lumMod val="50000"/>
                </a:schemeClr>
              </a:solidFill>
              <a:latin typeface="Verdana" panose="020B0604030504040204" pitchFamily="34" charset="0"/>
            </a:endParaRPr>
          </a:p>
          <a:p>
            <a:pPr marL="342900" indent="-342900">
              <a:buFont typeface="Arial" panose="020B0604020202020204" pitchFamily="34" charset="0"/>
              <a:buChar char="•"/>
            </a:pPr>
            <a:endParaRPr lang="en-US" sz="2400" dirty="0">
              <a:solidFill>
                <a:schemeClr val="accent1">
                  <a:lumMod val="50000"/>
                </a:schemeClr>
              </a:solidFill>
              <a:latin typeface="Verdana" panose="020B0604030504040204" pitchFamily="34" charset="0"/>
            </a:endParaRPr>
          </a:p>
          <a:p>
            <a:pPr marL="342900" indent="-342900">
              <a:buFont typeface="Arial" panose="020B0604020202020204" pitchFamily="34" charset="0"/>
              <a:buChar char="•"/>
            </a:pPr>
            <a:endParaRPr lang="en-US" sz="2400" dirty="0">
              <a:solidFill>
                <a:schemeClr val="accent1">
                  <a:lumMod val="50000"/>
                </a:schemeClr>
              </a:solidFill>
              <a:latin typeface="Verdana" panose="020B0604030504040204" pitchFamily="34" charset="0"/>
            </a:endParaRPr>
          </a:p>
          <a:p>
            <a:pPr marL="342900" indent="-342900">
              <a:buFont typeface="Arial" panose="020B0604020202020204" pitchFamily="34" charset="0"/>
              <a:buChar char="•"/>
            </a:pPr>
            <a:r>
              <a:rPr lang="en-US" sz="2400" dirty="0" err="1">
                <a:solidFill>
                  <a:schemeClr val="accent1">
                    <a:lumMod val="50000"/>
                  </a:schemeClr>
                </a:solidFill>
                <a:latin typeface="Verdana" panose="020B0604030504040204" pitchFamily="34" charset="0"/>
              </a:rPr>
              <a:t>Nơi</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lưu</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ngắn</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gọn</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theo</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quy</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ước</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tránh</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lỗi</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đường</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dẫn</a:t>
            </a:r>
            <a:endParaRPr lang="en-US" sz="2400" dirty="0">
              <a:solidFill>
                <a:schemeClr val="accent1">
                  <a:lumMod val="50000"/>
                </a:schemeClr>
              </a:solidFill>
              <a:latin typeface="Verdana" panose="020B0604030504040204" pitchFamily="34" charset="0"/>
            </a:endParaRPr>
          </a:p>
          <a:p>
            <a:r>
              <a:rPr lang="en-US" sz="2400" dirty="0">
                <a:solidFill>
                  <a:schemeClr val="accent1">
                    <a:lumMod val="50000"/>
                  </a:schemeClr>
                </a:solidFill>
                <a:latin typeface="Verdana" panose="020B0604030504040204" pitchFamily="34" charset="0"/>
              </a:rPr>
              <a:t>	</a:t>
            </a:r>
            <a:r>
              <a:rPr lang="en-US" sz="2400" dirty="0">
                <a:solidFill>
                  <a:srgbClr val="FF0000"/>
                </a:solidFill>
                <a:latin typeface="Verdana" panose="020B0604030504040204" pitchFamily="34" charset="0"/>
              </a:rPr>
              <a:t>D:\ThucHanh\GISThucHanh\MSSV</a:t>
            </a:r>
          </a:p>
          <a:p>
            <a:r>
              <a:rPr lang="en-US" sz="2400" dirty="0">
                <a:solidFill>
                  <a:srgbClr val="FF0000"/>
                </a:solidFill>
                <a:latin typeface="Verdana" panose="020B0604030504040204" pitchFamily="34" charset="0"/>
              </a:rPr>
              <a:t>	</a:t>
            </a:r>
          </a:p>
          <a:p>
            <a:pPr marL="342900" indent="-342900">
              <a:buFont typeface="Arial" panose="020B0604020202020204" pitchFamily="34" charset="0"/>
              <a:buChar char="•"/>
            </a:pPr>
            <a:endParaRPr lang="en-US" sz="2400" dirty="0">
              <a:solidFill>
                <a:srgbClr val="FF0000"/>
              </a:solidFill>
              <a:latin typeface="Verdana" panose="020B0604030504040204" pitchFamily="34" charset="0"/>
            </a:endParaRPr>
          </a:p>
          <a:p>
            <a:pPr marL="342900" indent="-342900">
              <a:buFont typeface="Arial" panose="020B0604020202020204" pitchFamily="34" charset="0"/>
              <a:buChar char="•"/>
            </a:pPr>
            <a:r>
              <a:rPr lang="en-US" sz="2400" dirty="0" err="1">
                <a:solidFill>
                  <a:schemeClr val="accent1">
                    <a:lumMod val="50000"/>
                  </a:schemeClr>
                </a:solidFill>
                <a:latin typeface="Verdana" panose="020B0604030504040204" pitchFamily="34" charset="0"/>
              </a:rPr>
              <a:t>Quy</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tắc</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đặt</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tên</a:t>
            </a:r>
            <a:r>
              <a:rPr lang="en-US" sz="2400" dirty="0">
                <a:solidFill>
                  <a:schemeClr val="accent1">
                    <a:lumMod val="50000"/>
                  </a:schemeClr>
                </a:solidFill>
                <a:latin typeface="Verdana" panose="020B0604030504040204" pitchFamily="34" charset="0"/>
              </a:rPr>
              <a:t> file </a:t>
            </a:r>
            <a:r>
              <a:rPr lang="en-US" sz="2400" dirty="0" err="1">
                <a:solidFill>
                  <a:schemeClr val="accent1">
                    <a:lumMod val="50000"/>
                  </a:schemeClr>
                </a:solidFill>
                <a:latin typeface="Verdana" panose="020B0604030504040204" pitchFamily="34" charset="0"/>
              </a:rPr>
              <a:t>nộp</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bài</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sai</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quy</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cách</a:t>
            </a:r>
            <a:r>
              <a:rPr lang="en-US" sz="2400" dirty="0">
                <a:solidFill>
                  <a:schemeClr val="accent1">
                    <a:lumMod val="50000"/>
                  </a:schemeClr>
                </a:solidFill>
                <a:latin typeface="Verdana" panose="020B0604030504040204" pitchFamily="34" charset="0"/>
              </a:rPr>
              <a:t> file </a:t>
            </a:r>
            <a:r>
              <a:rPr lang="en-US" sz="2400" dirty="0" err="1">
                <a:solidFill>
                  <a:schemeClr val="accent1">
                    <a:lumMod val="50000"/>
                  </a:schemeClr>
                </a:solidFill>
                <a:latin typeface="Verdana" panose="020B0604030504040204" pitchFamily="34" charset="0"/>
              </a:rPr>
              <a:t>gửi</a:t>
            </a:r>
            <a:r>
              <a:rPr lang="en-US" sz="2400" dirty="0">
                <a:solidFill>
                  <a:schemeClr val="accent1">
                    <a:lumMod val="50000"/>
                  </a:schemeClr>
                </a:solidFill>
                <a:latin typeface="Verdana" panose="020B0604030504040204" pitchFamily="34" charset="0"/>
              </a:rPr>
              <a:t> không nhận</a:t>
            </a:r>
          </a:p>
          <a:p>
            <a:pPr marL="342900" indent="-342900">
              <a:buFont typeface="Arial" panose="020B0604020202020204" pitchFamily="34" charset="0"/>
              <a:buChar char="•"/>
            </a:pPr>
            <a:endParaRPr lang="vi-VN" sz="2400" dirty="0">
              <a:solidFill>
                <a:schemeClr val="accent1">
                  <a:lumMod val="50000"/>
                </a:schemeClr>
              </a:solidFill>
              <a:latin typeface="Verdana" panose="020B0604030504040204" pitchFamily="34" charset="0"/>
            </a:endParaRPr>
          </a:p>
          <a:p>
            <a:endParaRPr lang="en-US" sz="2000" dirty="0">
              <a:solidFill>
                <a:schemeClr val="accent1">
                  <a:lumMod val="50000"/>
                </a:schemeClr>
              </a:solidFill>
            </a:endParaRPr>
          </a:p>
        </p:txBody>
      </p:sp>
      <p:sp>
        <p:nvSpPr>
          <p:cNvPr id="5" name="AutoShape 5">
            <a:extLst>
              <a:ext uri="{FF2B5EF4-FFF2-40B4-BE49-F238E27FC236}">
                <a16:creationId xmlns:a16="http://schemas.microsoft.com/office/drawing/2014/main" id="{F9BEFBA6-914F-4191-8961-EB8B8F89A0F6}"/>
              </a:ext>
            </a:extLst>
          </p:cNvPr>
          <p:cNvSpPr>
            <a:spLocks noChangeArrowheads="1"/>
          </p:cNvSpPr>
          <p:nvPr/>
        </p:nvSpPr>
        <p:spPr bwMode="ltGray">
          <a:xfrm>
            <a:off x="3238502" y="-40929"/>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6" name="Rectangle 10">
            <a:extLst>
              <a:ext uri="{FF2B5EF4-FFF2-40B4-BE49-F238E27FC236}">
                <a16:creationId xmlns:a16="http://schemas.microsoft.com/office/drawing/2014/main" id="{A30DB55C-46B3-4721-BF03-CD7CB77D54C7}"/>
              </a:ext>
            </a:extLst>
          </p:cNvPr>
          <p:cNvSpPr>
            <a:spLocks noChangeArrowheads="1"/>
          </p:cNvSpPr>
          <p:nvPr/>
        </p:nvSpPr>
        <p:spPr bwMode="black">
          <a:xfrm>
            <a:off x="3238502" y="69587"/>
            <a:ext cx="7324638" cy="584775"/>
          </a:xfrm>
          <a:prstGeom prst="rect">
            <a:avLst/>
          </a:prstGeom>
          <a:noFill/>
          <a:ln w="9525" algn="ctr">
            <a:noFill/>
            <a:miter lim="800000"/>
            <a:headEnd/>
            <a:tailEnd/>
          </a:ln>
          <a:effectLst/>
        </p:spPr>
        <p:txBody>
          <a:bodyPr wrap="square">
            <a:spAutoFit/>
          </a:bodyPr>
          <a:lstStyle/>
          <a:p>
            <a:pPr algn="ctr"/>
            <a:r>
              <a:rPr lang="en-US" sz="3200" b="1" dirty="0">
                <a:solidFill>
                  <a:schemeClr val="accent1">
                    <a:lumMod val="50000"/>
                  </a:schemeClr>
                </a:solidFill>
                <a:latin typeface="Verdana" panose="020B0604030504040204" pitchFamily="34" charset="0"/>
              </a:rPr>
              <a:t>4. </a:t>
            </a:r>
            <a:r>
              <a:rPr lang="en-US" sz="3200" b="1" dirty="0" err="1">
                <a:solidFill>
                  <a:schemeClr val="accent1">
                    <a:lumMod val="50000"/>
                  </a:schemeClr>
                </a:solidFill>
                <a:latin typeface="Verdana" panose="020B0604030504040204" pitchFamily="34" charset="0"/>
              </a:rPr>
              <a:t>Yêu</a:t>
            </a:r>
            <a:r>
              <a:rPr lang="en-US" sz="3200" b="1" dirty="0">
                <a:solidFill>
                  <a:schemeClr val="accent1">
                    <a:lumMod val="50000"/>
                  </a:schemeClr>
                </a:solidFill>
                <a:latin typeface="Verdana" panose="020B0604030504040204" pitchFamily="34" charset="0"/>
              </a:rPr>
              <a:t> </a:t>
            </a:r>
            <a:r>
              <a:rPr lang="en-US" sz="3200" b="1" dirty="0" err="1">
                <a:solidFill>
                  <a:schemeClr val="accent1">
                    <a:lumMod val="50000"/>
                  </a:schemeClr>
                </a:solidFill>
                <a:latin typeface="Verdana" panose="020B0604030504040204" pitchFamily="34" charset="0"/>
              </a:rPr>
              <a:t>cầu</a:t>
            </a:r>
            <a:r>
              <a:rPr lang="en-US" sz="3200" b="1" dirty="0">
                <a:solidFill>
                  <a:schemeClr val="accent1">
                    <a:lumMod val="50000"/>
                  </a:schemeClr>
                </a:solidFill>
                <a:latin typeface="Verdana" panose="020B0604030504040204" pitchFamily="34" charset="0"/>
              </a:rPr>
              <a:t> </a:t>
            </a:r>
            <a:r>
              <a:rPr lang="en-US" sz="3200" b="1" dirty="0" err="1">
                <a:solidFill>
                  <a:schemeClr val="accent1">
                    <a:lumMod val="50000"/>
                  </a:schemeClr>
                </a:solidFill>
                <a:latin typeface="Verdana" panose="020B0604030504040204" pitchFamily="34" charset="0"/>
              </a:rPr>
              <a:t>bài</a:t>
            </a:r>
            <a:r>
              <a:rPr lang="en-US" sz="3200" b="1" dirty="0">
                <a:solidFill>
                  <a:schemeClr val="accent1">
                    <a:lumMod val="50000"/>
                  </a:schemeClr>
                </a:solidFill>
                <a:latin typeface="Verdana" panose="020B0604030504040204" pitchFamily="34" charset="0"/>
              </a:rPr>
              <a:t> tập, </a:t>
            </a:r>
            <a:r>
              <a:rPr lang="en-US" sz="3200" b="1" dirty="0" err="1">
                <a:solidFill>
                  <a:schemeClr val="accent1">
                    <a:lumMod val="50000"/>
                  </a:schemeClr>
                </a:solidFill>
                <a:latin typeface="Verdana" panose="020B0604030504040204" pitchFamily="34" charset="0"/>
              </a:rPr>
              <a:t>thực</a:t>
            </a:r>
            <a:r>
              <a:rPr lang="en-US" sz="3200" b="1" dirty="0">
                <a:solidFill>
                  <a:schemeClr val="accent1">
                    <a:lumMod val="50000"/>
                  </a:schemeClr>
                </a:solidFill>
                <a:latin typeface="Verdana" panose="020B0604030504040204" pitchFamily="34" charset="0"/>
              </a:rPr>
              <a:t> hành</a:t>
            </a:r>
          </a:p>
        </p:txBody>
      </p:sp>
      <p:pic>
        <p:nvPicPr>
          <p:cNvPr id="9" name="Picture 8">
            <a:extLst>
              <a:ext uri="{FF2B5EF4-FFF2-40B4-BE49-F238E27FC236}">
                <a16:creationId xmlns:a16="http://schemas.microsoft.com/office/drawing/2014/main" id="{2CC24218-A876-4477-89BB-58B033DA757C}"/>
              </a:ext>
            </a:extLst>
          </p:cNvPr>
          <p:cNvPicPr>
            <a:picLocks noChangeAspect="1"/>
          </p:cNvPicPr>
          <p:nvPr/>
        </p:nvPicPr>
        <p:blipFill>
          <a:blip r:embed="rId2"/>
          <a:stretch>
            <a:fillRect/>
          </a:stretch>
        </p:blipFill>
        <p:spPr>
          <a:xfrm>
            <a:off x="2048942" y="5226314"/>
            <a:ext cx="3114675" cy="904875"/>
          </a:xfrm>
          <a:prstGeom prst="rect">
            <a:avLst/>
          </a:prstGeom>
        </p:spPr>
      </p:pic>
      <p:pic>
        <p:nvPicPr>
          <p:cNvPr id="3" name="Picture 2">
            <a:extLst>
              <a:ext uri="{FF2B5EF4-FFF2-40B4-BE49-F238E27FC236}">
                <a16:creationId xmlns:a16="http://schemas.microsoft.com/office/drawing/2014/main" id="{DD9277E5-B772-37FE-920C-64CA59B180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2540601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95E053-7579-4EEB-86CF-2DB52DDD5ECF}"/>
              </a:ext>
            </a:extLst>
          </p:cNvPr>
          <p:cNvSpPr txBox="1"/>
          <p:nvPr/>
        </p:nvSpPr>
        <p:spPr>
          <a:xfrm>
            <a:off x="1622463" y="726813"/>
            <a:ext cx="8524202" cy="2985433"/>
          </a:xfrm>
          <a:prstGeom prst="rect">
            <a:avLst/>
          </a:prstGeom>
          <a:noFill/>
        </p:spPr>
        <p:txBody>
          <a:bodyPr wrap="square">
            <a:spAutoFit/>
          </a:bodyPr>
          <a:lstStyle/>
          <a:p>
            <a:r>
              <a:rPr lang="en-US" sz="2400" b="1" dirty="0" err="1">
                <a:solidFill>
                  <a:srgbClr val="FF0000"/>
                </a:solidFill>
                <a:latin typeface="Verdana" panose="020B0604030504040204" pitchFamily="34" charset="0"/>
              </a:rPr>
              <a:t>Trước</a:t>
            </a:r>
            <a:r>
              <a:rPr lang="en-US" sz="2400" b="1" dirty="0">
                <a:solidFill>
                  <a:srgbClr val="FF0000"/>
                </a:solidFill>
                <a:latin typeface="Verdana" panose="020B0604030504040204" pitchFamily="34" charset="0"/>
              </a:rPr>
              <a:t> </a:t>
            </a:r>
            <a:r>
              <a:rPr lang="en-US" sz="2400" b="1" dirty="0" err="1">
                <a:solidFill>
                  <a:srgbClr val="FF0000"/>
                </a:solidFill>
                <a:latin typeface="Verdana" panose="020B0604030504040204" pitchFamily="34" charset="0"/>
              </a:rPr>
              <a:t>mỗi</a:t>
            </a:r>
            <a:r>
              <a:rPr lang="en-US" sz="2400" b="1" dirty="0">
                <a:solidFill>
                  <a:srgbClr val="FF0000"/>
                </a:solidFill>
                <a:latin typeface="Verdana" panose="020B0604030504040204" pitchFamily="34" charset="0"/>
              </a:rPr>
              <a:t> </a:t>
            </a:r>
            <a:r>
              <a:rPr lang="en-US" sz="2400" b="1" dirty="0" err="1">
                <a:solidFill>
                  <a:srgbClr val="FF0000"/>
                </a:solidFill>
                <a:latin typeface="Verdana" panose="020B0604030504040204" pitchFamily="34" charset="0"/>
              </a:rPr>
              <a:t>buổi</a:t>
            </a:r>
            <a:r>
              <a:rPr lang="en-US" sz="2400" b="1" dirty="0">
                <a:solidFill>
                  <a:srgbClr val="FF0000"/>
                </a:solidFill>
                <a:latin typeface="Verdana" panose="020B0604030504040204" pitchFamily="34" charset="0"/>
              </a:rPr>
              <a:t> học</a:t>
            </a:r>
          </a:p>
          <a:p>
            <a:r>
              <a:rPr lang="en-US" sz="2400" b="1" dirty="0" err="1">
                <a:solidFill>
                  <a:schemeClr val="accent1">
                    <a:lumMod val="50000"/>
                  </a:schemeClr>
                </a:solidFill>
                <a:latin typeface="Verdana" panose="020B0604030504040204" pitchFamily="34" charset="0"/>
              </a:rPr>
              <a:t>Cài</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đặt</a:t>
            </a:r>
            <a:r>
              <a:rPr lang="en-US" sz="2400" b="1" dirty="0">
                <a:solidFill>
                  <a:schemeClr val="accent1">
                    <a:lumMod val="50000"/>
                  </a:schemeClr>
                </a:solidFill>
                <a:latin typeface="Verdana" panose="020B0604030504040204" pitchFamily="34" charset="0"/>
              </a:rPr>
              <a:t> </a:t>
            </a:r>
            <a:r>
              <a:rPr lang="en-US" sz="2400" b="1" dirty="0" err="1">
                <a:solidFill>
                  <a:srgbClr val="FF0000"/>
                </a:solidFill>
                <a:latin typeface="Verdana" panose="020B0604030504040204" pitchFamily="34" charset="0"/>
              </a:rPr>
              <a:t>UltraView</a:t>
            </a:r>
            <a:r>
              <a:rPr lang="en-US" sz="2400" b="1" dirty="0">
                <a:solidFill>
                  <a:schemeClr val="accent1">
                    <a:lumMod val="50000"/>
                  </a:schemeClr>
                </a:solidFill>
                <a:latin typeface="Verdana" panose="020B0604030504040204" pitchFamily="34" charset="0"/>
              </a:rPr>
              <a:t> để </a:t>
            </a:r>
            <a:r>
              <a:rPr lang="en-US" sz="2400" b="1" dirty="0" err="1">
                <a:solidFill>
                  <a:schemeClr val="accent1">
                    <a:lumMod val="50000"/>
                  </a:schemeClr>
                </a:solidFill>
                <a:latin typeface="Verdana" panose="020B0604030504040204" pitchFamily="34" charset="0"/>
              </a:rPr>
              <a:t>hỗ</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trợ</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xem</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thực</a:t>
            </a:r>
            <a:r>
              <a:rPr lang="en-US" sz="2400" b="1" dirty="0">
                <a:solidFill>
                  <a:schemeClr val="accent1">
                    <a:lumMod val="50000"/>
                  </a:schemeClr>
                </a:solidFill>
                <a:latin typeface="Verdana" panose="020B0604030504040204" pitchFamily="34" charset="0"/>
              </a:rPr>
              <a:t> hành</a:t>
            </a:r>
            <a:endParaRPr lang="vi-VN" sz="2400" b="1" dirty="0">
              <a:solidFill>
                <a:schemeClr val="accent1">
                  <a:lumMod val="50000"/>
                </a:schemeClr>
              </a:solidFill>
              <a:latin typeface="Verdana" panose="020B0604030504040204" pitchFamily="34" charset="0"/>
            </a:endParaRPr>
          </a:p>
          <a:p>
            <a:pPr marL="342900" indent="-342900">
              <a:buFont typeface="Arial" panose="020B0604020202020204" pitchFamily="34" charset="0"/>
              <a:buChar char="•"/>
            </a:pPr>
            <a:r>
              <a:rPr lang="en-US" sz="2400" dirty="0" err="1">
                <a:solidFill>
                  <a:schemeClr val="accent1">
                    <a:lumMod val="50000"/>
                  </a:schemeClr>
                </a:solidFill>
                <a:latin typeface="Verdana" panose="020B0604030504040204" pitchFamily="34" charset="0"/>
              </a:rPr>
              <a:t>Yêu</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cầu</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cài</a:t>
            </a:r>
            <a:r>
              <a:rPr lang="en-US" sz="2400" dirty="0">
                <a:solidFill>
                  <a:schemeClr val="accent1">
                    <a:lumMod val="50000"/>
                  </a:schemeClr>
                </a:solidFill>
                <a:latin typeface="Verdana" panose="020B0604030504040204" pitchFamily="34" charset="0"/>
              </a:rPr>
              <a:t> và </a:t>
            </a:r>
            <a:r>
              <a:rPr lang="en-US" sz="2400" dirty="0" err="1">
                <a:solidFill>
                  <a:schemeClr val="accent1">
                    <a:lumMod val="50000"/>
                  </a:schemeClr>
                </a:solidFill>
                <a:latin typeface="Verdana" panose="020B0604030504040204" pitchFamily="34" charset="0"/>
              </a:rPr>
              <a:t>gửi</a:t>
            </a:r>
            <a:r>
              <a:rPr lang="en-US" sz="2400" dirty="0">
                <a:solidFill>
                  <a:schemeClr val="accent1">
                    <a:lumMod val="50000"/>
                  </a:schemeClr>
                </a:solidFill>
                <a:latin typeface="Verdana" panose="020B0604030504040204" pitchFamily="34" charset="0"/>
              </a:rPr>
              <a:t> </a:t>
            </a:r>
            <a:r>
              <a:rPr lang="en-US" sz="2400" dirty="0">
                <a:solidFill>
                  <a:srgbClr val="FF0000"/>
                </a:solidFill>
                <a:latin typeface="Verdana" panose="020B0604030504040204" pitchFamily="34" charset="0"/>
              </a:rPr>
              <a:t>ID &amp; PASS</a:t>
            </a:r>
            <a:r>
              <a:rPr lang="en-US" sz="2400"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UltraView</a:t>
            </a:r>
            <a:r>
              <a:rPr lang="en-US" sz="2400" dirty="0">
                <a:solidFill>
                  <a:schemeClr val="accent1">
                    <a:lumMod val="50000"/>
                  </a:schemeClr>
                </a:solidFill>
                <a:latin typeface="Verdana" panose="020B0604030504040204" pitchFamily="34" charset="0"/>
              </a:rPr>
              <a:t> vào form</a:t>
            </a:r>
          </a:p>
          <a:p>
            <a:pPr marL="342900" indent="-342900">
              <a:buFont typeface="Arial" panose="020B0604020202020204" pitchFamily="34" charset="0"/>
              <a:buChar char="•"/>
            </a:pPr>
            <a:r>
              <a:rPr lang="en-US" sz="2400" dirty="0" err="1">
                <a:solidFill>
                  <a:schemeClr val="accent1">
                    <a:lumMod val="50000"/>
                  </a:schemeClr>
                </a:solidFill>
                <a:latin typeface="Verdana" panose="020B0604030504040204" pitchFamily="34" charset="0"/>
              </a:rPr>
              <a:t>Cập</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nhật</a:t>
            </a:r>
            <a:r>
              <a:rPr lang="en-US" sz="2400" dirty="0">
                <a:solidFill>
                  <a:schemeClr val="accent1">
                    <a:lumMod val="50000"/>
                  </a:schemeClr>
                </a:solidFill>
                <a:latin typeface="Verdana" panose="020B0604030504040204" pitchFamily="34" charset="0"/>
              </a:rPr>
              <a:t> tình </a:t>
            </a:r>
            <a:r>
              <a:rPr lang="en-US" sz="2400" dirty="0" err="1">
                <a:solidFill>
                  <a:schemeClr val="accent1">
                    <a:lumMod val="50000"/>
                  </a:schemeClr>
                </a:solidFill>
                <a:latin typeface="Verdana" panose="020B0604030504040204" pitchFamily="34" charset="0"/>
              </a:rPr>
              <a:t>hình</a:t>
            </a:r>
            <a:r>
              <a:rPr lang="en-US" sz="2400" dirty="0">
                <a:solidFill>
                  <a:schemeClr val="accent1">
                    <a:lumMod val="50000"/>
                  </a:schemeClr>
                </a:solidFill>
                <a:latin typeface="Verdana" panose="020B0604030504040204" pitchFamily="34" charset="0"/>
              </a:rPr>
              <a:t> vào </a:t>
            </a:r>
            <a:r>
              <a:rPr lang="en-US" sz="2400" dirty="0" err="1">
                <a:solidFill>
                  <a:schemeClr val="accent1">
                    <a:lumMod val="50000"/>
                  </a:schemeClr>
                </a:solidFill>
                <a:latin typeface="Verdana" panose="020B0604030504040204" pitchFamily="34" charset="0"/>
              </a:rPr>
              <a:t>cột</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ghi</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chú</a:t>
            </a:r>
            <a:endParaRPr lang="en-US" sz="2400" dirty="0">
              <a:solidFill>
                <a:schemeClr val="accent1">
                  <a:lumMod val="50000"/>
                </a:schemeClr>
              </a:solidFill>
              <a:latin typeface="Verdana" panose="020B0604030504040204" pitchFamily="34" charset="0"/>
            </a:endParaRPr>
          </a:p>
          <a:p>
            <a:pPr marL="342900" indent="-342900">
              <a:buFont typeface="Arial" panose="020B0604020202020204" pitchFamily="34" charset="0"/>
              <a:buChar char="•"/>
            </a:pPr>
            <a:r>
              <a:rPr lang="en-US" sz="2400" dirty="0" err="1">
                <a:solidFill>
                  <a:schemeClr val="accent1">
                    <a:lumMod val="50000"/>
                  </a:schemeClr>
                </a:solidFill>
                <a:latin typeface="Verdana" panose="020B0604030504040204" pitchFamily="34" charset="0"/>
              </a:rPr>
              <a:t>Sử</a:t>
            </a:r>
            <a:r>
              <a:rPr lang="en-US" sz="2400" dirty="0">
                <a:solidFill>
                  <a:schemeClr val="accent1">
                    <a:lumMod val="50000"/>
                  </a:schemeClr>
                </a:solidFill>
                <a:latin typeface="Verdana" panose="020B0604030504040204" pitchFamily="34" charset="0"/>
              </a:rPr>
              <a:t> dụng 2 </a:t>
            </a:r>
            <a:r>
              <a:rPr lang="en-US" sz="2400" dirty="0" err="1">
                <a:solidFill>
                  <a:schemeClr val="accent1">
                    <a:lumMod val="50000"/>
                  </a:schemeClr>
                </a:solidFill>
                <a:latin typeface="Verdana" panose="020B0604030504040204" pitchFamily="34" charset="0"/>
              </a:rPr>
              <a:t>màn</a:t>
            </a:r>
            <a:r>
              <a:rPr lang="en-US" sz="2400" dirty="0">
                <a:solidFill>
                  <a:schemeClr val="accent1">
                    <a:lumMod val="50000"/>
                  </a:schemeClr>
                </a:solidFill>
                <a:latin typeface="Verdana" panose="020B0604030504040204" pitchFamily="34" charset="0"/>
              </a:rPr>
              <a:t> </a:t>
            </a:r>
            <a:r>
              <a:rPr lang="en-US" sz="2400" dirty="0" err="1">
                <a:solidFill>
                  <a:schemeClr val="accent1">
                    <a:lumMod val="50000"/>
                  </a:schemeClr>
                </a:solidFill>
                <a:latin typeface="Verdana" panose="020B0604030504040204" pitchFamily="34" charset="0"/>
              </a:rPr>
              <a:t>hình</a:t>
            </a:r>
            <a:r>
              <a:rPr lang="en-US" sz="2400" dirty="0">
                <a:solidFill>
                  <a:schemeClr val="accent1">
                    <a:lumMod val="50000"/>
                  </a:schemeClr>
                </a:solidFill>
                <a:latin typeface="Verdana" panose="020B0604030504040204" pitchFamily="34" charset="0"/>
              </a:rPr>
              <a:t> </a:t>
            </a:r>
          </a:p>
          <a:p>
            <a:pPr marL="800100" lvl="1" indent="-342900">
              <a:buFont typeface="Wingdings" panose="05000000000000000000" pitchFamily="2" charset="2"/>
              <a:buChar char="§"/>
            </a:pPr>
            <a:r>
              <a:rPr lang="en-US" sz="2400" dirty="0">
                <a:solidFill>
                  <a:srgbClr val="FF0000"/>
                </a:solidFill>
                <a:latin typeface="Verdana" panose="020B0604030504040204" pitchFamily="34" charset="0"/>
              </a:rPr>
              <a:t>1 </a:t>
            </a:r>
            <a:r>
              <a:rPr lang="en-US" sz="2400" dirty="0" err="1">
                <a:solidFill>
                  <a:srgbClr val="FF0000"/>
                </a:solidFill>
                <a:latin typeface="Verdana" panose="020B0604030504040204" pitchFamily="34" charset="0"/>
              </a:rPr>
              <a:t>màn</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hình</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điện</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thoại</a:t>
            </a:r>
            <a:r>
              <a:rPr lang="en-US" sz="2400" dirty="0">
                <a:solidFill>
                  <a:srgbClr val="FF0000"/>
                </a:solidFill>
                <a:latin typeface="Verdana" panose="020B0604030504040204" pitchFamily="34" charset="0"/>
              </a:rPr>
              <a:t> để </a:t>
            </a:r>
            <a:r>
              <a:rPr lang="en-US" sz="2400" dirty="0" err="1">
                <a:solidFill>
                  <a:srgbClr val="FF0000"/>
                </a:solidFill>
                <a:latin typeface="Verdana" panose="020B0604030504040204" pitchFamily="34" charset="0"/>
              </a:rPr>
              <a:t>xem</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bài</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giảng</a:t>
            </a:r>
            <a:endParaRPr lang="en-US" sz="2400" dirty="0">
              <a:solidFill>
                <a:srgbClr val="FF0000"/>
              </a:solidFill>
              <a:latin typeface="Verdana" panose="020B0604030504040204" pitchFamily="34" charset="0"/>
            </a:endParaRPr>
          </a:p>
          <a:p>
            <a:pPr marL="800100" lvl="1" indent="-342900">
              <a:buFont typeface="Wingdings" panose="05000000000000000000" pitchFamily="2" charset="2"/>
              <a:buChar char="§"/>
            </a:pPr>
            <a:r>
              <a:rPr lang="en-US" sz="2400" dirty="0">
                <a:solidFill>
                  <a:srgbClr val="FF0000"/>
                </a:solidFill>
                <a:latin typeface="Verdana" panose="020B0604030504040204" pitchFamily="34" charset="0"/>
              </a:rPr>
              <a:t>1 </a:t>
            </a:r>
            <a:r>
              <a:rPr lang="en-US" sz="2400" dirty="0" err="1">
                <a:solidFill>
                  <a:srgbClr val="FF0000"/>
                </a:solidFill>
                <a:latin typeface="Verdana" panose="020B0604030504040204" pitchFamily="34" charset="0"/>
              </a:rPr>
              <a:t>màn</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hình</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máy</a:t>
            </a:r>
            <a:r>
              <a:rPr lang="en-US" sz="2400" dirty="0">
                <a:solidFill>
                  <a:srgbClr val="FF0000"/>
                </a:solidFill>
                <a:latin typeface="Verdana" panose="020B0604030504040204" pitchFamily="34" charset="0"/>
              </a:rPr>
              <a:t> tính để </a:t>
            </a:r>
            <a:r>
              <a:rPr lang="en-US" sz="2400" dirty="0" err="1">
                <a:solidFill>
                  <a:srgbClr val="FF0000"/>
                </a:solidFill>
                <a:latin typeface="Verdana" panose="020B0604030504040204" pitchFamily="34" charset="0"/>
              </a:rPr>
              <a:t>thao</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tác</a:t>
            </a:r>
            <a:r>
              <a:rPr lang="en-US" sz="2400" dirty="0">
                <a:solidFill>
                  <a:srgbClr val="FF0000"/>
                </a:solidFill>
                <a:latin typeface="Verdana" panose="020B0604030504040204" pitchFamily="34" charset="0"/>
              </a:rPr>
              <a:t> </a:t>
            </a:r>
            <a:r>
              <a:rPr lang="en-US" sz="2400" dirty="0" err="1">
                <a:solidFill>
                  <a:srgbClr val="FF0000"/>
                </a:solidFill>
                <a:latin typeface="Verdana" panose="020B0604030504040204" pitchFamily="34" charset="0"/>
              </a:rPr>
              <a:t>thực</a:t>
            </a:r>
            <a:r>
              <a:rPr lang="en-US" sz="2400" dirty="0">
                <a:solidFill>
                  <a:srgbClr val="FF0000"/>
                </a:solidFill>
                <a:latin typeface="Verdana" panose="020B0604030504040204" pitchFamily="34" charset="0"/>
              </a:rPr>
              <a:t> hành</a:t>
            </a:r>
          </a:p>
          <a:p>
            <a:endParaRPr lang="en-US" sz="2000" dirty="0">
              <a:solidFill>
                <a:schemeClr val="accent1">
                  <a:lumMod val="50000"/>
                </a:schemeClr>
              </a:solidFill>
            </a:endParaRPr>
          </a:p>
        </p:txBody>
      </p:sp>
      <p:sp>
        <p:nvSpPr>
          <p:cNvPr id="5" name="AutoShape 5">
            <a:extLst>
              <a:ext uri="{FF2B5EF4-FFF2-40B4-BE49-F238E27FC236}">
                <a16:creationId xmlns:a16="http://schemas.microsoft.com/office/drawing/2014/main" id="{E6165F77-89F7-4C8E-B3CA-F68E6CC9187E}"/>
              </a:ext>
            </a:extLst>
          </p:cNvPr>
          <p:cNvSpPr>
            <a:spLocks noChangeArrowheads="1"/>
          </p:cNvSpPr>
          <p:nvPr/>
        </p:nvSpPr>
        <p:spPr bwMode="ltGray">
          <a:xfrm>
            <a:off x="3238502" y="-40929"/>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6" name="Rectangle 10">
            <a:extLst>
              <a:ext uri="{FF2B5EF4-FFF2-40B4-BE49-F238E27FC236}">
                <a16:creationId xmlns:a16="http://schemas.microsoft.com/office/drawing/2014/main" id="{53F67681-70E6-40D7-B6F7-57912D7187D2}"/>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accent1">
                    <a:lumMod val="50000"/>
                  </a:schemeClr>
                </a:solidFill>
                <a:latin typeface="Verdana" panose="020B0604030504040204" pitchFamily="34" charset="0"/>
              </a:rPr>
              <a:t>4. </a:t>
            </a:r>
            <a:r>
              <a:rPr lang="en-US" sz="3600" b="1" dirty="0" err="1">
                <a:solidFill>
                  <a:schemeClr val="accent1">
                    <a:lumMod val="50000"/>
                  </a:schemeClr>
                </a:solidFill>
                <a:latin typeface="Verdana" panose="020B0604030504040204" pitchFamily="34" charset="0"/>
              </a:rPr>
              <a:t>Yêu</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cầu</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thực</a:t>
            </a:r>
            <a:r>
              <a:rPr lang="en-US" sz="3600" b="1" dirty="0">
                <a:solidFill>
                  <a:schemeClr val="accent1">
                    <a:lumMod val="50000"/>
                  </a:schemeClr>
                </a:solidFill>
                <a:latin typeface="Verdana" panose="020B0604030504040204" pitchFamily="34" charset="0"/>
              </a:rPr>
              <a:t> hành</a:t>
            </a:r>
          </a:p>
        </p:txBody>
      </p:sp>
      <p:grpSp>
        <p:nvGrpSpPr>
          <p:cNvPr id="8" name="Group 7">
            <a:extLst>
              <a:ext uri="{FF2B5EF4-FFF2-40B4-BE49-F238E27FC236}">
                <a16:creationId xmlns:a16="http://schemas.microsoft.com/office/drawing/2014/main" id="{8F02AF26-20FC-4D1D-971F-07AE0D95AF56}"/>
              </a:ext>
            </a:extLst>
          </p:cNvPr>
          <p:cNvGrpSpPr/>
          <p:nvPr/>
        </p:nvGrpSpPr>
        <p:grpSpPr>
          <a:xfrm>
            <a:off x="6467476" y="3301439"/>
            <a:ext cx="4200525" cy="3505200"/>
            <a:chOff x="5161660" y="3786448"/>
            <a:chExt cx="3982340" cy="3071552"/>
          </a:xfrm>
        </p:grpSpPr>
        <p:pic>
          <p:nvPicPr>
            <p:cNvPr id="9" name="Picture 8">
              <a:extLst>
                <a:ext uri="{FF2B5EF4-FFF2-40B4-BE49-F238E27FC236}">
                  <a16:creationId xmlns:a16="http://schemas.microsoft.com/office/drawing/2014/main" id="{8B0934C5-C20C-4E6D-83C1-3FE29D777D89}"/>
                </a:ext>
              </a:extLst>
            </p:cNvPr>
            <p:cNvPicPr>
              <a:picLocks noChangeAspect="1"/>
            </p:cNvPicPr>
            <p:nvPr/>
          </p:nvPicPr>
          <p:blipFill>
            <a:blip r:embed="rId2"/>
            <a:stretch>
              <a:fillRect/>
            </a:stretch>
          </p:blipFill>
          <p:spPr>
            <a:xfrm>
              <a:off x="5161660" y="3786448"/>
              <a:ext cx="3982340" cy="3071552"/>
            </a:xfrm>
            <a:prstGeom prst="rect">
              <a:avLst/>
            </a:prstGeom>
          </p:spPr>
        </p:pic>
        <p:sp>
          <p:nvSpPr>
            <p:cNvPr id="10" name="Oval 9">
              <a:extLst>
                <a:ext uri="{FF2B5EF4-FFF2-40B4-BE49-F238E27FC236}">
                  <a16:creationId xmlns:a16="http://schemas.microsoft.com/office/drawing/2014/main" id="{4A38FBE3-4A7B-4244-9E74-F37366811424}"/>
                </a:ext>
              </a:extLst>
            </p:cNvPr>
            <p:cNvSpPr/>
            <p:nvPr/>
          </p:nvSpPr>
          <p:spPr>
            <a:xfrm>
              <a:off x="5212935" y="4972050"/>
              <a:ext cx="1956986" cy="82950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Box 10">
            <a:extLst>
              <a:ext uri="{FF2B5EF4-FFF2-40B4-BE49-F238E27FC236}">
                <a16:creationId xmlns:a16="http://schemas.microsoft.com/office/drawing/2014/main" id="{97B45435-1AF2-45CD-ABC1-EBEF01465F1D}"/>
              </a:ext>
            </a:extLst>
          </p:cNvPr>
          <p:cNvSpPr txBox="1"/>
          <p:nvPr/>
        </p:nvSpPr>
        <p:spPr>
          <a:xfrm>
            <a:off x="1727238" y="6406529"/>
            <a:ext cx="4581524" cy="400110"/>
          </a:xfrm>
          <a:prstGeom prst="rect">
            <a:avLst/>
          </a:prstGeom>
          <a:noFill/>
        </p:spPr>
        <p:txBody>
          <a:bodyPr wrap="square">
            <a:spAutoFit/>
          </a:bodyPr>
          <a:lstStyle/>
          <a:p>
            <a:r>
              <a:rPr lang="en-US" sz="2000" dirty="0"/>
              <a:t>https://ultraviewer.net/vi/download.html</a:t>
            </a:r>
          </a:p>
        </p:txBody>
      </p:sp>
      <p:pic>
        <p:nvPicPr>
          <p:cNvPr id="3" name="Picture 2">
            <a:extLst>
              <a:ext uri="{FF2B5EF4-FFF2-40B4-BE49-F238E27FC236}">
                <a16:creationId xmlns:a16="http://schemas.microsoft.com/office/drawing/2014/main" id="{1502BED8-A577-84FC-EB50-B11416DAFF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4266861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129158-237B-4518-9A97-4702548512FE}"/>
              </a:ext>
            </a:extLst>
          </p:cNvPr>
          <p:cNvSpPr txBox="1"/>
          <p:nvPr/>
        </p:nvSpPr>
        <p:spPr>
          <a:xfrm>
            <a:off x="1727238" y="1056449"/>
            <a:ext cx="8940762" cy="1200329"/>
          </a:xfrm>
          <a:prstGeom prst="rect">
            <a:avLst/>
          </a:prstGeom>
          <a:noFill/>
        </p:spPr>
        <p:txBody>
          <a:bodyPr wrap="square">
            <a:spAutoFit/>
          </a:bodyPr>
          <a:lstStyle/>
          <a:p>
            <a:r>
              <a:rPr lang="vi-VN" sz="2400" b="1" dirty="0">
                <a:solidFill>
                  <a:schemeClr val="accent1">
                    <a:lumMod val="50000"/>
                  </a:schemeClr>
                </a:solidFill>
                <a:latin typeface="Verdana" panose="020B0604030504040204" pitchFamily="34" charset="0"/>
              </a:rPr>
              <a:t>Thời lượng:</a:t>
            </a:r>
            <a:endParaRPr lang="vi-VN" sz="2400" dirty="0">
              <a:solidFill>
                <a:schemeClr val="accent1">
                  <a:lumMod val="50000"/>
                </a:schemeClr>
              </a:solidFill>
              <a:latin typeface="Verdana" panose="020B0604030504040204" pitchFamily="34" charset="0"/>
            </a:endParaRPr>
          </a:p>
          <a:p>
            <a:r>
              <a:rPr lang="vi-VN" sz="2400" dirty="0">
                <a:solidFill>
                  <a:schemeClr val="accent1">
                    <a:lumMod val="50000"/>
                  </a:schemeClr>
                </a:solidFill>
                <a:latin typeface="Verdana" panose="020B0604030504040204" pitchFamily="34" charset="0"/>
              </a:rPr>
              <a:t>Lý thuyết: </a:t>
            </a:r>
            <a:r>
              <a:rPr lang="en-US" sz="2400" dirty="0">
                <a:solidFill>
                  <a:schemeClr val="accent1">
                    <a:lumMod val="50000"/>
                  </a:schemeClr>
                </a:solidFill>
                <a:latin typeface="Verdana" panose="020B0604030504040204" pitchFamily="34" charset="0"/>
              </a:rPr>
              <a:t>30</a:t>
            </a:r>
            <a:r>
              <a:rPr lang="vi-VN" sz="2400" dirty="0">
                <a:solidFill>
                  <a:schemeClr val="accent1">
                    <a:lumMod val="50000"/>
                  </a:schemeClr>
                </a:solidFill>
                <a:latin typeface="Verdana" panose="020B0604030504040204" pitchFamily="34" charset="0"/>
              </a:rPr>
              <a:t> tiết</a:t>
            </a:r>
          </a:p>
          <a:p>
            <a:r>
              <a:rPr lang="vi-VN" sz="2400" dirty="0">
                <a:solidFill>
                  <a:schemeClr val="accent1">
                    <a:lumMod val="50000"/>
                  </a:schemeClr>
                </a:solidFill>
                <a:latin typeface="Verdana" panose="020B0604030504040204" pitchFamily="34" charset="0"/>
              </a:rPr>
              <a:t>Thực hành: </a:t>
            </a:r>
            <a:r>
              <a:rPr lang="en-US" sz="2400" dirty="0">
                <a:solidFill>
                  <a:schemeClr val="accent1">
                    <a:lumMod val="50000"/>
                  </a:schemeClr>
                </a:solidFill>
                <a:latin typeface="Verdana" panose="020B0604030504040204" pitchFamily="34" charset="0"/>
              </a:rPr>
              <a:t>0</a:t>
            </a:r>
            <a:r>
              <a:rPr lang="vi-VN" sz="2400" dirty="0">
                <a:solidFill>
                  <a:schemeClr val="accent1">
                    <a:lumMod val="50000"/>
                  </a:schemeClr>
                </a:solidFill>
                <a:latin typeface="Verdana" panose="020B0604030504040204" pitchFamily="34" charset="0"/>
              </a:rPr>
              <a:t> tiết</a:t>
            </a:r>
            <a:endParaRPr lang="en-US" sz="2000" dirty="0">
              <a:solidFill>
                <a:schemeClr val="accent1">
                  <a:lumMod val="50000"/>
                </a:schemeClr>
              </a:solidFill>
            </a:endParaRPr>
          </a:p>
        </p:txBody>
      </p:sp>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accent1">
                    <a:lumMod val="50000"/>
                  </a:schemeClr>
                </a:solidFill>
                <a:latin typeface="Verdana" panose="020B0604030504040204" pitchFamily="34" charset="0"/>
              </a:rPr>
              <a:t>5. </a:t>
            </a:r>
            <a:r>
              <a:rPr lang="en-US" sz="3600" b="1" dirty="0" err="1">
                <a:solidFill>
                  <a:schemeClr val="accent1">
                    <a:lumMod val="50000"/>
                  </a:schemeClr>
                </a:solidFill>
                <a:latin typeface="Verdana" panose="020B0604030504040204" pitchFamily="34" charset="0"/>
              </a:rPr>
              <a:t>Cấu</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trúc</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môn</a:t>
            </a:r>
            <a:r>
              <a:rPr lang="en-US" sz="3600" b="1" dirty="0">
                <a:solidFill>
                  <a:schemeClr val="accent1">
                    <a:lumMod val="50000"/>
                  </a:schemeClr>
                </a:solidFill>
                <a:latin typeface="Verdana" panose="020B0604030504040204" pitchFamily="34" charset="0"/>
              </a:rPr>
              <a:t> học</a:t>
            </a:r>
          </a:p>
        </p:txBody>
      </p:sp>
      <p:sp>
        <p:nvSpPr>
          <p:cNvPr id="8" name="TextBox 7">
            <a:extLst>
              <a:ext uri="{FF2B5EF4-FFF2-40B4-BE49-F238E27FC236}">
                <a16:creationId xmlns:a16="http://schemas.microsoft.com/office/drawing/2014/main" id="{98449CA2-5126-4B31-9ADB-D442D9FDEA58}"/>
              </a:ext>
            </a:extLst>
          </p:cNvPr>
          <p:cNvSpPr txBox="1"/>
          <p:nvPr/>
        </p:nvSpPr>
        <p:spPr>
          <a:xfrm>
            <a:off x="1828838" y="2386484"/>
            <a:ext cx="8371802" cy="3539430"/>
          </a:xfrm>
          <a:prstGeom prst="rect">
            <a:avLst/>
          </a:prstGeom>
          <a:noFill/>
        </p:spPr>
        <p:txBody>
          <a:bodyPr wrap="square">
            <a:spAutoFit/>
          </a:bodyPr>
          <a:lstStyle/>
          <a:p>
            <a:r>
              <a:rPr lang="vi-VN" sz="2400" b="1" dirty="0">
                <a:solidFill>
                  <a:schemeClr val="accent1">
                    <a:lumMod val="50000"/>
                  </a:schemeClr>
                </a:solidFill>
                <a:latin typeface="+mj-lt"/>
              </a:rPr>
              <a:t>Nội dung học lý thuyết:</a:t>
            </a:r>
          </a:p>
          <a:p>
            <a:pPr marL="342900" indent="-342900">
              <a:buFont typeface="Arial" panose="020B0604020202020204" pitchFamily="34" charset="0"/>
              <a:buChar char="•"/>
            </a:pPr>
            <a:r>
              <a:rPr lang="vi-VN" sz="2000" dirty="0">
                <a:solidFill>
                  <a:schemeClr val="accent1">
                    <a:lumMod val="50000"/>
                  </a:schemeClr>
                </a:solidFill>
                <a:latin typeface="+mj-lt"/>
              </a:rPr>
              <a:t>Giới thiệu chương trình học</a:t>
            </a:r>
          </a:p>
          <a:p>
            <a:pPr marL="342900" indent="-342900">
              <a:buFont typeface="Arial" panose="020B0604020202020204" pitchFamily="34" charset="0"/>
              <a:buChar char="•"/>
            </a:pPr>
            <a:r>
              <a:rPr lang="vi-VN" sz="2000" dirty="0">
                <a:solidFill>
                  <a:schemeClr val="accent1">
                    <a:lumMod val="50000"/>
                  </a:schemeClr>
                </a:solidFill>
                <a:latin typeface="+mj-lt"/>
              </a:rPr>
              <a:t>Chương 1. Tổng quan về hệ thống thông tin địa lý</a:t>
            </a:r>
            <a:endParaRPr lang="en-US" sz="2000" dirty="0">
              <a:solidFill>
                <a:schemeClr val="accent1">
                  <a:lumMod val="50000"/>
                </a:schemeClr>
              </a:solidFill>
              <a:latin typeface="+mj-lt"/>
            </a:endParaRPr>
          </a:p>
          <a:p>
            <a:pPr marL="342900" indent="-342900">
              <a:buFont typeface="Arial" panose="020B0604020202020204" pitchFamily="34" charset="0"/>
              <a:buChar char="•"/>
            </a:pPr>
            <a:r>
              <a:rPr lang="vi-VN" sz="2000" dirty="0">
                <a:solidFill>
                  <a:schemeClr val="accent1">
                    <a:lumMod val="50000"/>
                  </a:schemeClr>
                </a:solidFill>
                <a:latin typeface="+mj-lt"/>
              </a:rPr>
              <a:t>Chương 2. Cơ sở định vị đối tượng không gian</a:t>
            </a:r>
            <a:endParaRPr lang="en-US" sz="2000" dirty="0">
              <a:solidFill>
                <a:schemeClr val="accent1">
                  <a:lumMod val="50000"/>
                </a:schemeClr>
              </a:solidFill>
              <a:latin typeface="+mj-lt"/>
            </a:endParaRPr>
          </a:p>
          <a:p>
            <a:pPr marL="342900" indent="-342900">
              <a:buFont typeface="Arial" panose="020B0604020202020204" pitchFamily="34" charset="0"/>
              <a:buChar char="•"/>
            </a:pPr>
            <a:r>
              <a:rPr lang="vi-VN" sz="2000" dirty="0">
                <a:solidFill>
                  <a:schemeClr val="accent1">
                    <a:lumMod val="50000"/>
                  </a:schemeClr>
                </a:solidFill>
                <a:latin typeface="+mj-lt"/>
              </a:rPr>
              <a:t>Chương 3. Mô hình và cấu trúc dữ liệu không gian</a:t>
            </a:r>
            <a:endParaRPr lang="en-US" sz="2000" dirty="0">
              <a:solidFill>
                <a:schemeClr val="accent1">
                  <a:lumMod val="50000"/>
                </a:schemeClr>
              </a:solidFill>
              <a:latin typeface="+mj-lt"/>
            </a:endParaRPr>
          </a:p>
          <a:p>
            <a:pPr marL="342900" indent="-342900">
              <a:buFont typeface="Arial" panose="020B0604020202020204" pitchFamily="34" charset="0"/>
              <a:buChar char="•"/>
            </a:pPr>
            <a:r>
              <a:rPr lang="vi-VN" sz="2000" dirty="0">
                <a:solidFill>
                  <a:schemeClr val="accent1">
                    <a:lumMod val="50000"/>
                  </a:schemeClr>
                </a:solidFill>
                <a:latin typeface="+mj-lt"/>
              </a:rPr>
              <a:t>Chương 4. Mô hình dữ liệu thuộc tính</a:t>
            </a:r>
            <a:endParaRPr lang="en-US" sz="2000" dirty="0">
              <a:solidFill>
                <a:schemeClr val="accent1">
                  <a:lumMod val="50000"/>
                </a:schemeClr>
              </a:solidFill>
              <a:latin typeface="+mj-lt"/>
            </a:endParaRPr>
          </a:p>
          <a:p>
            <a:pPr marL="342900" indent="-342900">
              <a:buFont typeface="Arial" panose="020B0604020202020204" pitchFamily="34" charset="0"/>
              <a:buChar char="•"/>
            </a:pPr>
            <a:r>
              <a:rPr lang="vi-VN" sz="2000" dirty="0">
                <a:solidFill>
                  <a:schemeClr val="accent1">
                    <a:lumMod val="50000"/>
                  </a:schemeClr>
                </a:solidFill>
                <a:latin typeface="+mj-lt"/>
              </a:rPr>
              <a:t>Chương 5. Phân tích dữ liệu</a:t>
            </a:r>
            <a:endParaRPr lang="en-US" sz="2000" dirty="0">
              <a:solidFill>
                <a:schemeClr val="accent1">
                  <a:lumMod val="50000"/>
                </a:schemeClr>
              </a:solidFill>
              <a:latin typeface="+mj-lt"/>
            </a:endParaRPr>
          </a:p>
          <a:p>
            <a:pPr marL="342900" indent="-342900">
              <a:buFont typeface="Arial" panose="020B0604020202020204" pitchFamily="34" charset="0"/>
              <a:buChar char="•"/>
            </a:pPr>
            <a:endParaRPr lang="en-US" sz="2000" dirty="0">
              <a:solidFill>
                <a:schemeClr val="accent1">
                  <a:lumMod val="50000"/>
                </a:schemeClr>
              </a:solidFill>
              <a:latin typeface="+mj-lt"/>
            </a:endParaRPr>
          </a:p>
          <a:p>
            <a:r>
              <a:rPr lang="en-US" sz="2000" b="1" dirty="0" err="1">
                <a:solidFill>
                  <a:schemeClr val="accent1">
                    <a:lumMod val="50000"/>
                  </a:schemeClr>
                </a:solidFill>
                <a:latin typeface="Times New Roman" panose="02020603050405020304" pitchFamily="18" charset="0"/>
                <a:cs typeface="Times New Roman" panose="02020603050405020304" pitchFamily="18" charset="0"/>
              </a:rPr>
              <a:t>Nội</a:t>
            </a:r>
            <a:r>
              <a:rPr lang="en-US" sz="2000" b="1" dirty="0">
                <a:solidFill>
                  <a:schemeClr val="accent1">
                    <a:lumMod val="50000"/>
                  </a:schemeClr>
                </a:solidFill>
                <a:latin typeface="Times New Roman" panose="02020603050405020304" pitchFamily="18" charset="0"/>
                <a:cs typeface="Times New Roman" panose="02020603050405020304" pitchFamily="18" charset="0"/>
              </a:rPr>
              <a:t> dung </a:t>
            </a:r>
            <a:r>
              <a:rPr lang="en-US" sz="2000" b="1" dirty="0" err="1">
                <a:solidFill>
                  <a:schemeClr val="accent1">
                    <a:lumMod val="50000"/>
                  </a:schemeClr>
                </a:solidFill>
                <a:latin typeface="Times New Roman" panose="02020603050405020304" pitchFamily="18" charset="0"/>
                <a:cs typeface="Times New Roman" panose="02020603050405020304" pitchFamily="18" charset="0"/>
              </a:rPr>
              <a:t>thuyết</a:t>
            </a:r>
            <a:r>
              <a:rPr lang="en-US" sz="2000" b="1" dirty="0">
                <a:solidFill>
                  <a:schemeClr val="accent1">
                    <a:lumMod val="50000"/>
                  </a:schemeClr>
                </a:solidFill>
                <a:latin typeface="Times New Roman" panose="02020603050405020304" pitchFamily="18" charset="0"/>
                <a:cs typeface="Times New Roman" panose="02020603050405020304" pitchFamily="18" charset="0"/>
              </a:rPr>
              <a:t> </a:t>
            </a:r>
            <a:r>
              <a:rPr lang="en-US" sz="2000" b="1" dirty="0" err="1">
                <a:solidFill>
                  <a:schemeClr val="accent1">
                    <a:lumMod val="50000"/>
                  </a:schemeClr>
                </a:solidFill>
                <a:latin typeface="Times New Roman" panose="02020603050405020304" pitchFamily="18" charset="0"/>
                <a:cs typeface="Times New Roman" panose="02020603050405020304" pitchFamily="18" charset="0"/>
              </a:rPr>
              <a:t>trình</a:t>
            </a:r>
            <a:r>
              <a:rPr lang="en-US" sz="2000" b="1" dirty="0">
                <a:solidFill>
                  <a:schemeClr val="accent1">
                    <a:lumMod val="50000"/>
                  </a:schemeClr>
                </a:solidFill>
                <a:latin typeface="Times New Roman" panose="02020603050405020304" pitchFamily="18" charset="0"/>
                <a:cs typeface="Times New Roman" panose="02020603050405020304" pitchFamily="18" charset="0"/>
              </a:rPr>
              <a:t> </a:t>
            </a:r>
            <a:r>
              <a:rPr lang="en-US" sz="2000" b="1" dirty="0" err="1">
                <a:solidFill>
                  <a:schemeClr val="accent1">
                    <a:lumMod val="50000"/>
                  </a:schemeClr>
                </a:solidFill>
                <a:latin typeface="Times New Roman" panose="02020603050405020304" pitchFamily="18" charset="0"/>
                <a:cs typeface="Times New Roman" panose="02020603050405020304" pitchFamily="18" charset="0"/>
              </a:rPr>
              <a:t>theo</a:t>
            </a:r>
            <a:r>
              <a:rPr lang="en-US" sz="2000" b="1" dirty="0">
                <a:solidFill>
                  <a:schemeClr val="accent1">
                    <a:lumMod val="50000"/>
                  </a:schemeClr>
                </a:solidFill>
                <a:latin typeface="Times New Roman" panose="02020603050405020304" pitchFamily="18" charset="0"/>
                <a:cs typeface="Times New Roman" panose="02020603050405020304" pitchFamily="18" charset="0"/>
              </a:rPr>
              <a:t> </a:t>
            </a:r>
            <a:r>
              <a:rPr lang="en-US" sz="2000" b="1" dirty="0" err="1">
                <a:solidFill>
                  <a:schemeClr val="accent1">
                    <a:lumMod val="50000"/>
                  </a:schemeClr>
                </a:solidFill>
                <a:latin typeface="Times New Roman" panose="02020603050405020304" pitchFamily="18" charset="0"/>
                <a:cs typeface="Times New Roman" panose="02020603050405020304" pitchFamily="18" charset="0"/>
              </a:rPr>
              <a:t>nhóm</a:t>
            </a:r>
            <a:r>
              <a:rPr lang="en-US" sz="2000" b="1" dirty="0">
                <a:solidFill>
                  <a:schemeClr val="accent1">
                    <a:lumMod val="50000"/>
                  </a:schemeClr>
                </a:solidFill>
                <a:latin typeface="Times New Roman" panose="02020603050405020304" pitchFamily="18" charset="0"/>
                <a:cs typeface="Times New Roman" panose="02020603050405020304" pitchFamily="18" charset="0"/>
              </a:rPr>
              <a:t> </a:t>
            </a:r>
            <a:r>
              <a:rPr lang="en-US" sz="2000" b="1" dirty="0" err="1">
                <a:solidFill>
                  <a:schemeClr val="accent1">
                    <a:lumMod val="50000"/>
                  </a:schemeClr>
                </a:solidFill>
                <a:latin typeface="Times New Roman" panose="02020603050405020304" pitchFamily="18" charset="0"/>
                <a:cs typeface="Times New Roman" panose="02020603050405020304" pitchFamily="18" charset="0"/>
              </a:rPr>
              <a:t>giữa</a:t>
            </a:r>
            <a:r>
              <a:rPr lang="en-US" sz="2000" b="1" dirty="0">
                <a:solidFill>
                  <a:schemeClr val="accent1">
                    <a:lumMod val="50000"/>
                  </a:schemeClr>
                </a:solidFill>
                <a:latin typeface="Times New Roman" panose="02020603050405020304" pitchFamily="18" charset="0"/>
                <a:cs typeface="Times New Roman" panose="02020603050405020304" pitchFamily="18" charset="0"/>
              </a:rPr>
              <a:t> </a:t>
            </a:r>
            <a:r>
              <a:rPr lang="en-US" sz="2000" b="1" dirty="0" err="1">
                <a:solidFill>
                  <a:schemeClr val="accent1">
                    <a:lumMod val="50000"/>
                  </a:schemeClr>
                </a:solidFill>
                <a:latin typeface="Times New Roman" panose="02020603050405020304" pitchFamily="18" charset="0"/>
                <a:cs typeface="Times New Roman" panose="02020603050405020304" pitchFamily="18" charset="0"/>
              </a:rPr>
              <a:t>ky</a:t>
            </a:r>
            <a:r>
              <a:rPr lang="en-US" sz="2000" b="1" dirty="0">
                <a:solidFill>
                  <a:schemeClr val="accent1">
                    <a:lumMod val="5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vi-VN" sz="2000" dirty="0">
                <a:solidFill>
                  <a:schemeClr val="accent1">
                    <a:lumMod val="50000"/>
                  </a:schemeClr>
                </a:solidFill>
                <a:latin typeface="Times New Roman" panose="02020603050405020304" pitchFamily="18" charset="0"/>
                <a:cs typeface="Times New Roman" panose="02020603050405020304" pitchFamily="18" charset="0"/>
              </a:rPr>
              <a:t>Báo cáo seminar về tìm hiểu tổng quan các ứng dụng của GIS trong quản lý tài nguyên môi trường</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hoặc</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chuyên</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ngành</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liên</a:t>
            </a:r>
            <a:r>
              <a:rPr lang="en-US" sz="2000" dirty="0">
                <a:solidFill>
                  <a:schemeClr val="accent1">
                    <a:lumMod val="50000"/>
                  </a:schemeClr>
                </a:solidFill>
                <a:latin typeface="Times New Roman" panose="02020603050405020304" pitchFamily="18" charset="0"/>
                <a:cs typeface="Times New Roman" panose="02020603050405020304" pitchFamily="18" charset="0"/>
              </a:rPr>
              <a:t>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quan</a:t>
            </a:r>
            <a:r>
              <a:rPr lang="en-US" sz="2000" dirty="0">
                <a:solidFill>
                  <a:schemeClr val="accent1">
                    <a:lumMod val="50000"/>
                  </a:schemeClr>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DF7B1398-957D-EAE0-B3D7-69517E43A9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3952707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accent1">
                    <a:lumMod val="50000"/>
                  </a:schemeClr>
                </a:solidFill>
                <a:latin typeface="Verdana" panose="020B0604030504040204" pitchFamily="34" charset="0"/>
              </a:rPr>
              <a:t>6. </a:t>
            </a:r>
            <a:r>
              <a:rPr lang="en-US" sz="3600" b="1" dirty="0" err="1">
                <a:solidFill>
                  <a:schemeClr val="accent1">
                    <a:lumMod val="50000"/>
                  </a:schemeClr>
                </a:solidFill>
                <a:latin typeface="Verdana" panose="020B0604030504040204" pitchFamily="34" charset="0"/>
              </a:rPr>
              <a:t>Đánh</a:t>
            </a:r>
            <a:r>
              <a:rPr lang="en-US" sz="3600" b="1" dirty="0">
                <a:solidFill>
                  <a:schemeClr val="accent1">
                    <a:lumMod val="50000"/>
                  </a:schemeClr>
                </a:solidFill>
                <a:latin typeface="Verdana" panose="020B0604030504040204" pitchFamily="34" charset="0"/>
              </a:rPr>
              <a:t> giá </a:t>
            </a:r>
            <a:r>
              <a:rPr lang="en-US" sz="3600" b="1" dirty="0" err="1">
                <a:solidFill>
                  <a:schemeClr val="accent1">
                    <a:lumMod val="50000"/>
                  </a:schemeClr>
                </a:solidFill>
                <a:latin typeface="Verdana" panose="020B0604030504040204" pitchFamily="34" charset="0"/>
              </a:rPr>
              <a:t>kết</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quả</a:t>
            </a:r>
            <a:endParaRPr lang="en-US" sz="3600" b="1" dirty="0">
              <a:solidFill>
                <a:schemeClr val="accent1">
                  <a:lumMod val="50000"/>
                </a:schemeClr>
              </a:solidFill>
              <a:latin typeface="Verdana" panose="020B0604030504040204" pitchFamily="34" charset="0"/>
            </a:endParaRPr>
          </a:p>
        </p:txBody>
      </p:sp>
      <p:sp>
        <p:nvSpPr>
          <p:cNvPr id="8" name="TextBox 7">
            <a:extLst>
              <a:ext uri="{FF2B5EF4-FFF2-40B4-BE49-F238E27FC236}">
                <a16:creationId xmlns:a16="http://schemas.microsoft.com/office/drawing/2014/main" id="{98449CA2-5126-4B31-9ADB-D442D9FDEA58}"/>
              </a:ext>
            </a:extLst>
          </p:cNvPr>
          <p:cNvSpPr txBox="1"/>
          <p:nvPr/>
        </p:nvSpPr>
        <p:spPr>
          <a:xfrm>
            <a:off x="1727238" y="988647"/>
            <a:ext cx="8534362" cy="5632311"/>
          </a:xfrm>
          <a:prstGeom prst="rect">
            <a:avLst/>
          </a:prstGeom>
          <a:noFill/>
        </p:spPr>
        <p:txBody>
          <a:bodyPr wrap="square">
            <a:spAutoFit/>
          </a:bodyPr>
          <a:lstStyle/>
          <a:p>
            <a:r>
              <a:rPr lang="vi-VN" sz="2400" b="1" dirty="0">
                <a:solidFill>
                  <a:schemeClr val="accent1">
                    <a:lumMod val="50000"/>
                  </a:schemeClr>
                </a:solidFill>
                <a:latin typeface="Arial (Body)"/>
              </a:rPr>
              <a:t>Môn học có 3 cột điểm đánh giá:</a:t>
            </a:r>
          </a:p>
          <a:p>
            <a:r>
              <a:rPr lang="vi-VN" sz="2400" b="1" dirty="0">
                <a:solidFill>
                  <a:schemeClr val="accent1">
                    <a:lumMod val="50000"/>
                  </a:schemeClr>
                </a:solidFill>
                <a:latin typeface="Arial (Body)"/>
              </a:rPr>
              <a:t>Điểm quá trình: 2</a:t>
            </a:r>
            <a:r>
              <a:rPr lang="en-US" sz="2400" b="1" dirty="0">
                <a:solidFill>
                  <a:schemeClr val="accent1">
                    <a:lumMod val="50000"/>
                  </a:schemeClr>
                </a:solidFill>
                <a:latin typeface="Arial (Body)"/>
              </a:rPr>
              <a:t>5</a:t>
            </a:r>
            <a:r>
              <a:rPr lang="vi-VN" sz="2400" b="1" dirty="0">
                <a:solidFill>
                  <a:schemeClr val="accent1">
                    <a:lumMod val="50000"/>
                  </a:schemeClr>
                </a:solidFill>
                <a:latin typeface="Arial (Body)"/>
              </a:rPr>
              <a:t>%</a:t>
            </a:r>
            <a:endParaRPr lang="en-US" sz="2400" b="1" dirty="0">
              <a:solidFill>
                <a:schemeClr val="accent1">
                  <a:lumMod val="50000"/>
                </a:schemeClr>
              </a:solidFill>
              <a:latin typeface="Arial (Body)"/>
            </a:endParaRPr>
          </a:p>
          <a:p>
            <a:pPr marL="342900" indent="-342900">
              <a:buFont typeface="Arial" panose="020B0604020202020204" pitchFamily="34" charset="0"/>
              <a:buChar char="•"/>
            </a:pPr>
            <a:r>
              <a:rPr lang="en-US" sz="2400" dirty="0" err="1">
                <a:solidFill>
                  <a:schemeClr val="accent1">
                    <a:lumMod val="50000"/>
                  </a:schemeClr>
                </a:solidFill>
                <a:latin typeface="Arial (Body)"/>
              </a:rPr>
              <a:t>Tham</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dự</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lớp</a:t>
            </a:r>
            <a:r>
              <a:rPr lang="en-US" sz="2400" dirty="0">
                <a:solidFill>
                  <a:schemeClr val="accent1">
                    <a:lumMod val="50000"/>
                  </a:schemeClr>
                </a:solidFill>
                <a:latin typeface="Arial (Body)"/>
              </a:rPr>
              <a:t> (10%)</a:t>
            </a:r>
          </a:p>
          <a:p>
            <a:pPr marL="342900" indent="-342900">
              <a:buFont typeface="Arial" panose="020B0604020202020204" pitchFamily="34" charset="0"/>
              <a:buChar char="•"/>
            </a:pPr>
            <a:r>
              <a:rPr lang="vi-VN" sz="2400" dirty="0">
                <a:solidFill>
                  <a:schemeClr val="accent1">
                    <a:lumMod val="50000"/>
                  </a:schemeClr>
                </a:solidFill>
                <a:latin typeface="Arial (Body)"/>
              </a:rPr>
              <a:t>Tham gia các </a:t>
            </a:r>
            <a:r>
              <a:rPr lang="en-US" sz="2400" dirty="0" err="1">
                <a:solidFill>
                  <a:schemeClr val="accent1">
                    <a:lumMod val="50000"/>
                  </a:schemeClr>
                </a:solidFill>
                <a:latin typeface="Arial (Body)"/>
              </a:rPr>
              <a:t>bài</a:t>
            </a:r>
            <a:r>
              <a:rPr lang="en-US" sz="2400" dirty="0">
                <a:solidFill>
                  <a:schemeClr val="accent1">
                    <a:lumMod val="50000"/>
                  </a:schemeClr>
                </a:solidFill>
                <a:latin typeface="Arial (Body)"/>
              </a:rPr>
              <a:t> tập </a:t>
            </a:r>
            <a:r>
              <a:rPr lang="en-US" sz="2400" dirty="0" err="1">
                <a:solidFill>
                  <a:schemeClr val="accent1">
                    <a:lumMod val="50000"/>
                  </a:schemeClr>
                </a:solidFill>
                <a:latin typeface="Arial (Body)"/>
              </a:rPr>
              <a:t>nhỏ</a:t>
            </a:r>
            <a:r>
              <a:rPr lang="en-US" sz="2400" dirty="0">
                <a:solidFill>
                  <a:schemeClr val="accent1">
                    <a:lumMod val="50000"/>
                  </a:schemeClr>
                </a:solidFill>
                <a:latin typeface="Arial (Body)"/>
              </a:rPr>
              <a:t> </a:t>
            </a:r>
            <a:r>
              <a:rPr lang="vi-VN" sz="2400" dirty="0">
                <a:solidFill>
                  <a:schemeClr val="accent1">
                    <a:lumMod val="50000"/>
                  </a:schemeClr>
                </a:solidFill>
                <a:latin typeface="Arial (Body)"/>
              </a:rPr>
              <a:t>và </a:t>
            </a:r>
            <a:r>
              <a:rPr lang="en-US" sz="2400" dirty="0" err="1">
                <a:solidFill>
                  <a:schemeClr val="accent1">
                    <a:lumMod val="50000"/>
                  </a:schemeClr>
                </a:solidFill>
                <a:latin typeface="Arial (Body)"/>
              </a:rPr>
              <a:t>bài</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tập</a:t>
            </a:r>
            <a:r>
              <a:rPr lang="en-US" sz="2400" dirty="0">
                <a:solidFill>
                  <a:schemeClr val="accent1">
                    <a:lumMod val="50000"/>
                  </a:schemeClr>
                </a:solidFill>
                <a:latin typeface="Arial (Body)"/>
              </a:rPr>
              <a:t> </a:t>
            </a:r>
            <a:r>
              <a:rPr lang="vi-VN" sz="2400" dirty="0">
                <a:solidFill>
                  <a:schemeClr val="accent1">
                    <a:lumMod val="50000"/>
                  </a:schemeClr>
                </a:solidFill>
                <a:latin typeface="Arial (Body)"/>
              </a:rPr>
              <a:t>về nhà</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đúng</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hạn</a:t>
            </a:r>
            <a:r>
              <a:rPr lang="en-US" sz="2400" dirty="0">
                <a:solidFill>
                  <a:schemeClr val="accent1">
                    <a:lumMod val="50000"/>
                  </a:schemeClr>
                </a:solidFill>
                <a:latin typeface="Arial (Body)"/>
              </a:rPr>
              <a:t> (15%)</a:t>
            </a:r>
            <a:endParaRPr lang="vi-VN" sz="2400" dirty="0">
              <a:solidFill>
                <a:schemeClr val="accent1">
                  <a:lumMod val="50000"/>
                </a:schemeClr>
              </a:solidFill>
              <a:latin typeface="Arial (Body)"/>
            </a:endParaRPr>
          </a:p>
          <a:p>
            <a:endParaRPr lang="en-US" sz="2400" b="1" dirty="0">
              <a:solidFill>
                <a:schemeClr val="accent1">
                  <a:lumMod val="50000"/>
                </a:schemeClr>
              </a:solidFill>
              <a:latin typeface="Arial (Body)"/>
            </a:endParaRPr>
          </a:p>
          <a:p>
            <a:r>
              <a:rPr lang="vi-VN" sz="2400" b="1" dirty="0">
                <a:solidFill>
                  <a:schemeClr val="accent1">
                    <a:lumMod val="50000"/>
                  </a:schemeClr>
                </a:solidFill>
                <a:latin typeface="Arial (Body)"/>
              </a:rPr>
              <a:t>Kiểm tra giữa kì: 2</a:t>
            </a:r>
            <a:r>
              <a:rPr lang="en-US" sz="2400" b="1" dirty="0">
                <a:solidFill>
                  <a:schemeClr val="accent1">
                    <a:lumMod val="50000"/>
                  </a:schemeClr>
                </a:solidFill>
                <a:latin typeface="Arial (Body)"/>
              </a:rPr>
              <a:t>5</a:t>
            </a:r>
            <a:r>
              <a:rPr lang="vi-VN" sz="2400" b="1" dirty="0">
                <a:solidFill>
                  <a:schemeClr val="accent1">
                    <a:lumMod val="50000"/>
                  </a:schemeClr>
                </a:solidFill>
                <a:latin typeface="Arial (Body)"/>
              </a:rPr>
              <a:t>%</a:t>
            </a:r>
            <a:endParaRPr lang="en-US" sz="2400" b="1" dirty="0">
              <a:solidFill>
                <a:schemeClr val="accent1">
                  <a:lumMod val="50000"/>
                </a:schemeClr>
              </a:solidFill>
              <a:latin typeface="Arial (Body)"/>
            </a:endParaRPr>
          </a:p>
          <a:p>
            <a:pPr marL="342900" indent="-342900">
              <a:buFont typeface="Arial" panose="020B0604020202020204" pitchFamily="34" charset="0"/>
              <a:buChar char="•"/>
            </a:pPr>
            <a:r>
              <a:rPr lang="en-US" sz="2400" dirty="0" err="1">
                <a:solidFill>
                  <a:schemeClr val="accent1">
                    <a:lumMod val="50000"/>
                  </a:schemeClr>
                </a:solidFill>
                <a:latin typeface="Arial (Body)"/>
              </a:rPr>
              <a:t>Thuyết</a:t>
            </a:r>
            <a:r>
              <a:rPr lang="en-US" sz="2400" dirty="0">
                <a:solidFill>
                  <a:schemeClr val="accent1">
                    <a:lumMod val="50000"/>
                  </a:schemeClr>
                </a:solidFill>
                <a:latin typeface="Arial (Body)"/>
              </a:rPr>
              <a:t> trình </a:t>
            </a:r>
            <a:r>
              <a:rPr lang="en-US" sz="2400" dirty="0" err="1">
                <a:solidFill>
                  <a:schemeClr val="accent1">
                    <a:lumMod val="50000"/>
                  </a:schemeClr>
                </a:solidFill>
                <a:latin typeface="Arial (Body)"/>
              </a:rPr>
              <a:t>theo</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nhóm</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Ứng</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dụng</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của</a:t>
            </a:r>
            <a:r>
              <a:rPr lang="en-US" sz="2400" dirty="0">
                <a:solidFill>
                  <a:schemeClr val="accent1">
                    <a:lumMod val="50000"/>
                  </a:schemeClr>
                </a:solidFill>
                <a:latin typeface="Arial (Body)"/>
              </a:rPr>
              <a:t> GIS trong </a:t>
            </a:r>
            <a:r>
              <a:rPr lang="en-US" sz="2400" dirty="0" err="1">
                <a:solidFill>
                  <a:schemeClr val="accent1">
                    <a:lumMod val="50000"/>
                  </a:schemeClr>
                </a:solidFill>
                <a:latin typeface="Arial (Body)"/>
              </a:rPr>
              <a:t>quản</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ly</a:t>
            </a:r>
            <a:r>
              <a:rPr lang="en-US" sz="2400" dirty="0">
                <a:solidFill>
                  <a:schemeClr val="accent1">
                    <a:lumMod val="50000"/>
                  </a:schemeClr>
                </a:solidFill>
                <a:latin typeface="Arial (Body)"/>
              </a:rPr>
              <a:t>́ </a:t>
            </a:r>
            <a:r>
              <a:rPr lang="en-US" sz="2400" dirty="0" err="1">
                <a:solidFill>
                  <a:schemeClr val="accent1">
                    <a:lumMod val="50000"/>
                  </a:schemeClr>
                </a:solidFill>
                <a:latin typeface="Arial (Body)"/>
              </a:rPr>
              <a:t>tài</a:t>
            </a:r>
            <a:r>
              <a:rPr lang="en-US" sz="2400" dirty="0">
                <a:solidFill>
                  <a:schemeClr val="accent1">
                    <a:lumMod val="50000"/>
                  </a:schemeClr>
                </a:solidFill>
                <a:latin typeface="Arial (Body)"/>
              </a:rPr>
              <a:t> nguyên môi </a:t>
            </a:r>
            <a:r>
              <a:rPr lang="en-US" sz="2400" dirty="0" err="1">
                <a:solidFill>
                  <a:schemeClr val="accent1">
                    <a:lumMod val="50000"/>
                  </a:schemeClr>
                </a:solidFill>
                <a:latin typeface="Arial (Body)"/>
              </a:rPr>
              <a:t>trường</a:t>
            </a:r>
            <a:endParaRPr lang="en-US" sz="2400" dirty="0">
              <a:solidFill>
                <a:schemeClr val="accent1">
                  <a:lumMod val="50000"/>
                </a:schemeClr>
              </a:solidFill>
              <a:latin typeface="Arial (Body)"/>
            </a:endParaRPr>
          </a:p>
          <a:p>
            <a:endParaRPr lang="vi-VN" sz="2400" b="1" dirty="0">
              <a:solidFill>
                <a:schemeClr val="accent1">
                  <a:lumMod val="50000"/>
                </a:schemeClr>
              </a:solidFill>
              <a:latin typeface="Arial (Body)"/>
            </a:endParaRPr>
          </a:p>
          <a:p>
            <a:r>
              <a:rPr lang="vi-VN" sz="2400" b="1" dirty="0">
                <a:solidFill>
                  <a:schemeClr val="accent1">
                    <a:lumMod val="50000"/>
                  </a:schemeClr>
                </a:solidFill>
                <a:latin typeface="Arial (Body)"/>
              </a:rPr>
              <a:t>Đánh giá kết thúc học phần: </a:t>
            </a:r>
            <a:r>
              <a:rPr lang="en-US" sz="2400" b="1" dirty="0">
                <a:solidFill>
                  <a:schemeClr val="accent1">
                    <a:lumMod val="50000"/>
                  </a:schemeClr>
                </a:solidFill>
                <a:latin typeface="Arial (Body)"/>
              </a:rPr>
              <a:t>5</a:t>
            </a:r>
            <a:r>
              <a:rPr lang="vi-VN" sz="2400" b="1" dirty="0">
                <a:solidFill>
                  <a:schemeClr val="accent1">
                    <a:lumMod val="50000"/>
                  </a:schemeClr>
                </a:solidFill>
                <a:latin typeface="Arial (Body)"/>
              </a:rPr>
              <a:t>0%</a:t>
            </a:r>
            <a:endParaRPr lang="en-US" sz="2400" b="1" dirty="0">
              <a:solidFill>
                <a:schemeClr val="accent1">
                  <a:lumMod val="50000"/>
                </a:schemeClr>
              </a:solidFill>
              <a:latin typeface="Arial (Body)"/>
            </a:endParaRPr>
          </a:p>
          <a:p>
            <a:pPr marL="342900" indent="-342900">
              <a:buFont typeface="Arial" panose="020B0604020202020204" pitchFamily="34" charset="0"/>
              <a:buChar char="•"/>
            </a:pPr>
            <a:r>
              <a:rPr lang="pt-BR" sz="2400" dirty="0">
                <a:solidFill>
                  <a:schemeClr val="accent1">
                    <a:lumMod val="50000"/>
                  </a:schemeClr>
                </a:solidFill>
                <a:latin typeface="Arial (Body)"/>
              </a:rPr>
              <a:t>Trắc nghiệm</a:t>
            </a:r>
          </a:p>
          <a:p>
            <a:endParaRPr lang="vi-VN" sz="2400" b="1" dirty="0">
              <a:solidFill>
                <a:schemeClr val="accent1">
                  <a:lumMod val="50000"/>
                </a:schemeClr>
              </a:solidFill>
              <a:latin typeface="Arial (Body)"/>
            </a:endParaRPr>
          </a:p>
          <a:p>
            <a:r>
              <a:rPr lang="vi-VN" sz="2400" b="1" dirty="0">
                <a:solidFill>
                  <a:schemeClr val="accent1">
                    <a:lumMod val="50000"/>
                  </a:schemeClr>
                </a:solidFill>
                <a:latin typeface="Arial (Body)"/>
              </a:rPr>
              <a:t>Điểm tổng kết = </a:t>
            </a:r>
            <a:r>
              <a:rPr lang="vi-VN" sz="2400" dirty="0">
                <a:solidFill>
                  <a:schemeClr val="accent1">
                    <a:lumMod val="50000"/>
                  </a:schemeClr>
                </a:solidFill>
                <a:latin typeface="Arial (Body)"/>
              </a:rPr>
              <a:t>Điểm quá trình + Điểm giữa kì + Đánh giá kết thúc học phần</a:t>
            </a:r>
            <a:r>
              <a:rPr lang="en-US" sz="2400" dirty="0">
                <a:solidFill>
                  <a:schemeClr val="accent1">
                    <a:lumMod val="50000"/>
                  </a:schemeClr>
                </a:solidFill>
                <a:latin typeface="Arial (Body)"/>
              </a:rPr>
              <a:t> </a:t>
            </a:r>
            <a:r>
              <a:rPr lang="vi-VN" sz="2400" dirty="0">
                <a:solidFill>
                  <a:schemeClr val="accent1">
                    <a:lumMod val="50000"/>
                  </a:schemeClr>
                </a:solidFill>
                <a:latin typeface="Arial (Body)"/>
              </a:rPr>
              <a:t>+ Điểm cộng (nếu có)</a:t>
            </a:r>
          </a:p>
        </p:txBody>
      </p:sp>
      <p:pic>
        <p:nvPicPr>
          <p:cNvPr id="3" name="Picture 2">
            <a:extLst>
              <a:ext uri="{FF2B5EF4-FFF2-40B4-BE49-F238E27FC236}">
                <a16:creationId xmlns:a16="http://schemas.microsoft.com/office/drawing/2014/main" id="{725BF3D4-A6E7-ADB8-C6E5-88C11A2EBF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2401814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sz="1200">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6"/>
            <a:ext cx="6804263" cy="523220"/>
          </a:xfrm>
          <a:prstGeom prst="rect">
            <a:avLst/>
          </a:prstGeom>
          <a:noFill/>
          <a:ln w="9525" algn="ctr">
            <a:noFill/>
            <a:miter lim="800000"/>
            <a:headEnd/>
            <a:tailEnd/>
          </a:ln>
          <a:effectLst/>
        </p:spPr>
        <p:txBody>
          <a:bodyPr wrap="square">
            <a:spAutoFit/>
          </a:bodyPr>
          <a:lstStyle/>
          <a:p>
            <a:pPr algn="ctr"/>
            <a:r>
              <a:rPr lang="en-US" sz="2800" b="1" dirty="0">
                <a:solidFill>
                  <a:schemeClr val="accent1">
                    <a:lumMod val="50000"/>
                  </a:schemeClr>
                </a:solidFill>
                <a:latin typeface="Verdana" panose="020B0604030504040204" pitchFamily="34" charset="0"/>
              </a:rPr>
              <a:t>7. </a:t>
            </a:r>
            <a:r>
              <a:rPr lang="en-US" sz="2800" b="1" dirty="0" err="1">
                <a:solidFill>
                  <a:schemeClr val="accent1">
                    <a:lumMod val="50000"/>
                  </a:schemeClr>
                </a:solidFill>
                <a:latin typeface="Verdana" panose="020B0604030504040204" pitchFamily="34" charset="0"/>
              </a:rPr>
              <a:t>Sách</a:t>
            </a:r>
            <a:r>
              <a:rPr lang="en-US" sz="2800" b="1" dirty="0">
                <a:solidFill>
                  <a:schemeClr val="accent1">
                    <a:lumMod val="50000"/>
                  </a:schemeClr>
                </a:solidFill>
                <a:latin typeface="Verdana" panose="020B0604030504040204" pitchFamily="34" charset="0"/>
              </a:rPr>
              <a:t> </a:t>
            </a:r>
            <a:r>
              <a:rPr lang="en-US" sz="2800" b="1" dirty="0" err="1">
                <a:solidFill>
                  <a:schemeClr val="accent1">
                    <a:lumMod val="50000"/>
                  </a:schemeClr>
                </a:solidFill>
                <a:latin typeface="Verdana" panose="020B0604030504040204" pitchFamily="34" charset="0"/>
              </a:rPr>
              <a:t>tham</a:t>
            </a:r>
            <a:r>
              <a:rPr lang="en-US" sz="2800" b="1" dirty="0">
                <a:solidFill>
                  <a:schemeClr val="accent1">
                    <a:lumMod val="50000"/>
                  </a:schemeClr>
                </a:solidFill>
                <a:latin typeface="Verdana" panose="020B0604030504040204" pitchFamily="34" charset="0"/>
              </a:rPr>
              <a:t> </a:t>
            </a:r>
            <a:r>
              <a:rPr lang="en-US" sz="2800" b="1" dirty="0" err="1">
                <a:solidFill>
                  <a:schemeClr val="accent1">
                    <a:lumMod val="50000"/>
                  </a:schemeClr>
                </a:solidFill>
                <a:latin typeface="Verdana" panose="020B0604030504040204" pitchFamily="34" charset="0"/>
              </a:rPr>
              <a:t>khảo</a:t>
            </a:r>
            <a:endParaRPr lang="en-US" sz="2800" b="1" dirty="0">
              <a:solidFill>
                <a:schemeClr val="accent1">
                  <a:lumMod val="50000"/>
                </a:schemeClr>
              </a:solidFill>
              <a:latin typeface="Verdana" panose="020B0604030504040204" pitchFamily="34" charset="0"/>
            </a:endParaRPr>
          </a:p>
        </p:txBody>
      </p:sp>
      <p:pic>
        <p:nvPicPr>
          <p:cNvPr id="5" name="Picture 4">
            <a:extLst>
              <a:ext uri="{FF2B5EF4-FFF2-40B4-BE49-F238E27FC236}">
                <a16:creationId xmlns:a16="http://schemas.microsoft.com/office/drawing/2014/main" id="{013817FB-CF88-3F16-18DF-66FABC457D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1070505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5">
            <a:extLst>
              <a:ext uri="{FF2B5EF4-FFF2-40B4-BE49-F238E27FC236}">
                <a16:creationId xmlns:a16="http://schemas.microsoft.com/office/drawing/2014/main" id="{A35F36F9-461B-4BBC-A67C-9D10A01A4AA6}"/>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E10B6389-7549-4C93-8939-C4DB9AC6146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accent1">
                    <a:lumMod val="50000"/>
                  </a:schemeClr>
                </a:solidFill>
                <a:latin typeface="Verdana" panose="020B0604030504040204" pitchFamily="34" charset="0"/>
              </a:rPr>
              <a:t>7. </a:t>
            </a:r>
            <a:r>
              <a:rPr lang="en-US" sz="3600" b="1" dirty="0" err="1">
                <a:solidFill>
                  <a:schemeClr val="accent1">
                    <a:lumMod val="50000"/>
                  </a:schemeClr>
                </a:solidFill>
                <a:latin typeface="Verdana" panose="020B0604030504040204" pitchFamily="34" charset="0"/>
              </a:rPr>
              <a:t>Sách</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tham</a:t>
            </a:r>
            <a:r>
              <a:rPr lang="en-US" sz="3600" b="1" dirty="0">
                <a:solidFill>
                  <a:schemeClr val="accent1">
                    <a:lumMod val="50000"/>
                  </a:schemeClr>
                </a:solidFill>
                <a:latin typeface="Verdana" panose="020B0604030504040204" pitchFamily="34" charset="0"/>
              </a:rPr>
              <a:t> </a:t>
            </a:r>
            <a:r>
              <a:rPr lang="en-US" sz="3600" b="1" dirty="0" err="1">
                <a:solidFill>
                  <a:schemeClr val="accent1">
                    <a:lumMod val="50000"/>
                  </a:schemeClr>
                </a:solidFill>
                <a:latin typeface="Verdana" panose="020B0604030504040204" pitchFamily="34" charset="0"/>
              </a:rPr>
              <a:t>khảo</a:t>
            </a:r>
            <a:endParaRPr lang="en-US" sz="3600" b="1" dirty="0">
              <a:solidFill>
                <a:schemeClr val="accent1">
                  <a:lumMod val="50000"/>
                </a:schemeClr>
              </a:solidFill>
              <a:latin typeface="Verdana" panose="020B0604030504040204" pitchFamily="34" charset="0"/>
            </a:endParaRPr>
          </a:p>
        </p:txBody>
      </p:sp>
      <p:pic>
        <p:nvPicPr>
          <p:cNvPr id="3" name="Picture 2">
            <a:extLst>
              <a:ext uri="{FF2B5EF4-FFF2-40B4-BE49-F238E27FC236}">
                <a16:creationId xmlns:a16="http://schemas.microsoft.com/office/drawing/2014/main" id="{EECD926E-BA5B-248E-4F30-88A22279F9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1905284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129158-237B-4518-9A97-4702548512FE}"/>
              </a:ext>
            </a:extLst>
          </p:cNvPr>
          <p:cNvSpPr txBox="1"/>
          <p:nvPr/>
        </p:nvSpPr>
        <p:spPr>
          <a:xfrm>
            <a:off x="4560489" y="1084116"/>
            <a:ext cx="6650579" cy="461665"/>
          </a:xfrm>
          <a:prstGeom prst="rect">
            <a:avLst/>
          </a:prstGeom>
          <a:noFill/>
        </p:spPr>
        <p:txBody>
          <a:bodyPr wrap="square">
            <a:spAutoFit/>
          </a:bodyPr>
          <a:lstStyle/>
          <a:p>
            <a:r>
              <a:rPr lang="en-US" sz="2400" b="1" dirty="0" err="1">
                <a:solidFill>
                  <a:schemeClr val="accent1">
                    <a:lumMod val="50000"/>
                  </a:schemeClr>
                </a:solidFill>
                <a:latin typeface="Verdana" panose="020B0604030504040204" pitchFamily="34" charset="0"/>
              </a:rPr>
              <a:t>Nguyễn</a:t>
            </a:r>
            <a:r>
              <a:rPr lang="en-US" sz="2400" b="1" dirty="0">
                <a:solidFill>
                  <a:schemeClr val="accent1">
                    <a:lumMod val="50000"/>
                  </a:schemeClr>
                </a:solidFill>
                <a:latin typeface="Verdana" panose="020B0604030504040204" pitchFamily="34" charset="0"/>
              </a:rPr>
              <a:t> Lê </a:t>
            </a:r>
            <a:r>
              <a:rPr lang="en-US" sz="2400" b="1" dirty="0" err="1">
                <a:solidFill>
                  <a:schemeClr val="accent1">
                    <a:lumMod val="50000"/>
                  </a:schemeClr>
                </a:solidFill>
                <a:latin typeface="Verdana" panose="020B0604030504040204" pitchFamily="34" charset="0"/>
              </a:rPr>
              <a:t>Tấn</a:t>
            </a:r>
            <a:r>
              <a:rPr lang="en-US" sz="2400" b="1" dirty="0">
                <a:solidFill>
                  <a:schemeClr val="accent1">
                    <a:lumMod val="50000"/>
                  </a:schemeClr>
                </a:solidFill>
                <a:latin typeface="Verdana" panose="020B0604030504040204" pitchFamily="34" charset="0"/>
              </a:rPr>
              <a:t> </a:t>
            </a:r>
            <a:r>
              <a:rPr lang="en-US" sz="2400" b="1" dirty="0" err="1">
                <a:solidFill>
                  <a:schemeClr val="accent1">
                    <a:lumMod val="50000"/>
                  </a:schemeClr>
                </a:solidFill>
                <a:latin typeface="Verdana" panose="020B0604030504040204" pitchFamily="34" charset="0"/>
              </a:rPr>
              <a:t>Đạt</a:t>
            </a:r>
            <a:endParaRPr lang="en-US" sz="2000" dirty="0">
              <a:solidFill>
                <a:schemeClr val="accent1">
                  <a:lumMod val="50000"/>
                </a:schemeClr>
              </a:solidFill>
            </a:endParaRPr>
          </a:p>
        </p:txBody>
      </p:sp>
      <p:sp>
        <p:nvSpPr>
          <p:cNvPr id="6" name="AutoShape 5">
            <a:extLst>
              <a:ext uri="{FF2B5EF4-FFF2-40B4-BE49-F238E27FC236}">
                <a16:creationId xmlns:a16="http://schemas.microsoft.com/office/drawing/2014/main" id="{4675EF82-D28B-4FD0-B51E-53563E73D7F1}"/>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7" name="Rectangle 10">
            <a:extLst>
              <a:ext uri="{FF2B5EF4-FFF2-40B4-BE49-F238E27FC236}">
                <a16:creationId xmlns:a16="http://schemas.microsoft.com/office/drawing/2014/main" id="{A92CC15D-F6FD-4A11-9D6E-5F23017428B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err="1">
                <a:solidFill>
                  <a:schemeClr val="tx2">
                    <a:lumMod val="75000"/>
                  </a:schemeClr>
                </a:solidFill>
                <a:latin typeface="Arial (Body)"/>
              </a:rPr>
              <a:t>Thông</a:t>
            </a:r>
            <a:r>
              <a:rPr lang="en-US" sz="3600" b="1" dirty="0">
                <a:solidFill>
                  <a:schemeClr val="tx2">
                    <a:lumMod val="75000"/>
                  </a:schemeClr>
                </a:solidFill>
                <a:latin typeface="Arial (Body)"/>
              </a:rPr>
              <a:t> tin </a:t>
            </a:r>
            <a:r>
              <a:rPr lang="en-US" sz="3600" b="1" dirty="0" err="1">
                <a:solidFill>
                  <a:schemeClr val="tx2">
                    <a:lumMod val="75000"/>
                  </a:schemeClr>
                </a:solidFill>
                <a:latin typeface="Arial (Body)"/>
              </a:rPr>
              <a:t>liên</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lạc</a:t>
            </a:r>
            <a:endParaRPr lang="vi-VN" sz="3600" dirty="0"/>
          </a:p>
        </p:txBody>
      </p:sp>
      <p:pic>
        <p:nvPicPr>
          <p:cNvPr id="2050" name="Picture 2" descr="Free Icon | User profile icon">
            <a:extLst>
              <a:ext uri="{FF2B5EF4-FFF2-40B4-BE49-F238E27FC236}">
                <a16:creationId xmlns:a16="http://schemas.microsoft.com/office/drawing/2014/main" id="{9E01EA32-46B1-4074-95FE-DF615A0AFE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07026" y="1084058"/>
            <a:ext cx="598830" cy="51874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hone Icon | Clipart Panda - Free Clipart Images | Phone icon, Mobile logo,  Phone logo">
            <a:extLst>
              <a:ext uri="{FF2B5EF4-FFF2-40B4-BE49-F238E27FC236}">
                <a16:creationId xmlns:a16="http://schemas.microsoft.com/office/drawing/2014/main" id="{F80880B8-A692-41DC-984B-46BF2ED867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4872" y="1727558"/>
            <a:ext cx="518587" cy="51858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3C882C7C-A1B2-4D4A-A155-BA0B654F04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44871" y="2411457"/>
            <a:ext cx="598830" cy="44912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YouTube Play Button Logo Computer Icons, Youtube Icon App Logo , Youtube  logo transparent background P… | Youtube logo png, Youtube logo, Instagram  logo transparent">
            <a:extLst>
              <a:ext uri="{FF2B5EF4-FFF2-40B4-BE49-F238E27FC236}">
                <a16:creationId xmlns:a16="http://schemas.microsoft.com/office/drawing/2014/main" id="{28324D85-A131-42B3-A4BB-1E3ED6A5B838}"/>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000" b="90000" l="5333" r="94667">
                        <a14:foregroundMark x1="94667" y1="52333" x2="5333" y2="51000"/>
                        <a14:foregroundMark x1="69333" y1="28000" x2="44667" y2="54333"/>
                        <a14:foregroundMark x1="29667" y1="39333" x2="57000" y2="47667"/>
                        <a14:foregroundMark x1="54333" y1="45333" x2="61667" y2="42333"/>
                        <a14:foregroundMark x1="61667" y1="42333" x2="60333" y2="61333"/>
                        <a14:foregroundMark x1="60333" y1="61333" x2="60333" y2="61333"/>
                        <a14:foregroundMark x1="57667" y1="45667" x2="67333" y2="44333"/>
                      </a14:backgroundRemoval>
                    </a14:imgEffect>
                  </a14:imgLayer>
                </a14:imgProps>
              </a:ext>
              <a:ext uri="{28A0092B-C50C-407E-A947-70E740481C1C}">
                <a14:useLocalDpi xmlns:a14="http://schemas.microsoft.com/office/drawing/2010/main" val="0"/>
              </a:ext>
            </a:extLst>
          </a:blip>
          <a:srcRect/>
          <a:stretch>
            <a:fillRect/>
          </a:stretch>
        </p:blipFill>
        <p:spPr bwMode="auto">
          <a:xfrm>
            <a:off x="3792259" y="4537808"/>
            <a:ext cx="685909" cy="68590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7A918AC9-2657-4843-8CE2-663EA254B0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33690" y="3109018"/>
            <a:ext cx="616976" cy="616976"/>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Free Wordpress Icon of Flat style - Available in SVG, PNG, EPS, AI &amp; Icon  fonts">
            <a:extLst>
              <a:ext uri="{FF2B5EF4-FFF2-40B4-BE49-F238E27FC236}">
                <a16:creationId xmlns:a16="http://schemas.microsoft.com/office/drawing/2014/main" id="{16106534-A53A-4B29-B5DF-C03FFF05032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58876" y="3798201"/>
            <a:ext cx="801612" cy="801612"/>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Free Flickr Icon of Flat style - Available in SVG, PNG, EPS, AI &amp; Icon fonts">
            <a:extLst>
              <a:ext uri="{FF2B5EF4-FFF2-40B4-BE49-F238E27FC236}">
                <a16:creationId xmlns:a16="http://schemas.microsoft.com/office/drawing/2014/main" id="{CA1C37DD-F5B0-4016-AC6F-C57B8F23D16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844872" y="6024575"/>
            <a:ext cx="635585" cy="635585"/>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Researchgate Free Icon of SuperTiny">
            <a:extLst>
              <a:ext uri="{FF2B5EF4-FFF2-40B4-BE49-F238E27FC236}">
                <a16:creationId xmlns:a16="http://schemas.microsoft.com/office/drawing/2014/main" id="{8D1567F3-24BD-49BE-A385-3F288E8EFD8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94548" y="5235575"/>
            <a:ext cx="685909" cy="68590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1EB11300-348D-4C6F-867C-3BAB21EF25DF}"/>
              </a:ext>
            </a:extLst>
          </p:cNvPr>
          <p:cNvSpPr txBox="1"/>
          <p:nvPr/>
        </p:nvSpPr>
        <p:spPr>
          <a:xfrm>
            <a:off x="4560488" y="6175363"/>
            <a:ext cx="5314950" cy="369332"/>
          </a:xfrm>
          <a:prstGeom prst="rect">
            <a:avLst/>
          </a:prstGeom>
          <a:noFill/>
        </p:spPr>
        <p:txBody>
          <a:bodyPr wrap="square">
            <a:spAutoFit/>
          </a:bodyPr>
          <a:lstStyle/>
          <a:p>
            <a:r>
              <a:rPr lang="en-US" dirty="0">
                <a:solidFill>
                  <a:schemeClr val="accent1">
                    <a:lumMod val="50000"/>
                  </a:schemeClr>
                </a:solidFill>
                <a:latin typeface="Verdana" panose="020B0604030504040204" pitchFamily="34" charset="0"/>
                <a:hlinkClick r:id="rId11">
                  <a:extLst>
                    <a:ext uri="{A12FA001-AC4F-418D-AE19-62706E023703}">
                      <ahyp:hlinkClr xmlns:ahyp="http://schemas.microsoft.com/office/drawing/2018/hyperlinkcolor" val="tx"/>
                    </a:ext>
                  </a:extLst>
                </a:hlinkClick>
              </a:rPr>
              <a:t>flickr.com/photos/</a:t>
            </a:r>
            <a:r>
              <a:rPr lang="en-US" dirty="0" err="1">
                <a:solidFill>
                  <a:schemeClr val="accent1">
                    <a:lumMod val="50000"/>
                  </a:schemeClr>
                </a:solidFill>
                <a:latin typeface="Verdana" panose="020B0604030504040204" pitchFamily="34" charset="0"/>
                <a:hlinkClick r:id="rId11">
                  <a:extLst>
                    <a:ext uri="{A12FA001-AC4F-418D-AE19-62706E023703}">
                      <ahyp:hlinkClr xmlns:ahyp="http://schemas.microsoft.com/office/drawing/2018/hyperlinkcolor" val="tx"/>
                    </a:ext>
                  </a:extLst>
                </a:hlinkClick>
              </a:rPr>
              <a:t>nguyenletandat</a:t>
            </a:r>
            <a:endParaRPr lang="en-US" dirty="0"/>
          </a:p>
        </p:txBody>
      </p:sp>
      <p:sp>
        <p:nvSpPr>
          <p:cNvPr id="25" name="TextBox 24">
            <a:extLst>
              <a:ext uri="{FF2B5EF4-FFF2-40B4-BE49-F238E27FC236}">
                <a16:creationId xmlns:a16="http://schemas.microsoft.com/office/drawing/2014/main" id="{8BC01007-567F-4484-BBEB-8B1BC03ADDB0}"/>
              </a:ext>
            </a:extLst>
          </p:cNvPr>
          <p:cNvSpPr txBox="1"/>
          <p:nvPr/>
        </p:nvSpPr>
        <p:spPr>
          <a:xfrm>
            <a:off x="4633225" y="4722743"/>
            <a:ext cx="5314950" cy="369332"/>
          </a:xfrm>
          <a:prstGeom prst="rect">
            <a:avLst/>
          </a:prstGeom>
          <a:noFill/>
        </p:spPr>
        <p:txBody>
          <a:bodyPr wrap="square">
            <a:spAutoFit/>
          </a:bodyPr>
          <a:lstStyle/>
          <a:p>
            <a:r>
              <a:rPr lang="en-US" dirty="0">
                <a:solidFill>
                  <a:schemeClr val="accent1">
                    <a:lumMod val="50000"/>
                  </a:schemeClr>
                </a:solidFill>
                <a:latin typeface="Verdana" panose="020B0604030504040204" pitchFamily="34" charset="0"/>
                <a:hlinkClick r:id="rId12">
                  <a:extLst>
                    <a:ext uri="{A12FA001-AC4F-418D-AE19-62706E023703}">
                      <ahyp:hlinkClr xmlns:ahyp="http://schemas.microsoft.com/office/drawing/2018/hyperlinkcolor" val="tx"/>
                    </a:ext>
                  </a:extLst>
                </a:hlinkClick>
              </a:rPr>
              <a:t>youtube.com/c/</a:t>
            </a:r>
            <a:r>
              <a:rPr lang="en-US" dirty="0" err="1">
                <a:solidFill>
                  <a:schemeClr val="accent1">
                    <a:lumMod val="50000"/>
                  </a:schemeClr>
                </a:solidFill>
                <a:latin typeface="Verdana" panose="020B0604030504040204" pitchFamily="34" charset="0"/>
                <a:hlinkClick r:id="rId12">
                  <a:extLst>
                    <a:ext uri="{A12FA001-AC4F-418D-AE19-62706E023703}">
                      <ahyp:hlinkClr xmlns:ahyp="http://schemas.microsoft.com/office/drawing/2018/hyperlinkcolor" val="tx"/>
                    </a:ext>
                  </a:extLst>
                </a:hlinkClick>
              </a:rPr>
              <a:t>TấnĐạtNguyễnLê</a:t>
            </a:r>
            <a:endParaRPr lang="en-US" dirty="0"/>
          </a:p>
        </p:txBody>
      </p:sp>
      <p:sp>
        <p:nvSpPr>
          <p:cNvPr id="27" name="TextBox 26">
            <a:extLst>
              <a:ext uri="{FF2B5EF4-FFF2-40B4-BE49-F238E27FC236}">
                <a16:creationId xmlns:a16="http://schemas.microsoft.com/office/drawing/2014/main" id="{9CD9A32C-72E7-402A-8B5F-A779587F9886}"/>
              </a:ext>
            </a:extLst>
          </p:cNvPr>
          <p:cNvSpPr txBox="1"/>
          <p:nvPr/>
        </p:nvSpPr>
        <p:spPr>
          <a:xfrm>
            <a:off x="4602566" y="5408439"/>
            <a:ext cx="5273386" cy="369332"/>
          </a:xfrm>
          <a:prstGeom prst="rect">
            <a:avLst/>
          </a:prstGeom>
          <a:noFill/>
        </p:spPr>
        <p:txBody>
          <a:bodyPr wrap="square">
            <a:spAutoFit/>
          </a:bodyPr>
          <a:lstStyle/>
          <a:p>
            <a:r>
              <a:rPr lang="en-US" dirty="0">
                <a:solidFill>
                  <a:schemeClr val="accent1">
                    <a:lumMod val="50000"/>
                  </a:schemeClr>
                </a:solidFill>
                <a:latin typeface="Verdana" panose="020B0604030504040204" pitchFamily="34" charset="0"/>
                <a:hlinkClick r:id="rId13">
                  <a:extLst>
                    <a:ext uri="{A12FA001-AC4F-418D-AE19-62706E023703}">
                      <ahyp:hlinkClr xmlns:ahyp="http://schemas.microsoft.com/office/drawing/2018/hyperlinkcolor" val="tx"/>
                    </a:ext>
                  </a:extLst>
                </a:hlinkClick>
              </a:rPr>
              <a:t>researchgate.net/profile/Nguyen_Dat24</a:t>
            </a:r>
            <a:endParaRPr lang="en-US" dirty="0">
              <a:solidFill>
                <a:schemeClr val="accent1">
                  <a:lumMod val="50000"/>
                </a:schemeClr>
              </a:solidFill>
            </a:endParaRPr>
          </a:p>
        </p:txBody>
      </p:sp>
      <p:sp>
        <p:nvSpPr>
          <p:cNvPr id="29" name="TextBox 28">
            <a:extLst>
              <a:ext uri="{FF2B5EF4-FFF2-40B4-BE49-F238E27FC236}">
                <a16:creationId xmlns:a16="http://schemas.microsoft.com/office/drawing/2014/main" id="{8240B758-7657-41F2-BA19-63CD51F0D8C1}"/>
              </a:ext>
            </a:extLst>
          </p:cNvPr>
          <p:cNvSpPr txBox="1"/>
          <p:nvPr/>
        </p:nvSpPr>
        <p:spPr>
          <a:xfrm>
            <a:off x="4633225" y="3955819"/>
            <a:ext cx="5273386" cy="369332"/>
          </a:xfrm>
          <a:prstGeom prst="rect">
            <a:avLst/>
          </a:prstGeom>
          <a:noFill/>
        </p:spPr>
        <p:txBody>
          <a:bodyPr wrap="square">
            <a:spAutoFit/>
          </a:bodyPr>
          <a:lstStyle/>
          <a:p>
            <a:r>
              <a:rPr lang="en-US" dirty="0">
                <a:solidFill>
                  <a:schemeClr val="accent1">
                    <a:lumMod val="50000"/>
                  </a:schemeClr>
                </a:solidFill>
                <a:latin typeface="Verdana" panose="020B0604030504040204" pitchFamily="34" charset="0"/>
                <a:hlinkClick r:id="rId14">
                  <a:extLst>
                    <a:ext uri="{A12FA001-AC4F-418D-AE19-62706E023703}">
                      <ahyp:hlinkClr xmlns:ahyp="http://schemas.microsoft.com/office/drawing/2018/hyperlinkcolor" val="tx"/>
                    </a:ext>
                  </a:extLst>
                </a:hlinkClick>
              </a:rPr>
              <a:t>nguyenletandat.wordpress.com</a:t>
            </a:r>
            <a:endParaRPr lang="en-US" dirty="0"/>
          </a:p>
        </p:txBody>
      </p:sp>
      <p:sp>
        <p:nvSpPr>
          <p:cNvPr id="31" name="TextBox 30">
            <a:extLst>
              <a:ext uri="{FF2B5EF4-FFF2-40B4-BE49-F238E27FC236}">
                <a16:creationId xmlns:a16="http://schemas.microsoft.com/office/drawing/2014/main" id="{2AE2BDA9-A292-4DA4-B451-4089BCFE8C4F}"/>
              </a:ext>
            </a:extLst>
          </p:cNvPr>
          <p:cNvSpPr txBox="1"/>
          <p:nvPr/>
        </p:nvSpPr>
        <p:spPr>
          <a:xfrm>
            <a:off x="4602969" y="3215787"/>
            <a:ext cx="4170913" cy="646331"/>
          </a:xfrm>
          <a:prstGeom prst="rect">
            <a:avLst/>
          </a:prstGeom>
          <a:noFill/>
        </p:spPr>
        <p:txBody>
          <a:bodyPr wrap="square">
            <a:spAutoFit/>
          </a:bodyPr>
          <a:lstStyle/>
          <a:p>
            <a:r>
              <a:rPr lang="en-US" dirty="0">
                <a:solidFill>
                  <a:schemeClr val="accent1">
                    <a:lumMod val="50000"/>
                  </a:schemeClr>
                </a:solidFill>
                <a:latin typeface="Verdana" panose="020B0604030504040204" pitchFamily="34" charset="0"/>
                <a:hlinkClick r:id="rId15">
                  <a:extLst>
                    <a:ext uri="{A12FA001-AC4F-418D-AE19-62706E023703}">
                      <ahyp:hlinkClr xmlns:ahyp="http://schemas.microsoft.com/office/drawing/2018/hyperlinkcolor" val="tx"/>
                    </a:ext>
                  </a:extLst>
                </a:hlinkClick>
              </a:rPr>
              <a:t>linkedin.com/in/</a:t>
            </a:r>
            <a:r>
              <a:rPr lang="en-US" dirty="0" err="1">
                <a:solidFill>
                  <a:schemeClr val="accent1">
                    <a:lumMod val="50000"/>
                  </a:schemeClr>
                </a:solidFill>
                <a:latin typeface="Verdana" panose="020B0604030504040204" pitchFamily="34" charset="0"/>
                <a:hlinkClick r:id="rId15">
                  <a:extLst>
                    <a:ext uri="{A12FA001-AC4F-418D-AE19-62706E023703}">
                      <ahyp:hlinkClr xmlns:ahyp="http://schemas.microsoft.com/office/drawing/2018/hyperlinkcolor" val="tx"/>
                    </a:ext>
                  </a:extLst>
                </a:hlinkClick>
              </a:rPr>
              <a:t>nguyenletandat</a:t>
            </a:r>
            <a:br>
              <a:rPr lang="en-US" dirty="0">
                <a:solidFill>
                  <a:schemeClr val="accent1">
                    <a:lumMod val="50000"/>
                  </a:schemeClr>
                </a:solidFill>
              </a:rPr>
            </a:br>
            <a:endParaRPr lang="en-US" dirty="0"/>
          </a:p>
        </p:txBody>
      </p:sp>
      <p:sp>
        <p:nvSpPr>
          <p:cNvPr id="33" name="TextBox 32">
            <a:extLst>
              <a:ext uri="{FF2B5EF4-FFF2-40B4-BE49-F238E27FC236}">
                <a16:creationId xmlns:a16="http://schemas.microsoft.com/office/drawing/2014/main" id="{337D551F-5328-423D-BBBB-761021974646}"/>
              </a:ext>
            </a:extLst>
          </p:cNvPr>
          <p:cNvSpPr txBox="1"/>
          <p:nvPr/>
        </p:nvSpPr>
        <p:spPr>
          <a:xfrm>
            <a:off x="4602968" y="2397939"/>
            <a:ext cx="5273386" cy="369332"/>
          </a:xfrm>
          <a:prstGeom prst="rect">
            <a:avLst/>
          </a:prstGeom>
          <a:noFill/>
        </p:spPr>
        <p:txBody>
          <a:bodyPr wrap="square">
            <a:spAutoFit/>
          </a:bodyPr>
          <a:lstStyle/>
          <a:p>
            <a:r>
              <a:rPr lang="en-US" u="sng" dirty="0">
                <a:solidFill>
                  <a:schemeClr val="accent1">
                    <a:lumMod val="50000"/>
                  </a:schemeClr>
                </a:solidFill>
                <a:latin typeface="Verdana" panose="020B0604030504040204" pitchFamily="34" charset="0"/>
              </a:rPr>
              <a:t>datnlt@tdmu.edu.vn</a:t>
            </a:r>
            <a:endParaRPr lang="en-US" dirty="0"/>
          </a:p>
        </p:txBody>
      </p:sp>
      <p:sp>
        <p:nvSpPr>
          <p:cNvPr id="36" name="TextBox 35">
            <a:extLst>
              <a:ext uri="{FF2B5EF4-FFF2-40B4-BE49-F238E27FC236}">
                <a16:creationId xmlns:a16="http://schemas.microsoft.com/office/drawing/2014/main" id="{31621753-43CB-4E5F-A8D3-706A7F000291}"/>
              </a:ext>
            </a:extLst>
          </p:cNvPr>
          <p:cNvSpPr txBox="1"/>
          <p:nvPr/>
        </p:nvSpPr>
        <p:spPr>
          <a:xfrm>
            <a:off x="4601755" y="1553020"/>
            <a:ext cx="5398076" cy="646331"/>
          </a:xfrm>
          <a:prstGeom prst="rect">
            <a:avLst/>
          </a:prstGeom>
          <a:noFill/>
        </p:spPr>
        <p:txBody>
          <a:bodyPr wrap="square">
            <a:spAutoFit/>
          </a:bodyPr>
          <a:lstStyle/>
          <a:p>
            <a:endParaRPr lang="en-US" dirty="0">
              <a:solidFill>
                <a:schemeClr val="accent1">
                  <a:lumMod val="50000"/>
                </a:schemeClr>
              </a:solidFill>
            </a:endParaRPr>
          </a:p>
          <a:p>
            <a:r>
              <a:rPr lang="en-US" dirty="0">
                <a:solidFill>
                  <a:schemeClr val="accent1">
                    <a:lumMod val="50000"/>
                  </a:schemeClr>
                </a:solidFill>
                <a:latin typeface="Verdana" panose="020B0604030504040204" pitchFamily="34" charset="0"/>
              </a:rPr>
              <a:t>(+84) 386-787-234</a:t>
            </a:r>
            <a:endParaRPr lang="en-US" dirty="0">
              <a:solidFill>
                <a:schemeClr val="accent1">
                  <a:lumMod val="50000"/>
                </a:schemeClr>
              </a:solidFill>
            </a:endParaRPr>
          </a:p>
        </p:txBody>
      </p:sp>
      <p:pic>
        <p:nvPicPr>
          <p:cNvPr id="3" name="Picture 2">
            <a:extLst>
              <a:ext uri="{FF2B5EF4-FFF2-40B4-BE49-F238E27FC236}">
                <a16:creationId xmlns:a16="http://schemas.microsoft.com/office/drawing/2014/main" id="{12676FA1-3550-96B6-11F1-34BE621A5D90}"/>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93059" y="-1"/>
            <a:ext cx="1918447" cy="1080086"/>
          </a:xfrm>
          <a:prstGeom prst="rect">
            <a:avLst/>
          </a:prstGeom>
        </p:spPr>
      </p:pic>
    </p:spTree>
    <p:extLst>
      <p:ext uri="{BB962C8B-B14F-4D97-AF65-F5344CB8AC3E}">
        <p14:creationId xmlns:p14="http://schemas.microsoft.com/office/powerpoint/2010/main" val="1617958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58534"/>
            <a:ext cx="9144000" cy="1128642"/>
          </a:xfrm>
        </p:spPr>
        <p:txBody>
          <a:bodyPr>
            <a:noAutofit/>
          </a:bodyPr>
          <a:lstStyle/>
          <a:p>
            <a:r>
              <a:rPr lang="vi-VN" sz="4000" b="1" dirty="0">
                <a:solidFill>
                  <a:schemeClr val="accent1">
                    <a:lumMod val="50000"/>
                  </a:schemeClr>
                </a:solidFill>
                <a:latin typeface="Times New Roman" panose="02020603050405020304" pitchFamily="18" charset="0"/>
                <a:cs typeface="Times New Roman" panose="02020603050405020304" pitchFamily="18" charset="0"/>
              </a:rPr>
              <a:t>Chương 1</a:t>
            </a:r>
            <a:br>
              <a:rPr lang="en-US" sz="4000" b="1" dirty="0">
                <a:solidFill>
                  <a:schemeClr val="accent1">
                    <a:lumMod val="50000"/>
                  </a:schemeClr>
                </a:solidFill>
                <a:latin typeface="Times New Roman" panose="02020603050405020304" pitchFamily="18" charset="0"/>
                <a:cs typeface="Times New Roman" panose="02020603050405020304" pitchFamily="18" charset="0"/>
              </a:rPr>
            </a:br>
            <a:r>
              <a:rPr lang="vi-VN" sz="4000" b="1" dirty="0">
                <a:solidFill>
                  <a:schemeClr val="accent1">
                    <a:lumMod val="50000"/>
                  </a:schemeClr>
                </a:solidFill>
                <a:latin typeface="Times New Roman" panose="02020603050405020304" pitchFamily="18" charset="0"/>
                <a:cs typeface="Times New Roman" panose="02020603050405020304" pitchFamily="18" charset="0"/>
              </a:rPr>
              <a:t>Tổng quan về hệ thống thông tin địa lý</a:t>
            </a:r>
          </a:p>
        </p:txBody>
      </p:sp>
      <p:sp>
        <p:nvSpPr>
          <p:cNvPr id="11" name="Title 3"/>
          <p:cNvSpPr txBox="1">
            <a:spLocks/>
          </p:cNvSpPr>
          <p:nvPr/>
        </p:nvSpPr>
        <p:spPr>
          <a:xfrm>
            <a:off x="3113810" y="198776"/>
            <a:ext cx="7554191" cy="100054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b="1" kern="1200">
                <a:solidFill>
                  <a:schemeClr val="bg1"/>
                </a:solidFill>
                <a:effectLst>
                  <a:outerShdw blurRad="50800" dist="38100" dir="2700000" algn="tl" rotWithShape="0">
                    <a:prstClr val="black">
                      <a:alpha val="40000"/>
                    </a:prstClr>
                  </a:outerShdw>
                  <a:reflection blurRad="6350" stA="55000" endA="300" endPos="45500" dir="5400000" sy="-100000" algn="bl" rotWithShape="0"/>
                </a:effectLst>
                <a:latin typeface="Times New Roman" pitchFamily="18" charset="0"/>
                <a:ea typeface="+mj-ea"/>
                <a:cs typeface="Times New Roman" pitchFamily="18" charset="0"/>
              </a:defRPr>
            </a:lvl1pPr>
          </a:lstStyle>
          <a:p>
            <a:r>
              <a:rPr lang="en-US" sz="2800" dirty="0" err="1">
                <a:ln w="10541" cmpd="sng">
                  <a:solidFill>
                    <a:srgbClr val="7D7D7D">
                      <a:tint val="100000"/>
                      <a:shade val="100000"/>
                      <a:satMod val="110000"/>
                    </a:srgbClr>
                  </a:solidFill>
                  <a:prstDash val="solid"/>
                </a:ln>
                <a:solidFill>
                  <a:schemeClr val="tx2"/>
                </a:solidFill>
                <a:effectLst/>
              </a:rPr>
              <a:t>Đại</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học</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Thủ</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Dầu</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Một</a:t>
            </a:r>
            <a:br>
              <a:rPr lang="vi-VN" sz="2800" dirty="0">
                <a:ln w="10541" cmpd="sng">
                  <a:solidFill>
                    <a:srgbClr val="7D7D7D">
                      <a:tint val="100000"/>
                      <a:shade val="100000"/>
                      <a:satMod val="110000"/>
                    </a:srgbClr>
                  </a:solidFill>
                  <a:prstDash val="solid"/>
                </a:ln>
                <a:solidFill>
                  <a:schemeClr val="tx2"/>
                </a:solidFill>
                <a:effectLst/>
              </a:rPr>
            </a:br>
            <a:r>
              <a:rPr lang="en-US" sz="2800" dirty="0">
                <a:ln w="10541" cmpd="sng">
                  <a:solidFill>
                    <a:srgbClr val="7D7D7D">
                      <a:tint val="100000"/>
                      <a:shade val="100000"/>
                      <a:satMod val="110000"/>
                    </a:srgbClr>
                  </a:solidFill>
                  <a:prstDash val="solid"/>
                </a:ln>
                <a:solidFill>
                  <a:schemeClr val="tx2"/>
                </a:solidFill>
                <a:effectLst/>
              </a:rPr>
              <a:t>Khoa </a:t>
            </a:r>
            <a:r>
              <a:rPr lang="en-US" sz="2800" dirty="0" err="1">
                <a:ln w="10541" cmpd="sng">
                  <a:solidFill>
                    <a:srgbClr val="7D7D7D">
                      <a:tint val="100000"/>
                      <a:shade val="100000"/>
                      <a:satMod val="110000"/>
                    </a:srgbClr>
                  </a:solidFill>
                  <a:prstDash val="solid"/>
                </a:ln>
                <a:solidFill>
                  <a:schemeClr val="tx2"/>
                </a:solidFill>
                <a:effectLst/>
              </a:rPr>
              <a:t>Khoa</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học</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Quản</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lý</a:t>
            </a:r>
            <a:br>
              <a:rPr lang="en-US" sz="2800" dirty="0">
                <a:ln w="10541" cmpd="sng">
                  <a:solidFill>
                    <a:srgbClr val="7D7D7D">
                      <a:tint val="100000"/>
                      <a:shade val="100000"/>
                      <a:satMod val="110000"/>
                    </a:srgbClr>
                  </a:solidFill>
                  <a:prstDash val="solid"/>
                </a:ln>
                <a:solidFill>
                  <a:schemeClr val="tx2"/>
                </a:solidFill>
                <a:effectLst/>
              </a:rPr>
            </a:br>
            <a:r>
              <a:rPr lang="en-US" sz="2800" dirty="0" err="1">
                <a:ln w="10541" cmpd="sng">
                  <a:solidFill>
                    <a:srgbClr val="7D7D7D">
                      <a:tint val="100000"/>
                      <a:shade val="100000"/>
                      <a:satMod val="110000"/>
                    </a:srgbClr>
                  </a:solidFill>
                  <a:prstDash val="solid"/>
                </a:ln>
                <a:solidFill>
                  <a:schemeClr val="tx2"/>
                </a:solidFill>
                <a:effectLst/>
              </a:rPr>
              <a:t>Bộ</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môn</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Quản</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lý</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đất</a:t>
            </a:r>
            <a:r>
              <a:rPr lang="en-US" sz="2800" dirty="0">
                <a:ln w="10541" cmpd="sng">
                  <a:solidFill>
                    <a:srgbClr val="7D7D7D">
                      <a:tint val="100000"/>
                      <a:shade val="100000"/>
                      <a:satMod val="110000"/>
                    </a:srgbClr>
                  </a:solidFill>
                  <a:prstDash val="solid"/>
                </a:ln>
                <a:solidFill>
                  <a:schemeClr val="tx2"/>
                </a:solidFill>
                <a:effectLst/>
              </a:rPr>
              <a:t> </a:t>
            </a:r>
            <a:r>
              <a:rPr lang="en-US" sz="2800" dirty="0" err="1">
                <a:ln w="10541" cmpd="sng">
                  <a:solidFill>
                    <a:srgbClr val="7D7D7D">
                      <a:tint val="100000"/>
                      <a:shade val="100000"/>
                      <a:satMod val="110000"/>
                    </a:srgbClr>
                  </a:solidFill>
                  <a:prstDash val="solid"/>
                </a:ln>
                <a:solidFill>
                  <a:schemeClr val="tx2"/>
                </a:solidFill>
                <a:effectLst/>
              </a:rPr>
              <a:t>đai</a:t>
            </a:r>
            <a:endParaRPr lang="en-US" sz="2800" dirty="0">
              <a:ln w="10541" cmpd="sng">
                <a:solidFill>
                  <a:srgbClr val="7D7D7D">
                    <a:tint val="100000"/>
                    <a:shade val="100000"/>
                    <a:satMod val="110000"/>
                  </a:srgbClr>
                </a:solidFill>
                <a:prstDash val="solid"/>
              </a:ln>
              <a:solidFill>
                <a:schemeClr val="tx2"/>
              </a:solidFill>
              <a:effectLst/>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762221">
            <a:off x="8101369" y="4389375"/>
            <a:ext cx="2653653" cy="2653653"/>
          </a:xfrm>
          <a:prstGeom prst="rect">
            <a:avLst/>
          </a:prstGeom>
        </p:spPr>
      </p:pic>
      <p:pic>
        <p:nvPicPr>
          <p:cNvPr id="1026" name="Picture 2" descr="Trường Đại Học Thủ Dầu Một">
            <a:extLst>
              <a:ext uri="{FF2B5EF4-FFF2-40B4-BE49-F238E27FC236}">
                <a16:creationId xmlns:a16="http://schemas.microsoft.com/office/drawing/2014/main" id="{43CE5F53-3D2B-49B1-B6F2-6A06BB949D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4164" y="173762"/>
            <a:ext cx="2056373" cy="100054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5C21BEFD-15A1-4C2C-8E2F-A77A1A3F1CA4}"/>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9933" b="90909" l="4673" r="89720">
                        <a14:foregroundMark x1="4673" y1="24579" x2="10592" y2="24579"/>
                        <a14:foregroundMark x1="16511" y1="90909" x2="16511" y2="86869"/>
                        <a14:backgroundMark x1="39408" y1="17172" x2="33178" y2="16667"/>
                      </a14:backgroundRemoval>
                    </a14:imgEffect>
                  </a14:imgLayer>
                </a14:imgProps>
              </a:ext>
              <a:ext uri="{28A0092B-C50C-407E-A947-70E740481C1C}">
                <a14:useLocalDpi xmlns:a14="http://schemas.microsoft.com/office/drawing/2010/main" val="0"/>
              </a:ext>
            </a:extLst>
          </a:blip>
          <a:srcRect t="5781" r="61157"/>
          <a:stretch/>
        </p:blipFill>
        <p:spPr>
          <a:xfrm flipH="1">
            <a:off x="7083575" y="4305820"/>
            <a:ext cx="2000146" cy="2670431"/>
          </a:xfrm>
          <a:prstGeom prst="rect">
            <a:avLst/>
          </a:prstGeom>
        </p:spPr>
      </p:pic>
      <p:pic>
        <p:nvPicPr>
          <p:cNvPr id="14" name="Picture 2" descr="HÃ¬nh áº£nh cÃ³ liÃªn quan">
            <a:extLst>
              <a:ext uri="{FF2B5EF4-FFF2-40B4-BE49-F238E27FC236}">
                <a16:creationId xmlns:a16="http://schemas.microsoft.com/office/drawing/2014/main" id="{61DDB15B-4C1D-4E8C-AC79-584878C66C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6567" y="2657268"/>
            <a:ext cx="4246338" cy="256229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612D45FA-96DB-44AD-BDB4-3D40766FBB5E}"/>
              </a:ext>
            </a:extLst>
          </p:cNvPr>
          <p:cNvSpPr/>
          <p:nvPr/>
        </p:nvSpPr>
        <p:spPr>
          <a:xfrm>
            <a:off x="1556568" y="5611517"/>
            <a:ext cx="4975311" cy="125124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07000"/>
              </a:lnSpc>
            </a:pPr>
            <a:r>
              <a:rPr lang="vi-VN"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Nguyễn Lê Tấn Đạt</a:t>
            </a:r>
            <a:endPar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endParaRPr>
          </a:p>
          <a:p>
            <a:pPr>
              <a:lnSpc>
                <a:spcPct val="107000"/>
              </a:lnSpc>
            </a:pPr>
            <a:r>
              <a:rPr lang="en-US" sz="2400" b="1" dirty="0" err="1">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Điện</a:t>
            </a:r>
            <a:r>
              <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 </a:t>
            </a:r>
            <a:r>
              <a:rPr lang="en-US" sz="2400" b="1" dirty="0" err="1">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thoại</a:t>
            </a:r>
            <a:r>
              <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 0386.787.234</a:t>
            </a:r>
          </a:p>
          <a:p>
            <a:pPr>
              <a:lnSpc>
                <a:spcPct val="107000"/>
              </a:lnSpc>
            </a:pPr>
            <a:r>
              <a:rPr lang="en-US"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rPr>
              <a:t>datnlt@tdmu.edu.vn</a:t>
            </a:r>
            <a:endParaRPr lang="vi-VN" sz="2400" b="1" dirty="0">
              <a:solidFill>
                <a:srgbClr val="3E0087"/>
              </a:solidFill>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18" name="Picture 2" descr="Káº¿t quáº£ hÃ¬nh áº£nh cho layer png">
            <a:extLst>
              <a:ext uri="{FF2B5EF4-FFF2-40B4-BE49-F238E27FC236}">
                <a16:creationId xmlns:a16="http://schemas.microsoft.com/office/drawing/2014/main" id="{1997D826-4285-4FD7-99DE-2B33617E85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9454" y="2739395"/>
            <a:ext cx="3497742" cy="3497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61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5">
            <a:extLst>
              <a:ext uri="{FF2B5EF4-FFF2-40B4-BE49-F238E27FC236}">
                <a16:creationId xmlns:a16="http://schemas.microsoft.com/office/drawing/2014/main" id="{A35F36F9-461B-4BBC-A67C-9D10A01A4AA6}"/>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E10B6389-7549-4C93-8939-C4DB9AC61469}"/>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tx2">
                    <a:lumMod val="75000"/>
                  </a:schemeClr>
                </a:solidFill>
                <a:latin typeface="Arial (Body)"/>
              </a:rPr>
              <a:t>Các </a:t>
            </a:r>
            <a:r>
              <a:rPr lang="en-US" sz="3600" b="1" dirty="0" err="1">
                <a:solidFill>
                  <a:schemeClr val="tx2">
                    <a:lumMod val="75000"/>
                  </a:schemeClr>
                </a:solidFill>
                <a:latin typeface="Arial (Body)"/>
              </a:rPr>
              <a:t>linh</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kiện</a:t>
            </a:r>
            <a:endParaRPr lang="vi-VN" sz="3600" dirty="0"/>
          </a:p>
        </p:txBody>
      </p:sp>
      <p:sp>
        <p:nvSpPr>
          <p:cNvPr id="9" name="Rectangle 10">
            <a:extLst>
              <a:ext uri="{FF2B5EF4-FFF2-40B4-BE49-F238E27FC236}">
                <a16:creationId xmlns:a16="http://schemas.microsoft.com/office/drawing/2014/main" id="{5F5EFF43-D725-4928-9F6B-D89384D318CA}"/>
              </a:ext>
            </a:extLst>
          </p:cNvPr>
          <p:cNvSpPr>
            <a:spLocks noChangeArrowheads="1"/>
          </p:cNvSpPr>
          <p:nvPr/>
        </p:nvSpPr>
        <p:spPr bwMode="black">
          <a:xfrm>
            <a:off x="9455492" y="599148"/>
            <a:ext cx="6804263" cy="3046988"/>
          </a:xfrm>
          <a:prstGeom prst="rect">
            <a:avLst/>
          </a:prstGeom>
          <a:noFill/>
          <a:ln w="9525" algn="ctr">
            <a:noFill/>
            <a:miter lim="800000"/>
            <a:headEnd/>
            <a:tailEnd/>
          </a:ln>
          <a:effectLst/>
        </p:spPr>
        <p:txBody>
          <a:bodyPr wrap="square">
            <a:spAutoFit/>
          </a:bodyPr>
          <a:lstStyle/>
          <a:p>
            <a:r>
              <a:rPr lang="en-US" sz="3200" b="1" dirty="0" err="1">
                <a:solidFill>
                  <a:schemeClr val="tx2">
                    <a:lumMod val="75000"/>
                  </a:schemeClr>
                </a:solidFill>
                <a:latin typeface="Arial (Body)"/>
              </a:rPr>
              <a:t>Dữ</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liệu</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thông</a:t>
            </a:r>
            <a:r>
              <a:rPr lang="en-US" sz="3200" b="1" dirty="0">
                <a:solidFill>
                  <a:schemeClr val="tx2">
                    <a:lumMod val="75000"/>
                  </a:schemeClr>
                </a:solidFill>
                <a:latin typeface="Arial (Body)"/>
              </a:rPr>
              <a:t> tin, </a:t>
            </a:r>
            <a:r>
              <a:rPr lang="en-US" sz="3200" b="1" dirty="0" err="1">
                <a:solidFill>
                  <a:schemeClr val="tx2">
                    <a:lumMod val="75000"/>
                  </a:schemeClr>
                </a:solidFill>
                <a:latin typeface="Arial (Body)"/>
              </a:rPr>
              <a:t>kiến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thức</a:t>
            </a:r>
            <a:endParaRPr lang="en-US" sz="3200" b="1" dirty="0">
              <a:solidFill>
                <a:schemeClr val="tx2">
                  <a:lumMod val="75000"/>
                </a:schemeClr>
              </a:solidFill>
              <a:latin typeface="Arial (Body)"/>
            </a:endParaRPr>
          </a:p>
          <a:p>
            <a:r>
              <a:rPr lang="en-US" sz="3200" b="1" dirty="0" err="1">
                <a:solidFill>
                  <a:schemeClr val="tx2">
                    <a:lumMod val="75000"/>
                  </a:schemeClr>
                </a:solidFill>
                <a:latin typeface="Arial (Body)"/>
              </a:rPr>
              <a:t>Định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nghĩa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Thành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phần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của</a:t>
            </a:r>
            <a:r>
              <a:rPr lang="en-US" sz="3200" b="1" dirty="0">
                <a:solidFill>
                  <a:schemeClr val="tx2">
                    <a:lumMod val="75000"/>
                  </a:schemeClr>
                </a:solidFill>
                <a:latin typeface="Arial (Body)"/>
              </a:rPr>
              <a:t> GIS</a:t>
            </a:r>
          </a:p>
          <a:p>
            <a:r>
              <a:rPr lang="en-US" sz="3200" b="1" dirty="0">
                <a:solidFill>
                  <a:schemeClr val="tx2">
                    <a:lumMod val="75000"/>
                  </a:schemeClr>
                </a:solidFill>
                <a:latin typeface="Arial (Body)"/>
              </a:rPr>
              <a:t>Chức năng của GIS</a:t>
            </a:r>
            <a:br>
              <a:rPr lang="en-US" sz="3200" b="1" dirty="0">
                <a:solidFill>
                  <a:schemeClr val="tx2">
                    <a:lumMod val="75000"/>
                  </a:schemeClr>
                </a:solidFill>
                <a:latin typeface="Arial (Body)"/>
              </a:rPr>
            </a:br>
            <a:r>
              <a:rPr lang="en-US" sz="3200" b="1" dirty="0" err="1">
                <a:solidFill>
                  <a:schemeClr val="tx2">
                    <a:lumMod val="75000"/>
                  </a:schemeClr>
                </a:solidFill>
                <a:latin typeface="Arial (Body)"/>
              </a:rPr>
              <a:t>Lịch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sư</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của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Ứng</a:t>
            </a:r>
            <a:r>
              <a:rPr lang="en-US" sz="3200" b="1" dirty="0">
                <a:solidFill>
                  <a:schemeClr val="tx2">
                    <a:lumMod val="75000"/>
                  </a:schemeClr>
                </a:solidFill>
                <a:latin typeface="Arial (Body)"/>
              </a:rPr>
              <a:t> dụng GIS trong </a:t>
            </a:r>
            <a:r>
              <a:rPr lang="en-US" sz="3200" b="1" dirty="0" err="1">
                <a:solidFill>
                  <a:schemeClr val="tx2">
                    <a:lumMod val="75000"/>
                  </a:schemeClr>
                </a:solidFill>
                <a:latin typeface="Arial (Body)"/>
              </a:rPr>
              <a:t>đời</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sống</a:t>
            </a:r>
            <a:endParaRPr lang="vi-VN" sz="3200" dirty="0"/>
          </a:p>
        </p:txBody>
      </p:sp>
      <p:pic>
        <p:nvPicPr>
          <p:cNvPr id="10" name="Picture 2" descr="Trường Đại Học Thủ Dầu Một">
            <a:extLst>
              <a:ext uri="{FF2B5EF4-FFF2-40B4-BE49-F238E27FC236}">
                <a16:creationId xmlns:a16="http://schemas.microsoft.com/office/drawing/2014/main" id="{C4D7611D-D385-4066-B5FD-7818D59B30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084" y="51362"/>
            <a:ext cx="1454727" cy="70781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D48866A-36A0-2935-6000-A8E1C9A4D1CB}"/>
              </a:ext>
            </a:extLst>
          </p:cNvPr>
          <p:cNvSpPr txBox="1"/>
          <p:nvPr/>
        </p:nvSpPr>
        <p:spPr>
          <a:xfrm>
            <a:off x="329183" y="6488668"/>
            <a:ext cx="11091292" cy="369332"/>
          </a:xfrm>
          <a:prstGeom prst="rect">
            <a:avLst/>
          </a:prstGeom>
          <a:noFill/>
        </p:spPr>
        <p:txBody>
          <a:bodyPr wrap="square">
            <a:spAutoFit/>
          </a:bodyPr>
          <a:lstStyle/>
          <a:p>
            <a:r>
              <a:rPr lang="en-US" dirty="0" err="1"/>
              <a:t>Nghịch</a:t>
            </a:r>
            <a:r>
              <a:rPr lang="en-US" dirty="0"/>
              <a:t> </a:t>
            </a:r>
            <a:r>
              <a:rPr lang="en-US" dirty="0" err="1"/>
              <a:t>điện</a:t>
            </a:r>
            <a:r>
              <a:rPr lang="en-US" dirty="0"/>
              <a:t> https://www.facebook.com/profile.php?id=61585860719470&amp;sk=reels_tab</a:t>
            </a:r>
          </a:p>
        </p:txBody>
      </p:sp>
    </p:spTree>
    <p:extLst>
      <p:ext uri="{BB962C8B-B14F-4D97-AF65-F5344CB8AC3E}">
        <p14:creationId xmlns:p14="http://schemas.microsoft.com/office/powerpoint/2010/main" val="2639121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F9776-61F3-4510-54A8-624651F0D95A}"/>
            </a:ext>
          </a:extLst>
        </p:cNvPr>
        <p:cNvGrpSpPr/>
        <p:nvPr/>
      </p:nvGrpSpPr>
      <p:grpSpPr>
        <a:xfrm>
          <a:off x="0" y="0"/>
          <a:ext cx="0" cy="0"/>
          <a:chOff x="0" y="0"/>
          <a:chExt cx="0" cy="0"/>
        </a:xfrm>
      </p:grpSpPr>
      <p:sp>
        <p:nvSpPr>
          <p:cNvPr id="4" name="AutoShape 5">
            <a:extLst>
              <a:ext uri="{FF2B5EF4-FFF2-40B4-BE49-F238E27FC236}">
                <a16:creationId xmlns:a16="http://schemas.microsoft.com/office/drawing/2014/main" id="{3E14A9AA-E474-8809-6A06-271429137217}"/>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15517E14-30B0-4CB0-C815-BA4C954260BD}"/>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tx2">
                    <a:lumMod val="75000"/>
                  </a:schemeClr>
                </a:solidFill>
                <a:latin typeface="Arial (Body)"/>
              </a:rPr>
              <a:t>Các </a:t>
            </a:r>
            <a:r>
              <a:rPr lang="en-US" sz="3600" b="1" dirty="0" err="1">
                <a:solidFill>
                  <a:schemeClr val="tx2">
                    <a:lumMod val="75000"/>
                  </a:schemeClr>
                </a:solidFill>
                <a:latin typeface="Arial (Body)"/>
              </a:rPr>
              <a:t>linh</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kiện</a:t>
            </a:r>
            <a:endParaRPr lang="vi-VN" sz="3600" dirty="0"/>
          </a:p>
        </p:txBody>
      </p:sp>
      <p:sp>
        <p:nvSpPr>
          <p:cNvPr id="9" name="Rectangle 10">
            <a:extLst>
              <a:ext uri="{FF2B5EF4-FFF2-40B4-BE49-F238E27FC236}">
                <a16:creationId xmlns:a16="http://schemas.microsoft.com/office/drawing/2014/main" id="{DA33C3D4-9BA5-2564-C1CF-9778EBB6E3D6}"/>
              </a:ext>
            </a:extLst>
          </p:cNvPr>
          <p:cNvSpPr>
            <a:spLocks noChangeArrowheads="1"/>
          </p:cNvSpPr>
          <p:nvPr/>
        </p:nvSpPr>
        <p:spPr bwMode="black">
          <a:xfrm>
            <a:off x="9455492" y="599148"/>
            <a:ext cx="6804263" cy="3046988"/>
          </a:xfrm>
          <a:prstGeom prst="rect">
            <a:avLst/>
          </a:prstGeom>
          <a:noFill/>
          <a:ln w="9525" algn="ctr">
            <a:noFill/>
            <a:miter lim="800000"/>
            <a:headEnd/>
            <a:tailEnd/>
          </a:ln>
          <a:effectLst/>
        </p:spPr>
        <p:txBody>
          <a:bodyPr wrap="square">
            <a:spAutoFit/>
          </a:bodyPr>
          <a:lstStyle/>
          <a:p>
            <a:r>
              <a:rPr lang="en-US" sz="3200" b="1" dirty="0" err="1">
                <a:solidFill>
                  <a:schemeClr val="tx2">
                    <a:lumMod val="75000"/>
                  </a:schemeClr>
                </a:solidFill>
                <a:latin typeface="Arial (Body)"/>
              </a:rPr>
              <a:t>Dữ</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liệu</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thông</a:t>
            </a:r>
            <a:r>
              <a:rPr lang="en-US" sz="3200" b="1" dirty="0">
                <a:solidFill>
                  <a:schemeClr val="tx2">
                    <a:lumMod val="75000"/>
                  </a:schemeClr>
                </a:solidFill>
                <a:latin typeface="Arial (Body)"/>
              </a:rPr>
              <a:t> tin, </a:t>
            </a:r>
            <a:r>
              <a:rPr lang="en-US" sz="3200" b="1" dirty="0" err="1">
                <a:solidFill>
                  <a:schemeClr val="tx2">
                    <a:lumMod val="75000"/>
                  </a:schemeClr>
                </a:solidFill>
                <a:latin typeface="Arial (Body)"/>
              </a:rPr>
              <a:t>kiến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thức</a:t>
            </a:r>
            <a:endParaRPr lang="en-US" sz="3200" b="1" dirty="0">
              <a:solidFill>
                <a:schemeClr val="tx2">
                  <a:lumMod val="75000"/>
                </a:schemeClr>
              </a:solidFill>
              <a:latin typeface="Arial (Body)"/>
            </a:endParaRPr>
          </a:p>
          <a:p>
            <a:r>
              <a:rPr lang="en-US" sz="3200" b="1" dirty="0" err="1">
                <a:solidFill>
                  <a:schemeClr val="tx2">
                    <a:lumMod val="75000"/>
                  </a:schemeClr>
                </a:solidFill>
                <a:latin typeface="Arial (Body)"/>
              </a:rPr>
              <a:t>Định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nghĩa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Thành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phần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của</a:t>
            </a:r>
            <a:r>
              <a:rPr lang="en-US" sz="3200" b="1" dirty="0">
                <a:solidFill>
                  <a:schemeClr val="tx2">
                    <a:lumMod val="75000"/>
                  </a:schemeClr>
                </a:solidFill>
                <a:latin typeface="Arial (Body)"/>
              </a:rPr>
              <a:t> GIS</a:t>
            </a:r>
          </a:p>
          <a:p>
            <a:r>
              <a:rPr lang="en-US" sz="3200" b="1" dirty="0">
                <a:solidFill>
                  <a:schemeClr val="tx2">
                    <a:lumMod val="75000"/>
                  </a:schemeClr>
                </a:solidFill>
                <a:latin typeface="Arial (Body)"/>
              </a:rPr>
              <a:t>Chức năng của GIS</a:t>
            </a:r>
            <a:br>
              <a:rPr lang="en-US" sz="3200" b="1" dirty="0">
                <a:solidFill>
                  <a:schemeClr val="tx2">
                    <a:lumMod val="75000"/>
                  </a:schemeClr>
                </a:solidFill>
                <a:latin typeface="Arial (Body)"/>
              </a:rPr>
            </a:br>
            <a:r>
              <a:rPr lang="en-US" sz="3200" b="1" dirty="0" err="1">
                <a:solidFill>
                  <a:schemeClr val="tx2">
                    <a:lumMod val="75000"/>
                  </a:schemeClr>
                </a:solidFill>
                <a:latin typeface="Arial (Body)"/>
              </a:rPr>
              <a:t>Lịch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sư</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của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Ứng</a:t>
            </a:r>
            <a:r>
              <a:rPr lang="en-US" sz="3200" b="1" dirty="0">
                <a:solidFill>
                  <a:schemeClr val="tx2">
                    <a:lumMod val="75000"/>
                  </a:schemeClr>
                </a:solidFill>
                <a:latin typeface="Arial (Body)"/>
              </a:rPr>
              <a:t> dụng GIS trong </a:t>
            </a:r>
            <a:r>
              <a:rPr lang="en-US" sz="3200" b="1" dirty="0" err="1">
                <a:solidFill>
                  <a:schemeClr val="tx2">
                    <a:lumMod val="75000"/>
                  </a:schemeClr>
                </a:solidFill>
                <a:latin typeface="Arial (Body)"/>
              </a:rPr>
              <a:t>đời</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sống</a:t>
            </a:r>
            <a:endParaRPr lang="vi-VN" sz="3200" dirty="0"/>
          </a:p>
        </p:txBody>
      </p:sp>
      <p:pic>
        <p:nvPicPr>
          <p:cNvPr id="10" name="Picture 2" descr="Trường Đại Học Thủ Dầu Một">
            <a:extLst>
              <a:ext uri="{FF2B5EF4-FFF2-40B4-BE49-F238E27FC236}">
                <a16:creationId xmlns:a16="http://schemas.microsoft.com/office/drawing/2014/main" id="{94FAAB0B-8E1A-4758-48B4-6858C36778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084" y="51362"/>
            <a:ext cx="1454727" cy="70781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810A25B-FA69-7E2A-78DD-BB8C3972CAE6}"/>
              </a:ext>
            </a:extLst>
          </p:cNvPr>
          <p:cNvSpPr txBox="1"/>
          <p:nvPr/>
        </p:nvSpPr>
        <p:spPr>
          <a:xfrm>
            <a:off x="329183" y="6488668"/>
            <a:ext cx="11091292" cy="369332"/>
          </a:xfrm>
          <a:prstGeom prst="rect">
            <a:avLst/>
          </a:prstGeom>
          <a:noFill/>
        </p:spPr>
        <p:txBody>
          <a:bodyPr wrap="square">
            <a:spAutoFit/>
          </a:bodyPr>
          <a:lstStyle/>
          <a:p>
            <a:r>
              <a:rPr lang="en-US" dirty="0" err="1"/>
              <a:t>Nghịch</a:t>
            </a:r>
            <a:r>
              <a:rPr lang="en-US" dirty="0"/>
              <a:t> </a:t>
            </a:r>
            <a:r>
              <a:rPr lang="en-US" dirty="0" err="1"/>
              <a:t>điện</a:t>
            </a:r>
            <a:r>
              <a:rPr lang="en-US" dirty="0"/>
              <a:t> https://www.facebook.com/profile.php?id=61585860719470&amp;sk=reels_tab</a:t>
            </a:r>
          </a:p>
        </p:txBody>
      </p:sp>
    </p:spTree>
    <p:extLst>
      <p:ext uri="{BB962C8B-B14F-4D97-AF65-F5344CB8AC3E}">
        <p14:creationId xmlns:p14="http://schemas.microsoft.com/office/powerpoint/2010/main" val="743269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C73E-C250-6C1C-BF71-ABDD233CCDC0}"/>
            </a:ext>
          </a:extLst>
        </p:cNvPr>
        <p:cNvGrpSpPr/>
        <p:nvPr/>
      </p:nvGrpSpPr>
      <p:grpSpPr>
        <a:xfrm>
          <a:off x="0" y="0"/>
          <a:ext cx="0" cy="0"/>
          <a:chOff x="0" y="0"/>
          <a:chExt cx="0" cy="0"/>
        </a:xfrm>
      </p:grpSpPr>
      <p:sp>
        <p:nvSpPr>
          <p:cNvPr id="4" name="AutoShape 5">
            <a:extLst>
              <a:ext uri="{FF2B5EF4-FFF2-40B4-BE49-F238E27FC236}">
                <a16:creationId xmlns:a16="http://schemas.microsoft.com/office/drawing/2014/main" id="{76CA1CCC-F0AF-0455-AD5F-AA16A8360897}"/>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E4526914-CFC4-717F-DB94-3A8DCF893B44}"/>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a:solidFill>
                  <a:schemeClr val="tx2">
                    <a:lumMod val="75000"/>
                  </a:schemeClr>
                </a:solidFill>
                <a:latin typeface="Arial (Body)"/>
              </a:rPr>
              <a:t>Các </a:t>
            </a:r>
            <a:r>
              <a:rPr lang="en-US" sz="3600" b="1" dirty="0" err="1">
                <a:solidFill>
                  <a:schemeClr val="tx2">
                    <a:lumMod val="75000"/>
                  </a:schemeClr>
                </a:solidFill>
                <a:latin typeface="Arial (Body)"/>
              </a:rPr>
              <a:t>linh</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kiện</a:t>
            </a:r>
            <a:endParaRPr lang="vi-VN" sz="3600" dirty="0"/>
          </a:p>
        </p:txBody>
      </p:sp>
      <p:sp>
        <p:nvSpPr>
          <p:cNvPr id="9" name="Rectangle 10">
            <a:extLst>
              <a:ext uri="{FF2B5EF4-FFF2-40B4-BE49-F238E27FC236}">
                <a16:creationId xmlns:a16="http://schemas.microsoft.com/office/drawing/2014/main" id="{C65BBAEC-6ECA-1241-6B03-F4F6808F262B}"/>
              </a:ext>
            </a:extLst>
          </p:cNvPr>
          <p:cNvSpPr>
            <a:spLocks noChangeArrowheads="1"/>
          </p:cNvSpPr>
          <p:nvPr/>
        </p:nvSpPr>
        <p:spPr bwMode="black">
          <a:xfrm>
            <a:off x="9455492" y="599148"/>
            <a:ext cx="6804263" cy="3046988"/>
          </a:xfrm>
          <a:prstGeom prst="rect">
            <a:avLst/>
          </a:prstGeom>
          <a:noFill/>
          <a:ln w="9525" algn="ctr">
            <a:noFill/>
            <a:miter lim="800000"/>
            <a:headEnd/>
            <a:tailEnd/>
          </a:ln>
          <a:effectLst/>
        </p:spPr>
        <p:txBody>
          <a:bodyPr wrap="square">
            <a:spAutoFit/>
          </a:bodyPr>
          <a:lstStyle/>
          <a:p>
            <a:r>
              <a:rPr lang="en-US" sz="3200" b="1" dirty="0" err="1">
                <a:solidFill>
                  <a:schemeClr val="tx2">
                    <a:lumMod val="75000"/>
                  </a:schemeClr>
                </a:solidFill>
                <a:latin typeface="Arial (Body)"/>
              </a:rPr>
              <a:t>Dữ</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liệu</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thông</a:t>
            </a:r>
            <a:r>
              <a:rPr lang="en-US" sz="3200" b="1" dirty="0">
                <a:solidFill>
                  <a:schemeClr val="tx2">
                    <a:lumMod val="75000"/>
                  </a:schemeClr>
                </a:solidFill>
                <a:latin typeface="Arial (Body)"/>
              </a:rPr>
              <a:t> tin, </a:t>
            </a:r>
            <a:r>
              <a:rPr lang="en-US" sz="3200" b="1" dirty="0" err="1">
                <a:solidFill>
                  <a:schemeClr val="tx2">
                    <a:lumMod val="75000"/>
                  </a:schemeClr>
                </a:solidFill>
                <a:latin typeface="Arial (Body)"/>
              </a:rPr>
              <a:t>kiến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thức</a:t>
            </a:r>
            <a:endParaRPr lang="en-US" sz="3200" b="1" dirty="0">
              <a:solidFill>
                <a:schemeClr val="tx2">
                  <a:lumMod val="75000"/>
                </a:schemeClr>
              </a:solidFill>
              <a:latin typeface="Arial (Body)"/>
            </a:endParaRPr>
          </a:p>
          <a:p>
            <a:r>
              <a:rPr lang="en-US" sz="3200" b="1" dirty="0" err="1">
                <a:solidFill>
                  <a:schemeClr val="tx2">
                    <a:lumMod val="75000"/>
                  </a:schemeClr>
                </a:solidFill>
                <a:latin typeface="Arial (Body)"/>
              </a:rPr>
              <a:t>Định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nghĩa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Thành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phần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của</a:t>
            </a:r>
            <a:r>
              <a:rPr lang="en-US" sz="3200" b="1" dirty="0">
                <a:solidFill>
                  <a:schemeClr val="tx2">
                    <a:lumMod val="75000"/>
                  </a:schemeClr>
                </a:solidFill>
                <a:latin typeface="Arial (Body)"/>
              </a:rPr>
              <a:t> GIS</a:t>
            </a:r>
          </a:p>
          <a:p>
            <a:r>
              <a:rPr lang="en-US" sz="3200" b="1" dirty="0">
                <a:solidFill>
                  <a:schemeClr val="tx2">
                    <a:lumMod val="75000"/>
                  </a:schemeClr>
                </a:solidFill>
                <a:latin typeface="Arial (Body)"/>
              </a:rPr>
              <a:t>Chức năng của GIS</a:t>
            </a:r>
            <a:br>
              <a:rPr lang="en-US" sz="3200" b="1" dirty="0">
                <a:solidFill>
                  <a:schemeClr val="tx2">
                    <a:lumMod val="75000"/>
                  </a:schemeClr>
                </a:solidFill>
                <a:latin typeface="Arial (Body)"/>
              </a:rPr>
            </a:br>
            <a:r>
              <a:rPr lang="en-US" sz="3200" b="1" dirty="0" err="1">
                <a:solidFill>
                  <a:schemeClr val="tx2">
                    <a:lumMod val="75000"/>
                  </a:schemeClr>
                </a:solidFill>
                <a:latin typeface="Arial (Body)"/>
              </a:rPr>
              <a:t>Lịch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sư</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của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Ứng</a:t>
            </a:r>
            <a:r>
              <a:rPr lang="en-US" sz="3200" b="1" dirty="0">
                <a:solidFill>
                  <a:schemeClr val="tx2">
                    <a:lumMod val="75000"/>
                  </a:schemeClr>
                </a:solidFill>
                <a:latin typeface="Arial (Body)"/>
              </a:rPr>
              <a:t> dụng GIS trong </a:t>
            </a:r>
            <a:r>
              <a:rPr lang="en-US" sz="3200" b="1" dirty="0" err="1">
                <a:solidFill>
                  <a:schemeClr val="tx2">
                    <a:lumMod val="75000"/>
                  </a:schemeClr>
                </a:solidFill>
                <a:latin typeface="Arial (Body)"/>
              </a:rPr>
              <a:t>đời</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sống</a:t>
            </a:r>
            <a:endParaRPr lang="vi-VN" sz="3200" dirty="0"/>
          </a:p>
        </p:txBody>
      </p:sp>
      <p:pic>
        <p:nvPicPr>
          <p:cNvPr id="10" name="Picture 2" descr="Trường Đại Học Thủ Dầu Một">
            <a:extLst>
              <a:ext uri="{FF2B5EF4-FFF2-40B4-BE49-F238E27FC236}">
                <a16:creationId xmlns:a16="http://schemas.microsoft.com/office/drawing/2014/main" id="{85CB338D-5FDD-EBAE-EB43-F40D78FBF4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084" y="51362"/>
            <a:ext cx="1454727" cy="70781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A273D1D-99CA-4C30-A675-E377B2FE6E5F}"/>
              </a:ext>
            </a:extLst>
          </p:cNvPr>
          <p:cNvSpPr txBox="1"/>
          <p:nvPr/>
        </p:nvSpPr>
        <p:spPr>
          <a:xfrm>
            <a:off x="329183" y="6488668"/>
            <a:ext cx="11091292" cy="369332"/>
          </a:xfrm>
          <a:prstGeom prst="rect">
            <a:avLst/>
          </a:prstGeom>
          <a:noFill/>
        </p:spPr>
        <p:txBody>
          <a:bodyPr wrap="square">
            <a:spAutoFit/>
          </a:bodyPr>
          <a:lstStyle/>
          <a:p>
            <a:r>
              <a:rPr lang="en-US" dirty="0" err="1"/>
              <a:t>Nghịch</a:t>
            </a:r>
            <a:r>
              <a:rPr lang="en-US" dirty="0"/>
              <a:t> </a:t>
            </a:r>
            <a:r>
              <a:rPr lang="en-US" dirty="0" err="1"/>
              <a:t>điện</a:t>
            </a:r>
            <a:r>
              <a:rPr lang="en-US" dirty="0"/>
              <a:t> https://www.facebook.com/profile.php?id=61585860719470&amp;sk=reels_tab</a:t>
            </a:r>
          </a:p>
        </p:txBody>
      </p:sp>
    </p:spTree>
    <p:extLst>
      <p:ext uri="{BB962C8B-B14F-4D97-AF65-F5344CB8AC3E}">
        <p14:creationId xmlns:p14="http://schemas.microsoft.com/office/powerpoint/2010/main" val="1301378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F71E-1F5C-D0AA-F73E-D450BD91B9DD}"/>
            </a:ext>
          </a:extLst>
        </p:cNvPr>
        <p:cNvGrpSpPr/>
        <p:nvPr/>
      </p:nvGrpSpPr>
      <p:grpSpPr>
        <a:xfrm>
          <a:off x="0" y="0"/>
          <a:ext cx="0" cy="0"/>
          <a:chOff x="0" y="0"/>
          <a:chExt cx="0" cy="0"/>
        </a:xfrm>
      </p:grpSpPr>
      <p:sp>
        <p:nvSpPr>
          <p:cNvPr id="4" name="AutoShape 5">
            <a:extLst>
              <a:ext uri="{FF2B5EF4-FFF2-40B4-BE49-F238E27FC236}">
                <a16:creationId xmlns:a16="http://schemas.microsoft.com/office/drawing/2014/main" id="{92EEEAE5-34DA-E636-2449-A35A5887199A}"/>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A9A7E7FC-9A9C-DD26-20F3-357AA97A50A3}"/>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err="1">
                <a:solidFill>
                  <a:schemeClr val="tx2">
                    <a:lumMod val="75000"/>
                  </a:schemeClr>
                </a:solidFill>
                <a:latin typeface="Arial (Body)"/>
              </a:rPr>
              <a:t>Ứng</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dụng</a:t>
            </a:r>
            <a:endParaRPr lang="vi-VN" sz="3600" dirty="0"/>
          </a:p>
        </p:txBody>
      </p:sp>
      <p:sp>
        <p:nvSpPr>
          <p:cNvPr id="9" name="Rectangle 10">
            <a:extLst>
              <a:ext uri="{FF2B5EF4-FFF2-40B4-BE49-F238E27FC236}">
                <a16:creationId xmlns:a16="http://schemas.microsoft.com/office/drawing/2014/main" id="{3B7091AB-2903-28E7-E690-CEE98625A2F0}"/>
              </a:ext>
            </a:extLst>
          </p:cNvPr>
          <p:cNvSpPr>
            <a:spLocks noChangeArrowheads="1"/>
          </p:cNvSpPr>
          <p:nvPr/>
        </p:nvSpPr>
        <p:spPr bwMode="black">
          <a:xfrm>
            <a:off x="9455492" y="599148"/>
            <a:ext cx="6804263" cy="3046988"/>
          </a:xfrm>
          <a:prstGeom prst="rect">
            <a:avLst/>
          </a:prstGeom>
          <a:noFill/>
          <a:ln w="9525" algn="ctr">
            <a:noFill/>
            <a:miter lim="800000"/>
            <a:headEnd/>
            <a:tailEnd/>
          </a:ln>
          <a:effectLst/>
        </p:spPr>
        <p:txBody>
          <a:bodyPr wrap="square">
            <a:spAutoFit/>
          </a:bodyPr>
          <a:lstStyle/>
          <a:p>
            <a:r>
              <a:rPr lang="en-US" sz="3200" b="1" dirty="0" err="1">
                <a:solidFill>
                  <a:schemeClr val="tx2">
                    <a:lumMod val="75000"/>
                  </a:schemeClr>
                </a:solidFill>
                <a:latin typeface="Arial (Body)"/>
              </a:rPr>
              <a:t>Dữ</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liệu</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thông</a:t>
            </a:r>
            <a:r>
              <a:rPr lang="en-US" sz="3200" b="1" dirty="0">
                <a:solidFill>
                  <a:schemeClr val="tx2">
                    <a:lumMod val="75000"/>
                  </a:schemeClr>
                </a:solidFill>
                <a:latin typeface="Arial (Body)"/>
              </a:rPr>
              <a:t> tin, </a:t>
            </a:r>
            <a:r>
              <a:rPr lang="en-US" sz="3200" b="1" dirty="0" err="1">
                <a:solidFill>
                  <a:schemeClr val="tx2">
                    <a:lumMod val="75000"/>
                  </a:schemeClr>
                </a:solidFill>
                <a:latin typeface="Arial (Body)"/>
              </a:rPr>
              <a:t>kiến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thức</a:t>
            </a:r>
            <a:endParaRPr lang="en-US" sz="3200" b="1" dirty="0">
              <a:solidFill>
                <a:schemeClr val="tx2">
                  <a:lumMod val="75000"/>
                </a:schemeClr>
              </a:solidFill>
              <a:latin typeface="Arial (Body)"/>
            </a:endParaRPr>
          </a:p>
          <a:p>
            <a:r>
              <a:rPr lang="en-US" sz="3200" b="1" dirty="0" err="1">
                <a:solidFill>
                  <a:schemeClr val="tx2">
                    <a:lumMod val="75000"/>
                  </a:schemeClr>
                </a:solidFill>
                <a:latin typeface="Arial (Body)"/>
              </a:rPr>
              <a:t>Định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nghĩa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Thành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phần</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của</a:t>
            </a:r>
            <a:r>
              <a:rPr lang="en-US" sz="3200" b="1" dirty="0">
                <a:solidFill>
                  <a:schemeClr val="tx2">
                    <a:lumMod val="75000"/>
                  </a:schemeClr>
                </a:solidFill>
                <a:latin typeface="Arial (Body)"/>
              </a:rPr>
              <a:t> GIS</a:t>
            </a:r>
          </a:p>
          <a:p>
            <a:r>
              <a:rPr lang="en-US" sz="3200" b="1" dirty="0">
                <a:solidFill>
                  <a:schemeClr val="tx2">
                    <a:lumMod val="75000"/>
                  </a:schemeClr>
                </a:solidFill>
                <a:latin typeface="Arial (Body)"/>
              </a:rPr>
              <a:t>Chức năng của GIS</a:t>
            </a:r>
            <a:br>
              <a:rPr lang="en-US" sz="3200" b="1" dirty="0">
                <a:solidFill>
                  <a:schemeClr val="tx2">
                    <a:lumMod val="75000"/>
                  </a:schemeClr>
                </a:solidFill>
                <a:latin typeface="Arial (Body)"/>
              </a:rPr>
            </a:br>
            <a:r>
              <a:rPr lang="en-US" sz="3200" b="1" dirty="0" err="1">
                <a:solidFill>
                  <a:schemeClr val="tx2">
                    <a:lumMod val="75000"/>
                  </a:schemeClr>
                </a:solidFill>
                <a:latin typeface="Arial (Body)"/>
              </a:rPr>
              <a:t>Lịch</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sư</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của</a:t>
            </a:r>
            <a:r>
              <a:rPr lang="en-US" sz="3200" b="1" dirty="0">
                <a:solidFill>
                  <a:schemeClr val="tx2">
                    <a:lumMod val="75000"/>
                  </a:schemeClr>
                </a:solidFill>
                <a:latin typeface="Arial (Body)"/>
              </a:rPr>
              <a:t> GIS</a:t>
            </a:r>
          </a:p>
          <a:p>
            <a:r>
              <a:rPr lang="en-US" sz="3200" b="1" dirty="0" err="1">
                <a:solidFill>
                  <a:schemeClr val="tx2">
                    <a:lumMod val="75000"/>
                  </a:schemeClr>
                </a:solidFill>
                <a:latin typeface="Arial (Body)"/>
              </a:rPr>
              <a:t>Ứng</a:t>
            </a:r>
            <a:r>
              <a:rPr lang="en-US" sz="3200" b="1" dirty="0">
                <a:solidFill>
                  <a:schemeClr val="tx2">
                    <a:lumMod val="75000"/>
                  </a:schemeClr>
                </a:solidFill>
                <a:latin typeface="Arial (Body)"/>
              </a:rPr>
              <a:t> dụng GIS trong </a:t>
            </a:r>
            <a:r>
              <a:rPr lang="en-US" sz="3200" b="1" dirty="0" err="1">
                <a:solidFill>
                  <a:schemeClr val="tx2">
                    <a:lumMod val="75000"/>
                  </a:schemeClr>
                </a:solidFill>
                <a:latin typeface="Arial (Body)"/>
              </a:rPr>
              <a:t>đời</a:t>
            </a:r>
            <a:r>
              <a:rPr lang="en-US" sz="3200" b="1" dirty="0">
                <a:solidFill>
                  <a:schemeClr val="tx2">
                    <a:lumMod val="75000"/>
                  </a:schemeClr>
                </a:solidFill>
                <a:latin typeface="Arial (Body)"/>
              </a:rPr>
              <a:t> </a:t>
            </a:r>
            <a:r>
              <a:rPr lang="en-US" sz="3200" b="1" dirty="0" err="1">
                <a:solidFill>
                  <a:schemeClr val="tx2">
                    <a:lumMod val="75000"/>
                  </a:schemeClr>
                </a:solidFill>
                <a:latin typeface="Arial (Body)"/>
              </a:rPr>
              <a:t>sống</a:t>
            </a:r>
            <a:endParaRPr lang="vi-VN" sz="3200" dirty="0"/>
          </a:p>
        </p:txBody>
      </p:sp>
      <p:pic>
        <p:nvPicPr>
          <p:cNvPr id="10" name="Picture 2" descr="Trường Đại Học Thủ Dầu Một">
            <a:extLst>
              <a:ext uri="{FF2B5EF4-FFF2-40B4-BE49-F238E27FC236}">
                <a16:creationId xmlns:a16="http://schemas.microsoft.com/office/drawing/2014/main" id="{9A2FC5F1-8DF1-2D84-82DC-339D680856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084" y="51362"/>
            <a:ext cx="1454727" cy="70781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66B4762-46CF-9FA2-8249-38440286445C}"/>
              </a:ext>
            </a:extLst>
          </p:cNvPr>
          <p:cNvSpPr txBox="1"/>
          <p:nvPr/>
        </p:nvSpPr>
        <p:spPr>
          <a:xfrm>
            <a:off x="329183" y="6488668"/>
            <a:ext cx="11091292" cy="369332"/>
          </a:xfrm>
          <a:prstGeom prst="rect">
            <a:avLst/>
          </a:prstGeom>
          <a:noFill/>
        </p:spPr>
        <p:txBody>
          <a:bodyPr wrap="square">
            <a:spAutoFit/>
          </a:bodyPr>
          <a:lstStyle/>
          <a:p>
            <a:r>
              <a:rPr lang="en-US" b="1" u="sng" dirty="0">
                <a:hlinkClick r:id="rId3"/>
              </a:rPr>
              <a:t>SGC Workshop</a:t>
            </a:r>
            <a:r>
              <a:rPr lang="en-US" b="1" u="sng" dirty="0"/>
              <a:t> </a:t>
            </a:r>
            <a:r>
              <a:rPr lang="en-US" dirty="0"/>
              <a:t>https://www.facebook.com/profile.php?id=100064049285188&amp;sk=reels_tab&amp;__tn__=-]</a:t>
            </a:r>
          </a:p>
        </p:txBody>
      </p:sp>
    </p:spTree>
    <p:extLst>
      <p:ext uri="{BB962C8B-B14F-4D97-AF65-F5344CB8AC3E}">
        <p14:creationId xmlns:p14="http://schemas.microsoft.com/office/powerpoint/2010/main" val="223359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E974-C314-AE99-8185-EEA8337C42AD}"/>
            </a:ext>
          </a:extLst>
        </p:cNvPr>
        <p:cNvGrpSpPr/>
        <p:nvPr/>
      </p:nvGrpSpPr>
      <p:grpSpPr>
        <a:xfrm>
          <a:off x="0" y="0"/>
          <a:ext cx="0" cy="0"/>
          <a:chOff x="0" y="0"/>
          <a:chExt cx="0" cy="0"/>
        </a:xfrm>
      </p:grpSpPr>
      <p:sp>
        <p:nvSpPr>
          <p:cNvPr id="4" name="AutoShape 5">
            <a:extLst>
              <a:ext uri="{FF2B5EF4-FFF2-40B4-BE49-F238E27FC236}">
                <a16:creationId xmlns:a16="http://schemas.microsoft.com/office/drawing/2014/main" id="{62385DDE-57F2-8B3B-10C5-D499FD43F432}"/>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C91B8607-9F13-1545-DF88-99FE6B11550D}"/>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err="1">
                <a:solidFill>
                  <a:schemeClr val="tx2">
                    <a:lumMod val="75000"/>
                  </a:schemeClr>
                </a:solidFill>
                <a:latin typeface="Arial (Body)"/>
              </a:rPr>
              <a:t>Ứng</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dụng</a:t>
            </a:r>
            <a:endParaRPr lang="vi-VN" sz="3600" dirty="0"/>
          </a:p>
        </p:txBody>
      </p:sp>
      <p:pic>
        <p:nvPicPr>
          <p:cNvPr id="10" name="Picture 2" descr="Trường Đại Học Thủ Dầu Một">
            <a:extLst>
              <a:ext uri="{FF2B5EF4-FFF2-40B4-BE49-F238E27FC236}">
                <a16:creationId xmlns:a16="http://schemas.microsoft.com/office/drawing/2014/main" id="{C3BC0E9F-1DE2-4F80-DEE9-666C5A2864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084" y="51362"/>
            <a:ext cx="1454727" cy="70781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391503C-2637-9947-3D50-BC01867988A4}"/>
              </a:ext>
            </a:extLst>
          </p:cNvPr>
          <p:cNvSpPr txBox="1"/>
          <p:nvPr/>
        </p:nvSpPr>
        <p:spPr>
          <a:xfrm>
            <a:off x="329183" y="6488668"/>
            <a:ext cx="11091292" cy="369332"/>
          </a:xfrm>
          <a:prstGeom prst="rect">
            <a:avLst/>
          </a:prstGeom>
          <a:noFill/>
        </p:spPr>
        <p:txBody>
          <a:bodyPr wrap="square">
            <a:spAutoFit/>
          </a:bodyPr>
          <a:lstStyle/>
          <a:p>
            <a:r>
              <a:rPr lang="en-US" b="1" dirty="0" err="1">
                <a:hlinkClick r:id="rId3"/>
              </a:rPr>
              <a:t>Hội</a:t>
            </a:r>
            <a:r>
              <a:rPr lang="en-US" b="1" dirty="0">
                <a:hlinkClick r:id="rId3"/>
              </a:rPr>
              <a:t> </a:t>
            </a:r>
            <a:r>
              <a:rPr lang="en-US" b="1" dirty="0" err="1">
                <a:hlinkClick r:id="rId3"/>
              </a:rPr>
              <a:t>Vọc</a:t>
            </a:r>
            <a:r>
              <a:rPr lang="en-US" b="1" dirty="0">
                <a:hlinkClick r:id="rId3"/>
              </a:rPr>
              <a:t> </a:t>
            </a:r>
            <a:r>
              <a:rPr lang="en-US" b="1" dirty="0" err="1">
                <a:hlinkClick r:id="rId3"/>
              </a:rPr>
              <a:t>Sĩ</a:t>
            </a:r>
            <a:r>
              <a:rPr lang="en-US" b="1" dirty="0"/>
              <a:t> https://www.facebook.com/profile.php?id=61581220204083</a:t>
            </a:r>
          </a:p>
        </p:txBody>
      </p:sp>
    </p:spTree>
    <p:extLst>
      <p:ext uri="{BB962C8B-B14F-4D97-AF65-F5344CB8AC3E}">
        <p14:creationId xmlns:p14="http://schemas.microsoft.com/office/powerpoint/2010/main" val="85122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D2A9-7501-E02A-1E3A-4CF5947BECAF}"/>
            </a:ext>
          </a:extLst>
        </p:cNvPr>
        <p:cNvGrpSpPr/>
        <p:nvPr/>
      </p:nvGrpSpPr>
      <p:grpSpPr>
        <a:xfrm>
          <a:off x="0" y="0"/>
          <a:ext cx="0" cy="0"/>
          <a:chOff x="0" y="0"/>
          <a:chExt cx="0" cy="0"/>
        </a:xfrm>
      </p:grpSpPr>
      <p:sp>
        <p:nvSpPr>
          <p:cNvPr id="4" name="AutoShape 5">
            <a:extLst>
              <a:ext uri="{FF2B5EF4-FFF2-40B4-BE49-F238E27FC236}">
                <a16:creationId xmlns:a16="http://schemas.microsoft.com/office/drawing/2014/main" id="{E1E42EA1-916C-C443-2386-80460FF6FC6A}"/>
              </a:ext>
            </a:extLst>
          </p:cNvPr>
          <p:cNvSpPr>
            <a:spLocks noChangeArrowheads="1"/>
          </p:cNvSpPr>
          <p:nvPr/>
        </p:nvSpPr>
        <p:spPr bwMode="ltGray">
          <a:xfrm>
            <a:off x="3238502" y="-1"/>
            <a:ext cx="7429499" cy="800101"/>
          </a:xfrm>
          <a:prstGeom prst="roundRect">
            <a:avLst>
              <a:gd name="adj" fmla="val 22019"/>
            </a:avLst>
          </a:prstGeom>
          <a:gradFill rotWithShape="1">
            <a:gsLst>
              <a:gs pos="0">
                <a:srgbClr val="C0C0C0">
                  <a:gamma/>
                  <a:tint val="91765"/>
                  <a:invGamma/>
                </a:srgbClr>
              </a:gs>
              <a:gs pos="50000">
                <a:srgbClr val="C0C0C0">
                  <a:alpha val="30000"/>
                </a:srgbClr>
              </a:gs>
              <a:gs pos="100000">
                <a:srgbClr val="C0C0C0">
                  <a:gamma/>
                  <a:tint val="91765"/>
                  <a:invGamma/>
                </a:srgbClr>
              </a:gs>
            </a:gsLst>
            <a:lin ang="5400000" scaled="1"/>
          </a:gradFill>
          <a:ln w="9525" algn="ctr">
            <a:noFill/>
            <a:round/>
            <a:headEnd/>
            <a:tailEnd/>
          </a:ln>
          <a:effectLst/>
        </p:spPr>
        <p:txBody>
          <a:bodyPr wrap="none" anchor="ctr"/>
          <a:lstStyle/>
          <a:p>
            <a:endParaRPr lang="vi-VN">
              <a:latin typeface="Arial (Body)"/>
            </a:endParaRPr>
          </a:p>
        </p:txBody>
      </p:sp>
      <p:sp>
        <p:nvSpPr>
          <p:cNvPr id="5" name="Rectangle 10">
            <a:extLst>
              <a:ext uri="{FF2B5EF4-FFF2-40B4-BE49-F238E27FC236}">
                <a16:creationId xmlns:a16="http://schemas.microsoft.com/office/drawing/2014/main" id="{2BB95E6C-687D-17A7-0D33-3138E0A85F56}"/>
              </a:ext>
            </a:extLst>
          </p:cNvPr>
          <p:cNvSpPr>
            <a:spLocks noChangeArrowheads="1"/>
          </p:cNvSpPr>
          <p:nvPr/>
        </p:nvSpPr>
        <p:spPr bwMode="black">
          <a:xfrm>
            <a:off x="3758877" y="69587"/>
            <a:ext cx="6804263" cy="646331"/>
          </a:xfrm>
          <a:prstGeom prst="rect">
            <a:avLst/>
          </a:prstGeom>
          <a:noFill/>
          <a:ln w="9525" algn="ctr">
            <a:noFill/>
            <a:miter lim="800000"/>
            <a:headEnd/>
            <a:tailEnd/>
          </a:ln>
          <a:effectLst/>
        </p:spPr>
        <p:txBody>
          <a:bodyPr wrap="square">
            <a:spAutoFit/>
          </a:bodyPr>
          <a:lstStyle/>
          <a:p>
            <a:pPr algn="ctr"/>
            <a:r>
              <a:rPr lang="en-US" sz="3600" b="1" dirty="0" err="1">
                <a:solidFill>
                  <a:schemeClr val="tx2">
                    <a:lumMod val="75000"/>
                  </a:schemeClr>
                </a:solidFill>
                <a:latin typeface="Arial (Body)"/>
              </a:rPr>
              <a:t>Ứng</a:t>
            </a:r>
            <a:r>
              <a:rPr lang="en-US" sz="3600" b="1" dirty="0">
                <a:solidFill>
                  <a:schemeClr val="tx2">
                    <a:lumMod val="75000"/>
                  </a:schemeClr>
                </a:solidFill>
                <a:latin typeface="Arial (Body)"/>
              </a:rPr>
              <a:t> </a:t>
            </a:r>
            <a:r>
              <a:rPr lang="en-US" sz="3600" b="1" dirty="0" err="1">
                <a:solidFill>
                  <a:schemeClr val="tx2">
                    <a:lumMod val="75000"/>
                  </a:schemeClr>
                </a:solidFill>
                <a:latin typeface="Arial (Body)"/>
              </a:rPr>
              <a:t>dụng</a:t>
            </a:r>
            <a:endParaRPr lang="vi-VN" sz="3600" dirty="0"/>
          </a:p>
        </p:txBody>
      </p:sp>
      <p:pic>
        <p:nvPicPr>
          <p:cNvPr id="10" name="Picture 2" descr="Trường Đại Học Thủ Dầu Một">
            <a:extLst>
              <a:ext uri="{FF2B5EF4-FFF2-40B4-BE49-F238E27FC236}">
                <a16:creationId xmlns:a16="http://schemas.microsoft.com/office/drawing/2014/main" id="{1FCB1E08-7CA4-E302-1581-00725F4724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9084" y="51362"/>
            <a:ext cx="1454727" cy="70781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446AC89D-7B0E-07E4-3105-2E0B3BABFFB5}"/>
              </a:ext>
            </a:extLst>
          </p:cNvPr>
          <p:cNvSpPr txBox="1"/>
          <p:nvPr/>
        </p:nvSpPr>
        <p:spPr>
          <a:xfrm>
            <a:off x="329183" y="6488668"/>
            <a:ext cx="11091292" cy="369332"/>
          </a:xfrm>
          <a:prstGeom prst="rect">
            <a:avLst/>
          </a:prstGeom>
          <a:noFill/>
        </p:spPr>
        <p:txBody>
          <a:bodyPr wrap="square">
            <a:spAutoFit/>
          </a:bodyPr>
          <a:lstStyle/>
          <a:p>
            <a:r>
              <a:rPr lang="en-US" b="1"/>
              <a:t>Creative SM https</a:t>
            </a:r>
            <a:r>
              <a:rPr lang="en-US" b="1" dirty="0"/>
              <a:t>://www.facebook.com/profile.php?id=61551891055264&amp;sk=reels_tab</a:t>
            </a:r>
          </a:p>
        </p:txBody>
      </p:sp>
    </p:spTree>
    <p:extLst>
      <p:ext uri="{BB962C8B-B14F-4D97-AF65-F5344CB8AC3E}">
        <p14:creationId xmlns:p14="http://schemas.microsoft.com/office/powerpoint/2010/main" val="1953953346"/>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13942</TotalTime>
  <Words>1216</Words>
  <Application>Microsoft Office PowerPoint</Application>
  <PresentationFormat>Widescreen</PresentationFormat>
  <Paragraphs>136</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 (Body)</vt:lpstr>
      <vt:lpstr>Arial</vt:lpstr>
      <vt:lpstr>Calibri</vt:lpstr>
      <vt:lpstr>Calibri Light</vt:lpstr>
      <vt:lpstr>Times New Roman</vt:lpstr>
      <vt:lpstr>Verdana</vt:lpstr>
      <vt:lpstr>Wingdings</vt:lpstr>
      <vt:lpstr>Wingdings 2</vt:lpstr>
      <vt:lpstr>HDOfficeLightV0</vt:lpstr>
      <vt:lpstr>IOT TRONG KỸ THUẬT MÔI TRƯỜNG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Chương 1 Tổng quan về hệ thống thông tin địa lý</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Le Tan Dat</dc:creator>
  <cp:lastModifiedBy>Le Tan Dat Nguyen</cp:lastModifiedBy>
  <cp:revision>623</cp:revision>
  <dcterms:created xsi:type="dcterms:W3CDTF">2015-10-18T08:05:16Z</dcterms:created>
  <dcterms:modified xsi:type="dcterms:W3CDTF">2026-08-09T18:05:23Z</dcterms:modified>
</cp:coreProperties>
</file>