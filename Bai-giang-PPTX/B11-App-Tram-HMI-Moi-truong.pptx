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6364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50292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548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4A3B8"/>
                </a:solidFill>
                <a:latin typeface="Calibri"/>
              </a:rPr>
              <a:t>ĐẠI HỌC THỦ DẦU MỘT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80467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IOT TRONG KỸ THUẬT MÔI TRƯỜNG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BUỔI 11/12 · NỐI TIẾP B5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532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E293B"/>
                </a:solidFill>
                <a:latin typeface="Calibri"/>
              </a:rPr>
              <a:t>B11: Web App &amp; Mobile App — Trạm HMI Tổng hợp từ 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75569"/>
                </a:solidFill>
                <a:latin typeface="Calibri"/>
              </a:rPr>
              <a:t>Mở rộng trạm HMI (LCD + DHT11 + MQ-2 + LED) của Buổi 5 thành Dashboard tổng hợp nhiều cảm biến trên App/Web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5349240"/>
            <a:ext cx="4480560" cy="0"/>
          </a:xfrm>
          <a:prstGeom prst="line">
            <a:avLst/>
          </a:prstGeom>
          <a:ln w="12700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550468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1E293B"/>
                </a:solidFill>
                <a:latin typeface="Calibri"/>
              </a:rPr>
              <a:t>Giảng viên hướng dẫn: Nguyễn Lê Tấn Đạt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9729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Nền tảng: Blynk IoT (App di động + Web Dashboard)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685800"/>
            <a:ext cx="24688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03136" y="832104"/>
            <a:ext cx="2304288" cy="473659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03136" y="832104"/>
            <a:ext cx="230428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B11 App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76288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55180" y="13624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7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91856" y="1271016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70748" y="13624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83296" y="1883663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76288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155180" y="2304288"/>
            <a:ext cx="484632" cy="484632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7727" y="2825496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2212848"/>
            <a:ext cx="1042416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94192" y="2340864"/>
            <a:ext cx="237744" cy="237744"/>
          </a:xfrm>
          <a:prstGeom prst="ellipse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83296" y="2633472"/>
            <a:ext cx="8595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TẮT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2843784"/>
            <a:ext cx="8595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1280160"/>
            <a:ext cx="2331720" cy="2926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72600" y="1280160"/>
            <a:ext cx="233172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9760" y="140817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10928" y="140817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12096" y="140817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95560" y="1335024"/>
            <a:ext cx="1325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20" y="187451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54996" y="196596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67004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46920" y="306323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54996" y="3154679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38360" y="3858768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46920" y="4251959"/>
            <a:ext cx="17830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254996" y="4343399"/>
            <a:ext cx="566928" cy="566928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5047487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372600" y="4343400"/>
            <a:ext cx="2331720" cy="1371600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8B5CF6"/>
                </a:solidFill>
                <a:latin typeface="Calibri"/>
              </a:rPr>
              <a:t>B11
↔ B5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64739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1">
                <a:solidFill>
                  <a:srgbClr val="94A3B8"/>
                </a:solidFill>
                <a:latin typeface="Calibri"/>
              </a:rPr>
              <a:t>Minh hoạ bố cục giao diện App/Web — thiết kế thực tế tuỳ chỉnh trong Blynk.Console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MỤC TIÊU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Mục tiêu bài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530352" cy="5303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435608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Thiết kế Dashboard tổng hợp NHIỀU cảm biến trên cùng 1 màn hình App/Web — mở rộng khái niệm HMI đã học ở Buổi 5 ra không gian từ xa.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530352" cy="53035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276856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Sử dụng bố cục nhiều Tab/nhiều trang trong Blynk App cho hệ thống có nhiều nhóm dữ liệu.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530352" cy="53035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18104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So sánh ưu — nhược điểm giữa HMI tại chỗ (LCD vật lý) và HMI từ xa (App/Web) trong cùng 1 hệ thống.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530352" cy="530352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959352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 i="0">
                <a:solidFill>
                  <a:srgbClr val="1E293B"/>
                </a:solidFill>
                <a:latin typeface="Calibri"/>
              </a:rPr>
              <a:t>Thiết lập Web Dashboard dùng cho "phòng điều khiển trung tâm" xem nhiều trạm cùng lúc.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B11 · ÔN LẠI KIẾN THỨC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Nhắc lại hệ thống phần cứng B5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5 đã xây dựng: LCD1602 hiển thị tổng hợp Nhiệt độ/Độ ẩm (DHT11) + Nồng độ Gas (MQ-2), có LED cảnh báo khi Gas &gt; 300 PPM.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Hạn chế: đây là HMI CHỈ xem được tại chỗ — đúng như tên gọi "Human-Machine Interface" nhưng "Human" phải đứng ngay cạnh máy.</a:t>
            </a:r>
          </a:p>
          <a:p>
            <a:pPr algn="l">
              <a:spcAft>
                <a:spcPts val="1600"/>
              </a:spcAft>
            </a:pPr>
            <a:r>
              <a:rPr sz="1500" b="1">
                <a:solidFill>
                  <a:srgbClr val="3B82F6"/>
                </a:solidFill>
                <a:latin typeface="Calibri"/>
              </a:rPr>
              <a:t>●  </a:t>
            </a:r>
            <a:r>
              <a:rPr sz="1500" b="0">
                <a:solidFill>
                  <a:srgbClr val="1E293B"/>
                </a:solidFill>
                <a:latin typeface="Calibri"/>
              </a:rPr>
              <a:t>Buổi 11 chuyển hoá toàn bộ nội dung màn hình LCD đó thành 1 Dashboard xem được từ bất kỳ đâu, đồng thời KHÔNG bỏ LCD tại chỗ (2 lớp hiển thị song song).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80560"/>
            <a:ext cx="11064240" cy="1691640"/>
          </a:xfrm>
          <a:prstGeom prst="roundRect">
            <a:avLst/>
          </a:prstGeom>
          <a:solidFill>
            <a:srgbClr val="F3EEFE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BÀI B11 SẼ MỞ RỘNG PHẦN NÀO?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92624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Chỉ bổ sung PHẦN MỀM (thư viện Blynk + WiFi) — toàn bộ sơ đồ đấu dây và logic cảm biến/thiết bị chấp hành đã học ở B5 được giữ nguyên 100%, không cần lắp lại mạch.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B11 ·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Blynk IoT là gì?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Blynk IoT là nền tảng đám mây (Cloud) chuyên dụng cho thiết bị nhúng — cho phép thiết bị như ESP32-S3 gửi dữ liệu lên và nhận lệnh điều khiển xuống, hiển thị qua ứng dụng di động (iOS/Android) và Web Dashboard mà không cần tự xây server riêng.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loại thiết bị được định nghĩa bằng 1 "Template" — gồm Template ID, danh sách Datastream (dữ liệu trao đổi) và cấu hình Widget mặc định.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Datastream (còn gọi là Virtual Pin, ký hiệu V0, V1, V2...) là các "kênh dữ liệu ảo" độc lập với chân GPIO vật lý — dùng để trao đổi bất kỳ loại dữ liệu nào (số, chuỗi, trạng thái) giữa firmware và Cloud.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Mỗi thiết bị vật lý có 1 Auth Token duy nhất — đóng vai trò như "mật khẩu riêng" xác thực thiết bị đó với đúng tài khoản Cloud của người dùng.</a:t>
            </a:r>
          </a:p>
          <a:p>
            <a:pPr algn="l">
              <a:spcAft>
                <a:spcPts val="1400"/>
              </a:spcAft>
            </a:pPr>
            <a:r>
              <a:rPr sz="1400" b="1">
                <a:solidFill>
                  <a:srgbClr val="8B5CF6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Firmware giao tiếp với Cloud qua 2 chiều: Blynk.virtualWrite(V_pin, value) để GỬI dữ liệu lên App/Web; hàm BLYNK_WRITE(V_pin) để NHẬN lệnh điều khiển từ App/Web gửi xuống.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1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B11 · KIẾN TRÚC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Kiến trúc kết nối Board — Cloud —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ESP32-S3
(B5)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24231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304038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29000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Kết nối WiFi
(Internet)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1645920"/>
            <a:ext cx="2423160" cy="10972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5920740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5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Blynk Cloud
(Datastream)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42316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801099" y="2075688"/>
            <a:ext cx="320040" cy="329184"/>
          </a:xfrm>
          <a:prstGeom prst="rightArrow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89719" y="1645920"/>
            <a:ext cx="24231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1E293B"/>
                </a:solidFill>
                <a:latin typeface="Calibri"/>
              </a:rPr>
              <a:t>App di động &amp;
Web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19" y="1645920"/>
            <a:ext cx="2423160" cy="10972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1">
                <a:solidFill>
                  <a:srgbClr val="475569"/>
                </a:solidFill>
                <a:latin typeface="Calibri"/>
              </a:rPr>
              <a:t>Dữ liệu đi 2 CHIỀU qua Blynk Cloud: (1) Cảm biến → Board → Cloud → App/Web (giám sát), và (2) App/Web → Cloud → Board → Thiết bị chấp hành (điều khiển ngược lại, nếu bài có Switch/Slider).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977639"/>
            <a:ext cx="110642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133087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Calibri"/>
              </a:rPr>
              <a:t>Vận dụng cụ thể cho bài B11: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498848"/>
            <a:ext cx="10515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Nhiệt độ không khí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Độ ẩm không khí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Nồng độ khí Gas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06B6D4"/>
                </a:solidFill>
                <a:latin typeface="Calibri"/>
              </a:rPr>
              <a:t>●  </a:t>
            </a:r>
            <a:r>
              <a:rPr sz="1200" b="0">
                <a:solidFill>
                  <a:srgbClr val="475569"/>
                </a:solidFill>
                <a:latin typeface="Calibri"/>
              </a:rPr>
              <a:t>Trạng thái LED cảnh báo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F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B11 · CẤU HÌNH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Bảng ánh xạ Datastream (Virtual Pin)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63040"/>
          <a:ext cx="11064238" cy="29077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39372"/>
                <a:gridCol w="3656009"/>
                <a:gridCol w="3367377"/>
                <a:gridCol w="2501480"/>
              </a:tblGrid>
              <a:tr h="58155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Virtual Pin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Ý nghĩa dữ liệu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Kiểu dữ liệu / Đơn vị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Widget đề xuất</a:t>
                      </a:r>
                    </a:p>
                  </a:txBody>
                  <a:tcPr marL="73152" marR="73152" marT="36576" marB="36576" anchor="ctr">
                    <a:solidFill>
                      <a:srgbClr val="F59E0B"/>
                    </a:solidFill>
                  </a:tcPr>
                </a:tc>
              </a:tr>
              <a:tr h="5815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Nhiệt độ không khí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°C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15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V1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Độ ẩm không khí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Double, %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8155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Nồng độ khí Gas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PPM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Gauge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8155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Trạng thái LED cảnh báo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Integer, 0/1 (chỉ đọc)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E293B"/>
                          </a:solidFill>
                          <a:latin typeface="Calibri"/>
                        </a:rPr>
                        <a:t>LED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4645151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75569"/>
                </a:solidFill>
                <a:latin typeface="Calibri"/>
              </a:rPr>
              <a:t>Datastream được khai báo 1 lần trong Blynk.Console (Template → Datastreams), sau đó firmware chỉ cần gọi đúng số hiệu Virtual Pin (V0, V1...) tương ứng — không cần khai báo lại trong 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CE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B11 · GIAO DIỆN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giao diện Mobile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3108960" cy="50749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375" y="1517904"/>
            <a:ext cx="2944368" cy="47823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2375" y="1517904"/>
            <a:ext cx="294436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B11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34439" y="20482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7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31135" y="1956816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670047" y="20482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5" y="2569463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34439" y="2990088"/>
            <a:ext cx="484632" cy="484632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7" y="3511296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1135" y="2898648"/>
            <a:ext cx="13624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793491" y="3026664"/>
            <a:ext cx="237744" cy="237744"/>
          </a:xfrm>
          <a:prstGeom prst="ellipse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22575" y="3319272"/>
            <a:ext cx="117957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TẮT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2575" y="3529584"/>
            <a:ext cx="117957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141732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Danh sách Widget sử dụng:</a:t>
            </a:r>
          </a:p>
        </p:txBody>
      </p:sp>
      <p:sp>
        <p:nvSpPr>
          <p:cNvPr id="27" name="Oval 26"/>
          <p:cNvSpPr/>
          <p:nvPr/>
        </p:nvSpPr>
        <p:spPr>
          <a:xfrm>
            <a:off x="4206240" y="1892807"/>
            <a:ext cx="292608" cy="2926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1874519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“Nhiệt độ”</a:t>
            </a:r>
          </a:p>
        </p:txBody>
      </p:sp>
      <p:sp>
        <p:nvSpPr>
          <p:cNvPr id="29" name="Oval 28"/>
          <p:cNvSpPr/>
          <p:nvPr/>
        </p:nvSpPr>
        <p:spPr>
          <a:xfrm>
            <a:off x="4206240" y="2459736"/>
            <a:ext cx="292608" cy="292608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2441448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“Độ ẩm”</a:t>
            </a:r>
          </a:p>
        </p:txBody>
      </p:sp>
      <p:sp>
        <p:nvSpPr>
          <p:cNvPr id="31" name="Oval 30"/>
          <p:cNvSpPr/>
          <p:nvPr/>
        </p:nvSpPr>
        <p:spPr>
          <a:xfrm>
            <a:off x="4206240" y="3026664"/>
            <a:ext cx="292608" cy="292608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008376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Gauge (đồng hồ đo) — “Gas PPM”</a:t>
            </a:r>
          </a:p>
        </p:txBody>
      </p:sp>
      <p:sp>
        <p:nvSpPr>
          <p:cNvPr id="33" name="Oval 32"/>
          <p:cNvSpPr/>
          <p:nvPr/>
        </p:nvSpPr>
        <p:spPr>
          <a:xfrm>
            <a:off x="4206240" y="3593592"/>
            <a:ext cx="292608" cy="29260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63440" y="3575304"/>
            <a:ext cx="6766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LED (đèn trạng thái) — “Cảnh báo”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4279392"/>
            <a:ext cx="7223760" cy="1051560"/>
          </a:xfrm>
          <a:prstGeom prst="roundRect">
            <a:avLst/>
          </a:prstGeom>
          <a:solidFill>
            <a:srgbClr val="FDECF4"/>
          </a:solidFill>
          <a:ln w="1397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416552"/>
            <a:ext cx="6766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1E293B"/>
                </a:solidFill>
                <a:latin typeface="Calibri"/>
              </a:rPr>
              <a:t>Nguyên tắc thiết kế: đặt Widget quan trọng nhất (cảnh báo, trạng thái) ở vị trí dễ thấy nhất trên màn hình, nhóm các Widget cùng loại cảm biến gần nhau, ưu tiên Gauge/LED cho dữ liệu cần đọc nhanh.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B11 · GIAO DIỆN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Thiết kế Web Dashboard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3246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1545336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545336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" y="15453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1472184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blynk.cloud — KMT Remote HMI Station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46376" y="210312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3880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97296" y="2103120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5320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24799" y="201168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48216" y="2103120"/>
            <a:ext cx="566928" cy="566928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16239" y="280720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20040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10968" y="3328416"/>
            <a:ext cx="237744" cy="237744"/>
          </a:xfrm>
          <a:prstGeom prst="ellipse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621024"/>
            <a:ext cx="323087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TẮT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01421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3880" y="320040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65320" y="3799332"/>
            <a:ext cx="358986" cy="178307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39698" y="3680460"/>
            <a:ext cx="358986" cy="297179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14077" y="3739896"/>
            <a:ext cx="358986" cy="237743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88455" y="3561588"/>
            <a:ext cx="358986" cy="416051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2834" y="3650742"/>
            <a:ext cx="358986" cy="326898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37213" y="3502152"/>
            <a:ext cx="358986" cy="475487"/>
          </a:xfrm>
          <a:prstGeom prst="rect">
            <a:avLst/>
          </a:prstGeom>
          <a:solidFill>
            <a:srgbClr val="BF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5320" y="4014216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Tổng hợp 24h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4799" y="3200400"/>
            <a:ext cx="341375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16239" y="3291840"/>
            <a:ext cx="3230879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10B981"/>
                </a:solidFill>
                <a:latin typeface="Calibri"/>
              </a:rPr>
              <a:t>Online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6239" y="3995928"/>
            <a:ext cx="323087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Trạng thái trạm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Khác biệt so với Mobile App: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2578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Web Dashboard phù hợp xem trên màn hình lớn (phòng điều khiển, máy tính bàn) — bố cục nhiều cột hơn App.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Có thể chia sẻ Dashboard cho nhiều người xem (Viewer) mà không cần chia sẻ tài khoản đăng nhập chính.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6366F1"/>
                </a:solidFill>
                <a:latin typeface="Calibri"/>
              </a:rPr>
              <a:t>●  </a:t>
            </a:r>
            <a:r>
              <a:rPr sz="1200" b="0">
                <a:solidFill>
                  <a:srgbClr val="1E293B"/>
                </a:solidFill>
                <a:latin typeface="Calibri"/>
              </a:rPr>
              <a:t>Truy cập trực tiếp qua trình duyệt tại web.blynk.cloud, không cần cài đặt ứng dụng.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B11 · HƯỚNG DẪN CÀI ĐẶT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Quy trình cài đặt gồm 3 giai đoạn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3566160" cy="777240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1
Thiết lập Cloud (Web)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blynk.cloud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816351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ký tài khoản Blynk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474719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Template + Datastream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33087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Tạo Device, lấy Auth Token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791455"/>
            <a:ext cx="146304" cy="14630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690871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Web Dashboard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3308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79" y="1463040"/>
            <a:ext cx="3566160" cy="77724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2
Thiết lập App di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7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Blynk IoT 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7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80559" y="2816351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3659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Cài đặt Blynk IoT (App Store/Google Play)</a:t>
            </a:r>
          </a:p>
        </p:txBody>
      </p:sp>
      <p:sp>
        <p:nvSpPr>
          <p:cNvPr id="27" name="Oval 26"/>
          <p:cNvSpPr/>
          <p:nvPr/>
        </p:nvSpPr>
        <p:spPr>
          <a:xfrm>
            <a:off x="4480559" y="3474719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3659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Đăng nhập cùng tài khoản Bước 1</a:t>
            </a:r>
          </a:p>
        </p:txBody>
      </p:sp>
      <p:sp>
        <p:nvSpPr>
          <p:cNvPr id="29" name="Oval 28"/>
          <p:cNvSpPr/>
          <p:nvPr/>
        </p:nvSpPr>
        <p:spPr>
          <a:xfrm>
            <a:off x="4480559" y="4133087"/>
            <a:ext cx="146304" cy="14630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Dựng giao diện Mobile Widget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82127" y="2926080"/>
            <a:ext cx="146304" cy="274320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46719" y="1463040"/>
            <a:ext cx="3566160" cy="77724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GIAI ĐOẠN 3
Nạp code &amp; Kết nối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19" y="22677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94A3B8"/>
                </a:solidFill>
                <a:latin typeface="Calibri"/>
              </a:rPr>
              <a:t>Arduino 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19" y="2606040"/>
            <a:ext cx="3566160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599" y="2816351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85632" y="2715768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Dán Template ID + Auth Token vào code</a:t>
            </a:r>
          </a:p>
        </p:txBody>
      </p:sp>
      <p:sp>
        <p:nvSpPr>
          <p:cNvPr id="37" name="Oval 36"/>
          <p:cNvSpPr/>
          <p:nvPr/>
        </p:nvSpPr>
        <p:spPr>
          <a:xfrm>
            <a:off x="8229599" y="3474719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85632" y="3374135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Nạp code lên board qua Arduino IDE</a:t>
            </a:r>
          </a:p>
        </p:txBody>
      </p:sp>
      <p:sp>
        <p:nvSpPr>
          <p:cNvPr id="39" name="Oval 38"/>
          <p:cNvSpPr/>
          <p:nvPr/>
        </p:nvSpPr>
        <p:spPr>
          <a:xfrm>
            <a:off x="8229599" y="4133087"/>
            <a:ext cx="146304" cy="14630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4032503"/>
            <a:ext cx="2971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E293B"/>
                </a:solidFill>
                <a:latin typeface="Calibri"/>
              </a:rPr>
              <a:t>Kiểm tra trạng thái Online, thử nghiệm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1">
                <a:solidFill>
                  <a:srgbClr val="475569"/>
                </a:solidFill>
                <a:latin typeface="Calibri"/>
              </a:rPr>
              <a:t>Toàn bộ 3 giai đoạn CHỈ cần làm 1 lần cho mỗi thiết bị — sau khi đã kết nối thành công, dữ liệu tự động cập nhật mỗi khi board bật nguồn.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B11 · CÀI ĐẶT WEB · BƯỚC 1-2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Đăng ký tài khoản &amp; Tạo Template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trình duyệt, truy cập blynk.cloud, bấm "Sign Up" (hoặc "Create Account") để tạo tài khoản mới.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Nhập Email + Mật khẩu, hoặc chọn "Continue with Google" để đăng ký/đăng nhập nhanh — xác nhận email nếu hệ thống yêu cầu.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Sau khi đăng nhập thành công, vào mục "Templates" ở thanh menu bên trái (khu vực Developer Zone).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Template", đặt tên Template là "KMT Remote HMI Station" để dễ nhận diện.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Hardware = "ESP32", Connection Type = "WiFi" (đúng loại board ESP32-S3 đang dùng) &gt; bấm "Done" để hoàn tất tạo Template.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Ghi nhớ chính xác tên Template — sẽ dùng lại khi tạo Device ở bước sau.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B11 · CÀI ĐẶT WEB · BƯỚC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Thêm Datastream cho từng cảm biến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Template vừa tạo, chuyển sang tab "Datastreams".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"+ New Datastream" &gt; chọn loại "Virtual Pin".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Điền đầy đủ: Name (tên gợi nhớ), Pin (chọn đúng số V), Data Type (Integer/Double), giá trị Min/Max theo đúng bảng ánh xạ đã thiết kế ở slide trước.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Lặp lại thao tác trên cho đến khi tạo đủ 4 Datastream (V0 → V3) đúng theo bảng.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"Save" sau mỗi Datastream để lưu lại cấu hình.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Đặt tên Datastream và Virtual Pin phải khớp CHÍNH XÁC với số hiệu V-pin dùng trong code ở các slide sau.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7F0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B11 · CÀI ĐẶT WEB · BƯỚC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Tạo Device &amp; lấy Auth Token (Web)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Vào mục "Devices" ở menu bên trái &gt; bấm "+ New Device".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"From template" &gt; chọn đúng Template "KMT Remote HMI Station" vừa cấu hình ở bước trước.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Đặt tên riêng cho thiết bị (ví dụ "Trạm B11 - Phòng Lab") &gt; bấm "Create".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Hệ thống hiển thị Auth Token — đây là "mật khẩu" DUY NHẤT của riêng thiết bị này, bấm biểu tượng copy để sao chép.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chuỗi Auth Token vừa copy vào đúng dòng BLYNK_AUTH_TOKEN trong code Arduino (sẽ dùng ở các slide Mã nguồn tiếp theo).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TUYỆT ĐỐI không chia sẻ Auth Token công khai (vd đăng lên GitHub/Facebook) — ai có Token đều điều khiển được thiết bị.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C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366F1"/>
                </a:solidFill>
                <a:latin typeface="Calibri"/>
              </a:rPr>
              <a:t>B11 · CÀI ĐẶT WEB · BƯỚC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Web Dashboard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Trong Device vừa tạo, chuyển sang tab "Web Dashboard".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biểu tượng bút chì "Edit" để vào chế độ chỉnh sửa.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Từ khay Widget bên phải, kéo thả từng Widget (Gauge/LED/Chart...) tương ứng bảng thiết kế đã học vào vùng làm việc.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Bấm vào từng Widget vừa thả &gt; mục DATASTREAM &gt; chọn đúng Virtual Pin tương ứng &gt; đặt tên hiển thị, đơn vị, dải màu cảnh báo.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Sắp xếp lại vị trí/kích thước các Widget cho gọn gàng, dễ nhìn &gt; bấm "Save".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B11 · CÀI ĐẶT APP · BƯỚC 6-7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Cài đặt &amp; Đăng nhập Blynk IoT App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App Store (iPhone) hoặc Google Play (Android), tìm kiếm chính xác "Blynk IoT".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3055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Cài đặt và mở ứng dụng vừa tải về.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86207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Đăng nhập bằng ĐÚNG tài khoản đã dùng để tạo Template ở Bước 1 (email hoặc Google).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61188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59359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Ứng dụng tự động đồng bộ, hiển thị thiết bị vừa tạo trong danh sách "Devices".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25112"/>
            <a:ext cx="10378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thiết bị để mở — màn hình lúc này còn trống vì chưa có Widget nào được thêm.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48072"/>
            <a:ext cx="11064240" cy="1024128"/>
          </a:xfrm>
          <a:prstGeom prst="roundRect">
            <a:avLst/>
          </a:prstGeom>
          <a:solidFill>
            <a:srgbClr val="FEF5E6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607040" cy="8046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1E293B"/>
                </a:solidFill>
                <a:latin typeface="Calibri"/>
              </a:rPr>
              <a:t>💡 Lưu ý phân biệt "Blynk IoT" (app hiện hành) với "Blynk" bản cũ đã ngừng phát triển — cài nhầm sẽ không thấy Template/Device vừa tạo.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B11 · CÀI ĐẶT APP · BƯỚC 8-9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Dựng giao diện Mobile App — kéo thả Widget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biểu tượng bút chì (Edit) ở góc trên bên phải màn hình thiết bị để vào chế độ chỉnh sửa.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58568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40280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Khay Widget trượt lên từ phía dưới màn hình — chọn và kéo thả từng Widget vào vùng làm việc.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99816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81528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Chạm vào Widget vừa thả &gt; mục DATASTREAM &gt; chọn đúng Virtual Pin theo đúng bảng ánh xạ đã thiết kế.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941064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22776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Tuỳ chỉnh tên hiển thị, màu sắc, dải giá trị (min/max) cho từng Widget để dễ đọc.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82312"/>
            <a:ext cx="420624" cy="420624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764024"/>
            <a:ext cx="10378440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Kéo-thả sắp xếp lại vị trí các Widget, sau đó chạm dấu ✓ (Save) ở góc trên để lưu và thoát chế độ chỉnh sửa.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HOÀN TẤT · BƯỚC 10-11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Nạp code &amp; Kiểm tra kết nối thành công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3990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Arduino IDE trên máy tính, cài thư viện "Blynk" (Sketch &gt; Include Library &gt; Manage Libraries &gt; tìm "Blynk").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4028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22199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Dán đầy đủ đoạn code ở 2 slide "Mã nguồn mở rộng" tiếp theo vào 1 file .ino.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4495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Kiểm tra lại đã điền đúng: BLYNK_AUTH_TOKEN (lấy ở Bước 4), tên WiFi (ssid) và mật khẩu WiFi (pass).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8620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86791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Chọn đúng Board "ESP32S3 Dev Module" và cổng COM tương ứng trong Arduino IDE &gt; bấm Upload.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0916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69087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Mở Serial Monitor (baud rate 115200) — quan sát dòng chữ xác nhận kết nối WiFi và Blynk thành công.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532120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513832"/>
            <a:ext cx="103784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1E293B"/>
                </a:solidFill>
                <a:latin typeface="Calibri"/>
              </a:rPr>
              <a:t>Quay lại App/Web: chấm tròn trạng thái thiết bị chuyển từ xám "Offline" sang xanh lá "Online", số liệu bắt đầu cập nhật realtime trên các Widget.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B11 · XỬ LÝ SỰ CỐ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Các lỗi thường gặp khi cài đặt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3657600"/>
                <a:gridCol w="4297680"/>
              </a:tblGrid>
              <a:tr h="535577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Triệu chứng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Nguyên nhân thường gặp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Cách khắc phục</a:t>
                      </a:r>
                    </a:p>
                  </a:txBody>
                  <a:tcPr marL="73152" marR="73152" marT="36576" marB="36576" anchor="ctr">
                    <a:solidFill>
                      <a:srgbClr val="EF4444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Thiết bị luôn hiện "Offline"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Sai Auth Token, hoặc sai tên/mật khẩu WiFi trong code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lại BLYNK_AUTH_TOKEN dán đúng; xem Serial Monitor để xác nhận board đã kết nối được WiFi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không hiển thị số liệu (mãi 0 hoặc trống)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Widget gán sai Virtual Pin, hoặc code chưa gọi đúng Blynk.virtualWrite()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Vào chỉnh sửa Widget &gt; kiểm tra mục DATASTREAM đã chọn đúng V-pin theo bảng ánh xạ chưa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App điện thoại không thấy Device/Template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nhập App bằng tài khoản khác với tài khoản tạo Template trên Web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Đăng xuất, đăng nhập lại đúng email đã dùng trên Blynk.Console; kéo màn hình để làm mới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Gạt Switch trên App nhưng thiết bị không phản ứng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Thiếu hàm BLYNK_WRITE(V_pin) tương ứng trong code, hoặc thiết bị đang mất kết nối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code có định nghĩa đúng BLYNK_WRITE() cho đúng V-pin; kiểm tra trạng thái Online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nhận được thông báo dù đã vượt ngưỡng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Automation chưa được Bật (Enable), hoặc App bị chặn quyền thông báo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Kiểm tra trạng thái Enable trong tab Automations; vào Cài đặt điện thoại &gt; Thông báo &gt; cho phép Blynk IoT gửi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35577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Cài nhầm app "Blynk" bản cũ thay vì "Blynk IoT"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Không để ý tên ứng dụng chính xác khi tìm trên App Store/Google Play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1E293B"/>
                          </a:solidFill>
                          <a:latin typeface="Calibri"/>
                        </a:rPr>
                        <a:t>Gỡ bản cũ, tìm chính xác "Blynk IoT" (icon chữ B nền xanh lá mới) để cài lại</a:t>
                      </a:r>
                    </a:p>
                  </a:txBody>
                  <a:tcPr marL="73152" marR="73152" marT="36576" marB="36576" anchor="ctr">
                    <a:solidFill>
                      <a:srgbClr val="F6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Kết nối WiFi &amp; Blynk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&lt;WiFi.h&gt;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BLYNK_TEMPLATE_ID   "TMPLxxxxxx"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BLYNK_TEMPLATE_NAME "{tmpl_name}"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#define BLYNK_AUTH_TOKEN    "xxxxxxxxxxxxxxxxxxxxxxxxxxxxxxxx"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#include &lt;BlynkSimpleEsp32.h&gt;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ssid[] = "TEN_WIFI_CUA_BAN";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char pass[] = "MAT_KHAU_WIFI";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BlynkTimer timer;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Xử lý logic &amp; Gửi dữ liệu lên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sendSensorData()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int temp = analogRead(DHT_PIN);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int humi = dhtReadHumidity(DHT_PIN);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int gasPpm = analogRead(GAS_PIN);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bool alertOn = gasPpm &gt; 300;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  // Gui dong thoi ca 4 Datastream len Cloud - dung 1 chu ky nhu LCD tai cho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Blynk.virtualWrite(V0, temp);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Blynk.virtualWrite(V1, humi);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Blynk.virtualWrite(V2, gasPpm);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Blynk.virtualWrite(V3, alertOn ? 1 : 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digitalWrite(LED_PIN, alertOn ? HIGH : LOW);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64748B"/>
                </a:solidFill>
                <a:latin typeface="Consolas"/>
              </a:rPr>
              <a:t>  // LCD tai cho VAN hoat dong song song, khong phu thuoc vao Cloud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lcd.setCursor(0, 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lcd.print("T:"); lcd.print(temp); lcd.print("C H:"); lcd.print(humi); lcd.print("%    ");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lcd.setCursor(0, 1);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lcd.print("Gas PPM: "); lcd.print(gasPpm); lcd.print("   ");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MÃ NGUỒN MỞ RỘNG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Khởi tạo &amp; Vòng lặp chính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11155680" cy="50292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0876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setup()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Serial.begin(115200);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pinMode(LED_PIN, OUTPUT);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lcd.begin(16, 2);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Blynk.begin(BLYNK_AUTH_TOKEN, ssid, pass);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timer.setInterval(2000L, sendSensorData);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void loop() {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Blynk.run();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  timer.run();</a:t>
            </a:r>
          </a:p>
          <a:p>
            <a:pPr>
              <a:spcAft>
                <a:spcPts val="100"/>
              </a:spcAft>
            </a:pPr>
            <a:r>
              <a:rPr sz="1250">
                <a:solidFill>
                  <a:srgbClr val="7DE6A8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B11 · TỰ ĐỘNG HOÁ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Cảnh báo &amp; Automation trên Cloud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11064240" cy="1554480"/>
          </a:xfrm>
          <a:prstGeom prst="roundRect">
            <a:avLst/>
          </a:prstGeom>
          <a:solidFill>
            <a:srgbClr val="FDECEC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554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F4444"/>
                </a:solidFill>
                <a:latin typeface="Calibri"/>
              </a:rPr>
              <a:t>QUY TẮC AUTOMATION CHO BÀI B11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9019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1E293B"/>
                </a:solidFill>
                <a:latin typeface="Calibri"/>
              </a:rPr>
              <a:t>Web Dashboard (Blynk.Console) được chia sẻ cho nhiều tài khoản "Viewer" — nhân viên trực chỉ xem được số liệu, không có quyền chỉnh sửa Datastream hay Automation, đúng mô hình phân quyền phòng điều khiển trung tâm thực tế.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2724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93B"/>
                </a:solidFill>
                <a:latin typeface="Calibri"/>
              </a:rPr>
              <a:t>Các bước cấu hình trên Blynk.Console (Web):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02152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Mở thiết bị trên Blynk.Console &gt; chuyển sang tab "Automations" &gt; bấm "+ Create Automation".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42232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23944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Đặt tên quy tắc dễ nhớ &gt; phần "IF" chọn đúng Datastream cần theo dõi &gt; chọn phép so sánh (&gt;, &lt;, =) &gt; nhập giá trị ngưỡng.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764024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45736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Phần "THEN" chọn hành động "Send Notification" (thông báo đẩy) và/hoặc "Send Email" &gt; soạn nội dung cảnh báo.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5385816"/>
            <a:ext cx="384048" cy="38404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367528"/>
            <a:ext cx="105156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1E293B"/>
                </a:solidFill>
                <a:latin typeface="Calibri"/>
              </a:rPr>
              <a:t>Bấm "Save" rồi gạt công tắc "Enable" ở đầu quy tắc để chính thức kích hoạt — có thể Tắt/Bật lại bất cứ lúc nào mà không cần sửa code.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ỨNG DỤNG THỰC TIỄN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Giá trị thực tế khi có App/Web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17320"/>
            <a:ext cx="109728" cy="1965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Phòng điều khiển trung tâm (Control Room)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Một màn hình lớn hiển thị Web Dashboard tổng hợp — đúng vai trò SCADA thu nhỏ đã nhắc đến ở Buổi 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17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109728" cy="1965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1581912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Giám sát đa trạm cùng lúc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075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Một tài khoản quản trị viên xem được nhiều trạm HMI đặt tại nhiều vị trí khác nhau trên cùng 1 Web Dashboard.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03320"/>
            <a:ext cx="109728" cy="1965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Phân quyền xem/điều khiển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Nhân viên vận hành chỉ xem, quản lý cấp cao có quyền chỉnh Automation — mô hình phân quyền phổ biến trong công nghiệp.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53492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703320"/>
            <a:ext cx="109728" cy="1965960"/>
          </a:xfrm>
          <a:prstGeom prst="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79" y="3867911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Bảo trì dự đoán (Predictive Maintenance)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4361688"/>
            <a:ext cx="4800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Lịch sử dữ liệu tổng hợp giúp phát hiện xu hướng bất thường trước khi xảy ra sự cố nghiêm trọng.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B11 · LƯU Ý TRIỂN KHAI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Lưu ý khi triển khai thực tế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22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444752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417320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Gộp nhiều cảm biến vào cùng 1 chu kỳ gửi (timer.setInterval) có thể làm chậm phản hồi nếu 1 cảm biến bị treo — nên cân nhắc tách chu kỳ riêng cho dữ liệu quan trọng.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340864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13432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Web Dashboard và Mobile App dùng chung Datastream nhưng có thể cấu hình Widget khác nhau — cần thiết kế riêng cho từng nền tảng thay vì sao chép y hệt.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209544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Khi số lượng Datastream tăng lên (4 trở lên), cần tổ chức layout bằng Tab/nhóm Widget để tránh giao diện App bị rối.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133088"/>
            <a:ext cx="457200" cy="457200"/>
          </a:xfrm>
          <a:prstGeom prst="ellipse">
            <a:avLst/>
          </a:prstGeom>
          <a:solidFill>
            <a:srgbClr val="FC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800" b="1">
                <a:solidFill>
                  <a:srgbClr val="EF4444"/>
                </a:solidFill>
                <a:latin typeface="Calibri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105656"/>
            <a:ext cx="1024128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E293B"/>
                </a:solidFill>
                <a:latin typeface="Calibri"/>
              </a:rPr>
              <a:t>Phân quyền Viewer/Admin cần cấu hình đúng trong Blynk.Console — cấp nhầm quyền chỉnh sửa cho tài khoản không phù hợp có thể gây rủi ro vận hành.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B11 · ÔN TẬP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Câu hỏi thảo luận cuối buổi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63040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444752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LCD tại chỗ và Dashboard từ xa trong bài này có phụ thuộc lẫn nhau không? Điều gì xảy ra với LCD nếu mất kết nối Internet?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59152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340864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Vì sao Web Dashboard phù hợp hơn Mobile App cho vai trò "phòng điều khiển trung tâm giám sát nhiều trạm"?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55264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36976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Nêu 1 tình huống nên tách chu kỳ gửi dữ liệu Gas (nhanh hơn) ra khỏi chu kỳ gửi Nhiệt độ/Độ ẩm (chậm hơn) thay vì gộp chung như code mẫu.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51376"/>
            <a:ext cx="502920" cy="50292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33088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Phân quyền Viewer/Admin trong Blynk.Console giải quyết vấn đề gì so với việc chia sẻ chung 1 Auth Token cho tất cả mọi người?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292608"/>
            <a:ext cx="10195560" cy="841248"/>
          </a:xfrm>
          <a:prstGeom prst="roundRect">
            <a:avLst/>
          </a:prstGeom>
          <a:solidFill>
            <a:srgbClr val="E2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08760" y="384048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384048"/>
            <a:ext cx="658368" cy="658368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19656" y="374904"/>
            <a:ext cx="9646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B11 · TỔNG KẾT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9656" y="630936"/>
            <a:ext cx="9646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E293B"/>
                </a:solidFill>
                <a:latin typeface="Calibri"/>
              </a:rPr>
              <a:t>Tổng kết buổi học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400800"/>
            <a:ext cx="11185855" cy="0"/>
          </a:xfrm>
          <a:prstGeom prst="line">
            <a:avLst/>
          </a:prstGeom>
          <a:ln w="9525">
            <a:solidFill>
              <a:srgbClr val="DDE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IOT TRONG KỸ THUẬT MÔI TRƯỜNG  ·  B11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Calibri"/>
              </a:rPr>
              <a:t>Những điều đã đạt được: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Đã nâng cấp khái niệm HMI từ "tại chỗ" (Buổi 5) lên "từ xa, đa nền tảng, đa người dùng" (Buổi 11).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Biết cách tổ chức Dashboard nhiều Datastream một cách khoa học cho cả Mobile App và Web.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10B981"/>
                </a:solidFill>
                <a:latin typeface="Calibri"/>
              </a:rPr>
              <a:t>●  </a:t>
            </a:r>
            <a:r>
              <a:rPr sz="1400" b="0">
                <a:solidFill>
                  <a:srgbClr val="1E293B"/>
                </a:solidFill>
                <a:latin typeface="Calibri"/>
              </a:rPr>
              <a:t>Hiểu được vai trò phân quyền trong hệ thống giám sát công nghiệp thực tế.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43400"/>
            <a:ext cx="10881360" cy="1600200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CHUẨN BỊ CHO BUỔI TIẾP THEO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103327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Buổi 12: Bài tổng hợp cuối cùng — kết nối đầy đủ 4 cảm biến của Buổi 6 thành 1 nền tảng Cloud hoàn chỉnh với Automation đa điều kiện.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57200"/>
            <a:ext cx="11277295" cy="5943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66663" y="914400"/>
            <a:ext cx="658368" cy="658368"/>
          </a:xfrm>
          <a:prstGeom prst="round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E293B"/>
                </a:solidFill>
                <a:latin typeface="Calibri"/>
              </a:rPr>
              <a:t>CẢM ƠN CÁC BẠN ĐÃ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457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B5CF6"/>
                </a:solidFill>
                <a:latin typeface="Calibri"/>
              </a:rPr>
              <a:t>B11: Trạm HMI Tổng hợp từ xa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8327" y="3429000"/>
            <a:ext cx="2377440" cy="3017520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60623" y="3575304"/>
            <a:ext cx="2212848" cy="2724912"/>
          </a:xfrm>
          <a:prstGeom prst="rect">
            <a:avLst/>
          </a:prstGeom>
          <a:solidFill>
            <a:srgbClr val="F6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60623" y="3575304"/>
            <a:ext cx="2212848" cy="365760"/>
          </a:xfrm>
          <a:prstGeom prst="rect">
            <a:avLst/>
          </a:prstGeom>
          <a:solidFill>
            <a:srgbClr val="0F4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B11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33775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9807" y="4105656"/>
            <a:ext cx="484632" cy="484632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5215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623" y="4014216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9655" y="4105656"/>
            <a:ext cx="484632" cy="484632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5063" y="462686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3775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489807" y="5047488"/>
            <a:ext cx="484632" cy="484632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25215" y="5568696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3623" y="4956048"/>
            <a:ext cx="99669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3099" y="5084064"/>
            <a:ext cx="237744" cy="237744"/>
          </a:xfrm>
          <a:prstGeom prst="ellipse">
            <a:avLst/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063" y="5376672"/>
            <a:ext cx="81381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4A3B8"/>
                </a:solidFill>
                <a:latin typeface="Calibri"/>
              </a:rPr>
              <a:t>TẮT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5063" y="5586984"/>
            <a:ext cx="81381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Cảnh báo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70167" y="3977639"/>
            <a:ext cx="310896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70167" y="3977639"/>
            <a:ext cx="3108960" cy="365760"/>
          </a:xfrm>
          <a:prstGeom prst="rect">
            <a:avLst/>
          </a:prstGeom>
          <a:solidFill>
            <a:srgbClr val="F6F8F9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07327" y="4105655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08495" y="4105655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09663" y="4105655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93127" y="4032503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75569"/>
                </a:solidFill>
                <a:latin typeface="Calibri"/>
              </a:rPr>
              <a:t>Web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44487" y="457200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641183" y="4663440"/>
            <a:ext cx="566928" cy="566928"/>
          </a:xfrm>
          <a:prstGeom prst="ellipse">
            <a:avLst/>
          </a:prstGeom>
          <a:solidFill>
            <a:srgbClr val="FDEB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F59E0B"/>
                </a:solidFill>
                <a:latin typeface="Calibri"/>
              </a:rPr>
              <a:t>29°C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5927" y="536752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Nhiệt độ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4487" y="576072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641183" y="5852159"/>
            <a:ext cx="566928" cy="566928"/>
          </a:xfrm>
          <a:prstGeom prst="ellipse">
            <a:avLst/>
          </a:prstGeom>
          <a:solidFill>
            <a:srgbClr val="D7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3B82F6"/>
                </a:solidFill>
                <a:latin typeface="Calibri"/>
              </a:rPr>
              <a:t>60%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5927" y="655624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Độ ẩm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4487" y="6949440"/>
            <a:ext cx="2560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641183" y="7040880"/>
            <a:ext cx="566928" cy="566928"/>
          </a:xfrm>
          <a:prstGeom prst="ellipse">
            <a:avLst/>
          </a:prstGeom>
          <a:solidFill>
            <a:srgbClr val="CD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2860" bIns="22860"/>
          <a:lstStyle/>
          <a:p>
            <a:pPr algn="ctr"/>
            <a:r>
              <a:rPr sz="1050" b="1">
                <a:solidFill>
                  <a:srgbClr val="06B6D4"/>
                </a:solidFill>
                <a:latin typeface="Calibri"/>
              </a:rPr>
              <a:t>180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5927" y="7744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475569"/>
                </a:solidFill>
                <a:latin typeface="Calibri"/>
              </a:rPr>
              <a:t>Gas PPM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4652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9"/>
                </a:solidFill>
                <a:latin typeface="Calibri"/>
              </a:rPr>
              <a:t>Giảng viên hướng dẫn: Nguyễn Lê Tấn Đạt  ·  datnlt@tdmu.edu.vn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