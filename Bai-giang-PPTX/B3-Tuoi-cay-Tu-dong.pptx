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Độ ẩm đất (ADC)</c:v>
                </c:pt>
              </c:strCache>
            </c:strRef>
          </c:tx>
          <c:spPr>
            <a:ln w="31750">
              <a:solidFill>
                <a:srgbClr val="3B82F6"/>
              </a:solidFill>
            </a:ln>
          </c:spPr>
          <c:cat>
            <c:strRef>
              <c:f>Sheet1!$A$2:$A$9</c:f>
              <c:strCache>
                <c:ptCount val="8"/>
                <c:pt idx="0">
                  <c:v>0s</c:v>
                </c:pt>
                <c:pt idx="1">
                  <c:v>3s</c:v>
                </c:pt>
                <c:pt idx="2">
                  <c:v>6s</c:v>
                </c:pt>
                <c:pt idx="3">
                  <c:v>9s</c:v>
                </c:pt>
                <c:pt idx="4">
                  <c:v>12s</c:v>
                </c:pt>
                <c:pt idx="5">
                  <c:v>15s</c:v>
                </c:pt>
                <c:pt idx="6">
                  <c:v>18s</c:v>
                </c:pt>
                <c:pt idx="7">
                  <c:v>21s</c:v>
                </c:pt>
              </c:strCache>
            </c:strRef>
          </c:cat>
          <c:val>
            <c:numRef>
              <c:f>Sheet1!$B$2:$B$9</c:f>
              <c:numCache>
                <c:formatCode>General</c:formatCode>
                <c:ptCount val="8"/>
                <c:pt idx="0">
                  <c:v>180</c:v>
                </c:pt>
                <c:pt idx="1">
                  <c:v>220</c:v>
                </c:pt>
                <c:pt idx="2">
                  <c:v>260</c:v>
                </c:pt>
                <c:pt idx="3">
                  <c:v>310</c:v>
                </c:pt>
                <c:pt idx="4">
                  <c:v>360</c:v>
                </c:pt>
                <c:pt idx="5">
                  <c:v>410</c:v>
                </c:pt>
                <c:pt idx="6">
                  <c:v>460</c:v>
                </c:pt>
                <c:pt idx="7">
                  <c:v>500</c:v>
                </c:pt>
              </c:numCache>
            </c:numRef>
          </c:val>
          <c:smooth val="0"/>
        </c:ser>
        <c:ser>
          <c:idx val="1"/>
          <c:order val="1"/>
          <c:tx>
            <c:strRef>
              <c:f>Sheet1!$C$1</c:f>
              <c:strCache>
                <c:ptCount val="1"/>
                <c:pt idx="0">
                  <c:v>Ngưỡng bật bơm</c:v>
                </c:pt>
              </c:strCache>
            </c:strRef>
          </c:tx>
          <c:spPr>
            <a:ln w="31750">
              <a:solidFill>
                <a:srgbClr val="EF4444"/>
              </a:solidFill>
            </a:ln>
          </c:spPr>
          <c:cat>
            <c:strRef>
              <c:f>Sheet1!$A$2:$A$9</c:f>
              <c:strCache>
                <c:ptCount val="8"/>
                <c:pt idx="0">
                  <c:v>0s</c:v>
                </c:pt>
                <c:pt idx="1">
                  <c:v>3s</c:v>
                </c:pt>
                <c:pt idx="2">
                  <c:v>6s</c:v>
                </c:pt>
                <c:pt idx="3">
                  <c:v>9s</c:v>
                </c:pt>
                <c:pt idx="4">
                  <c:v>12s</c:v>
                </c:pt>
                <c:pt idx="5">
                  <c:v>15s</c:v>
                </c:pt>
                <c:pt idx="6">
                  <c:v>18s</c:v>
                </c:pt>
                <c:pt idx="7">
                  <c:v>21s</c:v>
                </c:pt>
              </c:strCache>
            </c:strRef>
          </c:cat>
          <c:val>
            <c:numRef>
              <c:f>Sheet1!$C$2:$C$9</c:f>
              <c:numCache>
                <c:formatCode>General</c:formatCode>
                <c:ptCount val="8"/>
                <c:pt idx="0">
                  <c:v>400</c:v>
                </c:pt>
                <c:pt idx="1">
                  <c:v>400</c:v>
                </c:pt>
                <c:pt idx="2">
                  <c:v>400</c:v>
                </c:pt>
                <c:pt idx="3">
                  <c:v>400</c:v>
                </c:pt>
                <c:pt idx="4">
                  <c:v>400</c:v>
                </c:pt>
                <c:pt idx="5">
                  <c:v>400</c:v>
                </c:pt>
                <c:pt idx="6">
                  <c:v>400</c:v>
                </c:pt>
                <c:pt idx="7">
                  <c:v>400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pPr>
          </a:p>
        </c:txPr>
        <c:crossAx val="2140495176"/>
        <c:crosses val="autoZero"/>
        <c:auto val="1"/>
        <c:lblAlgn val="ctr"/>
        <c:lblOffset val="100"/>
        <c:noMultiLvlLbl val="0"/>
      </c:catAx>
      <c:valAx>
        <c:axId val="2140495176"/>
        <c:scaling/>
        <c:delete val="0"/>
        <c:axPos val="l"/>
        <c:majorGridlines/>
        <c:majorTickMark val="out"/>
        <c:minorTickMark val="none"/>
        <c:tickLblPos val="nextTo"/>
        <c:txPr>
          <a:bodyPr/>
          <a:lstStyle/>
          <a:p>
            <a:pPr>
              <a:defRPr sz="1100"/>
            </a:pPr>
          </a:p>
        </c:txPr>
        <c:crossAx val="2118791784"/>
        <c:crosses val="autoZero"/>
      </c:valAx>
    </c:plotArea>
    <c:legend>
      <c:legendPos val="b"/>
      <c:layout/>
      <c:overlay val="0"/>
      <c:txPr>
        <a:bodyPr/>
        <a:lstStyle/>
        <a:p>
          <a:pPr>
            <a:defRPr sz="1200"/>
          </a:pPr>
        </a:p>
      </c:txPr>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30936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63640" y="0"/>
            <a:ext cx="54864"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502920"/>
            <a:ext cx="658368" cy="65836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500" b="1">
                <a:solidFill>
                  <a:srgbClr val="FFFFFF"/>
                </a:solidFill>
                <a:latin typeface="Calibri"/>
              </a:rPr>
              <a:t>IoT</a:t>
            </a:r>
          </a:p>
        </p:txBody>
      </p:sp>
      <p:sp>
        <p:nvSpPr>
          <p:cNvPr id="6" name="TextBox 5"/>
          <p:cNvSpPr txBox="1"/>
          <p:nvPr/>
        </p:nvSpPr>
        <p:spPr>
          <a:xfrm>
            <a:off x="1463040" y="548640"/>
            <a:ext cx="4663440" cy="274320"/>
          </a:xfrm>
          <a:prstGeom prst="rect">
            <a:avLst/>
          </a:prstGeom>
          <a:noFill/>
        </p:spPr>
        <p:txBody>
          <a:bodyPr wrap="square">
            <a:spAutoFit/>
          </a:bodyPr>
          <a:lstStyle/>
          <a:p>
            <a:pPr algn="l"/>
            <a:r>
              <a:rPr sz="1200" b="1" i="0">
                <a:solidFill>
                  <a:srgbClr val="94A3B8"/>
                </a:solidFill>
                <a:latin typeface="Calibri"/>
              </a:rPr>
              <a:t>ĐẠI HỌC THỦ DẦU MỘT</a:t>
            </a:r>
          </a:p>
        </p:txBody>
      </p:sp>
      <p:sp>
        <p:nvSpPr>
          <p:cNvPr id="7" name="TextBox 6"/>
          <p:cNvSpPr txBox="1"/>
          <p:nvPr/>
        </p:nvSpPr>
        <p:spPr>
          <a:xfrm>
            <a:off x="1463040" y="804672"/>
            <a:ext cx="4663440" cy="320040"/>
          </a:xfrm>
          <a:prstGeom prst="rect">
            <a:avLst/>
          </a:prstGeom>
          <a:noFill/>
        </p:spPr>
        <p:txBody>
          <a:bodyPr wrap="square">
            <a:spAutoFit/>
          </a:bodyPr>
          <a:lstStyle/>
          <a:p>
            <a:pPr algn="l"/>
            <a:r>
              <a:rPr sz="1300" b="1" i="0">
                <a:solidFill>
                  <a:srgbClr val="10B981"/>
                </a:solidFill>
                <a:latin typeface="Calibri"/>
              </a:rPr>
              <a:t>IOT TRONG KỸ THUẬT MÔI TRƯỜNG</a:t>
            </a:r>
          </a:p>
        </p:txBody>
      </p:sp>
      <p:sp>
        <p:nvSpPr>
          <p:cNvPr id="8" name="TextBox 7"/>
          <p:cNvSpPr txBox="1"/>
          <p:nvPr/>
        </p:nvSpPr>
        <p:spPr>
          <a:xfrm>
            <a:off x="640080" y="1600200"/>
            <a:ext cx="5486400" cy="365760"/>
          </a:xfrm>
          <a:prstGeom prst="rect">
            <a:avLst/>
          </a:prstGeom>
          <a:noFill/>
        </p:spPr>
        <p:txBody>
          <a:bodyPr wrap="square">
            <a:spAutoFit/>
          </a:bodyPr>
          <a:lstStyle/>
          <a:p>
            <a:pPr algn="l"/>
            <a:r>
              <a:rPr sz="1400" b="1" i="0">
                <a:solidFill>
                  <a:srgbClr val="F59E0B"/>
                </a:solidFill>
                <a:latin typeface="Calibri"/>
              </a:rPr>
              <a:t>BUỔI 3/6</a:t>
            </a:r>
          </a:p>
        </p:txBody>
      </p:sp>
      <p:sp>
        <p:nvSpPr>
          <p:cNvPr id="9" name="TextBox 8"/>
          <p:cNvSpPr txBox="1"/>
          <p:nvPr/>
        </p:nvSpPr>
        <p:spPr>
          <a:xfrm>
            <a:off x="640080" y="1965960"/>
            <a:ext cx="5532120" cy="1737360"/>
          </a:xfrm>
          <a:prstGeom prst="rect">
            <a:avLst/>
          </a:prstGeom>
          <a:noFill/>
        </p:spPr>
        <p:txBody>
          <a:bodyPr wrap="square">
            <a:spAutoFit/>
          </a:bodyPr>
          <a:lstStyle/>
          <a:p>
            <a:pPr algn="l">
              <a:lnSpc>
                <a:spcPct val="108000"/>
              </a:lnSpc>
            </a:pPr>
            <a:r>
              <a:rPr sz="3000" b="1" i="0">
                <a:solidFill>
                  <a:srgbClr val="1E293B"/>
                </a:solidFill>
                <a:latin typeface="Calibri"/>
              </a:rPr>
              <a:t>B3: Tưới cây Tự động (Soil Moisture + Relay + Bơm)</a:t>
            </a:r>
          </a:p>
        </p:txBody>
      </p:sp>
      <p:sp>
        <p:nvSpPr>
          <p:cNvPr id="10" name="TextBox 9"/>
          <p:cNvSpPr txBox="1"/>
          <p:nvPr/>
        </p:nvSpPr>
        <p:spPr>
          <a:xfrm>
            <a:off x="640080" y="3657600"/>
            <a:ext cx="5394960" cy="1371600"/>
          </a:xfrm>
          <a:prstGeom prst="rect">
            <a:avLst/>
          </a:prstGeom>
          <a:noFill/>
        </p:spPr>
        <p:txBody>
          <a:bodyPr wrap="square">
            <a:spAutoFit/>
          </a:bodyPr>
          <a:lstStyle/>
          <a:p>
            <a:pPr algn="l">
              <a:lnSpc>
                <a:spcPct val="125000"/>
              </a:lnSpc>
            </a:pPr>
            <a:r>
              <a:rPr sz="1350" b="0" i="0">
                <a:solidFill>
                  <a:srgbClr val="475569"/>
                </a:solidFill>
                <a:latin typeface="Calibri"/>
              </a:rPr>
              <a:t>Cảm biến độ ẩm đất tự động điều khiển Relay đóng/ngắt máy bơm nước — hệ thống tưới tiêu thông minh</a:t>
            </a:r>
          </a:p>
        </p:txBody>
      </p:sp>
      <p:cxnSp>
        <p:nvCxnSpPr>
          <p:cNvPr id="11" name="Connector 10"/>
          <p:cNvCxnSpPr/>
          <p:nvPr/>
        </p:nvCxnSpPr>
        <p:spPr>
          <a:xfrm>
            <a:off x="640080" y="5257800"/>
            <a:ext cx="4480560" cy="0"/>
          </a:xfrm>
          <a:prstGeom prst="line">
            <a:avLst/>
          </a:prstGeom>
          <a:ln w="12700">
            <a:solidFill>
              <a:srgbClr val="DDE3E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40080" y="5413248"/>
            <a:ext cx="5394960" cy="320040"/>
          </a:xfrm>
          <a:prstGeom prst="rect">
            <a:avLst/>
          </a:prstGeom>
          <a:noFill/>
        </p:spPr>
        <p:txBody>
          <a:bodyPr wrap="square">
            <a:spAutoFit/>
          </a:bodyPr>
          <a:lstStyle/>
          <a:p>
            <a:pPr algn="l"/>
            <a:r>
              <a:rPr sz="1150" b="1" i="0">
                <a:solidFill>
                  <a:srgbClr val="1E293B"/>
                </a:solidFill>
                <a:latin typeface="Calibri"/>
              </a:rPr>
              <a:t>Giảng viên hướng dẫn: Nguyễn Lê Tấn Đạt</a:t>
            </a:r>
          </a:p>
        </p:txBody>
      </p:sp>
      <p:sp>
        <p:nvSpPr>
          <p:cNvPr id="13" name="TextBox 12"/>
          <p:cNvSpPr txBox="1"/>
          <p:nvPr/>
        </p:nvSpPr>
        <p:spPr>
          <a:xfrm>
            <a:off x="640080" y="5705856"/>
            <a:ext cx="5394960" cy="274320"/>
          </a:xfrm>
          <a:prstGeom prst="rect">
            <a:avLst/>
          </a:prstGeom>
          <a:noFill/>
        </p:spPr>
        <p:txBody>
          <a:bodyPr wrap="square">
            <a:spAutoFit/>
          </a:bodyPr>
          <a:lstStyle/>
          <a:p>
            <a:pPr algn="l"/>
            <a:r>
              <a:rPr sz="1050" b="0" i="0">
                <a:solidFill>
                  <a:srgbClr val="475569"/>
                </a:solidFill>
                <a:latin typeface="Calibri"/>
              </a:rPr>
              <a:t>Board sử dụng: ESP32-S3-DevKitC-1</a:t>
            </a:r>
          </a:p>
        </p:txBody>
      </p:sp>
      <p:sp>
        <p:nvSpPr>
          <p:cNvPr id="14" name="TextBox 13"/>
          <p:cNvSpPr txBox="1"/>
          <p:nvPr/>
        </p:nvSpPr>
        <p:spPr>
          <a:xfrm>
            <a:off x="640080" y="5961888"/>
            <a:ext cx="5394960" cy="274320"/>
          </a:xfrm>
          <a:prstGeom prst="rect">
            <a:avLst/>
          </a:prstGeom>
          <a:noFill/>
        </p:spPr>
        <p:txBody>
          <a:bodyPr wrap="square">
            <a:spAutoFit/>
          </a:bodyPr>
          <a:lstStyle/>
          <a:p>
            <a:pPr algn="l"/>
            <a:r>
              <a:rPr sz="1050" b="0" i="0">
                <a:solidFill>
                  <a:srgbClr val="475569"/>
                </a:solidFill>
                <a:latin typeface="Calibri"/>
              </a:rPr>
              <a:t>datnlt@tdmu.edu.vn</a:t>
            </a:r>
          </a:p>
        </p:txBody>
      </p:sp>
      <p:sp>
        <p:nvSpPr>
          <p:cNvPr id="15" name="Rounded Rectangle 14"/>
          <p:cNvSpPr/>
          <p:nvPr/>
        </p:nvSpPr>
        <p:spPr>
          <a:xfrm>
            <a:off x="6720840" y="640080"/>
            <a:ext cx="2743200" cy="306324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esp32s3.jpg"/>
          <p:cNvPicPr>
            <a:picLocks noChangeAspect="1"/>
          </p:cNvPicPr>
          <p:nvPr/>
        </p:nvPicPr>
        <p:blipFill>
          <a:blip r:embed="rId2"/>
          <a:stretch>
            <a:fillRect/>
          </a:stretch>
        </p:blipFill>
        <p:spPr>
          <a:xfrm>
            <a:off x="6812279" y="1189817"/>
            <a:ext cx="2560320" cy="1963765"/>
          </a:xfrm>
          <a:prstGeom prst="rect">
            <a:avLst/>
          </a:prstGeom>
        </p:spPr>
      </p:pic>
      <p:sp>
        <p:nvSpPr>
          <p:cNvPr id="17" name="Rounded Rectangle 16"/>
          <p:cNvSpPr/>
          <p:nvPr/>
        </p:nvSpPr>
        <p:spPr>
          <a:xfrm>
            <a:off x="9281160" y="2148840"/>
            <a:ext cx="2423160" cy="27432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354312" y="2221992"/>
            <a:ext cx="2276856" cy="2596896"/>
          </a:xfrm>
          <a:prstGeom prst="roundRect">
            <a:avLst/>
          </a:prstGeom>
          <a:solidFill>
            <a:srgbClr val="E5E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100" b="1">
                <a:solidFill>
                  <a:srgbClr val="3B82F6"/>
                </a:solidFill>
                <a:latin typeface="Calibri"/>
              </a:rPr>
              <a:t>Soil Moisture Sensor</a:t>
            </a:r>
          </a:p>
        </p:txBody>
      </p:sp>
      <p:sp>
        <p:nvSpPr>
          <p:cNvPr id="19" name="Rounded Rectangle 18"/>
          <p:cNvSpPr/>
          <p:nvPr/>
        </p:nvSpPr>
        <p:spPr>
          <a:xfrm>
            <a:off x="7635240" y="3977639"/>
            <a:ext cx="3291840" cy="233172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esp32s3.jpg"/>
          <p:cNvPicPr>
            <a:picLocks noChangeAspect="1"/>
          </p:cNvPicPr>
          <p:nvPr/>
        </p:nvPicPr>
        <p:blipFill>
          <a:blip r:embed="rId2"/>
          <a:stretch>
            <a:fillRect/>
          </a:stretch>
        </p:blipFill>
        <p:spPr>
          <a:xfrm>
            <a:off x="7880351" y="4069079"/>
            <a:ext cx="2801616" cy="2148839"/>
          </a:xfrm>
          <a:prstGeom prst="rect">
            <a:avLst/>
          </a:prstGeom>
        </p:spPr>
      </p:pic>
      <p:sp>
        <p:nvSpPr>
          <p:cNvPr id="21" name="TextBox 20"/>
          <p:cNvSpPr txBox="1"/>
          <p:nvPr/>
        </p:nvSpPr>
        <p:spPr>
          <a:xfrm>
            <a:off x="6720840" y="6473952"/>
            <a:ext cx="4937760" cy="274320"/>
          </a:xfrm>
          <a:prstGeom prst="rect">
            <a:avLst/>
          </a:prstGeom>
          <a:noFill/>
        </p:spPr>
        <p:txBody>
          <a:bodyPr wrap="square">
            <a:spAutoFit/>
          </a:bodyPr>
          <a:lstStyle/>
          <a:p>
            <a:pPr algn="r"/>
            <a:r>
              <a:rPr sz="850" b="0" i="1">
                <a:solidFill>
                  <a:srgbClr val="94A3B8"/>
                </a:solidFill>
                <a:latin typeface="Calibri"/>
              </a:rPr>
              <a:t>Ảnh minh hoạ thiết bị thực tế sử dụng trong bài học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B3 · MỞ ĐẦU</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Mục tiêu bài học</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B3</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a:t>
            </a:r>
          </a:p>
        </p:txBody>
      </p:sp>
      <p:sp>
        <p:nvSpPr>
          <p:cNvPr id="10" name="Oval 9"/>
          <p:cNvSpPr/>
          <p:nvPr/>
        </p:nvSpPr>
        <p:spPr>
          <a:xfrm>
            <a:off x="548640" y="1417320"/>
            <a:ext cx="566928" cy="566928"/>
          </a:xfrm>
          <a:prstGeom prst="ellipse">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1</a:t>
            </a:r>
          </a:p>
        </p:txBody>
      </p:sp>
      <p:sp>
        <p:nvSpPr>
          <p:cNvPr id="11" name="TextBox 10"/>
          <p:cNvSpPr txBox="1"/>
          <p:nvPr/>
        </p:nvSpPr>
        <p:spPr>
          <a:xfrm>
            <a:off x="1325880" y="1444752"/>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Hiểu nguyên lý cảm biến độ ẩm đất dạng điện trở/điện dung.</a:t>
            </a:r>
          </a:p>
        </p:txBody>
      </p:sp>
      <p:sp>
        <p:nvSpPr>
          <p:cNvPr id="12" name="Oval 11"/>
          <p:cNvSpPr/>
          <p:nvPr/>
        </p:nvSpPr>
        <p:spPr>
          <a:xfrm>
            <a:off x="548640" y="2350008"/>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2</a:t>
            </a:r>
          </a:p>
        </p:txBody>
      </p:sp>
      <p:sp>
        <p:nvSpPr>
          <p:cNvPr id="13" name="TextBox 12"/>
          <p:cNvSpPr txBox="1"/>
          <p:nvPr/>
        </p:nvSpPr>
        <p:spPr>
          <a:xfrm>
            <a:off x="1325880" y="2377440"/>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Hiểu cơ chế hoạt động của Relay như một công tắc điện tử cách ly, điều khiển tải công suất lớn bằng tín hiệu GPIO nhỏ.</a:t>
            </a:r>
          </a:p>
        </p:txBody>
      </p:sp>
      <p:sp>
        <p:nvSpPr>
          <p:cNvPr id="14" name="Oval 13"/>
          <p:cNvSpPr/>
          <p:nvPr/>
        </p:nvSpPr>
        <p:spPr>
          <a:xfrm>
            <a:off x="548640" y="3282696"/>
            <a:ext cx="566928" cy="56692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3</a:t>
            </a:r>
          </a:p>
        </p:txBody>
      </p:sp>
      <p:sp>
        <p:nvSpPr>
          <p:cNvPr id="15" name="TextBox 14"/>
          <p:cNvSpPr txBox="1"/>
          <p:nvPr/>
        </p:nvSpPr>
        <p:spPr>
          <a:xfrm>
            <a:off x="1325880" y="3310128"/>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Lập trình logic điều khiển bật/tắt bơm nước tự động dựa trên ngưỡng độ ẩm đất.</a:t>
            </a:r>
          </a:p>
        </p:txBody>
      </p:sp>
      <p:sp>
        <p:nvSpPr>
          <p:cNvPr id="16" name="Oval 15"/>
          <p:cNvSpPr/>
          <p:nvPr/>
        </p:nvSpPr>
        <p:spPr>
          <a:xfrm>
            <a:off x="548640" y="4215384"/>
            <a:ext cx="566928" cy="566928"/>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2000" b="1">
                <a:solidFill>
                  <a:srgbClr val="FFFFFF"/>
                </a:solidFill>
                <a:latin typeface="Calibri"/>
              </a:rPr>
              <a:t>4</a:t>
            </a:r>
          </a:p>
        </p:txBody>
      </p:sp>
      <p:sp>
        <p:nvSpPr>
          <p:cNvPr id="17" name="TextBox 16"/>
          <p:cNvSpPr txBox="1"/>
          <p:nvPr/>
        </p:nvSpPr>
        <p:spPr>
          <a:xfrm>
            <a:off x="1325880" y="4242816"/>
            <a:ext cx="9966960" cy="822960"/>
          </a:xfrm>
          <a:prstGeom prst="rect">
            <a:avLst/>
          </a:prstGeom>
          <a:noFill/>
        </p:spPr>
        <p:txBody>
          <a:bodyPr wrap="square" anchor="ctr">
            <a:spAutoFit/>
          </a:bodyPr>
          <a:lstStyle/>
          <a:p>
            <a:pPr algn="l">
              <a:lnSpc>
                <a:spcPct val="110000"/>
              </a:lnSpc>
            </a:pPr>
            <a:r>
              <a:rPr sz="1550" b="0" i="0">
                <a:solidFill>
                  <a:srgbClr val="1E293B"/>
                </a:solidFill>
                <a:latin typeface="Calibri"/>
              </a:rPr>
              <a:t>Phân biệt được mạch điều khiển (control circuit) và mạch tải (load circuit) khi dùng Relay.</a:t>
            </a:r>
          </a:p>
        </p:txBody>
      </p:sp>
      <p:sp>
        <p:nvSpPr>
          <p:cNvPr id="18" name="Rectangle 17"/>
          <p:cNvSpPr/>
          <p:nvPr/>
        </p:nvSpPr>
        <p:spPr>
          <a:xfrm>
            <a:off x="548640" y="5193792"/>
            <a:ext cx="10881360" cy="18288"/>
          </a:xfrm>
          <a:prstGeom prst="rect">
            <a:avLst/>
          </a:prstGeom>
          <a:solidFill>
            <a:srgbClr val="DDE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330952"/>
            <a:ext cx="10881360" cy="457200"/>
          </a:xfrm>
          <a:prstGeom prst="rect">
            <a:avLst/>
          </a:prstGeom>
          <a:noFill/>
        </p:spPr>
        <p:txBody>
          <a:bodyPr wrap="square">
            <a:spAutoFit/>
          </a:bodyPr>
          <a:lstStyle/>
          <a:p>
            <a:pPr algn="l"/>
            <a:r>
              <a:rPr sz="1250" b="1" i="0">
                <a:solidFill>
                  <a:srgbClr val="475569"/>
                </a:solidFill>
                <a:latin typeface="Calibri"/>
              </a:rPr>
              <a:t>Board sử dụng: ESP32-S3-DevKitC-1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B3 · LÝ THUYẾT NỀN</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Nguyên lý cảm biến độ ẩm đất &amp; Relay điện từ</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B3</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2</a:t>
            </a:r>
          </a:p>
        </p:txBody>
      </p:sp>
      <p:sp>
        <p:nvSpPr>
          <p:cNvPr id="10" name="TextBox 9"/>
          <p:cNvSpPr txBox="1"/>
          <p:nvPr/>
        </p:nvSpPr>
        <p:spPr>
          <a:xfrm>
            <a:off x="548640" y="1417320"/>
            <a:ext cx="11064240" cy="4846320"/>
          </a:xfrm>
          <a:prstGeom prst="rect">
            <a:avLst/>
          </a:prstGeom>
          <a:noFill/>
        </p:spPr>
        <p:txBody>
          <a:bodyPr wrap="square">
            <a:spAutoFit/>
          </a:bodyPr>
          <a:lstStyle/>
          <a:p>
            <a:pPr algn="l">
              <a:spcAft>
                <a:spcPts val="1400"/>
              </a:spcAft>
            </a:pPr>
            <a:r>
              <a:rPr sz="1550" b="1">
                <a:solidFill>
                  <a:srgbClr val="3B82F6"/>
                </a:solidFill>
                <a:latin typeface="Calibri"/>
              </a:rPr>
              <a:t>●  </a:t>
            </a:r>
            <a:r>
              <a:rPr sz="1550" b="0">
                <a:solidFill>
                  <a:srgbClr val="1E293B"/>
                </a:solidFill>
                <a:latin typeface="Calibri"/>
              </a:rPr>
              <a:t>Cảm biến độ ẩm đất dạng 2 điện cực đo độ dẫn điện của đất — đất càng ẩm thì càng dẫn điện tốt, điện trở giữa 2 cực càng thấp.</a:t>
            </a:r>
          </a:p>
          <a:p>
            <a:pPr algn="l">
              <a:spcAft>
                <a:spcPts val="1400"/>
              </a:spcAft>
            </a:pPr>
            <a:r>
              <a:rPr sz="1550" b="1">
                <a:solidFill>
                  <a:srgbClr val="3B82F6"/>
                </a:solidFill>
                <a:latin typeface="Calibri"/>
              </a:rPr>
              <a:t>●  </a:t>
            </a:r>
            <a:r>
              <a:rPr sz="1550" b="0">
                <a:solidFill>
                  <a:srgbClr val="1E293B"/>
                </a:solidFill>
                <a:latin typeface="Calibri"/>
              </a:rPr>
              <a:t>Tín hiệu thường qua IC so sánh LM393 để có cả ngõ ra digital (DO, dùng chiết áp chỉnh ngưỡng cứng) và ngõ ra analog (AO, tỉ lệ liên tục với độ ẩm) — bài này dùng ngõ AO để lập trình ngưỡng linh hoạt bằng phần mềm.</a:t>
            </a:r>
          </a:p>
          <a:p>
            <a:pPr algn="l">
              <a:spcAft>
                <a:spcPts val="1400"/>
              </a:spcAft>
            </a:pPr>
            <a:r>
              <a:rPr sz="1550" b="1">
                <a:solidFill>
                  <a:srgbClr val="3B82F6"/>
                </a:solidFill>
                <a:latin typeface="Calibri"/>
              </a:rPr>
              <a:t>●  </a:t>
            </a:r>
            <a:r>
              <a:rPr sz="1550" b="0">
                <a:solidFill>
                  <a:srgbClr val="1E293B"/>
                </a:solidFill>
                <a:latin typeface="Calibri"/>
              </a:rPr>
              <a:t>Relay là công tắc điện-cơ được điều khiển bằng điện: dòng nhỏ (vài chục mA) qua cuộn dây tạo từ trường hút tiếp điểm cơ khí, đóng mạch tải công suất lớn (bơm, có thể là nguồn AC 220V trong thực tế).</a:t>
            </a:r>
          </a:p>
          <a:p>
            <a:pPr algn="l">
              <a:spcAft>
                <a:spcPts val="1400"/>
              </a:spcAft>
            </a:pPr>
            <a:r>
              <a:rPr sz="1550" b="1">
                <a:solidFill>
                  <a:srgbClr val="3B82F6"/>
                </a:solidFill>
                <a:latin typeface="Calibri"/>
              </a:rPr>
              <a:t>●  </a:t>
            </a:r>
            <a:r>
              <a:rPr sz="1550" b="0">
                <a:solidFill>
                  <a:srgbClr val="1E293B"/>
                </a:solidFill>
                <a:latin typeface="Calibri"/>
              </a:rPr>
              <a:t>Đây là nguyên lý CÁCH LY quan trọng bậc nhất trong tự động hoá: mạch điều khiển (GPIO 3.3V, dòng nhỏ) hoàn toàn tách biệt về điện với mạch tải (bơm, điện áp/dòng lớn) — bảo vệ vi điều khiển khỏi hư hỏng hoặc giật điện ngược.</a:t>
            </a:r>
          </a:p>
          <a:p>
            <a:pPr algn="l">
              <a:spcAft>
                <a:spcPts val="1400"/>
              </a:spcAft>
            </a:pPr>
            <a:r>
              <a:rPr sz="1550" b="1">
                <a:solidFill>
                  <a:srgbClr val="3B82F6"/>
                </a:solidFill>
                <a:latin typeface="Calibri"/>
              </a:rPr>
              <a:t>●  </a:t>
            </a:r>
            <a:r>
              <a:rPr sz="1550" b="0">
                <a:solidFill>
                  <a:srgbClr val="1E293B"/>
                </a:solidFill>
                <a:latin typeface="Calibri"/>
              </a:rPr>
              <a:t>Trong mạch thật cần thêm diode chống dòng cảm ứng ngược (flyback diode) đấu song song cuộn dây Relay để bảo vệ transistor điều khiển khỏi xung điện áp cao khi ngắt.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F59E0B"/>
                </a:solidFill>
                <a:latin typeface="Calibri"/>
              </a:rPr>
              <a:t>B3 · PHẦN CỨNG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Danh sách linh kiện sử dụng</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B3</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3</a:t>
            </a:r>
          </a:p>
        </p:txBody>
      </p:sp>
      <p:graphicFrame>
        <p:nvGraphicFramePr>
          <p:cNvPr id="10" name="Table 9"/>
          <p:cNvGraphicFramePr>
            <a:graphicFrameLocks noGrp="1"/>
          </p:cNvGraphicFramePr>
          <p:nvPr/>
        </p:nvGraphicFramePr>
        <p:xfrm>
          <a:off x="548640" y="1417320"/>
          <a:ext cx="11064240" cy="4526280"/>
        </p:xfrm>
        <a:graphic>
          <a:graphicData uri="http://schemas.openxmlformats.org/drawingml/2006/table">
            <a:tbl>
              <a:tblPr>
                <a:tableStyleId>{5C22544A-7EE6-4342-B048-85BDC9FD1C3A}</a:tableStyleId>
              </a:tblPr>
              <a:tblGrid>
                <a:gridCol w="2766060"/>
                <a:gridCol w="5532120"/>
                <a:gridCol w="2766060"/>
              </a:tblGrid>
              <a:tr h="754380">
                <a:tc>
                  <a:txBody>
                    <a:bodyPr wrap="square"/>
                    <a:lstStyle/>
                    <a:p>
                      <a:pPr algn="ctr"/>
                      <a:r>
                        <a:rPr sz="1400" b="1">
                          <a:solidFill>
                            <a:srgbClr val="FFFFFF"/>
                          </a:solidFill>
                          <a:latin typeface="Calibri"/>
                        </a:rPr>
                        <a:t>Linh kiện</a:t>
                      </a:r>
                    </a:p>
                  </a:txBody>
                  <a:tcPr marL="73152" marR="73152" marT="36576" marB="36576" anchor="ctr">
                    <a:solidFill>
                      <a:srgbClr val="F59E0B"/>
                    </a:solidFill>
                  </a:tcPr>
                </a:tc>
                <a:tc>
                  <a:txBody>
                    <a:bodyPr wrap="square"/>
                    <a:lstStyle/>
                    <a:p>
                      <a:pPr algn="ctr"/>
                      <a:r>
                        <a:rPr sz="1400" b="1">
                          <a:solidFill>
                            <a:srgbClr val="FFFFFF"/>
                          </a:solidFill>
                          <a:latin typeface="Calibri"/>
                        </a:rPr>
                        <a:t>Chức năng</a:t>
                      </a:r>
                    </a:p>
                  </a:txBody>
                  <a:tcPr marL="73152" marR="73152" marT="36576" marB="36576" anchor="ctr">
                    <a:solidFill>
                      <a:srgbClr val="F59E0B"/>
                    </a:solidFill>
                  </a:tcPr>
                </a:tc>
                <a:tc>
                  <a:txBody>
                    <a:bodyPr wrap="square"/>
                    <a:lstStyle/>
                    <a:p>
                      <a:pPr algn="ctr"/>
                      <a:r>
                        <a:rPr sz="1400" b="1">
                          <a:solidFill>
                            <a:srgbClr val="FFFFFF"/>
                          </a:solidFill>
                          <a:latin typeface="Calibri"/>
                        </a:rPr>
                        <a:t>Chân kết nối</a:t>
                      </a:r>
                    </a:p>
                  </a:txBody>
                  <a:tcPr marL="73152" marR="73152" marT="36576" marB="36576" anchor="ctr">
                    <a:solidFill>
                      <a:srgbClr val="F59E0B"/>
                    </a:solidFill>
                  </a:tcPr>
                </a:tc>
              </a:tr>
              <a:tr h="754380">
                <a:tc>
                  <a:txBody>
                    <a:bodyPr wrap="square"/>
                    <a:lstStyle/>
                    <a:p>
                      <a:pPr algn="l"/>
                      <a:r>
                        <a:rPr sz="1300" b="0">
                          <a:solidFill>
                            <a:srgbClr val="1E293B"/>
                          </a:solidFill>
                          <a:latin typeface="Calibri"/>
                        </a:rPr>
                        <a:t>ESP32-S3-DevKitC-1</a:t>
                      </a:r>
                    </a:p>
                  </a:txBody>
                  <a:tcPr marL="73152" marR="73152" marT="36576" marB="36576" anchor="ctr">
                    <a:solidFill>
                      <a:srgbClr val="FFFFFF"/>
                    </a:solidFill>
                  </a:tcPr>
                </a:tc>
                <a:tc>
                  <a:txBody>
                    <a:bodyPr wrap="square"/>
                    <a:lstStyle/>
                    <a:p>
                      <a:pPr algn="l"/>
                      <a:r>
                        <a:rPr sz="1300" b="0">
                          <a:solidFill>
                            <a:srgbClr val="475569"/>
                          </a:solidFill>
                          <a:latin typeface="Calibri"/>
                        </a:rPr>
                        <a:t>Vi điều khiển trung tâm</a:t>
                      </a:r>
                    </a:p>
                  </a:txBody>
                  <a:tcPr marL="73152" marR="73152" marT="36576" marB="36576" anchor="ctr">
                    <a:solidFill>
                      <a:srgbClr val="FFFFFF"/>
                    </a:solidFill>
                  </a:tcPr>
                </a:tc>
                <a:tc>
                  <a:txBody>
                    <a:bodyPr wrap="square"/>
                    <a:lstStyle/>
                    <a:p>
                      <a:pPr algn="ctr"/>
                      <a:r>
                        <a:rPr sz="1300" b="0">
                          <a:solidFill>
                            <a:srgbClr val="3B82F6"/>
                          </a:solidFill>
                          <a:latin typeface="Calibri"/>
                        </a:rPr>
                        <a:t>—</a:t>
                      </a:r>
                    </a:p>
                  </a:txBody>
                  <a:tcPr marL="73152" marR="73152" marT="36576" marB="36576" anchor="ctr">
                    <a:solidFill>
                      <a:srgbClr val="FFFFFF"/>
                    </a:solidFill>
                  </a:tcPr>
                </a:tc>
              </a:tr>
              <a:tr h="754380">
                <a:tc>
                  <a:txBody>
                    <a:bodyPr wrap="square"/>
                    <a:lstStyle/>
                    <a:p>
                      <a:pPr algn="l"/>
                      <a:r>
                        <a:rPr sz="1300" b="0">
                          <a:solidFill>
                            <a:srgbClr val="1E293B"/>
                          </a:solidFill>
                          <a:latin typeface="Calibri"/>
                        </a:rPr>
                        <a:t>Cảm biến độ ẩm đất</a:t>
                      </a:r>
                    </a:p>
                  </a:txBody>
                  <a:tcPr marL="73152" marR="73152" marT="36576" marB="36576" anchor="ctr">
                    <a:solidFill>
                      <a:srgbClr val="FFFFFF"/>
                    </a:solidFill>
                  </a:tcPr>
                </a:tc>
                <a:tc>
                  <a:txBody>
                    <a:bodyPr wrap="square"/>
                    <a:lstStyle/>
                    <a:p>
                      <a:pPr algn="l"/>
                      <a:r>
                        <a:rPr sz="1300" b="0">
                          <a:solidFill>
                            <a:srgbClr val="475569"/>
                          </a:solidFill>
                          <a:latin typeface="Calibri"/>
                        </a:rPr>
                        <a:t>Đo độ ẩm đất, xuất tín hiệu analog</a:t>
                      </a:r>
                    </a:p>
                  </a:txBody>
                  <a:tcPr marL="73152" marR="73152" marT="36576" marB="36576" anchor="ctr">
                    <a:solidFill>
                      <a:srgbClr val="FFFFFF"/>
                    </a:solidFill>
                  </a:tcPr>
                </a:tc>
                <a:tc>
                  <a:txBody>
                    <a:bodyPr wrap="square"/>
                    <a:lstStyle/>
                    <a:p>
                      <a:pPr algn="ctr"/>
                      <a:r>
                        <a:rPr sz="1300" b="0">
                          <a:solidFill>
                            <a:srgbClr val="10B981"/>
                          </a:solidFill>
                          <a:latin typeface="Calibri"/>
                        </a:rPr>
                        <a:t>GPIO6</a:t>
                      </a:r>
                    </a:p>
                  </a:txBody>
                  <a:tcPr marL="73152" marR="73152" marT="36576" marB="36576" anchor="ctr">
                    <a:solidFill>
                      <a:srgbClr val="FFFFFF"/>
                    </a:solidFill>
                  </a:tcPr>
                </a:tc>
              </a:tr>
              <a:tr h="754380">
                <a:tc>
                  <a:txBody>
                    <a:bodyPr wrap="square"/>
                    <a:lstStyle/>
                    <a:p>
                      <a:pPr algn="l"/>
                      <a:r>
                        <a:rPr sz="1300" b="0">
                          <a:solidFill>
                            <a:srgbClr val="1E293B"/>
                          </a:solidFill>
                          <a:latin typeface="Calibri"/>
                        </a:rPr>
                        <a:t>Module Relay 5V</a:t>
                      </a:r>
                    </a:p>
                  </a:txBody>
                  <a:tcPr marL="73152" marR="73152" marT="36576" marB="36576" anchor="ctr">
                    <a:solidFill>
                      <a:srgbClr val="FFFFFF"/>
                    </a:solidFill>
                  </a:tcPr>
                </a:tc>
                <a:tc>
                  <a:txBody>
                    <a:bodyPr wrap="square"/>
                    <a:lstStyle/>
                    <a:p>
                      <a:pPr algn="l"/>
                      <a:r>
                        <a:rPr sz="1300" b="0">
                          <a:solidFill>
                            <a:srgbClr val="475569"/>
                          </a:solidFill>
                          <a:latin typeface="Calibri"/>
                        </a:rPr>
                        <a:t>Công tắc điện tử đóng/ngắt máy bơm</a:t>
                      </a:r>
                    </a:p>
                  </a:txBody>
                  <a:tcPr marL="73152" marR="73152" marT="36576" marB="36576" anchor="ctr">
                    <a:solidFill>
                      <a:srgbClr val="FFFFFF"/>
                    </a:solidFill>
                  </a:tcPr>
                </a:tc>
                <a:tc>
                  <a:txBody>
                    <a:bodyPr wrap="square"/>
                    <a:lstStyle/>
                    <a:p>
                      <a:pPr algn="ctr"/>
                      <a:r>
                        <a:rPr sz="1300" b="0">
                          <a:solidFill>
                            <a:srgbClr val="F59E0B"/>
                          </a:solidFill>
                          <a:latin typeface="Calibri"/>
                        </a:rPr>
                        <a:t>IN: GPIO7</a:t>
                      </a:r>
                    </a:p>
                  </a:txBody>
                  <a:tcPr marL="73152" marR="73152" marT="36576" marB="36576" anchor="ctr">
                    <a:solidFill>
                      <a:srgbClr val="FFFFFF"/>
                    </a:solidFill>
                  </a:tcPr>
                </a:tc>
              </a:tr>
              <a:tr h="754380">
                <a:tc>
                  <a:txBody>
                    <a:bodyPr wrap="square"/>
                    <a:lstStyle/>
                    <a:p>
                      <a:pPr algn="l"/>
                      <a:r>
                        <a:rPr sz="1300" b="0">
                          <a:solidFill>
                            <a:srgbClr val="1E293B"/>
                          </a:solidFill>
                          <a:latin typeface="Calibri"/>
                        </a:rPr>
                        <a:t>Động cơ bơm nước (DC Motor)</a:t>
                      </a:r>
                    </a:p>
                  </a:txBody>
                  <a:tcPr marL="73152" marR="73152" marT="36576" marB="36576" anchor="ctr">
                    <a:solidFill>
                      <a:srgbClr val="FFFFFF"/>
                    </a:solidFill>
                  </a:tcPr>
                </a:tc>
                <a:tc>
                  <a:txBody>
                    <a:bodyPr wrap="square"/>
                    <a:lstStyle/>
                    <a:p>
                      <a:pPr algn="l"/>
                      <a:r>
                        <a:rPr sz="1300" b="0">
                          <a:solidFill>
                            <a:srgbClr val="475569"/>
                          </a:solidFill>
                          <a:latin typeface="Calibri"/>
                        </a:rPr>
                        <a:t>Tải công suất — bơm nước tưới cây</a:t>
                      </a:r>
                    </a:p>
                  </a:txBody>
                  <a:tcPr marL="73152" marR="73152" marT="36576" marB="36576" anchor="ctr">
                    <a:solidFill>
                      <a:srgbClr val="FFFFFF"/>
                    </a:solidFill>
                  </a:tcPr>
                </a:tc>
                <a:tc>
                  <a:txBody>
                    <a:bodyPr wrap="square"/>
                    <a:lstStyle/>
                    <a:p>
                      <a:pPr algn="ctr"/>
                      <a:r>
                        <a:rPr sz="1300" b="0">
                          <a:solidFill>
                            <a:srgbClr val="8B5CF6"/>
                          </a:solidFill>
                          <a:latin typeface="Calibri"/>
                        </a:rPr>
                        <a:t>Cấp nguồn qua Relay · OUT</a:t>
                      </a:r>
                    </a:p>
                  </a:txBody>
                  <a:tcPr marL="73152" marR="73152" marT="36576" marB="36576" anchor="ctr">
                    <a:solidFill>
                      <a:srgbClr val="FFFFFF"/>
                    </a:solidFill>
                  </a:tcPr>
                </a:tc>
              </a:tr>
              <a:tr h="754380">
                <a:tc>
                  <a:txBody>
                    <a:bodyPr wrap="square"/>
                    <a:lstStyle/>
                    <a:p>
                      <a:pPr algn="l"/>
                      <a:r>
                        <a:rPr sz="1300" b="0">
                          <a:solidFill>
                            <a:srgbClr val="1E293B"/>
                          </a:solidFill>
                          <a:latin typeface="Calibri"/>
                        </a:rPr>
                        <a:t>LCD1602 (I2C)</a:t>
                      </a:r>
                    </a:p>
                  </a:txBody>
                  <a:tcPr marL="73152" marR="73152" marT="36576" marB="36576" anchor="ctr">
                    <a:solidFill>
                      <a:srgbClr val="FFFFFF"/>
                    </a:solidFill>
                  </a:tcPr>
                </a:tc>
                <a:tc>
                  <a:txBody>
                    <a:bodyPr wrap="square"/>
                    <a:lstStyle/>
                    <a:p>
                      <a:pPr algn="l"/>
                      <a:r>
                        <a:rPr sz="1300" b="0">
                          <a:solidFill>
                            <a:srgbClr val="475569"/>
                          </a:solidFill>
                          <a:latin typeface="Calibri"/>
                        </a:rPr>
                        <a:t>Hiển thị độ ẩm &amp; trạng thái bơm</a:t>
                      </a:r>
                    </a:p>
                  </a:txBody>
                  <a:tcPr marL="73152" marR="73152" marT="36576" marB="36576" anchor="ctr">
                    <a:solidFill>
                      <a:srgbClr val="FFFFFF"/>
                    </a:solidFill>
                  </a:tcPr>
                </a:tc>
                <a:tc>
                  <a:txBody>
                    <a:bodyPr wrap="square"/>
                    <a:lstStyle/>
                    <a:p>
                      <a:pPr algn="ctr"/>
                      <a:r>
                        <a:rPr sz="1300" b="0">
                          <a:solidFill>
                            <a:srgbClr val="06B6D4"/>
                          </a:solidFill>
                          <a:latin typeface="Calibri"/>
                        </a:rPr>
                        <a:t>SCL: GPIO9 · SDA: GPIO8</a:t>
                      </a:r>
                    </a:p>
                  </a:txBody>
                  <a:tcPr marL="73152" marR="73152" marT="36576" marB="36576"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CE9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C4899"/>
                </a:solidFill>
                <a:latin typeface="Calibri"/>
              </a:rPr>
              <a:t>B3 · HÌNH ẢNH THIẾT BỊ THỰC TẾ</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Nhận diện linh kiện phần cứng</a:t>
            </a:r>
          </a:p>
        </p:txBody>
      </p:sp>
      <p:sp>
        <p:nvSpPr>
          <p:cNvPr id="7" name="TextBox 6"/>
          <p:cNvSpPr txBox="1"/>
          <p:nvPr/>
        </p:nvSpPr>
        <p:spPr>
          <a:xfrm>
            <a:off x="502920" y="6236208"/>
            <a:ext cx="11185855" cy="237744"/>
          </a:xfrm>
          <a:prstGeom prst="rect">
            <a:avLst/>
          </a:prstGeom>
          <a:noFill/>
        </p:spPr>
        <p:txBody>
          <a:bodyPr wrap="square">
            <a:spAutoFit/>
          </a:bodyPr>
          <a:lstStyle/>
          <a:p>
            <a:pPr algn="r"/>
            <a:r>
              <a:rPr sz="800" b="0" i="1">
                <a:solidFill>
                  <a:srgbClr val="94A3B8"/>
                </a:solidFill>
                <a:latin typeface="Calibri"/>
              </a:rPr>
              <a:t>Nguồn ảnh: xem slide Nguồn tham khảo cuối bài B0</a:t>
            </a:r>
          </a:p>
        </p:txBody>
      </p:sp>
      <p:cxnSp>
        <p:nvCxnSpPr>
          <p:cNvPr id="8" name="Connector 7"/>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B3</a:t>
            </a:r>
          </a:p>
        </p:txBody>
      </p:sp>
      <p:sp>
        <p:nvSpPr>
          <p:cNvPr id="10" name="TextBox 9"/>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4</a:t>
            </a:r>
          </a:p>
        </p:txBody>
      </p:sp>
      <p:sp>
        <p:nvSpPr>
          <p:cNvPr id="11" name="Rounded Rectangle 10"/>
          <p:cNvSpPr/>
          <p:nvPr/>
        </p:nvSpPr>
        <p:spPr>
          <a:xfrm>
            <a:off x="548640" y="1417320"/>
            <a:ext cx="2008022" cy="1764792"/>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esp32s3.jpg"/>
          <p:cNvPicPr>
            <a:picLocks noChangeAspect="1"/>
          </p:cNvPicPr>
          <p:nvPr/>
        </p:nvPicPr>
        <p:blipFill>
          <a:blip r:embed="rId2"/>
          <a:stretch>
            <a:fillRect/>
          </a:stretch>
        </p:blipFill>
        <p:spPr>
          <a:xfrm>
            <a:off x="640080" y="1599773"/>
            <a:ext cx="1825142" cy="1399884"/>
          </a:xfrm>
          <a:prstGeom prst="rect">
            <a:avLst/>
          </a:prstGeom>
        </p:spPr>
      </p:pic>
      <p:sp>
        <p:nvSpPr>
          <p:cNvPr id="13" name="Rectangle 12"/>
          <p:cNvSpPr/>
          <p:nvPr/>
        </p:nvSpPr>
        <p:spPr>
          <a:xfrm>
            <a:off x="548640" y="3182112"/>
            <a:ext cx="2008022"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218688"/>
            <a:ext cx="1825142" cy="256032"/>
          </a:xfrm>
          <a:prstGeom prst="rect">
            <a:avLst/>
          </a:prstGeom>
          <a:noFill/>
        </p:spPr>
        <p:txBody>
          <a:bodyPr wrap="square">
            <a:spAutoFit/>
          </a:bodyPr>
          <a:lstStyle/>
          <a:p>
            <a:pPr algn="ctr"/>
            <a:r>
              <a:rPr sz="1150" b="1" i="0">
                <a:solidFill>
                  <a:srgbClr val="1E293B"/>
                </a:solidFill>
                <a:latin typeface="Calibri"/>
              </a:rPr>
              <a:t>ESP32-S3-DevKitC-1</a:t>
            </a:r>
          </a:p>
        </p:txBody>
      </p:sp>
      <p:sp>
        <p:nvSpPr>
          <p:cNvPr id="15" name="TextBox 14"/>
          <p:cNvSpPr txBox="1"/>
          <p:nvPr/>
        </p:nvSpPr>
        <p:spPr>
          <a:xfrm>
            <a:off x="640080" y="3474720"/>
            <a:ext cx="1825142" cy="347471"/>
          </a:xfrm>
          <a:prstGeom prst="rect">
            <a:avLst/>
          </a:prstGeom>
          <a:noFill/>
        </p:spPr>
        <p:txBody>
          <a:bodyPr wrap="square">
            <a:spAutoFit/>
          </a:bodyPr>
          <a:lstStyle/>
          <a:p>
            <a:pPr algn="ctr"/>
            <a:r>
              <a:rPr sz="850" b="0" i="0">
                <a:solidFill>
                  <a:srgbClr val="475569"/>
                </a:solidFill>
                <a:latin typeface="Calibri"/>
              </a:rPr>
              <a:t>Vi điều khiển trung tâm (ảnh minh hoạ dòng ESP32 DevKit — board dùng trong bài là bản S3, 44 chân)</a:t>
            </a:r>
          </a:p>
        </p:txBody>
      </p:sp>
      <p:sp>
        <p:nvSpPr>
          <p:cNvPr id="16" name="Rounded Rectangle 15"/>
          <p:cNvSpPr/>
          <p:nvPr/>
        </p:nvSpPr>
        <p:spPr>
          <a:xfrm>
            <a:off x="2812694" y="1417320"/>
            <a:ext cx="2008022" cy="1764792"/>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885846" y="1490472"/>
            <a:ext cx="1861718" cy="1618488"/>
          </a:xfrm>
          <a:prstGeom prst="roundRect">
            <a:avLst/>
          </a:prstGeom>
          <a:solidFill>
            <a:srgbClr val="E5E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100" b="1">
                <a:solidFill>
                  <a:srgbClr val="3B82F6"/>
                </a:solidFill>
                <a:latin typeface="Calibri"/>
              </a:rPr>
              <a:t>Soil Moisture Sensor</a:t>
            </a:r>
          </a:p>
        </p:txBody>
      </p:sp>
      <p:sp>
        <p:nvSpPr>
          <p:cNvPr id="18" name="Rectangle 17"/>
          <p:cNvSpPr/>
          <p:nvPr/>
        </p:nvSpPr>
        <p:spPr>
          <a:xfrm>
            <a:off x="2812694" y="3182112"/>
            <a:ext cx="2008022"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04134" y="3218688"/>
            <a:ext cx="1825142" cy="256032"/>
          </a:xfrm>
          <a:prstGeom prst="rect">
            <a:avLst/>
          </a:prstGeom>
          <a:noFill/>
        </p:spPr>
        <p:txBody>
          <a:bodyPr wrap="square">
            <a:spAutoFit/>
          </a:bodyPr>
          <a:lstStyle/>
          <a:p>
            <a:pPr algn="ctr"/>
            <a:r>
              <a:rPr sz="1150" b="1" i="0">
                <a:solidFill>
                  <a:srgbClr val="1E293B"/>
                </a:solidFill>
                <a:latin typeface="Calibri"/>
              </a:rPr>
              <a:t>Soil Moisture Sensor</a:t>
            </a:r>
          </a:p>
        </p:txBody>
      </p:sp>
      <p:sp>
        <p:nvSpPr>
          <p:cNvPr id="20" name="TextBox 19"/>
          <p:cNvSpPr txBox="1"/>
          <p:nvPr/>
        </p:nvSpPr>
        <p:spPr>
          <a:xfrm>
            <a:off x="2904134" y="3474720"/>
            <a:ext cx="1825142" cy="347471"/>
          </a:xfrm>
          <a:prstGeom prst="rect">
            <a:avLst/>
          </a:prstGeom>
          <a:noFill/>
        </p:spPr>
        <p:txBody>
          <a:bodyPr wrap="square">
            <a:spAutoFit/>
          </a:bodyPr>
          <a:lstStyle/>
          <a:p>
            <a:pPr algn="ctr"/>
            <a:r>
              <a:rPr sz="850" b="0" i="0">
                <a:solidFill>
                  <a:srgbClr val="475569"/>
                </a:solidFill>
                <a:latin typeface="Calibri"/>
              </a:rPr>
              <a:t>Cảm biến độ ẩm đất — module 2 chấu + IC so sánh LM393, ngõ ra Analog</a:t>
            </a:r>
          </a:p>
        </p:txBody>
      </p:sp>
      <p:sp>
        <p:nvSpPr>
          <p:cNvPr id="21" name="Rounded Rectangle 20"/>
          <p:cNvSpPr/>
          <p:nvPr/>
        </p:nvSpPr>
        <p:spPr>
          <a:xfrm>
            <a:off x="5076748" y="1417320"/>
            <a:ext cx="2008022" cy="1764792"/>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relay_module.jpg"/>
          <p:cNvPicPr>
            <a:picLocks noChangeAspect="1"/>
          </p:cNvPicPr>
          <p:nvPr/>
        </p:nvPicPr>
        <p:blipFill>
          <a:blip r:embed="rId3"/>
          <a:stretch>
            <a:fillRect/>
          </a:stretch>
        </p:blipFill>
        <p:spPr>
          <a:xfrm>
            <a:off x="5168188" y="1691943"/>
            <a:ext cx="1825142" cy="1215544"/>
          </a:xfrm>
          <a:prstGeom prst="rect">
            <a:avLst/>
          </a:prstGeom>
        </p:spPr>
      </p:pic>
      <p:sp>
        <p:nvSpPr>
          <p:cNvPr id="23" name="Rectangle 22"/>
          <p:cNvSpPr/>
          <p:nvPr/>
        </p:nvSpPr>
        <p:spPr>
          <a:xfrm>
            <a:off x="5076748" y="3182112"/>
            <a:ext cx="2008022"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8188" y="3218688"/>
            <a:ext cx="1825142" cy="256032"/>
          </a:xfrm>
          <a:prstGeom prst="rect">
            <a:avLst/>
          </a:prstGeom>
          <a:noFill/>
        </p:spPr>
        <p:txBody>
          <a:bodyPr wrap="square">
            <a:spAutoFit/>
          </a:bodyPr>
          <a:lstStyle/>
          <a:p>
            <a:pPr algn="ctr"/>
            <a:r>
              <a:rPr sz="1150" b="1" i="0">
                <a:solidFill>
                  <a:srgbClr val="1E293B"/>
                </a:solidFill>
                <a:latin typeface="Calibri"/>
              </a:rPr>
              <a:t>Module Relay 5V</a:t>
            </a:r>
          </a:p>
        </p:txBody>
      </p:sp>
      <p:sp>
        <p:nvSpPr>
          <p:cNvPr id="25" name="TextBox 24"/>
          <p:cNvSpPr txBox="1"/>
          <p:nvPr/>
        </p:nvSpPr>
        <p:spPr>
          <a:xfrm>
            <a:off x="5168188" y="3474720"/>
            <a:ext cx="1825142" cy="347471"/>
          </a:xfrm>
          <a:prstGeom prst="rect">
            <a:avLst/>
          </a:prstGeom>
          <a:noFill/>
        </p:spPr>
        <p:txBody>
          <a:bodyPr wrap="square">
            <a:spAutoFit/>
          </a:bodyPr>
          <a:lstStyle/>
          <a:p>
            <a:pPr algn="ctr"/>
            <a:r>
              <a:rPr sz="850" b="0" i="0">
                <a:solidFill>
                  <a:srgbClr val="475569"/>
                </a:solidFill>
                <a:latin typeface="Calibri"/>
              </a:rPr>
              <a:t>Công tắc điện tử đóng/ngắt tải công suất lớn</a:t>
            </a:r>
          </a:p>
        </p:txBody>
      </p:sp>
      <p:sp>
        <p:nvSpPr>
          <p:cNvPr id="26" name="Rounded Rectangle 25"/>
          <p:cNvSpPr/>
          <p:nvPr/>
        </p:nvSpPr>
        <p:spPr>
          <a:xfrm>
            <a:off x="7340803" y="1417320"/>
            <a:ext cx="2008022" cy="1764792"/>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dc_motor_pump.jpg"/>
          <p:cNvPicPr>
            <a:picLocks noChangeAspect="1"/>
          </p:cNvPicPr>
          <p:nvPr/>
        </p:nvPicPr>
        <p:blipFill>
          <a:blip r:embed="rId4"/>
          <a:stretch>
            <a:fillRect/>
          </a:stretch>
        </p:blipFill>
        <p:spPr>
          <a:xfrm>
            <a:off x="7979392" y="1508760"/>
            <a:ext cx="730843" cy="1581912"/>
          </a:xfrm>
          <a:prstGeom prst="rect">
            <a:avLst/>
          </a:prstGeom>
        </p:spPr>
      </p:pic>
      <p:sp>
        <p:nvSpPr>
          <p:cNvPr id="28" name="Rectangle 27"/>
          <p:cNvSpPr/>
          <p:nvPr/>
        </p:nvSpPr>
        <p:spPr>
          <a:xfrm>
            <a:off x="7340803" y="3182112"/>
            <a:ext cx="2008022"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32243" y="3218688"/>
            <a:ext cx="1825142" cy="256032"/>
          </a:xfrm>
          <a:prstGeom prst="rect">
            <a:avLst/>
          </a:prstGeom>
          <a:noFill/>
        </p:spPr>
        <p:txBody>
          <a:bodyPr wrap="square">
            <a:spAutoFit/>
          </a:bodyPr>
          <a:lstStyle/>
          <a:p>
            <a:pPr algn="ctr"/>
            <a:r>
              <a:rPr sz="1150" b="1" i="0">
                <a:solidFill>
                  <a:srgbClr val="1E293B"/>
                </a:solidFill>
                <a:latin typeface="Calibri"/>
              </a:rPr>
              <a:t>Động cơ / Bơm DC</a:t>
            </a:r>
          </a:p>
        </p:txBody>
      </p:sp>
      <p:sp>
        <p:nvSpPr>
          <p:cNvPr id="30" name="TextBox 29"/>
          <p:cNvSpPr txBox="1"/>
          <p:nvPr/>
        </p:nvSpPr>
        <p:spPr>
          <a:xfrm>
            <a:off x="7432243" y="3474720"/>
            <a:ext cx="1825142" cy="347471"/>
          </a:xfrm>
          <a:prstGeom prst="rect">
            <a:avLst/>
          </a:prstGeom>
          <a:noFill/>
        </p:spPr>
        <p:txBody>
          <a:bodyPr wrap="square">
            <a:spAutoFit/>
          </a:bodyPr>
          <a:lstStyle/>
          <a:p>
            <a:pPr algn="ctr"/>
            <a:r>
              <a:rPr sz="850" b="0" i="0">
                <a:solidFill>
                  <a:srgbClr val="475569"/>
                </a:solidFill>
                <a:latin typeface="Calibri"/>
              </a:rPr>
              <a:t>Thiết bị chấp hành (ảnh minh hoạ động cơ DC nhỏ cùng nguyên lý với bơm mini)</a:t>
            </a:r>
          </a:p>
        </p:txBody>
      </p:sp>
      <p:sp>
        <p:nvSpPr>
          <p:cNvPr id="31" name="Rounded Rectangle 30"/>
          <p:cNvSpPr/>
          <p:nvPr/>
        </p:nvSpPr>
        <p:spPr>
          <a:xfrm>
            <a:off x="9604857" y="1417320"/>
            <a:ext cx="2008022" cy="1764792"/>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lcd1602.jpg"/>
          <p:cNvPicPr>
            <a:picLocks noChangeAspect="1"/>
          </p:cNvPicPr>
          <p:nvPr/>
        </p:nvPicPr>
        <p:blipFill>
          <a:blip r:embed="rId5"/>
          <a:stretch>
            <a:fillRect/>
          </a:stretch>
        </p:blipFill>
        <p:spPr>
          <a:xfrm>
            <a:off x="9696297" y="1691943"/>
            <a:ext cx="1825142" cy="1215544"/>
          </a:xfrm>
          <a:prstGeom prst="rect">
            <a:avLst/>
          </a:prstGeom>
        </p:spPr>
      </p:pic>
      <p:sp>
        <p:nvSpPr>
          <p:cNvPr id="33" name="Rectangle 32"/>
          <p:cNvSpPr/>
          <p:nvPr/>
        </p:nvSpPr>
        <p:spPr>
          <a:xfrm>
            <a:off x="9604857" y="3182112"/>
            <a:ext cx="2008022" cy="658368"/>
          </a:xfrm>
          <a:prstGeom prst="rect">
            <a:avLst/>
          </a:prstGeom>
          <a:solidFill>
            <a:srgbClr val="F6F8F9"/>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6297" y="3218688"/>
            <a:ext cx="1825142" cy="256032"/>
          </a:xfrm>
          <a:prstGeom prst="rect">
            <a:avLst/>
          </a:prstGeom>
          <a:noFill/>
        </p:spPr>
        <p:txBody>
          <a:bodyPr wrap="square">
            <a:spAutoFit/>
          </a:bodyPr>
          <a:lstStyle/>
          <a:p>
            <a:pPr algn="ctr"/>
            <a:r>
              <a:rPr sz="1150" b="1" i="0">
                <a:solidFill>
                  <a:srgbClr val="1E293B"/>
                </a:solidFill>
                <a:latin typeface="Calibri"/>
              </a:rPr>
              <a:t>LCD1602 (I2C)</a:t>
            </a:r>
          </a:p>
        </p:txBody>
      </p:sp>
      <p:sp>
        <p:nvSpPr>
          <p:cNvPr id="35" name="TextBox 34"/>
          <p:cNvSpPr txBox="1"/>
          <p:nvPr/>
        </p:nvSpPr>
        <p:spPr>
          <a:xfrm>
            <a:off x="9696297" y="3474720"/>
            <a:ext cx="1825142" cy="347471"/>
          </a:xfrm>
          <a:prstGeom prst="rect">
            <a:avLst/>
          </a:prstGeom>
          <a:noFill/>
        </p:spPr>
        <p:txBody>
          <a:bodyPr wrap="square">
            <a:spAutoFit/>
          </a:bodyPr>
          <a:lstStyle/>
          <a:p>
            <a:pPr algn="ctr"/>
            <a:r>
              <a:rPr sz="850" b="0" i="0">
                <a:solidFill>
                  <a:srgbClr val="475569"/>
                </a:solidFill>
                <a:latin typeface="Calibri"/>
              </a:rPr>
              <a:t>Màn hình hiển thị 16×2 ký tự</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8B5CF6"/>
                </a:solidFill>
                <a:latin typeface="Calibri"/>
              </a:rPr>
              <a:t>B3 · KIẾN TRÚC HỆ THỐNG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Sơ đồ khối tín hiệu</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B3</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5</a:t>
            </a:r>
          </a:p>
        </p:txBody>
      </p:sp>
      <p:sp>
        <p:nvSpPr>
          <p:cNvPr id="10" name="Rounded Rectangle 9"/>
          <p:cNvSpPr/>
          <p:nvPr/>
        </p:nvSpPr>
        <p:spPr>
          <a:xfrm>
            <a:off x="548640" y="2377440"/>
            <a:ext cx="2331720" cy="1371600"/>
          </a:xfrm>
          <a:prstGeom prst="roundRect">
            <a:avLst/>
          </a:prstGeom>
          <a:solidFill>
            <a:srgbClr val="FFFFFF"/>
          </a:solidFill>
          <a:ln w="28575">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Cảm biến
Độ ẩm đất</a:t>
            </a:r>
          </a:p>
        </p:txBody>
      </p:sp>
      <p:sp>
        <p:nvSpPr>
          <p:cNvPr id="11" name="Rectangle 10"/>
          <p:cNvSpPr/>
          <p:nvPr/>
        </p:nvSpPr>
        <p:spPr>
          <a:xfrm>
            <a:off x="548640" y="2377440"/>
            <a:ext cx="2331720" cy="10972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2949854" y="2880360"/>
            <a:ext cx="440131"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459480" y="2377440"/>
            <a:ext cx="2331720" cy="1371600"/>
          </a:xfrm>
          <a:prstGeom prst="roundRect">
            <a:avLst/>
          </a:prstGeom>
          <a:solidFill>
            <a:srgbClr val="FFFFFF"/>
          </a:solidFill>
          <a:ln w="285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ESP32-S3
(So sánh ngưỡng)</a:t>
            </a:r>
          </a:p>
        </p:txBody>
      </p:sp>
      <p:sp>
        <p:nvSpPr>
          <p:cNvPr id="14" name="Rectangle 13"/>
          <p:cNvSpPr/>
          <p:nvPr/>
        </p:nvSpPr>
        <p:spPr>
          <a:xfrm>
            <a:off x="3459480" y="2377440"/>
            <a:ext cx="233172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5860694" y="2880360"/>
            <a:ext cx="440131"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70319" y="2377440"/>
            <a:ext cx="2331720" cy="1371600"/>
          </a:xfrm>
          <a:prstGeom prst="roundRect">
            <a:avLst/>
          </a:prstGeom>
          <a:solidFill>
            <a:srgbClr val="FFFFFF"/>
          </a:solidFill>
          <a:ln w="285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Relay 5V
(Công tắc điện tử)</a:t>
            </a:r>
          </a:p>
        </p:txBody>
      </p:sp>
      <p:sp>
        <p:nvSpPr>
          <p:cNvPr id="17" name="Rectangle 16"/>
          <p:cNvSpPr/>
          <p:nvPr/>
        </p:nvSpPr>
        <p:spPr>
          <a:xfrm>
            <a:off x="6370319" y="2377440"/>
            <a:ext cx="233172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ight Arrow 17"/>
          <p:cNvSpPr/>
          <p:nvPr/>
        </p:nvSpPr>
        <p:spPr>
          <a:xfrm>
            <a:off x="8771534" y="2880360"/>
            <a:ext cx="440131" cy="365760"/>
          </a:xfrm>
          <a:prstGeom prst="right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281159" y="2377440"/>
            <a:ext cx="2331720" cy="1371600"/>
          </a:xfrm>
          <a:prstGeom prst="roundRect">
            <a:avLst/>
          </a:prstGeom>
          <a:solidFill>
            <a:srgbClr val="FFFFFF"/>
          </a:solidFill>
          <a:ln w="28575">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1E293B"/>
                </a:solidFill>
                <a:latin typeface="Calibri"/>
              </a:rPr>
              <a:t>Máy bơm DC
(Tưới nước)</a:t>
            </a:r>
          </a:p>
        </p:txBody>
      </p:sp>
      <p:sp>
        <p:nvSpPr>
          <p:cNvPr id="20" name="Rectangle 19"/>
          <p:cNvSpPr/>
          <p:nvPr/>
        </p:nvSpPr>
        <p:spPr>
          <a:xfrm>
            <a:off x="9281159" y="2377440"/>
            <a:ext cx="2331720" cy="10972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297680"/>
            <a:ext cx="11064240" cy="457200"/>
          </a:xfrm>
          <a:prstGeom prst="rect">
            <a:avLst/>
          </a:prstGeom>
          <a:noFill/>
        </p:spPr>
        <p:txBody>
          <a:bodyPr wrap="square">
            <a:spAutoFit/>
          </a:bodyPr>
          <a:lstStyle/>
          <a:p>
            <a:pPr algn="l"/>
            <a:r>
              <a:rPr sz="1350" b="0" i="1">
                <a:solidFill>
                  <a:srgbClr val="475569"/>
                </a:solidFill>
                <a:latin typeface="Calibri"/>
              </a:rPr>
              <a:t>Dữ liệu chảy theo một chiều: cảm biến sinh tín hiệu → vi điều khiển đọc &amp; xử lý → kết quả đưa ra thiết bị đầu ra.</a:t>
            </a:r>
          </a:p>
        </p:txBody>
      </p:sp>
      <p:sp>
        <p:nvSpPr>
          <p:cNvPr id="22" name="Rounded Rectangle 21"/>
          <p:cNvSpPr/>
          <p:nvPr/>
        </p:nvSpPr>
        <p:spPr>
          <a:xfrm>
            <a:off x="548640" y="4892040"/>
            <a:ext cx="11064240" cy="141732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029200"/>
            <a:ext cx="10607040" cy="1188720"/>
          </a:xfrm>
          <a:prstGeom prst="rect">
            <a:avLst/>
          </a:prstGeom>
          <a:noFill/>
        </p:spPr>
        <p:txBody>
          <a:bodyPr wrap="square">
            <a:spAutoFit/>
          </a:bodyPr>
          <a:lstStyle/>
          <a:p>
            <a:pPr algn="l">
              <a:lnSpc>
                <a:spcPct val="125000"/>
              </a:lnSpc>
            </a:pPr>
            <a:r>
              <a:rPr sz="1300" b="0" i="0">
                <a:solidFill>
                  <a:srgbClr val="475569"/>
                </a:solidFill>
                <a:latin typeface="Calibri"/>
              </a:rPr>
              <a:t>Điểm cốt lõi của bài này: ESP32-S3 KHÔNG cấp điện trực tiếp cho bơm — GPIO chỉ đủ dòng vài chục mA, không thể kéo tải bơm nước (có thể hàng trăm mA đến vài A). Relay đóng vai trò "cầu nối an toàn": phía IN nhận tín hiệu điều khiển nhỏ, phía OUT đóng/ngắt một mạch điện HOÀN TOÀN RIÊNG BIỆT để cấp nguồn cho bơm.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1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06B6D4"/>
                </a:solidFill>
                <a:latin typeface="Calibri"/>
              </a:rPr>
              <a:t>B3 · ĐẤU NỐI PHẦN CỨNG</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Sơ đồ đấu dây chi tiết</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B3</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6</a:t>
            </a:r>
          </a:p>
        </p:txBody>
      </p:sp>
      <p:sp>
        <p:nvSpPr>
          <p:cNvPr id="10" name="Rounded Rectangle 9"/>
          <p:cNvSpPr/>
          <p:nvPr/>
        </p:nvSpPr>
        <p:spPr>
          <a:xfrm>
            <a:off x="640080" y="1828800"/>
            <a:ext cx="2377440" cy="3291840"/>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500" b="1">
                <a:solidFill>
                  <a:srgbClr val="FFFFFF"/>
                </a:solidFill>
                <a:latin typeface="Calibri"/>
              </a:rPr>
              <a:t>ESP32-S3
DevKitC-1</a:t>
            </a:r>
          </a:p>
        </p:txBody>
      </p:sp>
      <p:sp>
        <p:nvSpPr>
          <p:cNvPr id="11" name="Rounded Rectangle 10"/>
          <p:cNvSpPr/>
          <p:nvPr/>
        </p:nvSpPr>
        <p:spPr>
          <a:xfrm>
            <a:off x="6080760" y="1600200"/>
            <a:ext cx="2514600" cy="765809"/>
          </a:xfrm>
          <a:prstGeom prst="roundRect">
            <a:avLst/>
          </a:prstGeom>
          <a:solidFill>
            <a:srgbClr val="FFFFFF"/>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Soil</a:t>
            </a:r>
          </a:p>
        </p:txBody>
      </p:sp>
      <p:sp>
        <p:nvSpPr>
          <p:cNvPr id="12" name="Rounded Rectangle 11"/>
          <p:cNvSpPr/>
          <p:nvPr/>
        </p:nvSpPr>
        <p:spPr>
          <a:xfrm>
            <a:off x="6080760" y="2594610"/>
            <a:ext cx="2514600" cy="765809"/>
          </a:xfrm>
          <a:prstGeom prst="roundRect">
            <a:avLst/>
          </a:prstGeom>
          <a:solidFill>
            <a:srgbClr val="FFFFFF"/>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Relay</a:t>
            </a:r>
          </a:p>
        </p:txBody>
      </p:sp>
      <p:sp>
        <p:nvSpPr>
          <p:cNvPr id="13" name="Rounded Rectangle 12"/>
          <p:cNvSpPr/>
          <p:nvPr/>
        </p:nvSpPr>
        <p:spPr>
          <a:xfrm>
            <a:off x="6080760" y="3589020"/>
            <a:ext cx="2514600" cy="765809"/>
          </a:xfrm>
          <a:prstGeom prst="roundRect">
            <a:avLst/>
          </a:prstGeom>
          <a:solidFill>
            <a:srgbClr val="FFFFFF"/>
          </a:solidFill>
          <a:ln w="25400">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Bơm</a:t>
            </a:r>
          </a:p>
        </p:txBody>
      </p:sp>
      <p:sp>
        <p:nvSpPr>
          <p:cNvPr id="14" name="Rounded Rectangle 13"/>
          <p:cNvSpPr/>
          <p:nvPr/>
        </p:nvSpPr>
        <p:spPr>
          <a:xfrm>
            <a:off x="6080760" y="4583429"/>
            <a:ext cx="2514600" cy="765809"/>
          </a:xfrm>
          <a:prstGeom prst="roundRect">
            <a:avLst/>
          </a:prstGeom>
          <a:solidFill>
            <a:srgbClr val="FFFFFF"/>
          </a:solidFill>
          <a:ln w="25400">
            <a:solidFill>
              <a:srgbClr val="06B6D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1E293B"/>
                </a:solidFill>
                <a:latin typeface="Calibri"/>
              </a:rPr>
              <a:t>LCD1602</a:t>
            </a:r>
          </a:p>
        </p:txBody>
      </p:sp>
      <p:cxnSp>
        <p:nvCxnSpPr>
          <p:cNvPr id="15" name="Connector 14"/>
          <p:cNvCxnSpPr/>
          <p:nvPr/>
        </p:nvCxnSpPr>
        <p:spPr>
          <a:xfrm flipV="1">
            <a:off x="3017520" y="1983105"/>
            <a:ext cx="3063240" cy="302895"/>
          </a:xfrm>
          <a:prstGeom prst="line">
            <a:avLst/>
          </a:prstGeom>
          <a:ln w="28575">
            <a:solidFill>
              <a:srgbClr val="EF4444"/>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3017520" y="1983105"/>
            <a:ext cx="3063240" cy="567055"/>
          </a:xfrm>
          <a:prstGeom prst="line">
            <a:avLst/>
          </a:prstGeom>
          <a:ln w="28575">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3017520" y="1983105"/>
            <a:ext cx="3063240" cy="831215"/>
          </a:xfrm>
          <a:prstGeom prst="line">
            <a:avLst/>
          </a:prstGeom>
          <a:ln w="28575">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017520" y="2977514"/>
            <a:ext cx="3063240" cy="100966"/>
          </a:xfrm>
          <a:prstGeom prst="line">
            <a:avLst/>
          </a:prstGeom>
          <a:ln w="28575">
            <a:solidFill>
              <a:srgbClr val="EF4444"/>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017520" y="2977514"/>
            <a:ext cx="3063240" cy="365126"/>
          </a:xfrm>
          <a:prstGeom prst="line">
            <a:avLst/>
          </a:prstGeom>
          <a:ln w="28575">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017520" y="2977514"/>
            <a:ext cx="3063240" cy="629286"/>
          </a:xfrm>
          <a:prstGeom prst="line">
            <a:avLst/>
          </a:prstGeom>
          <a:ln w="28575">
            <a:solidFill>
              <a:srgbClr val="3B82F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017520" y="3870960"/>
            <a:ext cx="3063240" cy="100965"/>
          </a:xfrm>
          <a:prstGeom prst="line">
            <a:avLst/>
          </a:prstGeom>
          <a:ln w="28575">
            <a:solidFill>
              <a:srgbClr val="EF4444"/>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017520" y="3971925"/>
            <a:ext cx="3063240" cy="163195"/>
          </a:xfrm>
          <a:prstGeom prst="line">
            <a:avLst/>
          </a:prstGeom>
          <a:ln w="28575">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017520" y="4399280"/>
            <a:ext cx="3063240" cy="567054"/>
          </a:xfrm>
          <a:prstGeom prst="line">
            <a:avLst/>
          </a:prstGeom>
          <a:ln w="28575">
            <a:solidFill>
              <a:srgbClr val="06B6D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017520" y="4663440"/>
            <a:ext cx="3063240" cy="302894"/>
          </a:xfrm>
          <a:prstGeom prst="line">
            <a:avLst/>
          </a:prstGeom>
          <a:ln w="28575">
            <a:solidFill>
              <a:srgbClr val="8B5CF6"/>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40080" y="5303520"/>
            <a:ext cx="3657600" cy="274320"/>
          </a:xfrm>
          <a:prstGeom prst="rect">
            <a:avLst/>
          </a:prstGeom>
          <a:noFill/>
        </p:spPr>
        <p:txBody>
          <a:bodyPr wrap="square">
            <a:spAutoFit/>
          </a:bodyPr>
          <a:lstStyle/>
          <a:p>
            <a:pPr algn="l"/>
            <a:r>
              <a:rPr sz="1200" b="1" i="0">
                <a:solidFill>
                  <a:srgbClr val="1E293B"/>
                </a:solidFill>
                <a:latin typeface="Calibri"/>
              </a:rPr>
              <a:t>Bảng tín hiệu:</a:t>
            </a:r>
          </a:p>
        </p:txBody>
      </p:sp>
      <p:sp>
        <p:nvSpPr>
          <p:cNvPr id="26" name="Rectangle 25"/>
          <p:cNvSpPr/>
          <p:nvPr/>
        </p:nvSpPr>
        <p:spPr>
          <a:xfrm>
            <a:off x="640080" y="5669280"/>
            <a:ext cx="182880" cy="11887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586984"/>
            <a:ext cx="2423160" cy="292608"/>
          </a:xfrm>
          <a:prstGeom prst="rect">
            <a:avLst/>
          </a:prstGeom>
          <a:noFill/>
        </p:spPr>
        <p:txBody>
          <a:bodyPr wrap="square">
            <a:spAutoFit/>
          </a:bodyPr>
          <a:lstStyle/>
          <a:p>
            <a:pPr algn="l"/>
            <a:r>
              <a:rPr sz="900" b="0" i="0">
                <a:solidFill>
                  <a:srgbClr val="475569"/>
                </a:solidFill>
                <a:latin typeface="Calibri"/>
              </a:rPr>
              <a:t>ESP32-S3 · 3V3_1 → Soil · VCC  (Nguồn 3.3V)</a:t>
            </a:r>
          </a:p>
        </p:txBody>
      </p:sp>
      <p:sp>
        <p:nvSpPr>
          <p:cNvPr id="28" name="Rectangle 27"/>
          <p:cNvSpPr/>
          <p:nvPr/>
        </p:nvSpPr>
        <p:spPr>
          <a:xfrm>
            <a:off x="3383280" y="5669280"/>
            <a:ext cx="182880" cy="1188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0" y="5586984"/>
            <a:ext cx="2423160" cy="292608"/>
          </a:xfrm>
          <a:prstGeom prst="rect">
            <a:avLst/>
          </a:prstGeom>
          <a:noFill/>
        </p:spPr>
        <p:txBody>
          <a:bodyPr wrap="square">
            <a:spAutoFit/>
          </a:bodyPr>
          <a:lstStyle/>
          <a:p>
            <a:pPr algn="l"/>
            <a:r>
              <a:rPr sz="900" b="0" i="0">
                <a:solidFill>
                  <a:srgbClr val="475569"/>
                </a:solidFill>
                <a:latin typeface="Calibri"/>
              </a:rPr>
              <a:t>ESP32-S3 · GND1 → Soil · GND  (Nối đất)</a:t>
            </a:r>
          </a:p>
        </p:txBody>
      </p:sp>
      <p:sp>
        <p:nvSpPr>
          <p:cNvPr id="30" name="Rectangle 29"/>
          <p:cNvSpPr/>
          <p:nvPr/>
        </p:nvSpPr>
        <p:spPr>
          <a:xfrm>
            <a:off x="6126480" y="5669280"/>
            <a:ext cx="182880" cy="1188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0" y="5586984"/>
            <a:ext cx="2423160" cy="292608"/>
          </a:xfrm>
          <a:prstGeom prst="rect">
            <a:avLst/>
          </a:prstGeom>
          <a:noFill/>
        </p:spPr>
        <p:txBody>
          <a:bodyPr wrap="square">
            <a:spAutoFit/>
          </a:bodyPr>
          <a:lstStyle/>
          <a:p>
            <a:pPr algn="l"/>
            <a:r>
              <a:rPr sz="900" b="0" i="0">
                <a:solidFill>
                  <a:srgbClr val="475569"/>
                </a:solidFill>
                <a:latin typeface="Calibri"/>
              </a:rPr>
              <a:t>ESP32-S3 · GPIO6 → Soil · AO  (Tín hiệu Analog)</a:t>
            </a:r>
          </a:p>
        </p:txBody>
      </p:sp>
      <p:sp>
        <p:nvSpPr>
          <p:cNvPr id="32" name="Rectangle 31"/>
          <p:cNvSpPr/>
          <p:nvPr/>
        </p:nvSpPr>
        <p:spPr>
          <a:xfrm>
            <a:off x="8869680" y="5669280"/>
            <a:ext cx="182880" cy="11887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0" y="5586984"/>
            <a:ext cx="2423160" cy="292608"/>
          </a:xfrm>
          <a:prstGeom prst="rect">
            <a:avLst/>
          </a:prstGeom>
          <a:noFill/>
        </p:spPr>
        <p:txBody>
          <a:bodyPr wrap="square">
            <a:spAutoFit/>
          </a:bodyPr>
          <a:lstStyle/>
          <a:p>
            <a:pPr algn="l"/>
            <a:r>
              <a:rPr sz="900" b="0" i="0">
                <a:solidFill>
                  <a:srgbClr val="475569"/>
                </a:solidFill>
                <a:latin typeface="Calibri"/>
              </a:rPr>
              <a:t>ESP32-S3 · 5V → Relay · VCC  (Nguồn 5V cấp Relay)</a:t>
            </a:r>
          </a:p>
        </p:txBody>
      </p:sp>
      <p:sp>
        <p:nvSpPr>
          <p:cNvPr id="34" name="Rectangle 33"/>
          <p:cNvSpPr/>
          <p:nvPr/>
        </p:nvSpPr>
        <p:spPr>
          <a:xfrm>
            <a:off x="640080" y="5961888"/>
            <a:ext cx="182880" cy="1188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879592"/>
            <a:ext cx="2423160" cy="292608"/>
          </a:xfrm>
          <a:prstGeom prst="rect">
            <a:avLst/>
          </a:prstGeom>
          <a:noFill/>
        </p:spPr>
        <p:txBody>
          <a:bodyPr wrap="square">
            <a:spAutoFit/>
          </a:bodyPr>
          <a:lstStyle/>
          <a:p>
            <a:pPr algn="l"/>
            <a:r>
              <a:rPr sz="900" b="0" i="0">
                <a:solidFill>
                  <a:srgbClr val="475569"/>
                </a:solidFill>
                <a:latin typeface="Calibri"/>
              </a:rPr>
              <a:t>ESP32-S3 · GND2 → Relay · GND  (Nối đất)</a:t>
            </a:r>
          </a:p>
        </p:txBody>
      </p:sp>
      <p:sp>
        <p:nvSpPr>
          <p:cNvPr id="36" name="Rectangle 35"/>
          <p:cNvSpPr/>
          <p:nvPr/>
        </p:nvSpPr>
        <p:spPr>
          <a:xfrm>
            <a:off x="3383280" y="5961888"/>
            <a:ext cx="182880" cy="118872"/>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0" y="5879592"/>
            <a:ext cx="2423160" cy="292608"/>
          </a:xfrm>
          <a:prstGeom prst="rect">
            <a:avLst/>
          </a:prstGeom>
          <a:noFill/>
        </p:spPr>
        <p:txBody>
          <a:bodyPr wrap="square">
            <a:spAutoFit/>
          </a:bodyPr>
          <a:lstStyle/>
          <a:p>
            <a:pPr algn="l"/>
            <a:r>
              <a:rPr sz="900" b="0" i="0">
                <a:solidFill>
                  <a:srgbClr val="475569"/>
                </a:solidFill>
                <a:latin typeface="Calibri"/>
              </a:rPr>
              <a:t>ESP32-S3 · GPIO7 → Relay · IN  (Tín hiệu điều khiển)</a:t>
            </a:r>
          </a:p>
        </p:txBody>
      </p:sp>
      <p:sp>
        <p:nvSpPr>
          <p:cNvPr id="38" name="Rectangle 37"/>
          <p:cNvSpPr/>
          <p:nvPr/>
        </p:nvSpPr>
        <p:spPr>
          <a:xfrm>
            <a:off x="6126480" y="5961888"/>
            <a:ext cx="182880" cy="118872"/>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0" y="5879592"/>
            <a:ext cx="2423160" cy="292608"/>
          </a:xfrm>
          <a:prstGeom prst="rect">
            <a:avLst/>
          </a:prstGeom>
          <a:noFill/>
        </p:spPr>
        <p:txBody>
          <a:bodyPr wrap="square">
            <a:spAutoFit/>
          </a:bodyPr>
          <a:lstStyle/>
          <a:p>
            <a:pPr algn="l"/>
            <a:r>
              <a:rPr sz="900" b="0" i="0">
                <a:solidFill>
                  <a:srgbClr val="475569"/>
                </a:solidFill>
                <a:latin typeface="Calibri"/>
              </a:rPr>
              <a:t>Relay · OUT → Bơm · POS  (Nguồn cấp bơm (qua tiếp điểm Relay))</a:t>
            </a:r>
          </a:p>
        </p:txBody>
      </p:sp>
      <p:sp>
        <p:nvSpPr>
          <p:cNvPr id="40" name="Rectangle 39"/>
          <p:cNvSpPr/>
          <p:nvPr/>
        </p:nvSpPr>
        <p:spPr>
          <a:xfrm>
            <a:off x="8869680" y="5961888"/>
            <a:ext cx="182880" cy="11887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5879592"/>
            <a:ext cx="2423160" cy="292608"/>
          </a:xfrm>
          <a:prstGeom prst="rect">
            <a:avLst/>
          </a:prstGeom>
          <a:noFill/>
        </p:spPr>
        <p:txBody>
          <a:bodyPr wrap="square">
            <a:spAutoFit/>
          </a:bodyPr>
          <a:lstStyle/>
          <a:p>
            <a:pPr algn="l"/>
            <a:r>
              <a:rPr sz="900" b="0" i="0">
                <a:solidFill>
                  <a:srgbClr val="475569"/>
                </a:solidFill>
                <a:latin typeface="Calibri"/>
              </a:rPr>
              <a:t>ESP32-S3 · GND1 → Bơm · NEG  (Nối đất bơm)</a:t>
            </a:r>
          </a:p>
        </p:txBody>
      </p:sp>
      <p:sp>
        <p:nvSpPr>
          <p:cNvPr id="42" name="Rectangle 41"/>
          <p:cNvSpPr/>
          <p:nvPr/>
        </p:nvSpPr>
        <p:spPr>
          <a:xfrm>
            <a:off x="640080" y="6254496"/>
            <a:ext cx="182880" cy="11887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4400" y="6172200"/>
            <a:ext cx="2423160" cy="292608"/>
          </a:xfrm>
          <a:prstGeom prst="rect">
            <a:avLst/>
          </a:prstGeom>
          <a:noFill/>
        </p:spPr>
        <p:txBody>
          <a:bodyPr wrap="square">
            <a:spAutoFit/>
          </a:bodyPr>
          <a:lstStyle/>
          <a:p>
            <a:pPr algn="l"/>
            <a:r>
              <a:rPr sz="900" b="0" i="0">
                <a:solidFill>
                  <a:srgbClr val="475569"/>
                </a:solidFill>
                <a:latin typeface="Calibri"/>
              </a:rPr>
              <a:t>ESP32-S3 · GPIO9 → LCD1602 · SCL  (I2C Clock)</a:t>
            </a:r>
          </a:p>
        </p:txBody>
      </p:sp>
      <p:sp>
        <p:nvSpPr>
          <p:cNvPr id="44" name="Rectangle 43"/>
          <p:cNvSpPr/>
          <p:nvPr/>
        </p:nvSpPr>
        <p:spPr>
          <a:xfrm>
            <a:off x="3383280" y="6254496"/>
            <a:ext cx="182880" cy="118872"/>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57600" y="6172200"/>
            <a:ext cx="2423160" cy="292608"/>
          </a:xfrm>
          <a:prstGeom prst="rect">
            <a:avLst/>
          </a:prstGeom>
          <a:noFill/>
        </p:spPr>
        <p:txBody>
          <a:bodyPr wrap="square">
            <a:spAutoFit/>
          </a:bodyPr>
          <a:lstStyle/>
          <a:p>
            <a:pPr algn="l"/>
            <a:r>
              <a:rPr sz="900" b="0" i="0">
                <a:solidFill>
                  <a:srgbClr val="475569"/>
                </a:solidFill>
                <a:latin typeface="Calibri"/>
              </a:rPr>
              <a:t>ESP32-S3 · GPIO8 → LCD1602 · SDA  (I2C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F4444"/>
                </a:solidFill>
                <a:latin typeface="Calibri"/>
              </a:rPr>
              <a:t>B3 · THUẬT TOÁN</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Lưu đồ xử lý trong loop()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B3</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7</a:t>
            </a:r>
          </a:p>
        </p:txBody>
      </p:sp>
      <p:sp>
        <p:nvSpPr>
          <p:cNvPr id="10" name="Rounded Rectangle 9"/>
          <p:cNvSpPr/>
          <p:nvPr/>
        </p:nvSpPr>
        <p:spPr>
          <a:xfrm>
            <a:off x="1188720" y="1897380"/>
            <a:ext cx="2377440" cy="438912"/>
          </a:xfrm>
          <a:prstGeom prst="round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50" b="1">
                <a:solidFill>
                  <a:srgbClr val="FFFFFF"/>
                </a:solidFill>
                <a:latin typeface="Calibri"/>
              </a:rPr>
              <a:t>setup(): Khởi tạo Serial/LCD/chân I-O</a:t>
            </a:r>
          </a:p>
        </p:txBody>
      </p:sp>
      <p:sp>
        <p:nvSpPr>
          <p:cNvPr id="11" name="Down Arrow 10"/>
          <p:cNvSpPr/>
          <p:nvPr/>
        </p:nvSpPr>
        <p:spPr>
          <a:xfrm>
            <a:off x="2286000" y="2354580"/>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188720" y="2482596"/>
            <a:ext cx="2377440" cy="438912"/>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1E293B"/>
                </a:solidFill>
                <a:latin typeface="Calibri"/>
              </a:rPr>
              <a:t>Đọc giá trị độ ẩm đất từ AO (analogRead)</a:t>
            </a:r>
          </a:p>
        </p:txBody>
      </p:sp>
      <p:sp>
        <p:nvSpPr>
          <p:cNvPr id="13" name="Down Arrow 12"/>
          <p:cNvSpPr/>
          <p:nvPr/>
        </p:nvSpPr>
        <p:spPr>
          <a:xfrm>
            <a:off x="2286000" y="2939796"/>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88720" y="3067812"/>
            <a:ext cx="2377440" cy="438912"/>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000" b="1">
                <a:solidFill>
                  <a:srgbClr val="1E293B"/>
                </a:solidFill>
                <a:latin typeface="Calibri"/>
              </a:rPr>
              <a:t>In giá trị ra Serial Monitor &amp; cập nhật LCD dòng 1</a:t>
            </a:r>
          </a:p>
        </p:txBody>
      </p:sp>
      <p:sp>
        <p:nvSpPr>
          <p:cNvPr id="15" name="Down Arrow 14"/>
          <p:cNvSpPr/>
          <p:nvPr/>
        </p:nvSpPr>
        <p:spPr>
          <a:xfrm>
            <a:off x="2286000" y="3525012"/>
            <a:ext cx="182880" cy="109728"/>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iamond 15"/>
          <p:cNvSpPr/>
          <p:nvPr/>
        </p:nvSpPr>
        <p:spPr>
          <a:xfrm>
            <a:off x="685800" y="3653028"/>
            <a:ext cx="3383280" cy="685800"/>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100" b="1">
                <a:solidFill>
                  <a:srgbClr val="FFFFFF"/>
                </a:solidFill>
                <a:latin typeface="Calibri"/>
              </a:rPr>
              <a:t>Độ ẩm đất &lt; 400 (đất khô) ?</a:t>
            </a:r>
          </a:p>
        </p:txBody>
      </p:sp>
      <p:cxnSp>
        <p:nvCxnSpPr>
          <p:cNvPr id="17" name="Connector 16"/>
          <p:cNvCxnSpPr/>
          <p:nvPr/>
        </p:nvCxnSpPr>
        <p:spPr>
          <a:xfrm>
            <a:off x="685800" y="3995928"/>
            <a:ext cx="777240" cy="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 y="3995928"/>
            <a:ext cx="0" cy="617220"/>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19" name="Down Arrow 18"/>
          <p:cNvSpPr/>
          <p:nvPr/>
        </p:nvSpPr>
        <p:spPr>
          <a:xfrm>
            <a:off x="1371600" y="4594860"/>
            <a:ext cx="182880" cy="164592"/>
          </a:xfrm>
          <a:prstGeom prst="downArrow">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685032"/>
            <a:ext cx="1645920" cy="237744"/>
          </a:xfrm>
          <a:prstGeom prst="rect">
            <a:avLst/>
          </a:prstGeom>
          <a:noFill/>
        </p:spPr>
        <p:txBody>
          <a:bodyPr wrap="square">
            <a:spAutoFit/>
          </a:bodyPr>
          <a:lstStyle/>
          <a:p>
            <a:pPr algn="ctr"/>
            <a:r>
              <a:rPr sz="950" b="1" i="0">
                <a:solidFill>
                  <a:srgbClr val="10B981"/>
                </a:solidFill>
                <a:latin typeface="Calibri"/>
              </a:rPr>
              <a:t>ĐÚNG</a:t>
            </a:r>
          </a:p>
        </p:txBody>
      </p:sp>
      <p:sp>
        <p:nvSpPr>
          <p:cNvPr id="21" name="Rounded Rectangle 20"/>
          <p:cNvSpPr/>
          <p:nvPr/>
        </p:nvSpPr>
        <p:spPr>
          <a:xfrm>
            <a:off x="457200" y="4796028"/>
            <a:ext cx="2011680" cy="566928"/>
          </a:xfrm>
          <a:prstGeom prst="roundRect">
            <a:avLst/>
          </a:prstGeom>
          <a:solidFill>
            <a:srgbClr val="FEE2E2"/>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50" b="1">
                <a:solidFill>
                  <a:srgbClr val="EF4444"/>
                </a:solidFill>
                <a:latin typeface="Calibri"/>
              </a:rPr>
              <a:t>digitalWrite(RELAY, HIGH) → đóng tiếp điểm → Bơm chạy tưới nước</a:t>
            </a:r>
          </a:p>
        </p:txBody>
      </p:sp>
      <p:cxnSp>
        <p:nvCxnSpPr>
          <p:cNvPr id="22" name="Connector 21"/>
          <p:cNvCxnSpPr/>
          <p:nvPr/>
        </p:nvCxnSpPr>
        <p:spPr>
          <a:xfrm flipH="1">
            <a:off x="3063240" y="3995928"/>
            <a:ext cx="1005840" cy="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063240" y="3995928"/>
            <a:ext cx="0" cy="617220"/>
          </a:xfrm>
          <a:prstGeom prst="line">
            <a:avLst/>
          </a:prstGeom>
          <a:ln w="25400">
            <a:solidFill>
              <a:srgbClr val="475569"/>
            </a:solidFill>
          </a:ln>
        </p:spPr>
        <p:style>
          <a:lnRef idx="2">
            <a:schemeClr val="accent1"/>
          </a:lnRef>
          <a:fillRef idx="0">
            <a:schemeClr val="accent1"/>
          </a:fillRef>
          <a:effectRef idx="1">
            <a:schemeClr val="accent1"/>
          </a:effectRef>
          <a:fontRef idx="minor">
            <a:schemeClr val="tx1"/>
          </a:fontRef>
        </p:style>
      </p:cxnSp>
      <p:sp>
        <p:nvSpPr>
          <p:cNvPr id="24" name="Down Arrow 23"/>
          <p:cNvSpPr/>
          <p:nvPr/>
        </p:nvSpPr>
        <p:spPr>
          <a:xfrm>
            <a:off x="2971800" y="4594860"/>
            <a:ext cx="182880" cy="164592"/>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40280" y="3685032"/>
            <a:ext cx="1645920" cy="237744"/>
          </a:xfrm>
          <a:prstGeom prst="rect">
            <a:avLst/>
          </a:prstGeom>
          <a:noFill/>
        </p:spPr>
        <p:txBody>
          <a:bodyPr wrap="square">
            <a:spAutoFit/>
          </a:bodyPr>
          <a:lstStyle/>
          <a:p>
            <a:pPr algn="ctr"/>
            <a:r>
              <a:rPr sz="950" b="1" i="0">
                <a:solidFill>
                  <a:srgbClr val="475569"/>
                </a:solidFill>
                <a:latin typeface="Calibri"/>
              </a:rPr>
              <a:t>SAI</a:t>
            </a:r>
          </a:p>
        </p:txBody>
      </p:sp>
      <p:sp>
        <p:nvSpPr>
          <p:cNvPr id="26" name="Rounded Rectangle 25"/>
          <p:cNvSpPr/>
          <p:nvPr/>
        </p:nvSpPr>
        <p:spPr>
          <a:xfrm>
            <a:off x="2057400" y="4796028"/>
            <a:ext cx="2011680" cy="566928"/>
          </a:xfrm>
          <a:prstGeom prst="roundRect">
            <a:avLst/>
          </a:prstGeom>
          <a:solidFill>
            <a:srgbClr val="DCFCE7"/>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50" b="1">
                <a:solidFill>
                  <a:srgbClr val="10B981"/>
                </a:solidFill>
                <a:latin typeface="Calibri"/>
              </a:rPr>
              <a:t>digitalWrite(RELAY, LOW) → ngắt tiếp điểm → Bơm dừng</a:t>
            </a:r>
          </a:p>
        </p:txBody>
      </p:sp>
      <p:cxnSp>
        <p:nvCxnSpPr>
          <p:cNvPr id="27" name="Connector 26"/>
          <p:cNvCxnSpPr/>
          <p:nvPr/>
        </p:nvCxnSpPr>
        <p:spPr>
          <a:xfrm>
            <a:off x="1463040" y="5362956"/>
            <a:ext cx="0" cy="201168"/>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063240" y="5362956"/>
            <a:ext cx="0" cy="201168"/>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463040" y="5564124"/>
            <a:ext cx="1600200" cy="0"/>
          </a:xfrm>
          <a:prstGeom prst="line">
            <a:avLst/>
          </a:prstGeom>
          <a:ln w="19050">
            <a:solidFill>
              <a:srgbClr val="475569"/>
            </a:solidFill>
          </a:ln>
        </p:spPr>
        <p:style>
          <a:lnRef idx="2">
            <a:schemeClr val="accent1"/>
          </a:lnRef>
          <a:fillRef idx="0">
            <a:schemeClr val="accent1"/>
          </a:fillRef>
          <a:effectRef idx="1">
            <a:schemeClr val="accent1"/>
          </a:effectRef>
          <a:fontRef idx="minor">
            <a:schemeClr val="tx1"/>
          </a:fontRef>
        </p:style>
      </p:cxnSp>
      <p:sp>
        <p:nvSpPr>
          <p:cNvPr id="30" name="Down Arrow 29"/>
          <p:cNvSpPr/>
          <p:nvPr/>
        </p:nvSpPr>
        <p:spPr>
          <a:xfrm>
            <a:off x="2286000" y="5564124"/>
            <a:ext cx="182880" cy="182880"/>
          </a:xfrm>
          <a:prstGeom prst="downArrow">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188720" y="5765292"/>
            <a:ext cx="2377440" cy="38404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950" b="1">
                <a:solidFill>
                  <a:srgbClr val="FFFFFF"/>
                </a:solidFill>
                <a:latin typeface="Calibri"/>
              </a:rPr>
              <a:t>delay(600ms) → quay lại loop()</a:t>
            </a:r>
          </a:p>
        </p:txBody>
      </p:sp>
      <p:sp>
        <p:nvSpPr>
          <p:cNvPr id="32" name="TextBox 31"/>
          <p:cNvSpPr txBox="1"/>
          <p:nvPr/>
        </p:nvSpPr>
        <p:spPr>
          <a:xfrm>
            <a:off x="6309360" y="1463040"/>
            <a:ext cx="5303520" cy="4937760"/>
          </a:xfrm>
          <a:prstGeom prst="rect">
            <a:avLst/>
          </a:prstGeom>
          <a:noFill/>
        </p:spPr>
        <p:txBody>
          <a:bodyPr wrap="square">
            <a:spAutoFit/>
          </a:bodyPr>
          <a:lstStyle/>
          <a:p>
            <a:pPr algn="l">
              <a:lnSpc>
                <a:spcPct val="130000"/>
              </a:lnSpc>
            </a:pPr>
            <a:r>
              <a:rPr sz="1350" b="0" i="0">
                <a:solidFill>
                  <a:srgbClr val="475569"/>
                </a:solidFill>
                <a:latin typeface="Calibri"/>
              </a:rPr>
              <a:t>Lưu ý quan trọng: giá trị đọc được ở đây quy ước THẤP = đất khô, theo cấu hình mô phỏng của bài học. Một số module cảm biến độ ẩm đất thực tế (dùng IC so sánh LM393) có thể xuất tín hiệu analog theo chiều NGƯỢC LẠI tuỳ nhà sản xuất — luôn kiểm tra datasheet cụ thể và hiệu chỉnh ngưỡng bằng thực nghiệm (đo đất khô hẳn và đất ướt hẳn) trước khi lắp đặt thật.
Hệ quả logic: relay1.OUT được coi là "có điện" bất cứ khi nào relay1.IN đang ở mức HIGH, dù về mặt vật lý 2 mạch này cách điện — đây chính là hành vi mà bộ mô phỏng phải xử lý riêng (không dùng tính liên thông dây dẫn thông thường).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B3 · MÃ NGUỒN ARDUINO/C++</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Giải thích mã nguồn — hàm setup()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B3</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8</a:t>
            </a:r>
          </a:p>
        </p:txBody>
      </p:sp>
      <p:sp>
        <p:nvSpPr>
          <p:cNvPr id="10" name="Rounded Rectangle 9"/>
          <p:cNvSpPr/>
          <p:nvPr/>
        </p:nvSpPr>
        <p:spPr>
          <a:xfrm>
            <a:off x="502920" y="1371600"/>
            <a:ext cx="11155680" cy="5029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36192"/>
            <a:ext cx="10607040" cy="4709160"/>
          </a:xfrm>
          <a:prstGeom prst="rect">
            <a:avLst/>
          </a:prstGeom>
          <a:noFill/>
        </p:spPr>
        <p:txBody>
          <a:bodyPr wrap="square">
            <a:spAutoFit/>
          </a:bodyPr>
          <a:lstStyle/>
          <a:p>
            <a:pPr>
              <a:spcAft>
                <a:spcPts val="100"/>
              </a:spcAft>
            </a:pPr>
            <a:r>
              <a:rPr sz="1250">
                <a:solidFill>
                  <a:srgbClr val="7DE6A8"/>
                </a:solidFill>
                <a:latin typeface="Consolas"/>
              </a:rPr>
              <a:t>void setup() {</a:t>
            </a:r>
          </a:p>
          <a:p>
            <a:pPr>
              <a:spcAft>
                <a:spcPts val="100"/>
              </a:spcAft>
            </a:pPr>
            <a:r>
              <a:rPr sz="1250">
                <a:solidFill>
                  <a:srgbClr val="7DE6A8"/>
                </a:solidFill>
                <a:latin typeface="Consolas"/>
              </a:rPr>
              <a:t>  Serial.begin(115200);</a:t>
            </a:r>
          </a:p>
          <a:p>
            <a:pPr>
              <a:spcAft>
                <a:spcPts val="100"/>
              </a:spcAft>
            </a:pPr>
            <a:r>
              <a:rPr sz="1250">
                <a:solidFill>
                  <a:srgbClr val="7DE6A8"/>
                </a:solidFill>
                <a:latin typeface="Consolas"/>
              </a:rPr>
              <a:t>  pinMode(RELAY_PIN, OUTPUT);</a:t>
            </a:r>
          </a:p>
          <a:p>
            <a:pPr>
              <a:spcAft>
                <a:spcPts val="100"/>
              </a:spcAft>
            </a:pPr>
            <a:r>
              <a:rPr sz="1250">
                <a:solidFill>
                  <a:srgbClr val="7DE6A8"/>
                </a:solidFill>
                <a:latin typeface="Consolas"/>
              </a:rPr>
              <a:t>  digitalWrite(RELAY_PIN, LOW);</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lcd.begin(16, 2);</a:t>
            </a:r>
          </a:p>
          <a:p>
            <a:pPr>
              <a:spcAft>
                <a:spcPts val="100"/>
              </a:spcAft>
            </a:pPr>
            <a:r>
              <a:rPr sz="1250">
                <a:solidFill>
                  <a:srgbClr val="7DE6A8"/>
                </a:solidFill>
                <a:latin typeface="Consolas"/>
              </a:rPr>
              <a:t>  lcd.setCursor(0, 0);</a:t>
            </a:r>
          </a:p>
          <a:p>
            <a:pPr>
              <a:spcAft>
                <a:spcPts val="100"/>
              </a:spcAft>
            </a:pPr>
            <a:r>
              <a:rPr sz="1250">
                <a:solidFill>
                  <a:srgbClr val="7DE6A8"/>
                </a:solidFill>
                <a:latin typeface="Consolas"/>
              </a:rPr>
              <a:t>  lcd.print("HE THONG TUOI");</a:t>
            </a:r>
          </a:p>
          <a:p>
            <a:pPr>
              <a:spcAft>
                <a:spcPts val="100"/>
              </a:spcAft>
            </a:pPr>
            <a:r>
              <a:rPr sz="1250">
                <a:solidFill>
                  <a:srgbClr val="7DE6A8"/>
                </a:solidFill>
                <a:latin typeface="Consolas"/>
              </a:rPr>
              <a:t>  lcd.setCursor(0, 1);</a:t>
            </a:r>
          </a:p>
          <a:p>
            <a:pPr>
              <a:spcAft>
                <a:spcPts val="100"/>
              </a:spcAft>
            </a:pPr>
            <a:r>
              <a:rPr sz="1250">
                <a:solidFill>
                  <a:srgbClr val="7DE6A8"/>
                </a:solidFill>
                <a:latin typeface="Consolas"/>
              </a:rPr>
              <a:t>  lcd.print("TUDONG SAN SANG");</a:t>
            </a:r>
          </a:p>
          <a:p>
            <a:pPr>
              <a:spcAft>
                <a:spcPts val="100"/>
              </a:spcAft>
            </a:pPr>
            <a:r>
              <a:rPr sz="1250">
                <a:solidFill>
                  <a:srgbClr val="7DE6A8"/>
                </a:solidFill>
                <a:latin typeface="Consolas"/>
              </a:rPr>
              <a:t>  delay(1500);</a:t>
            </a:r>
          </a:p>
          <a:p>
            <a:pPr>
              <a:spcAft>
                <a:spcPts val="100"/>
              </a:spcAft>
            </a:pPr>
            <a:r>
              <a:rPr sz="1250">
                <a:solidFill>
                  <a:srgbClr val="7DE6A8"/>
                </a:solidFill>
                <a:latin typeface="Consolas"/>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B3 · MÃ NGUỒN ARDUINO/C++</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Giải thích mã nguồn — hàm loop()</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B3</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9</a:t>
            </a:r>
          </a:p>
        </p:txBody>
      </p:sp>
      <p:sp>
        <p:nvSpPr>
          <p:cNvPr id="10" name="Rounded Rectangle 9"/>
          <p:cNvSpPr/>
          <p:nvPr/>
        </p:nvSpPr>
        <p:spPr>
          <a:xfrm>
            <a:off x="502920" y="1371600"/>
            <a:ext cx="11155680" cy="5029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536192"/>
            <a:ext cx="10607040" cy="4709160"/>
          </a:xfrm>
          <a:prstGeom prst="rect">
            <a:avLst/>
          </a:prstGeom>
          <a:noFill/>
        </p:spPr>
        <p:txBody>
          <a:bodyPr wrap="square">
            <a:spAutoFit/>
          </a:bodyPr>
          <a:lstStyle/>
          <a:p>
            <a:pPr>
              <a:spcAft>
                <a:spcPts val="100"/>
              </a:spcAft>
            </a:pPr>
            <a:r>
              <a:rPr sz="1250">
                <a:solidFill>
                  <a:srgbClr val="7DE6A8"/>
                </a:solidFill>
                <a:latin typeface="Consolas"/>
              </a:rPr>
              <a:t>void loop() {</a:t>
            </a:r>
          </a:p>
          <a:p>
            <a:pPr>
              <a:spcAft>
                <a:spcPts val="100"/>
              </a:spcAft>
            </a:pPr>
            <a:r>
              <a:rPr sz="1250">
                <a:solidFill>
                  <a:srgbClr val="7DE6A8"/>
                </a:solidFill>
                <a:latin typeface="Consolas"/>
              </a:rPr>
              <a:t>  int soilVal = analogRead(SOIL_PIN); // Doc do am dat LIVE tu cam bien</a:t>
            </a:r>
          </a:p>
          <a:p>
            <a:pPr>
              <a:spcAft>
                <a:spcPts val="100"/>
              </a:spcAft>
            </a:pPr>
            <a:r>
              <a:rPr sz="1250">
                <a:solidFill>
                  <a:srgbClr val="7DE6A8"/>
                </a:solidFill>
                <a:latin typeface="Consolas"/>
              </a:rPr>
              <a:t>  Serial.print("[DAT] Do am dat: ");</a:t>
            </a:r>
          </a:p>
          <a:p>
            <a:pPr>
              <a:spcAft>
                <a:spcPts val="100"/>
              </a:spcAft>
            </a:pPr>
            <a:r>
              <a:rPr sz="1250">
                <a:solidFill>
                  <a:srgbClr val="7DE6A8"/>
                </a:solidFill>
                <a:latin typeface="Consolas"/>
              </a:rPr>
              <a:t>  Serial.println(soilVal);</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lcd.setCursor(0, 0);</a:t>
            </a:r>
          </a:p>
          <a:p>
            <a:pPr>
              <a:spcAft>
                <a:spcPts val="100"/>
              </a:spcAft>
            </a:pPr>
            <a:r>
              <a:rPr sz="1250">
                <a:solidFill>
                  <a:srgbClr val="7DE6A8"/>
                </a:solidFill>
                <a:latin typeface="Consolas"/>
              </a:rPr>
              <a:t>  lcd.print("DoAmDat: ");</a:t>
            </a:r>
          </a:p>
          <a:p>
            <a:pPr>
              <a:spcAft>
                <a:spcPts val="100"/>
              </a:spcAft>
            </a:pPr>
            <a:r>
              <a:rPr sz="1250">
                <a:solidFill>
                  <a:srgbClr val="7DE6A8"/>
                </a:solidFill>
                <a:latin typeface="Consolas"/>
              </a:rPr>
              <a:t>  lcd.print(soilVal);</a:t>
            </a:r>
          </a:p>
          <a:p>
            <a:pPr>
              <a:spcAft>
                <a:spcPts val="100"/>
              </a:spcAft>
            </a:pPr>
            <a:r>
              <a:rPr sz="1250">
                <a:solidFill>
                  <a:srgbClr val="7DE6A8"/>
                </a:solidFill>
                <a:latin typeface="Consolas"/>
              </a:rPr>
              <a:t>  lcd.print("   ");</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if (soilVal &lt; 400) {</a:t>
            </a:r>
          </a:p>
          <a:p>
            <a:pPr>
              <a:spcAft>
                <a:spcPts val="100"/>
              </a:spcAft>
            </a:pPr>
            <a:r>
              <a:rPr sz="1250">
                <a:solidFill>
                  <a:srgbClr val="7DE6A8"/>
                </a:solidFill>
                <a:latin typeface="Consolas"/>
              </a:rPr>
              <a:t>    digitalWrite(RELAY_PIN, HIGH); // Bat may bom</a:t>
            </a:r>
          </a:p>
          <a:p>
            <a:pPr>
              <a:spcAft>
                <a:spcPts val="100"/>
              </a:spcAft>
            </a:pPr>
            <a:r>
              <a:rPr sz="1250">
                <a:solidFill>
                  <a:srgbClr val="7DE6A8"/>
                </a:solidFill>
                <a:latin typeface="Consolas"/>
              </a:rPr>
              <a:t>    Serial.println("-&gt; DAT KHO! DANG BAT MAY BOM...");</a:t>
            </a:r>
          </a:p>
          <a:p>
            <a:pPr>
              <a:spcAft>
                <a:spcPts val="100"/>
              </a:spcAft>
            </a:pPr>
            <a:r>
              <a:rPr sz="1250">
                <a:solidFill>
                  <a:srgbClr val="7DE6A8"/>
                </a:solidFill>
                <a:latin typeface="Consolas"/>
              </a:rPr>
              <a:t>    lcd.setCursor(0, 1);</a:t>
            </a:r>
          </a:p>
          <a:p>
            <a:pPr>
              <a:spcAft>
                <a:spcPts val="100"/>
              </a:spcAft>
            </a:pPr>
            <a:r>
              <a:rPr sz="1250">
                <a:solidFill>
                  <a:srgbClr val="7DE6A8"/>
                </a:solidFill>
                <a:latin typeface="Consolas"/>
              </a:rPr>
              <a:t>    lcd.print("BOM: DANG TUOI! ");</a:t>
            </a:r>
          </a:p>
          <a:p>
            <a:pPr>
              <a:spcAft>
                <a:spcPts val="100"/>
              </a:spcAft>
            </a:pPr>
            <a:r>
              <a:rPr sz="1250">
                <a:solidFill>
                  <a:srgbClr val="7DE6A8"/>
                </a:solidFill>
                <a:latin typeface="Consolas"/>
              </a:rPr>
              <a:t>  } else {</a:t>
            </a:r>
          </a:p>
          <a:p>
            <a:pPr>
              <a:spcAft>
                <a:spcPts val="100"/>
              </a:spcAft>
            </a:pPr>
            <a:r>
              <a:rPr sz="1250">
                <a:solidFill>
                  <a:srgbClr val="7DE6A8"/>
                </a:solidFill>
                <a:latin typeface="Consolas"/>
              </a:rPr>
              <a:t>    digitalWrite(RELAY_PIN, LOW); // Tat may bom</a:t>
            </a:r>
          </a:p>
          <a:p>
            <a:pPr>
              <a:spcAft>
                <a:spcPts val="100"/>
              </a:spcAft>
            </a:pPr>
            <a:r>
              <a:rPr sz="1250">
                <a:solidFill>
                  <a:srgbClr val="7DE6A8"/>
                </a:solidFill>
                <a:latin typeface="Consolas"/>
              </a:rPr>
              <a:t>    lcd.setCursor(0, 1);</a:t>
            </a:r>
          </a:p>
          <a:p>
            <a:pPr>
              <a:spcAft>
                <a:spcPts val="100"/>
              </a:spcAft>
            </a:pPr>
            <a:r>
              <a:rPr sz="1250">
                <a:solidFill>
                  <a:srgbClr val="7DE6A8"/>
                </a:solidFill>
                <a:latin typeface="Consolas"/>
              </a:rPr>
              <a:t>    lcd.print("BOM: TAT (DU AM)");</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a:t>
            </a:r>
          </a:p>
          <a:p>
            <a:pPr>
              <a:spcAft>
                <a:spcPts val="100"/>
              </a:spcAft>
            </a:pPr>
            <a:r>
              <a:rPr sz="1250">
                <a:solidFill>
                  <a:srgbClr val="7DE6A8"/>
                </a:solidFill>
                <a:latin typeface="Consolas"/>
              </a:rPr>
              <a:t>  delay(600);</a:t>
            </a:r>
          </a:p>
          <a:p>
            <a:pPr>
              <a:spcAft>
                <a:spcPts val="100"/>
              </a:spcAft>
            </a:pPr>
            <a:r>
              <a:rPr sz="1250">
                <a:solidFill>
                  <a:srgbClr val="7DE6A8"/>
                </a:solidFill>
                <a:latin typeface="Consolas"/>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F3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F59E0B"/>
                </a:solidFill>
                <a:latin typeface="Calibri"/>
              </a:rPr>
              <a:t>B3 · LOGIC RA QUYẾT ĐỊNH</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Bảng ngưỡng &amp; hành động điều khiển</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B3</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10</a:t>
            </a:r>
          </a:p>
        </p:txBody>
      </p:sp>
      <p:graphicFrame>
        <p:nvGraphicFramePr>
          <p:cNvPr id="10" name="Table 9"/>
          <p:cNvGraphicFramePr>
            <a:graphicFrameLocks noGrp="1"/>
          </p:cNvGraphicFramePr>
          <p:nvPr/>
        </p:nvGraphicFramePr>
        <p:xfrm>
          <a:off x="548640" y="1417320"/>
          <a:ext cx="11064240" cy="2286000"/>
        </p:xfrm>
        <a:graphic>
          <a:graphicData uri="http://schemas.openxmlformats.org/drawingml/2006/table">
            <a:tbl>
              <a:tblPr>
                <a:tableStyleId>{5C22544A-7EE6-4342-B048-85BDC9FD1C3A}</a:tableStyleId>
              </a:tblPr>
              <a:tblGrid>
                <a:gridCol w="3840480"/>
                <a:gridCol w="2194560"/>
                <a:gridCol w="5029200"/>
              </a:tblGrid>
              <a:tr h="762000">
                <a:tc>
                  <a:txBody>
                    <a:bodyPr wrap="square"/>
                    <a:lstStyle/>
                    <a:p>
                      <a:pPr algn="ctr"/>
                      <a:r>
                        <a:rPr sz="1400" b="1">
                          <a:solidFill>
                            <a:srgbClr val="FFFFFF"/>
                          </a:solidFill>
                          <a:latin typeface="Calibri"/>
                        </a:rPr>
                        <a:t>Điều kiện cảm biến</a:t>
                      </a:r>
                    </a:p>
                  </a:txBody>
                  <a:tcPr marL="73152" marR="73152" marT="36576" marB="36576" anchor="ctr">
                    <a:solidFill>
                      <a:srgbClr val="F59E0B"/>
                    </a:solidFill>
                  </a:tcPr>
                </a:tc>
                <a:tc>
                  <a:txBody>
                    <a:bodyPr wrap="square"/>
                    <a:lstStyle/>
                    <a:p>
                      <a:pPr algn="ctr"/>
                      <a:r>
                        <a:rPr sz="1400" b="1">
                          <a:solidFill>
                            <a:srgbClr val="FFFFFF"/>
                          </a:solidFill>
                          <a:latin typeface="Calibri"/>
                        </a:rPr>
                        <a:t>Ngưỡng</a:t>
                      </a:r>
                    </a:p>
                  </a:txBody>
                  <a:tcPr marL="73152" marR="73152" marT="36576" marB="36576" anchor="ctr">
                    <a:solidFill>
                      <a:srgbClr val="F59E0B"/>
                    </a:solidFill>
                  </a:tcPr>
                </a:tc>
                <a:tc>
                  <a:txBody>
                    <a:bodyPr wrap="square"/>
                    <a:lstStyle/>
                    <a:p>
                      <a:pPr algn="ctr"/>
                      <a:r>
                        <a:rPr sz="1400" b="1">
                          <a:solidFill>
                            <a:srgbClr val="FFFFFF"/>
                          </a:solidFill>
                          <a:latin typeface="Calibri"/>
                        </a:rPr>
                        <a:t>Hành động của hệ thống</a:t>
                      </a:r>
                    </a:p>
                  </a:txBody>
                  <a:tcPr marL="73152" marR="73152" marT="36576" marB="36576" anchor="ctr">
                    <a:solidFill>
                      <a:srgbClr val="F59E0B"/>
                    </a:solidFill>
                  </a:tcPr>
                </a:tc>
              </a:tr>
              <a:tr h="762000">
                <a:tc>
                  <a:txBody>
                    <a:bodyPr wrap="square"/>
                    <a:lstStyle/>
                    <a:p>
                      <a:pPr algn="l"/>
                      <a:r>
                        <a:rPr sz="1300" b="0">
                          <a:solidFill>
                            <a:srgbClr val="1E293B"/>
                          </a:solidFill>
                          <a:latin typeface="Calibri"/>
                        </a:rPr>
                        <a:t>Độ ẩm đất (giá trị ADC)</a:t>
                      </a:r>
                    </a:p>
                  </a:txBody>
                  <a:tcPr marL="73152" marR="73152" marT="36576" marB="36576" anchor="ctr">
                    <a:solidFill>
                      <a:srgbClr val="FFFFFF"/>
                    </a:solidFill>
                  </a:tcPr>
                </a:tc>
                <a:tc>
                  <a:txBody>
                    <a:bodyPr wrap="square"/>
                    <a:lstStyle/>
                    <a:p>
                      <a:pPr algn="ctr"/>
                      <a:r>
                        <a:rPr sz="1300" b="0">
                          <a:solidFill>
                            <a:srgbClr val="EF4444"/>
                          </a:solidFill>
                          <a:latin typeface="Calibri"/>
                        </a:rPr>
                        <a:t>&lt; 400 (khô)</a:t>
                      </a:r>
                    </a:p>
                  </a:txBody>
                  <a:tcPr marL="73152" marR="73152" marT="36576" marB="36576" anchor="ctr">
                    <a:solidFill>
                      <a:srgbClr val="FEE2E2"/>
                    </a:solidFill>
                  </a:tcPr>
                </a:tc>
                <a:tc>
                  <a:txBody>
                    <a:bodyPr wrap="square"/>
                    <a:lstStyle/>
                    <a:p>
                      <a:pPr algn="l"/>
                      <a:r>
                        <a:rPr sz="1300" b="0">
                          <a:solidFill>
                            <a:srgbClr val="475569"/>
                          </a:solidFill>
                          <a:latin typeface="Calibri"/>
                        </a:rPr>
                        <a:t>Bật Relay → Bơm chạy tưới nước, LCD hiện "BOM: DANG TUOI!"</a:t>
                      </a:r>
                    </a:p>
                  </a:txBody>
                  <a:tcPr marL="73152" marR="73152" marT="36576" marB="36576" anchor="ctr">
                    <a:solidFill>
                      <a:srgbClr val="FFFFFF"/>
                    </a:solidFill>
                  </a:tcPr>
                </a:tc>
              </a:tr>
              <a:tr h="762000">
                <a:tc>
                  <a:txBody>
                    <a:bodyPr wrap="square"/>
                    <a:lstStyle/>
                    <a:p>
                      <a:pPr algn="l"/>
                      <a:r>
                        <a:rPr sz="1300" b="0">
                          <a:solidFill>
                            <a:srgbClr val="1E293B"/>
                          </a:solidFill>
                          <a:latin typeface="Calibri"/>
                        </a:rPr>
                        <a:t>Độ ẩm đất (giá trị ADC)</a:t>
                      </a:r>
                    </a:p>
                  </a:txBody>
                  <a:tcPr marL="73152" marR="73152" marT="36576" marB="36576" anchor="ctr">
                    <a:solidFill>
                      <a:srgbClr val="FFFFFF"/>
                    </a:solidFill>
                  </a:tcPr>
                </a:tc>
                <a:tc>
                  <a:txBody>
                    <a:bodyPr wrap="square"/>
                    <a:lstStyle/>
                    <a:p>
                      <a:pPr algn="ctr"/>
                      <a:r>
                        <a:rPr sz="1300" b="0">
                          <a:solidFill>
                            <a:srgbClr val="10B981"/>
                          </a:solidFill>
                          <a:latin typeface="Calibri"/>
                        </a:rPr>
                        <a:t>≥ 400 (đủ ẩm)</a:t>
                      </a:r>
                    </a:p>
                  </a:txBody>
                  <a:tcPr marL="73152" marR="73152" marT="36576" marB="36576" anchor="ctr">
                    <a:solidFill>
                      <a:srgbClr val="DCFCE7"/>
                    </a:solidFill>
                  </a:tcPr>
                </a:tc>
                <a:tc>
                  <a:txBody>
                    <a:bodyPr wrap="square"/>
                    <a:lstStyle/>
                    <a:p>
                      <a:pPr algn="l"/>
                      <a:r>
                        <a:rPr sz="1300" b="0">
                          <a:solidFill>
                            <a:srgbClr val="475569"/>
                          </a:solidFill>
                          <a:latin typeface="Calibri"/>
                        </a:rPr>
                        <a:t>Tắt Relay → Bơm dừng, LCD hiện "BOM: TAT (DU AM)"</a:t>
                      </a:r>
                    </a:p>
                  </a:txBody>
                  <a:tcPr marL="73152" marR="73152" marT="36576" marB="36576" anchor="ctr">
                    <a:solidFill>
                      <a:srgbClr val="FFFFFF"/>
                    </a:solidFill>
                  </a:tcPr>
                </a:tc>
              </a:tr>
            </a:tbl>
          </a:graphicData>
        </a:graphic>
      </p:graphicFrame>
      <p:sp>
        <p:nvSpPr>
          <p:cNvPr id="11" name="TextBox 10"/>
          <p:cNvSpPr txBox="1"/>
          <p:nvPr/>
        </p:nvSpPr>
        <p:spPr>
          <a:xfrm>
            <a:off x="548640" y="4023359"/>
            <a:ext cx="11064240" cy="1097280"/>
          </a:xfrm>
          <a:prstGeom prst="rect">
            <a:avLst/>
          </a:prstGeom>
          <a:noFill/>
        </p:spPr>
        <p:txBody>
          <a:bodyPr wrap="square">
            <a:spAutoFit/>
          </a:bodyPr>
          <a:lstStyle/>
          <a:p>
            <a:pPr algn="l">
              <a:lnSpc>
                <a:spcPct val="125000"/>
              </a:lnSpc>
            </a:pPr>
            <a:r>
              <a:rPr sz="1250" b="0" i="1">
                <a:solidFill>
                  <a:srgbClr val="475569"/>
                </a:solidFill>
                <a:latin typeface="Calibri"/>
              </a:rPr>
              <a:t>Lưu ý: một số module cảm biến độ ẩm đất thực tế xuất tín hiệu analog theo chiều khác nhau tuỳ mạch so sánh — luôn kiểm tra datasheet và hiệu chỉnh ngưỡng thực nghiệm (đo mẫu đất khô/ướt thật) trước khi triển khai ngoài thực địa, không nên dùng nguyên số 400 cho mọi loại cảm biến/loại đất.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7F0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3B82F6"/>
                </a:solidFill>
                <a:latin typeface="Calibri"/>
              </a:rPr>
              <a:t>B3 · DỮ LIỆU MINH HOẠ</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Xu hướng dữ liệu cảm biến theo thời gian</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B3</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11</a:t>
            </a:r>
          </a:p>
        </p:txBody>
      </p:sp>
      <p:graphicFrame>
        <p:nvGraphicFramePr>
          <p:cNvPr id="10" name="Chart 9"/>
          <p:cNvGraphicFramePr>
            <a:graphicFrameLocks noGrp="1"/>
          </p:cNvGraphicFramePr>
          <p:nvPr/>
        </p:nvGraphicFramePr>
        <p:xfrm>
          <a:off x="731520" y="1463040"/>
          <a:ext cx="7498079" cy="4754880"/>
        </p:xfrm>
        <a:graphic>
          <a:graphicData uri="http://schemas.openxmlformats.org/drawingml/2006/chart">
            <c:chart xmlns:c="http://schemas.openxmlformats.org/drawingml/2006/chart" r:id="rId2"/>
          </a:graphicData>
        </a:graphic>
      </p:graphicFrame>
      <p:sp>
        <p:nvSpPr>
          <p:cNvPr id="11" name="Rounded Rectangle 10"/>
          <p:cNvSpPr/>
          <p:nvPr/>
        </p:nvSpPr>
        <p:spPr>
          <a:xfrm>
            <a:off x="8503920" y="1463040"/>
            <a:ext cx="3108960" cy="475488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32520" y="1645920"/>
            <a:ext cx="2651760" cy="365760"/>
          </a:xfrm>
          <a:prstGeom prst="rect">
            <a:avLst/>
          </a:prstGeom>
          <a:noFill/>
        </p:spPr>
        <p:txBody>
          <a:bodyPr wrap="square">
            <a:spAutoFit/>
          </a:bodyPr>
          <a:lstStyle/>
          <a:p>
            <a:pPr algn="l"/>
            <a:r>
              <a:rPr sz="1400" b="1" i="0">
                <a:solidFill>
                  <a:srgbClr val="1E293B"/>
                </a:solidFill>
                <a:latin typeface="Calibri"/>
              </a:rPr>
              <a:t>Nhận xét</a:t>
            </a:r>
          </a:p>
        </p:txBody>
      </p:sp>
      <p:sp>
        <p:nvSpPr>
          <p:cNvPr id="13" name="TextBox 12"/>
          <p:cNvSpPr txBox="1"/>
          <p:nvPr/>
        </p:nvSpPr>
        <p:spPr>
          <a:xfrm>
            <a:off x="8732520" y="2103120"/>
            <a:ext cx="2697480" cy="3931920"/>
          </a:xfrm>
          <a:prstGeom prst="rect">
            <a:avLst/>
          </a:prstGeom>
          <a:noFill/>
        </p:spPr>
        <p:txBody>
          <a:bodyPr wrap="square">
            <a:spAutoFit/>
          </a:bodyPr>
          <a:lstStyle/>
          <a:p>
            <a:pPr algn="l">
              <a:spcAft>
                <a:spcPts val="1000"/>
              </a:spcAft>
            </a:pPr>
            <a:r>
              <a:rPr sz="1150" b="1">
                <a:solidFill>
                  <a:srgbClr val="3B82F6"/>
                </a:solidFill>
                <a:latin typeface="Calibri"/>
              </a:rPr>
              <a:t>●  </a:t>
            </a:r>
            <a:r>
              <a:rPr sz="1150" b="0">
                <a:solidFill>
                  <a:srgbClr val="475569"/>
                </a:solidFill>
                <a:latin typeface="Calibri"/>
              </a:rPr>
              <a:t>Giá trị ADC TĂNG dần mô phỏng đất đang khô dần đi theo thời gian (sau khi tưới, nước bốc hơi/thấm dần).</a:t>
            </a:r>
          </a:p>
          <a:p>
            <a:pPr algn="l">
              <a:spcAft>
                <a:spcPts val="1000"/>
              </a:spcAft>
            </a:pPr>
            <a:r>
              <a:rPr sz="1150" b="1">
                <a:solidFill>
                  <a:srgbClr val="3B82F6"/>
                </a:solidFill>
                <a:latin typeface="Calibri"/>
              </a:rPr>
              <a:t>●  </a:t>
            </a:r>
            <a:r>
              <a:rPr sz="1150" b="0">
                <a:solidFill>
                  <a:srgbClr val="475569"/>
                </a:solidFill>
                <a:latin typeface="Calibri"/>
              </a:rPr>
              <a:t>Khi đường dữ liệu vượt lên trên ngưỡng 400 (khoảng giây 12-15), bơm sẽ TỰ TẮT vì đất đã đủ ẩm.</a:t>
            </a:r>
          </a:p>
          <a:p>
            <a:pPr algn="l">
              <a:spcAft>
                <a:spcPts val="1000"/>
              </a:spcAft>
            </a:pPr>
            <a:r>
              <a:rPr sz="1150" b="1">
                <a:solidFill>
                  <a:srgbClr val="3B82F6"/>
                </a:solidFill>
                <a:latin typeface="Calibri"/>
              </a:rPr>
              <a:t>●  </a:t>
            </a:r>
            <a:r>
              <a:rPr sz="1150" b="0">
                <a:solidFill>
                  <a:srgbClr val="475569"/>
                </a:solidFill>
                <a:latin typeface="Calibri"/>
              </a:rPr>
              <a:t>Chu trình này lặp lại tự nhiên: bơm chạy → đất ẩm lên → bơm tắt → đất khô dần → bơm chạy lại — đúng nguyên lý điều khiển vòng kín (closed-loop control).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B3 · ỨNG DỤNG THỰC TIỄN</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Ứng dụng trong Kỹ thuật Môi trường</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B3</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12</a:t>
            </a:r>
          </a:p>
        </p:txBody>
      </p:sp>
      <p:sp>
        <p:nvSpPr>
          <p:cNvPr id="10" name="Rounded Rectangle 9"/>
          <p:cNvSpPr/>
          <p:nvPr/>
        </p:nvSpPr>
        <p:spPr>
          <a:xfrm>
            <a:off x="548640" y="1417320"/>
            <a:ext cx="5349240" cy="1965960"/>
          </a:xfrm>
          <a:prstGeom prst="roundRect">
            <a:avLst/>
          </a:prstGeom>
          <a:solidFill>
            <a:srgbClr val="FFFFFF"/>
          </a:solidFill>
          <a:ln w="19050">
            <a:solidFill>
              <a:srgbClr val="3B82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417320"/>
            <a:ext cx="109728" cy="1965960"/>
          </a:xfrm>
          <a:prstGeom prst="rect">
            <a:avLst/>
          </a:prstGeom>
          <a:solidFill>
            <a:srgbClr val="3B82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581912"/>
            <a:ext cx="4800600" cy="457200"/>
          </a:xfrm>
          <a:prstGeom prst="rect">
            <a:avLst/>
          </a:prstGeom>
          <a:noFill/>
        </p:spPr>
        <p:txBody>
          <a:bodyPr wrap="square">
            <a:spAutoFit/>
          </a:bodyPr>
          <a:lstStyle/>
          <a:p>
            <a:pPr algn="l"/>
            <a:r>
              <a:rPr sz="1550" b="1" i="0">
                <a:solidFill>
                  <a:srgbClr val="1E293B"/>
                </a:solidFill>
                <a:latin typeface="Calibri"/>
              </a:rPr>
              <a:t>Nông nghiệp chính xác</a:t>
            </a:r>
          </a:p>
        </p:txBody>
      </p:sp>
      <p:sp>
        <p:nvSpPr>
          <p:cNvPr id="13" name="TextBox 12"/>
          <p:cNvSpPr txBox="1"/>
          <p:nvPr/>
        </p:nvSpPr>
        <p:spPr>
          <a:xfrm>
            <a:off x="868680" y="2075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Tưới đúng lượng nước cần thiết theo độ ẩm đất thực tế, tiết kiệm nước và nhân công.</a:t>
            </a:r>
          </a:p>
        </p:txBody>
      </p:sp>
      <p:sp>
        <p:nvSpPr>
          <p:cNvPr id="14" name="Rounded Rectangle 13"/>
          <p:cNvSpPr/>
          <p:nvPr/>
        </p:nvSpPr>
        <p:spPr>
          <a:xfrm>
            <a:off x="6263640" y="1417320"/>
            <a:ext cx="5349240" cy="1965960"/>
          </a:xfrm>
          <a:prstGeom prst="roundRect">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417320"/>
            <a:ext cx="109728" cy="19659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79" y="1581912"/>
            <a:ext cx="4800600" cy="457200"/>
          </a:xfrm>
          <a:prstGeom prst="rect">
            <a:avLst/>
          </a:prstGeom>
          <a:noFill/>
        </p:spPr>
        <p:txBody>
          <a:bodyPr wrap="square">
            <a:spAutoFit/>
          </a:bodyPr>
          <a:lstStyle/>
          <a:p>
            <a:pPr algn="l"/>
            <a:r>
              <a:rPr sz="1550" b="1" i="0">
                <a:solidFill>
                  <a:srgbClr val="1E293B"/>
                </a:solidFill>
                <a:latin typeface="Calibri"/>
              </a:rPr>
              <a:t>Nhà kính / Vườn ươm thông minh</a:t>
            </a:r>
          </a:p>
        </p:txBody>
      </p:sp>
      <p:sp>
        <p:nvSpPr>
          <p:cNvPr id="17" name="TextBox 16"/>
          <p:cNvSpPr txBox="1"/>
          <p:nvPr/>
        </p:nvSpPr>
        <p:spPr>
          <a:xfrm>
            <a:off x="6583679" y="2075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Tự động duy trì độ ẩm đất tối ưu cho từng loại cây trồng khác nhau.</a:t>
            </a:r>
          </a:p>
        </p:txBody>
      </p:sp>
      <p:sp>
        <p:nvSpPr>
          <p:cNvPr id="18" name="Rounded Rectangle 17"/>
          <p:cNvSpPr/>
          <p:nvPr/>
        </p:nvSpPr>
        <p:spPr>
          <a:xfrm>
            <a:off x="548640" y="3703320"/>
            <a:ext cx="5349240" cy="1965960"/>
          </a:xfrm>
          <a:prstGeom prst="roundRect">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703320"/>
            <a:ext cx="109728" cy="19659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867911"/>
            <a:ext cx="4800600" cy="457200"/>
          </a:xfrm>
          <a:prstGeom prst="rect">
            <a:avLst/>
          </a:prstGeom>
          <a:noFill/>
        </p:spPr>
        <p:txBody>
          <a:bodyPr wrap="square">
            <a:spAutoFit/>
          </a:bodyPr>
          <a:lstStyle/>
          <a:p>
            <a:pPr algn="l"/>
            <a:r>
              <a:rPr sz="1550" b="1" i="0">
                <a:solidFill>
                  <a:srgbClr val="1E293B"/>
                </a:solidFill>
                <a:latin typeface="Calibri"/>
              </a:rPr>
              <a:t>Hệ thống tưới nhỏ giọt (Drip Irrigation)</a:t>
            </a:r>
          </a:p>
        </p:txBody>
      </p:sp>
      <p:sp>
        <p:nvSpPr>
          <p:cNvPr id="21" name="TextBox 20"/>
          <p:cNvSpPr txBox="1"/>
          <p:nvPr/>
        </p:nvSpPr>
        <p:spPr>
          <a:xfrm>
            <a:off x="868680" y="4361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Kết hợp Relay điều khiển van điện từ thay vì bơm, tưới tiết kiệm và chính xác đến từng gốc cây.</a:t>
            </a:r>
          </a:p>
        </p:txBody>
      </p:sp>
      <p:sp>
        <p:nvSpPr>
          <p:cNvPr id="22" name="Rounded Rectangle 21"/>
          <p:cNvSpPr/>
          <p:nvPr/>
        </p:nvSpPr>
        <p:spPr>
          <a:xfrm>
            <a:off x="6263640" y="3703320"/>
            <a:ext cx="5349240" cy="1965960"/>
          </a:xfrm>
          <a:prstGeom prst="roundRect">
            <a:avLst/>
          </a:prstGeom>
          <a:solidFill>
            <a:srgbClr val="FFFFFF"/>
          </a:solidFill>
          <a:ln w="1905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3703320"/>
            <a:ext cx="109728" cy="1965960"/>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79" y="3867911"/>
            <a:ext cx="4800600" cy="457200"/>
          </a:xfrm>
          <a:prstGeom prst="rect">
            <a:avLst/>
          </a:prstGeom>
          <a:noFill/>
        </p:spPr>
        <p:txBody>
          <a:bodyPr wrap="square">
            <a:spAutoFit/>
          </a:bodyPr>
          <a:lstStyle/>
          <a:p>
            <a:pPr algn="l"/>
            <a:r>
              <a:rPr sz="1550" b="1" i="0">
                <a:solidFill>
                  <a:srgbClr val="1E293B"/>
                </a:solidFill>
                <a:latin typeface="Calibri"/>
              </a:rPr>
              <a:t>Công viên / Mảng xanh đô thị</a:t>
            </a:r>
          </a:p>
        </p:txBody>
      </p:sp>
      <p:sp>
        <p:nvSpPr>
          <p:cNvPr id="25" name="TextBox 24"/>
          <p:cNvSpPr txBox="1"/>
          <p:nvPr/>
        </p:nvSpPr>
        <p:spPr>
          <a:xfrm>
            <a:off x="6583679" y="4361688"/>
            <a:ext cx="4800600" cy="1143000"/>
          </a:xfrm>
          <a:prstGeom prst="rect">
            <a:avLst/>
          </a:prstGeom>
          <a:noFill/>
        </p:spPr>
        <p:txBody>
          <a:bodyPr wrap="square">
            <a:spAutoFit/>
          </a:bodyPr>
          <a:lstStyle/>
          <a:p>
            <a:pPr algn="l">
              <a:lnSpc>
                <a:spcPct val="120000"/>
              </a:lnSpc>
            </a:pPr>
            <a:r>
              <a:rPr sz="1250" b="0" i="0">
                <a:solidFill>
                  <a:srgbClr val="475569"/>
                </a:solidFill>
                <a:latin typeface="Calibri"/>
              </a:rPr>
              <a:t>Giảm chi phí vận hành và nhân lực tưới tiêu thủ công trên diện rộng.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D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EF4444"/>
                </a:solidFill>
                <a:latin typeface="Calibri"/>
              </a:rPr>
              <a:t>B3 · LƯU Ý TRIỂN KHAI THỰC TẾ</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Sai sót thường gặp &amp; lưu ý khi lắp đặt</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B3</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13</a:t>
            </a:r>
          </a:p>
        </p:txBody>
      </p:sp>
      <p:sp>
        <p:nvSpPr>
          <p:cNvPr id="10" name="Oval 9"/>
          <p:cNvSpPr/>
          <p:nvPr/>
        </p:nvSpPr>
        <p:spPr>
          <a:xfrm>
            <a:off x="548640" y="1444752"/>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1" name="TextBox 10"/>
          <p:cNvSpPr txBox="1"/>
          <p:nvPr/>
        </p:nvSpPr>
        <p:spPr>
          <a:xfrm>
            <a:off x="1188720" y="1417320"/>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Đầu dò cảm biến độ ẩm đất kim loại dễ bị ăn mòn/oxy hoá khi cắm lâu ngày trong đất ẩm — nên chọn loại phủ chống ăn mòn hoặc dùng cảm biến điện dung (capacitive).</a:t>
            </a:r>
          </a:p>
        </p:txBody>
      </p:sp>
      <p:sp>
        <p:nvSpPr>
          <p:cNvPr id="12" name="Oval 11"/>
          <p:cNvSpPr/>
          <p:nvPr/>
        </p:nvSpPr>
        <p:spPr>
          <a:xfrm>
            <a:off x="548640" y="2295144"/>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3" name="TextBox 12"/>
          <p:cNvSpPr txBox="1"/>
          <p:nvPr/>
        </p:nvSpPr>
        <p:spPr>
          <a:xfrm>
            <a:off x="1188720" y="2267712"/>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Relay cơ khí có tuổi thọ đóng/ngắt giới hạn (thường ~100.000 lần) — nếu đóng/ngắt liên tục nên cân nhắc Relay bán dẫn (SSR).</a:t>
            </a:r>
          </a:p>
        </p:txBody>
      </p:sp>
      <p:sp>
        <p:nvSpPr>
          <p:cNvPr id="14" name="Oval 13"/>
          <p:cNvSpPr/>
          <p:nvPr/>
        </p:nvSpPr>
        <p:spPr>
          <a:xfrm>
            <a:off x="548640" y="3145536"/>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5" name="TextBox 14"/>
          <p:cNvSpPr txBox="1"/>
          <p:nvPr/>
        </p:nvSpPr>
        <p:spPr>
          <a:xfrm>
            <a:off x="1188720" y="3118104"/>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Luôn lắp diode bảo vệ song song cuộn dây Relay và cầu chì bảo vệ phía mạch bơm khi triển khai thực tế.</a:t>
            </a:r>
          </a:p>
        </p:txBody>
      </p:sp>
      <p:sp>
        <p:nvSpPr>
          <p:cNvPr id="16" name="Oval 15"/>
          <p:cNvSpPr/>
          <p:nvPr/>
        </p:nvSpPr>
        <p:spPr>
          <a:xfrm>
            <a:off x="548640" y="3995928"/>
            <a:ext cx="457200" cy="45720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800" b="1">
                <a:solidFill>
                  <a:srgbClr val="EF4444"/>
                </a:solidFill>
                <a:latin typeface="Calibri"/>
              </a:rPr>
              <a:t>!</a:t>
            </a:r>
          </a:p>
        </p:txBody>
      </p:sp>
      <p:sp>
        <p:nvSpPr>
          <p:cNvPr id="17" name="TextBox 16"/>
          <p:cNvSpPr txBox="1"/>
          <p:nvPr/>
        </p:nvSpPr>
        <p:spPr>
          <a:xfrm>
            <a:off x="1188720" y="3968496"/>
            <a:ext cx="10241280" cy="777240"/>
          </a:xfrm>
          <a:prstGeom prst="rect">
            <a:avLst/>
          </a:prstGeom>
          <a:noFill/>
        </p:spPr>
        <p:txBody>
          <a:bodyPr wrap="square" anchor="ctr">
            <a:spAutoFit/>
          </a:bodyPr>
          <a:lstStyle/>
          <a:p>
            <a:pPr algn="l">
              <a:lnSpc>
                <a:spcPct val="115000"/>
              </a:lnSpc>
            </a:pPr>
            <a:r>
              <a:rPr sz="1400" b="0" i="0">
                <a:solidFill>
                  <a:srgbClr val="1E293B"/>
                </a:solidFill>
                <a:latin typeface="Calibri"/>
              </a:rPr>
              <a:t>Không cắm cảm biến quá sát gốc cây (tránh ảnh hưởng rễ) và nên đo ở độ sâu đại diện cho vùng rễ chính của cây.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F1EB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8B5CF6"/>
                </a:solidFill>
                <a:latin typeface="Calibri"/>
              </a:rPr>
              <a:t>B3 · ÔN TẬP</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Câu hỏi thảo luận cuối buổi</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B3</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14</a:t>
            </a:r>
          </a:p>
        </p:txBody>
      </p:sp>
      <p:sp>
        <p:nvSpPr>
          <p:cNvPr id="10" name="Rounded Rectangle 9"/>
          <p:cNvSpPr/>
          <p:nvPr/>
        </p:nvSpPr>
        <p:spPr>
          <a:xfrm>
            <a:off x="548640" y="146304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Q1</a:t>
            </a:r>
          </a:p>
        </p:txBody>
      </p:sp>
      <p:sp>
        <p:nvSpPr>
          <p:cNvPr id="11" name="TextBox 10"/>
          <p:cNvSpPr txBox="1"/>
          <p:nvPr/>
        </p:nvSpPr>
        <p:spPr>
          <a:xfrm>
            <a:off x="1234440" y="144475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Vì sao không thể nối trực tiếp bơm nước vào chân GPIO của ESP32-S3 mà bắt buộc phải qua Relay?</a:t>
            </a:r>
          </a:p>
        </p:txBody>
      </p:sp>
      <p:sp>
        <p:nvSpPr>
          <p:cNvPr id="12" name="Rounded Rectangle 11"/>
          <p:cNvSpPr/>
          <p:nvPr/>
        </p:nvSpPr>
        <p:spPr>
          <a:xfrm>
            <a:off x="548640" y="233172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Q2</a:t>
            </a:r>
          </a:p>
        </p:txBody>
      </p:sp>
      <p:sp>
        <p:nvSpPr>
          <p:cNvPr id="13" name="TextBox 12"/>
          <p:cNvSpPr txBox="1"/>
          <p:nvPr/>
        </p:nvSpPr>
        <p:spPr>
          <a:xfrm>
            <a:off x="1234440" y="231343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Nếu đổi chiều bất đẳng thức thành soilVal &gt; 400 thì hệ thống sẽ hoạt động thế nào? Có hợp lý không?</a:t>
            </a:r>
          </a:p>
        </p:txBody>
      </p:sp>
      <p:sp>
        <p:nvSpPr>
          <p:cNvPr id="14" name="Rounded Rectangle 13"/>
          <p:cNvSpPr/>
          <p:nvPr/>
        </p:nvSpPr>
        <p:spPr>
          <a:xfrm>
            <a:off x="548640" y="320040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Q3</a:t>
            </a:r>
          </a:p>
        </p:txBody>
      </p:sp>
      <p:sp>
        <p:nvSpPr>
          <p:cNvPr id="15" name="TextBox 14"/>
          <p:cNvSpPr txBox="1"/>
          <p:nvPr/>
        </p:nvSpPr>
        <p:spPr>
          <a:xfrm>
            <a:off x="1234440" y="318211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Diode flyback lắp song song cuộn dây Relay có tác dụng gì? Điều gì xảy ra nếu thiếu nó?</a:t>
            </a:r>
          </a:p>
        </p:txBody>
      </p:sp>
      <p:sp>
        <p:nvSpPr>
          <p:cNvPr id="16" name="Rounded Rectangle 15"/>
          <p:cNvSpPr/>
          <p:nvPr/>
        </p:nvSpPr>
        <p:spPr>
          <a:xfrm>
            <a:off x="548640" y="4069080"/>
            <a:ext cx="50292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300" b="1">
                <a:solidFill>
                  <a:srgbClr val="FFFFFF"/>
                </a:solidFill>
                <a:latin typeface="Calibri"/>
              </a:rPr>
              <a:t>Q4</a:t>
            </a:r>
          </a:p>
        </p:txBody>
      </p:sp>
      <p:sp>
        <p:nvSpPr>
          <p:cNvPr id="17" name="TextBox 16"/>
          <p:cNvSpPr txBox="1"/>
          <p:nvPr/>
        </p:nvSpPr>
        <p:spPr>
          <a:xfrm>
            <a:off x="1234440" y="4050792"/>
            <a:ext cx="10241280" cy="777240"/>
          </a:xfrm>
          <a:prstGeom prst="rect">
            <a:avLst/>
          </a:prstGeom>
          <a:noFill/>
        </p:spPr>
        <p:txBody>
          <a:bodyPr wrap="square" anchor="ctr">
            <a:spAutoFit/>
          </a:bodyPr>
          <a:lstStyle/>
          <a:p>
            <a:pPr algn="l">
              <a:lnSpc>
                <a:spcPct val="115000"/>
              </a:lnSpc>
            </a:pPr>
            <a:r>
              <a:rPr sz="1450" b="0" i="0">
                <a:solidFill>
                  <a:srgbClr val="1E293B"/>
                </a:solidFill>
                <a:latin typeface="Calibri"/>
              </a:rPr>
              <a:t>Đề xuất 1 cách cải tiến để tránh bơm bật/tắt liên tục (nhấp nháy) khi độ ẩm đất dao động quanh ngưỡng 400.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508760" y="292608"/>
            <a:ext cx="10195560" cy="841248"/>
          </a:xfrm>
          <a:prstGeom prst="roundRect">
            <a:avLst/>
          </a:prstGeom>
          <a:solidFill>
            <a:srgbClr val="E2F6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508760" y="384048"/>
            <a:ext cx="7315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384048"/>
            <a:ext cx="658368" cy="658368"/>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1819656" y="374904"/>
            <a:ext cx="9646920" cy="256032"/>
          </a:xfrm>
          <a:prstGeom prst="rect">
            <a:avLst/>
          </a:prstGeom>
          <a:noFill/>
        </p:spPr>
        <p:txBody>
          <a:bodyPr wrap="square">
            <a:spAutoFit/>
          </a:bodyPr>
          <a:lstStyle/>
          <a:p>
            <a:pPr algn="l"/>
            <a:r>
              <a:rPr sz="1200" b="1" i="0">
                <a:solidFill>
                  <a:srgbClr val="10B981"/>
                </a:solidFill>
                <a:latin typeface="Calibri"/>
              </a:rPr>
              <a:t>B3 · TỔNG KẾT</a:t>
            </a:r>
          </a:p>
        </p:txBody>
      </p:sp>
      <p:sp>
        <p:nvSpPr>
          <p:cNvPr id="6" name="TextBox 5"/>
          <p:cNvSpPr txBox="1"/>
          <p:nvPr/>
        </p:nvSpPr>
        <p:spPr>
          <a:xfrm>
            <a:off x="1819656" y="630936"/>
            <a:ext cx="9646920" cy="457200"/>
          </a:xfrm>
          <a:prstGeom prst="rect">
            <a:avLst/>
          </a:prstGeom>
          <a:noFill/>
        </p:spPr>
        <p:txBody>
          <a:bodyPr wrap="square">
            <a:spAutoFit/>
          </a:bodyPr>
          <a:lstStyle/>
          <a:p>
            <a:pPr algn="l"/>
            <a:r>
              <a:rPr sz="2100" b="1" i="0">
                <a:solidFill>
                  <a:srgbClr val="1E293B"/>
                </a:solidFill>
                <a:latin typeface="Calibri"/>
              </a:rPr>
              <a:t>Tổng kết buổi học</a:t>
            </a:r>
          </a:p>
        </p:txBody>
      </p:sp>
      <p:cxnSp>
        <p:nvCxnSpPr>
          <p:cNvPr id="7" name="Connector 6"/>
          <p:cNvCxnSpPr/>
          <p:nvPr/>
        </p:nvCxnSpPr>
        <p:spPr>
          <a:xfrm>
            <a:off x="502920" y="6400800"/>
            <a:ext cx="11185855" cy="0"/>
          </a:xfrm>
          <a:prstGeom prst="line">
            <a:avLst/>
          </a:prstGeom>
          <a:ln w="9525">
            <a:solidFill>
              <a:srgbClr val="DDE3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6858000" cy="274320"/>
          </a:xfrm>
          <a:prstGeom prst="rect">
            <a:avLst/>
          </a:prstGeom>
          <a:noFill/>
        </p:spPr>
        <p:txBody>
          <a:bodyPr wrap="square">
            <a:spAutoFit/>
          </a:bodyPr>
          <a:lstStyle/>
          <a:p>
            <a:pPr algn="l"/>
            <a:r>
              <a:rPr sz="900" b="0" i="0">
                <a:solidFill>
                  <a:srgbClr val="94A3B8"/>
                </a:solidFill>
                <a:latin typeface="Calibri"/>
              </a:rPr>
              <a:t>IOT TRONG KỸ THUẬT MÔI TRƯỜNG  ·  B3</a:t>
            </a:r>
          </a:p>
        </p:txBody>
      </p:sp>
      <p:sp>
        <p:nvSpPr>
          <p:cNvPr id="9" name="TextBox 8"/>
          <p:cNvSpPr txBox="1"/>
          <p:nvPr/>
        </p:nvSpPr>
        <p:spPr>
          <a:xfrm>
            <a:off x="10820095" y="6473952"/>
            <a:ext cx="914400" cy="274320"/>
          </a:xfrm>
          <a:prstGeom prst="rect">
            <a:avLst/>
          </a:prstGeom>
          <a:noFill/>
        </p:spPr>
        <p:txBody>
          <a:bodyPr wrap="square">
            <a:spAutoFit/>
          </a:bodyPr>
          <a:lstStyle/>
          <a:p>
            <a:pPr algn="r"/>
            <a:r>
              <a:rPr sz="900" b="0" i="0">
                <a:solidFill>
                  <a:srgbClr val="94A3B8"/>
                </a:solidFill>
                <a:latin typeface="Calibri"/>
              </a:rPr>
              <a:t>15</a:t>
            </a:r>
          </a:p>
        </p:txBody>
      </p:sp>
      <p:sp>
        <p:nvSpPr>
          <p:cNvPr id="10" name="TextBox 9"/>
          <p:cNvSpPr txBox="1"/>
          <p:nvPr/>
        </p:nvSpPr>
        <p:spPr>
          <a:xfrm>
            <a:off x="548640" y="1371600"/>
            <a:ext cx="10881360" cy="365760"/>
          </a:xfrm>
          <a:prstGeom prst="rect">
            <a:avLst/>
          </a:prstGeom>
          <a:noFill/>
        </p:spPr>
        <p:txBody>
          <a:bodyPr wrap="square">
            <a:spAutoFit/>
          </a:bodyPr>
          <a:lstStyle/>
          <a:p>
            <a:pPr algn="l"/>
            <a:r>
              <a:rPr sz="1500" b="1" i="0">
                <a:solidFill>
                  <a:srgbClr val="1E293B"/>
                </a:solidFill>
                <a:latin typeface="Calibri"/>
              </a:rPr>
              <a:t>Những điều đã đạt được:</a:t>
            </a:r>
          </a:p>
        </p:txBody>
      </p:sp>
      <p:sp>
        <p:nvSpPr>
          <p:cNvPr id="11" name="TextBox 10"/>
          <p:cNvSpPr txBox="1"/>
          <p:nvPr/>
        </p:nvSpPr>
        <p:spPr>
          <a:xfrm>
            <a:off x="548640" y="1783080"/>
            <a:ext cx="10881360" cy="2377440"/>
          </a:xfrm>
          <a:prstGeom prst="rect">
            <a:avLst/>
          </a:prstGeom>
          <a:noFill/>
        </p:spPr>
        <p:txBody>
          <a:bodyPr wrap="square">
            <a:spAutoFit/>
          </a:bodyPr>
          <a:lstStyle/>
          <a:p>
            <a:pPr algn="l">
              <a:spcAft>
                <a:spcPts val="1000"/>
              </a:spcAft>
            </a:pPr>
            <a:r>
              <a:rPr sz="1450" b="1">
                <a:solidFill>
                  <a:srgbClr val="10B981"/>
                </a:solidFill>
                <a:latin typeface="Calibri"/>
              </a:rPr>
              <a:t>●  </a:t>
            </a:r>
            <a:r>
              <a:rPr sz="1450" b="0">
                <a:solidFill>
                  <a:srgbClr val="1E293B"/>
                </a:solidFill>
                <a:latin typeface="Calibri"/>
              </a:rPr>
              <a:t>Đã xây dựng hệ thống điều khiển vòng kín đầu tiên: cảm biến → quyết định → tác động → ảnh hưởng ngược lại chính cảm biến đó.</a:t>
            </a:r>
          </a:p>
          <a:p>
            <a:pPr algn="l">
              <a:spcAft>
                <a:spcPts val="1000"/>
              </a:spcAft>
            </a:pPr>
            <a:r>
              <a:rPr sz="1450" b="1">
                <a:solidFill>
                  <a:srgbClr val="10B981"/>
                </a:solidFill>
                <a:latin typeface="Calibri"/>
              </a:rPr>
              <a:t>●  </a:t>
            </a:r>
            <a:r>
              <a:rPr sz="1450" b="0">
                <a:solidFill>
                  <a:srgbClr val="1E293B"/>
                </a:solidFill>
                <a:latin typeface="Calibri"/>
              </a:rPr>
              <a:t>Hiểu rõ vai trò của Relay trong việc cách ly mạch điều khiển công suất thấp và mạch tải công suất cao.</a:t>
            </a:r>
          </a:p>
          <a:p>
            <a:pPr algn="l">
              <a:spcAft>
                <a:spcPts val="1000"/>
              </a:spcAft>
            </a:pPr>
            <a:r>
              <a:rPr sz="1450" b="1">
                <a:solidFill>
                  <a:srgbClr val="10B981"/>
                </a:solidFill>
                <a:latin typeface="Calibri"/>
              </a:rPr>
              <a:t>●  </a:t>
            </a:r>
            <a:r>
              <a:rPr sz="1450" b="0">
                <a:solidFill>
                  <a:srgbClr val="1E293B"/>
                </a:solidFill>
                <a:latin typeface="Calibri"/>
              </a:rPr>
              <a:t>Có khả năng phân tích và giải thích hành vi hệ thống thông qua bảng ngưỡng và lưu đồ thuật toán.</a:t>
            </a:r>
          </a:p>
        </p:txBody>
      </p:sp>
      <p:sp>
        <p:nvSpPr>
          <p:cNvPr id="12" name="Rounded Rectangle 11"/>
          <p:cNvSpPr/>
          <p:nvPr/>
        </p:nvSpPr>
        <p:spPr>
          <a:xfrm>
            <a:off x="548640" y="4343400"/>
            <a:ext cx="10881360" cy="1600200"/>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526280"/>
            <a:ext cx="10332720" cy="365760"/>
          </a:xfrm>
          <a:prstGeom prst="rect">
            <a:avLst/>
          </a:prstGeom>
          <a:noFill/>
        </p:spPr>
        <p:txBody>
          <a:bodyPr wrap="square">
            <a:spAutoFit/>
          </a:bodyPr>
          <a:lstStyle/>
          <a:p>
            <a:pPr algn="l"/>
            <a:r>
              <a:rPr sz="1300" b="1" i="0">
                <a:solidFill>
                  <a:srgbClr val="10B981"/>
                </a:solidFill>
                <a:latin typeface="Calibri"/>
              </a:rPr>
              <a:t>CHUẨN BỊ CHO BUỔI TIẾP THEO</a:t>
            </a:r>
          </a:p>
        </p:txBody>
      </p:sp>
      <p:sp>
        <p:nvSpPr>
          <p:cNvPr id="14" name="TextBox 13"/>
          <p:cNvSpPr txBox="1"/>
          <p:nvPr/>
        </p:nvSpPr>
        <p:spPr>
          <a:xfrm>
            <a:off x="822960" y="4892040"/>
            <a:ext cx="10332720" cy="960120"/>
          </a:xfrm>
          <a:prstGeom prst="rect">
            <a:avLst/>
          </a:prstGeom>
          <a:noFill/>
        </p:spPr>
        <p:txBody>
          <a:bodyPr wrap="square">
            <a:spAutoFit/>
          </a:bodyPr>
          <a:lstStyle/>
          <a:p>
            <a:pPr algn="l">
              <a:lnSpc>
                <a:spcPct val="120000"/>
              </a:lnSpc>
            </a:pPr>
            <a:r>
              <a:rPr sz="1500" b="0" i="0">
                <a:solidFill>
                  <a:srgbClr val="FFFFFF"/>
                </a:solidFill>
                <a:latin typeface="Calibri"/>
              </a:rPr>
              <a:t>Buổi 4: Cảnh báo khí độc — dùng cảm biến khí gas MQ-2 kích hoạt đồng thời còi báo động và quạt thông gió qua Relay, mở rộng sang điều khiển nhiều thiết bị đầu ra cùng lúc.</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6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457200"/>
            <a:ext cx="11277295" cy="5943600"/>
          </a:xfrm>
          <a:prstGeom prst="roundRect">
            <a:avLst/>
          </a:prstGeom>
          <a:solidFill>
            <a:srgbClr val="FFFFFF"/>
          </a:solidFill>
          <a:ln w="12700">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766663" y="1005840"/>
            <a:ext cx="658368" cy="658368"/>
          </a:xfrm>
          <a:prstGeom prst="roundRect">
            <a:avLst/>
          </a:prstGeom>
          <a:solidFill>
            <a:srgbClr val="0F4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400" b="1">
                <a:solidFill>
                  <a:srgbClr val="FFFFFF"/>
                </a:solidFill>
                <a:latin typeface="Calibri"/>
              </a:rPr>
              <a:t>IoT</a:t>
            </a:r>
          </a:p>
        </p:txBody>
      </p:sp>
      <p:sp>
        <p:nvSpPr>
          <p:cNvPr id="5" name="TextBox 4"/>
          <p:cNvSpPr txBox="1"/>
          <p:nvPr/>
        </p:nvSpPr>
        <p:spPr>
          <a:xfrm>
            <a:off x="822960" y="1965960"/>
            <a:ext cx="10545775" cy="914400"/>
          </a:xfrm>
          <a:prstGeom prst="rect">
            <a:avLst/>
          </a:prstGeom>
          <a:noFill/>
        </p:spPr>
        <p:txBody>
          <a:bodyPr wrap="square">
            <a:spAutoFit/>
          </a:bodyPr>
          <a:lstStyle/>
          <a:p>
            <a:pPr algn="ctr"/>
            <a:r>
              <a:rPr sz="3200" b="1" i="0">
                <a:solidFill>
                  <a:srgbClr val="1E293B"/>
                </a:solidFill>
                <a:latin typeface="Calibri"/>
              </a:rPr>
              <a:t>CẢM ƠN CÁC BẠN ĐÃ THEO DÕI</a:t>
            </a:r>
          </a:p>
        </p:txBody>
      </p:sp>
      <p:sp>
        <p:nvSpPr>
          <p:cNvPr id="6" name="TextBox 5"/>
          <p:cNvSpPr txBox="1"/>
          <p:nvPr/>
        </p:nvSpPr>
        <p:spPr>
          <a:xfrm>
            <a:off x="822960" y="2834640"/>
            <a:ext cx="10545775" cy="548640"/>
          </a:xfrm>
          <a:prstGeom prst="rect">
            <a:avLst/>
          </a:prstGeom>
          <a:noFill/>
        </p:spPr>
        <p:txBody>
          <a:bodyPr wrap="square">
            <a:spAutoFit/>
          </a:bodyPr>
          <a:lstStyle/>
          <a:p>
            <a:pPr algn="ctr"/>
            <a:r>
              <a:rPr sz="1500" b="0" i="0">
                <a:solidFill>
                  <a:srgbClr val="10B981"/>
                </a:solidFill>
                <a:latin typeface="Calibri"/>
              </a:rPr>
              <a:t>Hỏi đáp &amp; Thực hành trực tiếp trên trình mô phỏng — B3</a:t>
            </a:r>
          </a:p>
        </p:txBody>
      </p:sp>
      <p:sp>
        <p:nvSpPr>
          <p:cNvPr id="7" name="Rounded Rectangle 6"/>
          <p:cNvSpPr/>
          <p:nvPr/>
        </p:nvSpPr>
        <p:spPr>
          <a:xfrm>
            <a:off x="147812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sp32s3.jpg"/>
          <p:cNvPicPr>
            <a:picLocks noChangeAspect="1"/>
          </p:cNvPicPr>
          <p:nvPr/>
        </p:nvPicPr>
        <p:blipFill>
          <a:blip r:embed="rId2"/>
          <a:stretch>
            <a:fillRect/>
          </a:stretch>
        </p:blipFill>
        <p:spPr>
          <a:xfrm>
            <a:off x="1569567" y="3835587"/>
            <a:ext cx="1920239" cy="1472824"/>
          </a:xfrm>
          <a:prstGeom prst="rect">
            <a:avLst/>
          </a:prstGeom>
        </p:spPr>
      </p:pic>
      <p:sp>
        <p:nvSpPr>
          <p:cNvPr id="9" name="Rounded Rectangle 8"/>
          <p:cNvSpPr/>
          <p:nvPr/>
        </p:nvSpPr>
        <p:spPr>
          <a:xfrm>
            <a:off x="385556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928719" y="3730752"/>
            <a:ext cx="1956815" cy="1682496"/>
          </a:xfrm>
          <a:prstGeom prst="roundRect">
            <a:avLst/>
          </a:prstGeom>
          <a:solidFill>
            <a:srgbClr val="E5EE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2860" bIns="22860"/>
          <a:lstStyle/>
          <a:p>
            <a:pPr algn="ctr"/>
            <a:r>
              <a:rPr sz="1100" b="1">
                <a:solidFill>
                  <a:srgbClr val="3B82F6"/>
                </a:solidFill>
                <a:latin typeface="Calibri"/>
              </a:rPr>
              <a:t>Soil Moisture Sensor</a:t>
            </a:r>
          </a:p>
        </p:txBody>
      </p:sp>
      <p:sp>
        <p:nvSpPr>
          <p:cNvPr id="11" name="Rounded Rectangle 10"/>
          <p:cNvSpPr/>
          <p:nvPr/>
        </p:nvSpPr>
        <p:spPr>
          <a:xfrm>
            <a:off x="623300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relay_module.jpg"/>
          <p:cNvPicPr>
            <a:picLocks noChangeAspect="1"/>
          </p:cNvPicPr>
          <p:nvPr/>
        </p:nvPicPr>
        <p:blipFill>
          <a:blip r:embed="rId3"/>
          <a:stretch>
            <a:fillRect/>
          </a:stretch>
        </p:blipFill>
        <p:spPr>
          <a:xfrm>
            <a:off x="6324447" y="3932560"/>
            <a:ext cx="1920239" cy="1278879"/>
          </a:xfrm>
          <a:prstGeom prst="rect">
            <a:avLst/>
          </a:prstGeom>
        </p:spPr>
      </p:pic>
      <p:sp>
        <p:nvSpPr>
          <p:cNvPr id="13" name="Rounded Rectangle 12"/>
          <p:cNvSpPr/>
          <p:nvPr/>
        </p:nvSpPr>
        <p:spPr>
          <a:xfrm>
            <a:off x="8610447" y="3657600"/>
            <a:ext cx="2103120" cy="1828800"/>
          </a:xfrm>
          <a:prstGeom prst="roundRect">
            <a:avLst/>
          </a:prstGeom>
          <a:solidFill>
            <a:srgbClr val="FFFFFF"/>
          </a:solidFill>
          <a:ln w="15875">
            <a:solidFill>
              <a:srgbClr val="DDE3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dc_motor_pump.jpg"/>
          <p:cNvPicPr>
            <a:picLocks noChangeAspect="1"/>
          </p:cNvPicPr>
          <p:nvPr/>
        </p:nvPicPr>
        <p:blipFill>
          <a:blip r:embed="rId4"/>
          <a:stretch>
            <a:fillRect/>
          </a:stretch>
        </p:blipFill>
        <p:spPr>
          <a:xfrm>
            <a:off x="9281800" y="3749039"/>
            <a:ext cx="760415" cy="1645920"/>
          </a:xfrm>
          <a:prstGeom prst="rect">
            <a:avLst/>
          </a:prstGeom>
        </p:spPr>
      </p:pic>
      <p:sp>
        <p:nvSpPr>
          <p:cNvPr id="15" name="TextBox 14"/>
          <p:cNvSpPr txBox="1"/>
          <p:nvPr/>
        </p:nvSpPr>
        <p:spPr>
          <a:xfrm>
            <a:off x="822960" y="6035040"/>
            <a:ext cx="10545775" cy="365760"/>
          </a:xfrm>
          <a:prstGeom prst="rect">
            <a:avLst/>
          </a:prstGeom>
          <a:noFill/>
        </p:spPr>
        <p:txBody>
          <a:bodyPr wrap="square">
            <a:spAutoFit/>
          </a:bodyPr>
          <a:lstStyle/>
          <a:p>
            <a:pPr algn="ctr"/>
            <a:r>
              <a:rPr sz="1150" b="0" i="0">
                <a:solidFill>
                  <a:srgbClr val="475569"/>
                </a:solidFill>
                <a:latin typeface="Calibri"/>
              </a:rPr>
              <a:t>Giảng viên hướng dẫn: Nguyễn Lê Tấn Đạt  ·  datnlt@tdmu.edu.vn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