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3093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63640" y="0"/>
            <a:ext cx="54864" cy="6858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50292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IoT</a:t>
            </a:r>
          </a:p>
        </p:txBody>
      </p:sp>
      <p:sp>
        <p:nvSpPr>
          <p:cNvPr id="6" name="TextBox 5"/>
          <p:cNvSpPr txBox="1"/>
          <p:nvPr/>
        </p:nvSpPr>
        <p:spPr>
          <a:xfrm>
            <a:off x="1463040" y="548640"/>
            <a:ext cx="4663440" cy="274320"/>
          </a:xfrm>
          <a:prstGeom prst="rect">
            <a:avLst/>
          </a:prstGeom>
          <a:noFill/>
        </p:spPr>
        <p:txBody>
          <a:bodyPr wrap="square">
            <a:spAutoFit/>
          </a:bodyPr>
          <a:lstStyle/>
          <a:p>
            <a:pPr algn="l"/>
            <a:r>
              <a:rPr sz="1200" b="1" i="0">
                <a:solidFill>
                  <a:srgbClr val="94A3B8"/>
                </a:solidFill>
                <a:latin typeface="Calibri"/>
              </a:rPr>
              <a:t>ĐẠI HỌC THỦ DẦU MỘT</a:t>
            </a:r>
          </a:p>
        </p:txBody>
      </p:sp>
      <p:sp>
        <p:nvSpPr>
          <p:cNvPr id="7" name="TextBox 6"/>
          <p:cNvSpPr txBox="1"/>
          <p:nvPr/>
        </p:nvSpPr>
        <p:spPr>
          <a:xfrm>
            <a:off x="1463040" y="804672"/>
            <a:ext cx="4663440" cy="320040"/>
          </a:xfrm>
          <a:prstGeom prst="rect">
            <a:avLst/>
          </a:prstGeom>
          <a:noFill/>
        </p:spPr>
        <p:txBody>
          <a:bodyPr wrap="square">
            <a:spAutoFit/>
          </a:bodyPr>
          <a:lstStyle/>
          <a:p>
            <a:pPr algn="l"/>
            <a:r>
              <a:rPr sz="1300" b="1" i="0">
                <a:solidFill>
                  <a:srgbClr val="8B5CF6"/>
                </a:solidFill>
                <a:latin typeface="Calibri"/>
              </a:rPr>
              <a:t>IOT TRONG KỸ THUẬT MÔI TRƯỜNG</a:t>
            </a:r>
          </a:p>
        </p:txBody>
      </p:sp>
      <p:sp>
        <p:nvSpPr>
          <p:cNvPr id="8" name="TextBox 7"/>
          <p:cNvSpPr txBox="1"/>
          <p:nvPr/>
        </p:nvSpPr>
        <p:spPr>
          <a:xfrm>
            <a:off x="640080" y="1600200"/>
            <a:ext cx="5486400" cy="365760"/>
          </a:xfrm>
          <a:prstGeom prst="rect">
            <a:avLst/>
          </a:prstGeom>
          <a:noFill/>
        </p:spPr>
        <p:txBody>
          <a:bodyPr wrap="square">
            <a:spAutoFit/>
          </a:bodyPr>
          <a:lstStyle/>
          <a:p>
            <a:pPr algn="l"/>
            <a:r>
              <a:rPr sz="1300" b="1" i="0">
                <a:solidFill>
                  <a:srgbClr val="F59E0B"/>
                </a:solidFill>
                <a:latin typeface="Calibri"/>
              </a:rPr>
              <a:t>BUỔI 9/12 · NỐI TIẾP B3</a:t>
            </a:r>
          </a:p>
        </p:txBody>
      </p:sp>
      <p:sp>
        <p:nvSpPr>
          <p:cNvPr id="9" name="TextBox 8"/>
          <p:cNvSpPr txBox="1"/>
          <p:nvPr/>
        </p:nvSpPr>
        <p:spPr>
          <a:xfrm>
            <a:off x="640080" y="1965960"/>
            <a:ext cx="5532120" cy="1737360"/>
          </a:xfrm>
          <a:prstGeom prst="rect">
            <a:avLst/>
          </a:prstGeom>
          <a:noFill/>
        </p:spPr>
        <p:txBody>
          <a:bodyPr wrap="square">
            <a:spAutoFit/>
          </a:bodyPr>
          <a:lstStyle/>
          <a:p>
            <a:pPr algn="l">
              <a:lnSpc>
                <a:spcPct val="108000"/>
              </a:lnSpc>
            </a:pPr>
            <a:r>
              <a:rPr sz="2700" b="1" i="0">
                <a:solidFill>
                  <a:srgbClr val="1E293B"/>
                </a:solidFill>
                <a:latin typeface="Calibri"/>
              </a:rPr>
              <a:t>B9: Web App &amp; Mobile App — Điều khiển Tưới cây từ xa</a:t>
            </a:r>
          </a:p>
        </p:txBody>
      </p:sp>
      <p:sp>
        <p:nvSpPr>
          <p:cNvPr id="10" name="TextBox 9"/>
          <p:cNvSpPr txBox="1"/>
          <p:nvPr/>
        </p:nvSpPr>
        <p:spPr>
          <a:xfrm>
            <a:off x="640080" y="3794760"/>
            <a:ext cx="5394960" cy="1371600"/>
          </a:xfrm>
          <a:prstGeom prst="rect">
            <a:avLst/>
          </a:prstGeom>
          <a:noFill/>
        </p:spPr>
        <p:txBody>
          <a:bodyPr wrap="square">
            <a:spAutoFit/>
          </a:bodyPr>
          <a:lstStyle/>
          <a:p>
            <a:pPr algn="l">
              <a:lnSpc>
                <a:spcPct val="125000"/>
              </a:lnSpc>
            </a:pPr>
            <a:r>
              <a:rPr sz="1250" b="0" i="0">
                <a:solidFill>
                  <a:srgbClr val="475569"/>
                </a:solidFill>
                <a:latin typeface="Calibri"/>
              </a:rPr>
              <a:t>Mở rộng hệ thống Soil Moisture + Relay + Bơm của Buổi 3 thành ứng dụng vừa giám sát vừa ĐIỀU KHIỂN 2 chiều</a:t>
            </a:r>
          </a:p>
        </p:txBody>
      </p:sp>
      <p:cxnSp>
        <p:nvCxnSpPr>
          <p:cNvPr id="11" name="Connector 10"/>
          <p:cNvCxnSpPr/>
          <p:nvPr/>
        </p:nvCxnSpPr>
        <p:spPr>
          <a:xfrm>
            <a:off x="640080" y="5349240"/>
            <a:ext cx="4480560"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5504688"/>
            <a:ext cx="5394960" cy="320040"/>
          </a:xfrm>
          <a:prstGeom prst="rect">
            <a:avLst/>
          </a:prstGeom>
          <a:noFill/>
        </p:spPr>
        <p:txBody>
          <a:bodyPr wrap="square">
            <a:spAutoFit/>
          </a:bodyPr>
          <a:lstStyle/>
          <a:p>
            <a:pPr algn="l"/>
            <a:r>
              <a:rPr sz="1150" b="1" i="0">
                <a:solidFill>
                  <a:srgbClr val="1E293B"/>
                </a:solidFill>
                <a:latin typeface="Calibri"/>
              </a:rPr>
              <a:t>Giảng viên hướng dẫn: Nguyễn Lê Tấn Đạt</a:t>
            </a:r>
          </a:p>
        </p:txBody>
      </p:sp>
      <p:sp>
        <p:nvSpPr>
          <p:cNvPr id="13" name="TextBox 12"/>
          <p:cNvSpPr txBox="1"/>
          <p:nvPr/>
        </p:nvSpPr>
        <p:spPr>
          <a:xfrm>
            <a:off x="640080" y="5797296"/>
            <a:ext cx="5394960" cy="274320"/>
          </a:xfrm>
          <a:prstGeom prst="rect">
            <a:avLst/>
          </a:prstGeom>
          <a:noFill/>
        </p:spPr>
        <p:txBody>
          <a:bodyPr wrap="square">
            <a:spAutoFit/>
          </a:bodyPr>
          <a:lstStyle/>
          <a:p>
            <a:pPr algn="l"/>
            <a:r>
              <a:rPr sz="1050" b="0" i="0">
                <a:solidFill>
                  <a:srgbClr val="475569"/>
                </a:solidFill>
                <a:latin typeface="Calibri"/>
              </a:rPr>
              <a:t>Nền tảng: Blynk IoT (App di động + Web Dashboard)</a:t>
            </a:r>
          </a:p>
        </p:txBody>
      </p:sp>
      <p:sp>
        <p:nvSpPr>
          <p:cNvPr id="14" name="Rounded Rectangle 13"/>
          <p:cNvSpPr/>
          <p:nvPr/>
        </p:nvSpPr>
        <p:spPr>
          <a:xfrm>
            <a:off x="6720840" y="685800"/>
            <a:ext cx="2468880" cy="502920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03136" y="832104"/>
            <a:ext cx="2304288" cy="4736592"/>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03136" y="832104"/>
            <a:ext cx="2304288" cy="365760"/>
          </a:xfrm>
          <a:prstGeom prst="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FFFFFF"/>
                </a:solidFill>
                <a:latin typeface="Calibri"/>
              </a:rPr>
              <a:t>B9 App</a:t>
            </a:r>
          </a:p>
        </p:txBody>
      </p:sp>
      <p:sp>
        <p:nvSpPr>
          <p:cNvPr id="17" name="Rounded Rectangle 16"/>
          <p:cNvSpPr/>
          <p:nvPr/>
        </p:nvSpPr>
        <p:spPr>
          <a:xfrm>
            <a:off x="6876288" y="1271016"/>
            <a:ext cx="1042416"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55180" y="1362456"/>
            <a:ext cx="484632" cy="484632"/>
          </a:xfrm>
          <a:prstGeom prst="ellipse">
            <a:avLst/>
          </a:prstGeom>
          <a:solidFill>
            <a:srgbClr val="CFF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10B981"/>
                </a:solidFill>
                <a:latin typeface="Calibri"/>
              </a:rPr>
              <a:t>380</a:t>
            </a:r>
          </a:p>
        </p:txBody>
      </p:sp>
      <p:sp>
        <p:nvSpPr>
          <p:cNvPr id="19" name="TextBox 18"/>
          <p:cNvSpPr txBox="1"/>
          <p:nvPr/>
        </p:nvSpPr>
        <p:spPr>
          <a:xfrm>
            <a:off x="6967727" y="1883663"/>
            <a:ext cx="859536" cy="219456"/>
          </a:xfrm>
          <a:prstGeom prst="rect">
            <a:avLst/>
          </a:prstGeom>
          <a:noFill/>
        </p:spPr>
        <p:txBody>
          <a:bodyPr wrap="square">
            <a:spAutoFit/>
          </a:bodyPr>
          <a:lstStyle/>
          <a:p>
            <a:pPr algn="ctr"/>
            <a:r>
              <a:rPr sz="850" b="0" i="0">
                <a:solidFill>
                  <a:srgbClr val="475569"/>
                </a:solidFill>
                <a:latin typeface="Calibri"/>
              </a:rPr>
              <a:t>Độ ẩm đất</a:t>
            </a:r>
          </a:p>
        </p:txBody>
      </p:sp>
      <p:sp>
        <p:nvSpPr>
          <p:cNvPr id="20" name="Rounded Rectangle 19"/>
          <p:cNvSpPr/>
          <p:nvPr/>
        </p:nvSpPr>
        <p:spPr>
          <a:xfrm>
            <a:off x="7991856" y="1271016"/>
            <a:ext cx="1042416"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94192" y="1399032"/>
            <a:ext cx="237744" cy="23774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6" y="1691640"/>
            <a:ext cx="859536" cy="237744"/>
          </a:xfrm>
          <a:prstGeom prst="rect">
            <a:avLst/>
          </a:prstGeom>
          <a:noFill/>
        </p:spPr>
        <p:txBody>
          <a:bodyPr wrap="square">
            <a:spAutoFit/>
          </a:bodyPr>
          <a:lstStyle/>
          <a:p>
            <a:pPr algn="ctr"/>
            <a:r>
              <a:rPr sz="900" b="1" i="0">
                <a:solidFill>
                  <a:srgbClr val="3B82F6"/>
                </a:solidFill>
                <a:latin typeface="Calibri"/>
              </a:rPr>
              <a:t>BẬT</a:t>
            </a:r>
          </a:p>
        </p:txBody>
      </p:sp>
      <p:sp>
        <p:nvSpPr>
          <p:cNvPr id="23" name="TextBox 22"/>
          <p:cNvSpPr txBox="1"/>
          <p:nvPr/>
        </p:nvSpPr>
        <p:spPr>
          <a:xfrm>
            <a:off x="8083296" y="1901952"/>
            <a:ext cx="859536" cy="219456"/>
          </a:xfrm>
          <a:prstGeom prst="rect">
            <a:avLst/>
          </a:prstGeom>
          <a:noFill/>
        </p:spPr>
        <p:txBody>
          <a:bodyPr wrap="square">
            <a:spAutoFit/>
          </a:bodyPr>
          <a:lstStyle/>
          <a:p>
            <a:pPr algn="ctr"/>
            <a:r>
              <a:rPr sz="850" b="0" i="0">
                <a:solidFill>
                  <a:srgbClr val="475569"/>
                </a:solidFill>
                <a:latin typeface="Calibri"/>
              </a:rPr>
              <a:t>Bơm đang chạy</a:t>
            </a:r>
          </a:p>
        </p:txBody>
      </p:sp>
      <p:sp>
        <p:nvSpPr>
          <p:cNvPr id="24" name="Rounded Rectangle 23"/>
          <p:cNvSpPr/>
          <p:nvPr/>
        </p:nvSpPr>
        <p:spPr>
          <a:xfrm>
            <a:off x="6876288" y="2212848"/>
            <a:ext cx="1042416"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68896" y="2359152"/>
            <a:ext cx="457200" cy="219456"/>
          </a:xfrm>
          <a:prstGeom prst="roundRect">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196328" y="238658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7727" y="2651760"/>
            <a:ext cx="859536" cy="219456"/>
          </a:xfrm>
          <a:prstGeom prst="rect">
            <a:avLst/>
          </a:prstGeom>
          <a:noFill/>
        </p:spPr>
        <p:txBody>
          <a:bodyPr wrap="square">
            <a:spAutoFit/>
          </a:bodyPr>
          <a:lstStyle/>
          <a:p>
            <a:pPr algn="ctr"/>
            <a:r>
              <a:rPr sz="850" b="0" i="0">
                <a:solidFill>
                  <a:srgbClr val="475569"/>
                </a:solidFill>
                <a:latin typeface="Calibri"/>
              </a:rPr>
              <a:t>Bật/Tắt thủ công</a:t>
            </a:r>
          </a:p>
        </p:txBody>
      </p:sp>
      <p:sp>
        <p:nvSpPr>
          <p:cNvPr id="28" name="Rounded Rectangle 27"/>
          <p:cNvSpPr/>
          <p:nvPr/>
        </p:nvSpPr>
        <p:spPr>
          <a:xfrm>
            <a:off x="7991856" y="2212848"/>
            <a:ext cx="1042416"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83296" y="2683764"/>
            <a:ext cx="95504" cy="123443"/>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36102" y="2601468"/>
            <a:ext cx="95504" cy="205739"/>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88908" y="2642616"/>
            <a:ext cx="95504" cy="164592"/>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541715" y="2519172"/>
            <a:ext cx="95504" cy="288035"/>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94521" y="2580894"/>
            <a:ext cx="95504" cy="226314"/>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847328" y="2478024"/>
            <a:ext cx="95504" cy="329184"/>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83296" y="2843784"/>
            <a:ext cx="859536" cy="219456"/>
          </a:xfrm>
          <a:prstGeom prst="rect">
            <a:avLst/>
          </a:prstGeom>
          <a:noFill/>
        </p:spPr>
        <p:txBody>
          <a:bodyPr wrap="square">
            <a:spAutoFit/>
          </a:bodyPr>
          <a:lstStyle/>
          <a:p>
            <a:pPr algn="ctr"/>
            <a:r>
              <a:rPr sz="850" b="0" i="0">
                <a:solidFill>
                  <a:srgbClr val="475569"/>
                </a:solidFill>
                <a:latin typeface="Calibri"/>
              </a:rPr>
              <a:t>Lịch sử độ ẩm đất</a:t>
            </a:r>
          </a:p>
        </p:txBody>
      </p:sp>
      <p:sp>
        <p:nvSpPr>
          <p:cNvPr id="36" name="Rounded Rectangle 35"/>
          <p:cNvSpPr/>
          <p:nvPr/>
        </p:nvSpPr>
        <p:spPr>
          <a:xfrm>
            <a:off x="9372600" y="1280160"/>
            <a:ext cx="2331720" cy="292608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372600" y="1280160"/>
            <a:ext cx="2331720" cy="365760"/>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09760" y="1408176"/>
            <a:ext cx="109728" cy="10972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710928" y="1408176"/>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912096" y="1408176"/>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1335024"/>
            <a:ext cx="1325879" cy="274320"/>
          </a:xfrm>
          <a:prstGeom prst="rect">
            <a:avLst/>
          </a:prstGeom>
          <a:noFill/>
        </p:spPr>
        <p:txBody>
          <a:bodyPr wrap="square">
            <a:spAutoFit/>
          </a:bodyPr>
          <a:lstStyle/>
          <a:p>
            <a:pPr algn="l"/>
            <a:r>
              <a:rPr sz="1000" b="1" i="0">
                <a:solidFill>
                  <a:srgbClr val="475569"/>
                </a:solidFill>
                <a:latin typeface="Calibri"/>
              </a:rPr>
              <a:t>Web Dashboard</a:t>
            </a:r>
          </a:p>
        </p:txBody>
      </p:sp>
      <p:sp>
        <p:nvSpPr>
          <p:cNvPr id="42" name="Rounded Rectangle 41"/>
          <p:cNvSpPr/>
          <p:nvPr/>
        </p:nvSpPr>
        <p:spPr>
          <a:xfrm>
            <a:off x="9646920" y="1874519"/>
            <a:ext cx="178308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54996" y="1965960"/>
            <a:ext cx="566928" cy="566928"/>
          </a:xfrm>
          <a:prstGeom prst="ellipse">
            <a:avLst/>
          </a:prstGeom>
          <a:solidFill>
            <a:srgbClr val="CFF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10B981"/>
                </a:solidFill>
                <a:latin typeface="Calibri"/>
              </a:rPr>
              <a:t>380</a:t>
            </a:r>
          </a:p>
        </p:txBody>
      </p:sp>
      <p:sp>
        <p:nvSpPr>
          <p:cNvPr id="44" name="TextBox 43"/>
          <p:cNvSpPr txBox="1"/>
          <p:nvPr/>
        </p:nvSpPr>
        <p:spPr>
          <a:xfrm>
            <a:off x="9738360" y="2670048"/>
            <a:ext cx="1600200" cy="219456"/>
          </a:xfrm>
          <a:prstGeom prst="rect">
            <a:avLst/>
          </a:prstGeom>
          <a:noFill/>
        </p:spPr>
        <p:txBody>
          <a:bodyPr wrap="square">
            <a:spAutoFit/>
          </a:bodyPr>
          <a:lstStyle/>
          <a:p>
            <a:pPr algn="ctr"/>
            <a:r>
              <a:rPr sz="850" b="0" i="0">
                <a:solidFill>
                  <a:srgbClr val="475569"/>
                </a:solidFill>
                <a:latin typeface="Calibri"/>
              </a:rPr>
              <a:t>Độ ẩm đất</a:t>
            </a:r>
          </a:p>
        </p:txBody>
      </p:sp>
      <p:sp>
        <p:nvSpPr>
          <p:cNvPr id="45" name="Rounded Rectangle 44"/>
          <p:cNvSpPr/>
          <p:nvPr/>
        </p:nvSpPr>
        <p:spPr>
          <a:xfrm>
            <a:off x="9646920" y="3063239"/>
            <a:ext cx="178308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9588" y="3191256"/>
            <a:ext cx="237744" cy="23774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38360" y="3483864"/>
            <a:ext cx="1600200" cy="237744"/>
          </a:xfrm>
          <a:prstGeom prst="rect">
            <a:avLst/>
          </a:prstGeom>
          <a:noFill/>
        </p:spPr>
        <p:txBody>
          <a:bodyPr wrap="square">
            <a:spAutoFit/>
          </a:bodyPr>
          <a:lstStyle/>
          <a:p>
            <a:pPr algn="ctr"/>
            <a:r>
              <a:rPr sz="900" b="1" i="0">
                <a:solidFill>
                  <a:srgbClr val="3B82F6"/>
                </a:solidFill>
                <a:latin typeface="Calibri"/>
              </a:rPr>
              <a:t>BẬT</a:t>
            </a:r>
          </a:p>
        </p:txBody>
      </p:sp>
      <p:sp>
        <p:nvSpPr>
          <p:cNvPr id="48" name="TextBox 47"/>
          <p:cNvSpPr txBox="1"/>
          <p:nvPr/>
        </p:nvSpPr>
        <p:spPr>
          <a:xfrm>
            <a:off x="9738360" y="3877056"/>
            <a:ext cx="1600200" cy="219456"/>
          </a:xfrm>
          <a:prstGeom prst="rect">
            <a:avLst/>
          </a:prstGeom>
          <a:noFill/>
        </p:spPr>
        <p:txBody>
          <a:bodyPr wrap="square">
            <a:spAutoFit/>
          </a:bodyPr>
          <a:lstStyle/>
          <a:p>
            <a:pPr algn="ctr"/>
            <a:r>
              <a:rPr sz="850" b="0" i="0">
                <a:solidFill>
                  <a:srgbClr val="475569"/>
                </a:solidFill>
                <a:latin typeface="Calibri"/>
              </a:rPr>
              <a:t>Trạng thái bơm</a:t>
            </a:r>
          </a:p>
        </p:txBody>
      </p:sp>
      <p:sp>
        <p:nvSpPr>
          <p:cNvPr id="49" name="Rounded Rectangle 48"/>
          <p:cNvSpPr/>
          <p:nvPr/>
        </p:nvSpPr>
        <p:spPr>
          <a:xfrm>
            <a:off x="9646920" y="4251959"/>
            <a:ext cx="178308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738360" y="4850891"/>
            <a:ext cx="177800" cy="178307"/>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022840" y="4732019"/>
            <a:ext cx="177800" cy="297179"/>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307320" y="4791455"/>
            <a:ext cx="177800" cy="237743"/>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591800" y="4613147"/>
            <a:ext cx="177800" cy="416051"/>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876280" y="4702301"/>
            <a:ext cx="177800" cy="326898"/>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1160760" y="4553712"/>
            <a:ext cx="177800" cy="475487"/>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5065775"/>
            <a:ext cx="1600200" cy="219456"/>
          </a:xfrm>
          <a:prstGeom prst="rect">
            <a:avLst/>
          </a:prstGeom>
          <a:noFill/>
        </p:spPr>
        <p:txBody>
          <a:bodyPr wrap="square">
            <a:spAutoFit/>
          </a:bodyPr>
          <a:lstStyle/>
          <a:p>
            <a:pPr algn="ctr"/>
            <a:r>
              <a:rPr sz="850" b="0" i="0">
                <a:solidFill>
                  <a:srgbClr val="475569"/>
                </a:solidFill>
                <a:latin typeface="Calibri"/>
              </a:rPr>
              <a:t>Xu hướng độ ẩm</a:t>
            </a:r>
          </a:p>
        </p:txBody>
      </p:sp>
      <p:sp>
        <p:nvSpPr>
          <p:cNvPr id="57" name="Rounded Rectangle 56"/>
          <p:cNvSpPr/>
          <p:nvPr/>
        </p:nvSpPr>
        <p:spPr>
          <a:xfrm>
            <a:off x="9372600" y="4343400"/>
            <a:ext cx="2331720" cy="1371600"/>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8B5CF6"/>
                </a:solidFill>
                <a:latin typeface="Calibri"/>
              </a:rPr>
              <a:t>B9
↔ B3</a:t>
            </a:r>
          </a:p>
        </p:txBody>
      </p:sp>
      <p:sp>
        <p:nvSpPr>
          <p:cNvPr id="58" name="TextBox 57"/>
          <p:cNvSpPr txBox="1"/>
          <p:nvPr/>
        </p:nvSpPr>
        <p:spPr>
          <a:xfrm>
            <a:off x="6720840" y="6473952"/>
            <a:ext cx="4937760" cy="274320"/>
          </a:xfrm>
          <a:prstGeom prst="rect">
            <a:avLst/>
          </a:prstGeom>
          <a:noFill/>
        </p:spPr>
        <p:txBody>
          <a:bodyPr wrap="square">
            <a:spAutoFit/>
          </a:bodyPr>
          <a:lstStyle/>
          <a:p>
            <a:pPr algn="r"/>
            <a:r>
              <a:rPr sz="800" b="0" i="1">
                <a:solidFill>
                  <a:srgbClr val="94A3B8"/>
                </a:solidFill>
                <a:latin typeface="Calibri"/>
              </a:rPr>
              <a:t>Minh hoạ bố cục giao diện App/Web — thiết kế thực tế tuỳ chỉnh trong Blynk.Console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B9 · MỤC TIÊU BÀI HỌC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Mục tiêu bài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a:t>
            </a:r>
          </a:p>
        </p:txBody>
      </p:sp>
      <p:sp>
        <p:nvSpPr>
          <p:cNvPr id="10" name="Oval 9"/>
          <p:cNvSpPr/>
          <p:nvPr/>
        </p:nvSpPr>
        <p:spPr>
          <a:xfrm>
            <a:off x="548640" y="1417320"/>
            <a:ext cx="530352" cy="530352"/>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FFFFFF"/>
                </a:solidFill>
                <a:latin typeface="Calibri"/>
              </a:rPr>
              <a:t>1</a:t>
            </a:r>
          </a:p>
        </p:txBody>
      </p:sp>
      <p:sp>
        <p:nvSpPr>
          <p:cNvPr id="11" name="TextBox 10"/>
          <p:cNvSpPr txBox="1"/>
          <p:nvPr/>
        </p:nvSpPr>
        <p:spPr>
          <a:xfrm>
            <a:off x="1280160" y="1435608"/>
            <a:ext cx="10332720" cy="731520"/>
          </a:xfrm>
          <a:prstGeom prst="rect">
            <a:avLst/>
          </a:prstGeom>
          <a:noFill/>
        </p:spPr>
        <p:txBody>
          <a:bodyPr wrap="square" anchor="ctr">
            <a:spAutoFit/>
          </a:bodyPr>
          <a:lstStyle/>
          <a:p>
            <a:pPr algn="l">
              <a:lnSpc>
                <a:spcPct val="112000"/>
              </a:lnSpc>
            </a:pPr>
            <a:r>
              <a:rPr sz="1400" b="0" i="0">
                <a:solidFill>
                  <a:srgbClr val="1E293B"/>
                </a:solidFill>
                <a:latin typeface="Calibri"/>
              </a:rPr>
              <a:t>Hiểu và triển khai được luồng điều khiển 2 CHIỀU: App gửi lệnh xuống thiết bị (khác với B7/B8 chỉ 1 chiều thiết bị → App).</a:t>
            </a:r>
          </a:p>
        </p:txBody>
      </p:sp>
      <p:sp>
        <p:nvSpPr>
          <p:cNvPr id="12" name="Oval 11"/>
          <p:cNvSpPr/>
          <p:nvPr/>
        </p:nvSpPr>
        <p:spPr>
          <a:xfrm>
            <a:off x="548640" y="225856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FFFFFF"/>
                </a:solidFill>
                <a:latin typeface="Calibri"/>
              </a:rPr>
              <a:t>2</a:t>
            </a:r>
          </a:p>
        </p:txBody>
      </p:sp>
      <p:sp>
        <p:nvSpPr>
          <p:cNvPr id="13" name="TextBox 12"/>
          <p:cNvSpPr txBox="1"/>
          <p:nvPr/>
        </p:nvSpPr>
        <p:spPr>
          <a:xfrm>
            <a:off x="1280160" y="2276856"/>
            <a:ext cx="10332720" cy="731520"/>
          </a:xfrm>
          <a:prstGeom prst="rect">
            <a:avLst/>
          </a:prstGeom>
          <a:noFill/>
        </p:spPr>
        <p:txBody>
          <a:bodyPr wrap="square" anchor="ctr">
            <a:spAutoFit/>
          </a:bodyPr>
          <a:lstStyle/>
          <a:p>
            <a:pPr algn="l">
              <a:lnSpc>
                <a:spcPct val="112000"/>
              </a:lnSpc>
            </a:pPr>
            <a:r>
              <a:rPr sz="1400" b="0" i="0">
                <a:solidFill>
                  <a:srgbClr val="1E293B"/>
                </a:solidFill>
                <a:latin typeface="Calibri"/>
              </a:rPr>
              <a:t>Sử dụng hàm BLYNK_WRITE() để nhận lệnh điều khiển bơm thủ công từ điện thoại.</a:t>
            </a:r>
          </a:p>
        </p:txBody>
      </p:sp>
      <p:sp>
        <p:nvSpPr>
          <p:cNvPr id="14" name="Oval 13"/>
          <p:cNvSpPr/>
          <p:nvPr/>
        </p:nvSpPr>
        <p:spPr>
          <a:xfrm>
            <a:off x="548640" y="309981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FFFFFF"/>
                </a:solidFill>
                <a:latin typeface="Calibri"/>
              </a:rPr>
              <a:t>3</a:t>
            </a:r>
          </a:p>
        </p:txBody>
      </p:sp>
      <p:sp>
        <p:nvSpPr>
          <p:cNvPr id="15" name="TextBox 14"/>
          <p:cNvSpPr txBox="1"/>
          <p:nvPr/>
        </p:nvSpPr>
        <p:spPr>
          <a:xfrm>
            <a:off x="1280160" y="3118104"/>
            <a:ext cx="10332720" cy="731520"/>
          </a:xfrm>
          <a:prstGeom prst="rect">
            <a:avLst/>
          </a:prstGeom>
          <a:noFill/>
        </p:spPr>
        <p:txBody>
          <a:bodyPr wrap="square" anchor="ctr">
            <a:spAutoFit/>
          </a:bodyPr>
          <a:lstStyle/>
          <a:p>
            <a:pPr algn="l">
              <a:lnSpc>
                <a:spcPct val="112000"/>
              </a:lnSpc>
            </a:pPr>
            <a:r>
              <a:rPr sz="1400" b="0" i="0">
                <a:solidFill>
                  <a:srgbClr val="1E293B"/>
                </a:solidFill>
                <a:latin typeface="Calibri"/>
              </a:rPr>
              <a:t>Thiết kế cơ chế chuyển đổi giữa chế độ Tự động (theo ngưỡng) và chế độ Thủ công (người dùng điều khiển) trên cùng 1 hệ thống.</a:t>
            </a:r>
          </a:p>
        </p:txBody>
      </p:sp>
      <p:sp>
        <p:nvSpPr>
          <p:cNvPr id="16" name="Oval 15"/>
          <p:cNvSpPr/>
          <p:nvPr/>
        </p:nvSpPr>
        <p:spPr>
          <a:xfrm>
            <a:off x="548640" y="3941064"/>
            <a:ext cx="530352" cy="530352"/>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FFFFFF"/>
                </a:solidFill>
                <a:latin typeface="Calibri"/>
              </a:rPr>
              <a:t>4</a:t>
            </a:r>
          </a:p>
        </p:txBody>
      </p:sp>
      <p:sp>
        <p:nvSpPr>
          <p:cNvPr id="17" name="TextBox 16"/>
          <p:cNvSpPr txBox="1"/>
          <p:nvPr/>
        </p:nvSpPr>
        <p:spPr>
          <a:xfrm>
            <a:off x="1280160" y="3959352"/>
            <a:ext cx="10332720" cy="731520"/>
          </a:xfrm>
          <a:prstGeom prst="rect">
            <a:avLst/>
          </a:prstGeom>
          <a:noFill/>
        </p:spPr>
        <p:txBody>
          <a:bodyPr wrap="square" anchor="ctr">
            <a:spAutoFit/>
          </a:bodyPr>
          <a:lstStyle/>
          <a:p>
            <a:pPr algn="l">
              <a:lnSpc>
                <a:spcPct val="112000"/>
              </a:lnSpc>
            </a:pPr>
            <a:r>
              <a:rPr sz="1400" b="0" i="0">
                <a:solidFill>
                  <a:srgbClr val="1E293B"/>
                </a:solidFill>
                <a:latin typeface="Calibri"/>
              </a:rPr>
              <a:t>Cho phép người dùng tự chỉnh ngưỡng bật bơm từ xa bằng Slider, không cần nạp lại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B9 · ÔN LẠI KIẾN THỨC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Nhắc lại hệ thống phần cứng B3</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a:t>
            </a:r>
          </a:p>
        </p:txBody>
      </p:sp>
      <p:sp>
        <p:nvSpPr>
          <p:cNvPr id="10" name="TextBox 9"/>
          <p:cNvSpPr txBox="1"/>
          <p:nvPr/>
        </p:nvSpPr>
        <p:spPr>
          <a:xfrm>
            <a:off x="548640" y="1463040"/>
            <a:ext cx="11064240" cy="2926080"/>
          </a:xfrm>
          <a:prstGeom prst="rect">
            <a:avLst/>
          </a:prstGeom>
          <a:noFill/>
        </p:spPr>
        <p:txBody>
          <a:bodyPr wrap="square">
            <a:spAutoFit/>
          </a:bodyPr>
          <a:lstStyle/>
          <a:p>
            <a:pPr algn="l">
              <a:spcAft>
                <a:spcPts val="1600"/>
              </a:spcAft>
            </a:pPr>
            <a:r>
              <a:rPr sz="1500" b="1">
                <a:solidFill>
                  <a:srgbClr val="3B82F6"/>
                </a:solidFill>
                <a:latin typeface="Calibri"/>
              </a:rPr>
              <a:t>●  </a:t>
            </a:r>
            <a:r>
              <a:rPr sz="1500" b="0">
                <a:solidFill>
                  <a:srgbClr val="1E293B"/>
                </a:solidFill>
                <a:latin typeface="Calibri"/>
              </a:rPr>
              <a:t>Buổi 3 đã xây dựng: cảm biến độ ẩm đất &lt; 400 → tự động bật Relay → Bơm chạy tưới nước.</a:t>
            </a:r>
          </a:p>
          <a:p>
            <a:pPr algn="l">
              <a:spcAft>
                <a:spcPts val="1600"/>
              </a:spcAft>
            </a:pPr>
            <a:r>
              <a:rPr sz="1500" b="1">
                <a:solidFill>
                  <a:srgbClr val="3B82F6"/>
                </a:solidFill>
                <a:latin typeface="Calibri"/>
              </a:rPr>
              <a:t>●  </a:t>
            </a:r>
            <a:r>
              <a:rPr sz="1500" b="0">
                <a:solidFill>
                  <a:srgbClr val="1E293B"/>
                </a:solidFill>
                <a:latin typeface="Calibri"/>
              </a:rPr>
              <a:t>Hạn chế: ngưỡng 400 bị "khoá cứng" trong code — muốn đổi ngưỡng phải nạp lại chương trình; và không thể chủ động bật bơm ngay cả khi đất chưa khô (vd trước khi đi công tác dài ngày).</a:t>
            </a:r>
          </a:p>
          <a:p>
            <a:pPr algn="l">
              <a:spcAft>
                <a:spcPts val="1600"/>
              </a:spcAft>
            </a:pPr>
            <a:r>
              <a:rPr sz="1500" b="1">
                <a:solidFill>
                  <a:srgbClr val="3B82F6"/>
                </a:solidFill>
                <a:latin typeface="Calibri"/>
              </a:rPr>
              <a:t>●  </a:t>
            </a:r>
            <a:r>
              <a:rPr sz="1500" b="0">
                <a:solidFill>
                  <a:srgbClr val="1E293B"/>
                </a:solidFill>
                <a:latin typeface="Calibri"/>
              </a:rPr>
              <a:t>Buổi 9 bổ sung: (1) cho phép bật/tắt bơm thủ công từ xa, (2) cho phép chỉnh ngưỡng từ xa bằng Slider trên App.</a:t>
            </a:r>
          </a:p>
        </p:txBody>
      </p:sp>
      <p:sp>
        <p:nvSpPr>
          <p:cNvPr id="11" name="Rounded Rectangle 10"/>
          <p:cNvSpPr/>
          <p:nvPr/>
        </p:nvSpPr>
        <p:spPr>
          <a:xfrm>
            <a:off x="548640" y="4480560"/>
            <a:ext cx="11064240" cy="1691640"/>
          </a:xfrm>
          <a:prstGeom prst="roundRect">
            <a:avLst/>
          </a:prstGeom>
          <a:solidFill>
            <a:srgbClr val="F3EEFE"/>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45152"/>
            <a:ext cx="10424160" cy="365760"/>
          </a:xfrm>
          <a:prstGeom prst="rect">
            <a:avLst/>
          </a:prstGeom>
          <a:noFill/>
        </p:spPr>
        <p:txBody>
          <a:bodyPr wrap="square">
            <a:spAutoFit/>
          </a:bodyPr>
          <a:lstStyle/>
          <a:p>
            <a:pPr algn="l"/>
            <a:r>
              <a:rPr sz="1300" b="1" i="0">
                <a:solidFill>
                  <a:srgbClr val="8B5CF6"/>
                </a:solidFill>
                <a:latin typeface="Calibri"/>
              </a:rPr>
              <a:t>BÀI B9 SẼ MỞ RỘNG PHẦN NÀO?</a:t>
            </a:r>
          </a:p>
        </p:txBody>
      </p:sp>
      <p:sp>
        <p:nvSpPr>
          <p:cNvPr id="13" name="TextBox 12"/>
          <p:cNvSpPr txBox="1"/>
          <p:nvPr/>
        </p:nvSpPr>
        <p:spPr>
          <a:xfrm>
            <a:off x="822960" y="4992624"/>
            <a:ext cx="10424160" cy="1097280"/>
          </a:xfrm>
          <a:prstGeom prst="rect">
            <a:avLst/>
          </a:prstGeom>
          <a:noFill/>
        </p:spPr>
        <p:txBody>
          <a:bodyPr wrap="square">
            <a:spAutoFit/>
          </a:bodyPr>
          <a:lstStyle/>
          <a:p>
            <a:pPr algn="l">
              <a:lnSpc>
                <a:spcPct val="125000"/>
              </a:lnSpc>
            </a:pPr>
            <a:r>
              <a:rPr sz="1300" b="0" i="0">
                <a:solidFill>
                  <a:srgbClr val="1E293B"/>
                </a:solidFill>
                <a:latin typeface="Calibri"/>
              </a:rPr>
              <a:t>Chỉ bổ sung PHẦN MỀM (thư viện Blynk + WiFi) — toàn bộ sơ đồ đấu dây và logic cảm biến/thiết bị chấp hành đã học ở B3 được giữ nguyên 100%, không cần lắp lại mạch.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B9 · NỀN TẢNG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Blynk IoT là gì?</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3</a:t>
            </a:r>
          </a:p>
        </p:txBody>
      </p:sp>
      <p:sp>
        <p:nvSpPr>
          <p:cNvPr id="10" name="TextBox 9"/>
          <p:cNvSpPr txBox="1"/>
          <p:nvPr/>
        </p:nvSpPr>
        <p:spPr>
          <a:xfrm>
            <a:off x="548640" y="1371600"/>
            <a:ext cx="11064240" cy="4937760"/>
          </a:xfrm>
          <a:prstGeom prst="rect">
            <a:avLst/>
          </a:prstGeom>
          <a:noFill/>
        </p:spPr>
        <p:txBody>
          <a:bodyPr wrap="square">
            <a:spAutoFit/>
          </a:bodyPr>
          <a:lstStyle/>
          <a:p>
            <a:pPr algn="l">
              <a:spcAft>
                <a:spcPts val="1400"/>
              </a:spcAft>
            </a:pPr>
            <a:r>
              <a:rPr sz="1400" b="1">
                <a:solidFill>
                  <a:srgbClr val="8B5CF6"/>
                </a:solidFill>
                <a:latin typeface="Calibri"/>
              </a:rPr>
              <a:t>●  </a:t>
            </a:r>
            <a:r>
              <a:rPr sz="1400" b="0">
                <a:solidFill>
                  <a:srgbClr val="1E293B"/>
                </a:solidFill>
                <a:latin typeface="Calibri"/>
              </a:rPr>
              <a:t>Blynk IoT là nền tảng đám mây (Cloud) chuyên dụng cho thiết bị nhúng — cho phép thiết bị như ESP32-S3 gửi dữ liệu lên và nhận lệnh điều khiển xuống, hiển thị qua ứng dụng di động (iOS/Android) và Web Dashboard mà không cần tự xây server riêng.</a:t>
            </a:r>
          </a:p>
          <a:p>
            <a:pPr algn="l">
              <a:spcAft>
                <a:spcPts val="1400"/>
              </a:spcAft>
            </a:pPr>
            <a:r>
              <a:rPr sz="1400" b="1">
                <a:solidFill>
                  <a:srgbClr val="8B5CF6"/>
                </a:solidFill>
                <a:latin typeface="Calibri"/>
              </a:rPr>
              <a:t>●  </a:t>
            </a:r>
            <a:r>
              <a:rPr sz="1400" b="0">
                <a:solidFill>
                  <a:srgbClr val="1E293B"/>
                </a:solidFill>
                <a:latin typeface="Calibri"/>
              </a:rPr>
              <a:t>Mỗi loại thiết bị được định nghĩa bằng 1 "Template" — gồm Template ID, danh sách Datastream (dữ liệu trao đổi) và cấu hình Widget mặc định.</a:t>
            </a:r>
          </a:p>
          <a:p>
            <a:pPr algn="l">
              <a:spcAft>
                <a:spcPts val="1400"/>
              </a:spcAft>
            </a:pPr>
            <a:r>
              <a:rPr sz="1400" b="1">
                <a:solidFill>
                  <a:srgbClr val="8B5CF6"/>
                </a:solidFill>
                <a:latin typeface="Calibri"/>
              </a:rPr>
              <a:t>●  </a:t>
            </a:r>
            <a:r>
              <a:rPr sz="1400" b="0">
                <a:solidFill>
                  <a:srgbClr val="1E293B"/>
                </a:solidFill>
                <a:latin typeface="Calibri"/>
              </a:rPr>
              <a:t>Datastream (còn gọi là Virtual Pin, ký hiệu V0, V1, V2...) là các "kênh dữ liệu ảo" độc lập với chân GPIO vật lý — dùng để trao đổi bất kỳ loại dữ liệu nào (số, chuỗi, trạng thái) giữa firmware và Cloud.</a:t>
            </a:r>
          </a:p>
          <a:p>
            <a:pPr algn="l">
              <a:spcAft>
                <a:spcPts val="1400"/>
              </a:spcAft>
            </a:pPr>
            <a:r>
              <a:rPr sz="1400" b="1">
                <a:solidFill>
                  <a:srgbClr val="8B5CF6"/>
                </a:solidFill>
                <a:latin typeface="Calibri"/>
              </a:rPr>
              <a:t>●  </a:t>
            </a:r>
            <a:r>
              <a:rPr sz="1400" b="0">
                <a:solidFill>
                  <a:srgbClr val="1E293B"/>
                </a:solidFill>
                <a:latin typeface="Calibri"/>
              </a:rPr>
              <a:t>Mỗi thiết bị vật lý có 1 Auth Token duy nhất — đóng vai trò như "mật khẩu riêng" xác thực thiết bị đó với đúng tài khoản Cloud của người dùng.</a:t>
            </a:r>
          </a:p>
          <a:p>
            <a:pPr algn="l">
              <a:spcAft>
                <a:spcPts val="1400"/>
              </a:spcAft>
            </a:pPr>
            <a:r>
              <a:rPr sz="1400" b="1">
                <a:solidFill>
                  <a:srgbClr val="8B5CF6"/>
                </a:solidFill>
                <a:latin typeface="Calibri"/>
              </a:rPr>
              <a:t>●  </a:t>
            </a:r>
            <a:r>
              <a:rPr sz="1400" b="0">
                <a:solidFill>
                  <a:srgbClr val="1E293B"/>
                </a:solidFill>
                <a:latin typeface="Calibri"/>
              </a:rPr>
              <a:t>Firmware giao tiếp với Cloud qua 2 chiều: Blynk.virtualWrite(V_pin, value) để GỬI dữ liệu lên App/Web; hàm BLYNK_WRITE(V_pin) để NHẬN lệnh điều khiển từ App/Web gửi xuống.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06B6D4"/>
                </a:solidFill>
                <a:latin typeface="Calibri"/>
              </a:rPr>
              <a:t>B9 · KIẾN TRÚC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Kiến trúc kết nối Board — Cloud — App/Web</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4</a:t>
            </a:r>
          </a:p>
        </p:txBody>
      </p:sp>
      <p:sp>
        <p:nvSpPr>
          <p:cNvPr id="10" name="Rounded Rectangle 9"/>
          <p:cNvSpPr/>
          <p:nvPr/>
        </p:nvSpPr>
        <p:spPr>
          <a:xfrm>
            <a:off x="548640" y="1645920"/>
            <a:ext cx="2423160" cy="1188720"/>
          </a:xfrm>
          <a:prstGeom prst="roundRect">
            <a:avLst/>
          </a:prstGeom>
          <a:solidFill>
            <a:srgbClr val="FFFFFF"/>
          </a:solid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ESP32-S3
(B3)</a:t>
            </a:r>
          </a:p>
        </p:txBody>
      </p:sp>
      <p:sp>
        <p:nvSpPr>
          <p:cNvPr id="11" name="Rectangle 10"/>
          <p:cNvSpPr/>
          <p:nvPr/>
        </p:nvSpPr>
        <p:spPr>
          <a:xfrm>
            <a:off x="548640" y="1645920"/>
            <a:ext cx="24231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3040380" y="2075688"/>
            <a:ext cx="320040" cy="329184"/>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29000" y="1645920"/>
            <a:ext cx="2423160" cy="1188720"/>
          </a:xfrm>
          <a:prstGeom prst="roundRect">
            <a:avLst/>
          </a:prstGeom>
          <a:solidFill>
            <a:srgbClr val="FFFFFF"/>
          </a:solidFill>
          <a:ln w="285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Kết nối WiFi
(Internet)</a:t>
            </a:r>
          </a:p>
        </p:txBody>
      </p:sp>
      <p:sp>
        <p:nvSpPr>
          <p:cNvPr id="14" name="Rectangle 13"/>
          <p:cNvSpPr/>
          <p:nvPr/>
        </p:nvSpPr>
        <p:spPr>
          <a:xfrm>
            <a:off x="3429000" y="1645920"/>
            <a:ext cx="2423160"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920740" y="2075688"/>
            <a:ext cx="320040" cy="329184"/>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9359" y="1645920"/>
            <a:ext cx="2423160" cy="1188720"/>
          </a:xfrm>
          <a:prstGeom prst="roundRect">
            <a:avLst/>
          </a:prstGeom>
          <a:solidFill>
            <a:srgbClr val="FFFFFF"/>
          </a:solid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Blynk Cloud
(Datastream)</a:t>
            </a:r>
          </a:p>
        </p:txBody>
      </p:sp>
      <p:sp>
        <p:nvSpPr>
          <p:cNvPr id="17" name="Rectangle 16"/>
          <p:cNvSpPr/>
          <p:nvPr/>
        </p:nvSpPr>
        <p:spPr>
          <a:xfrm>
            <a:off x="6309359" y="1645920"/>
            <a:ext cx="24231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801099" y="2075688"/>
            <a:ext cx="320040" cy="329184"/>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89719" y="1645920"/>
            <a:ext cx="2423160" cy="1188720"/>
          </a:xfrm>
          <a:prstGeom prst="roundRect">
            <a:avLst/>
          </a:prstGeom>
          <a:solidFill>
            <a:srgbClr val="FFFFFF"/>
          </a:solidFill>
          <a:ln w="285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App di động &amp;
Web Dashboard</a:t>
            </a:r>
          </a:p>
        </p:txBody>
      </p:sp>
      <p:sp>
        <p:nvSpPr>
          <p:cNvPr id="20" name="Rectangle 19"/>
          <p:cNvSpPr/>
          <p:nvPr/>
        </p:nvSpPr>
        <p:spPr>
          <a:xfrm>
            <a:off x="9189719" y="1645920"/>
            <a:ext cx="2423160" cy="10972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063240"/>
            <a:ext cx="11064240" cy="777240"/>
          </a:xfrm>
          <a:prstGeom prst="rect">
            <a:avLst/>
          </a:prstGeom>
          <a:noFill/>
        </p:spPr>
        <p:txBody>
          <a:bodyPr wrap="square">
            <a:spAutoFit/>
          </a:bodyPr>
          <a:lstStyle/>
          <a:p>
            <a:pPr algn="l">
              <a:lnSpc>
                <a:spcPct val="125000"/>
              </a:lnSpc>
            </a:pPr>
            <a:r>
              <a:rPr sz="1300" b="0" i="1">
                <a:solidFill>
                  <a:srgbClr val="475569"/>
                </a:solidFill>
                <a:latin typeface="Calibri"/>
              </a:rPr>
              <a:t>Dữ liệu đi 2 CHIỀU qua Blynk Cloud: (1) Cảm biến → Board → Cloud → App/Web (giám sát), và (2) App/Web → Cloud → Board → Thiết bị chấp hành (điều khiển ngược lại, nếu bài có Switch/Slider).</a:t>
            </a:r>
          </a:p>
        </p:txBody>
      </p:sp>
      <p:sp>
        <p:nvSpPr>
          <p:cNvPr id="22" name="Rounded Rectangle 21"/>
          <p:cNvSpPr/>
          <p:nvPr/>
        </p:nvSpPr>
        <p:spPr>
          <a:xfrm>
            <a:off x="548640" y="3977639"/>
            <a:ext cx="11064240" cy="233172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133087"/>
            <a:ext cx="10515600" cy="320040"/>
          </a:xfrm>
          <a:prstGeom prst="rect">
            <a:avLst/>
          </a:prstGeom>
          <a:noFill/>
        </p:spPr>
        <p:txBody>
          <a:bodyPr wrap="square">
            <a:spAutoFit/>
          </a:bodyPr>
          <a:lstStyle/>
          <a:p>
            <a:pPr algn="l"/>
            <a:r>
              <a:rPr sz="1300" b="1" i="0">
                <a:solidFill>
                  <a:srgbClr val="1E293B"/>
                </a:solidFill>
                <a:latin typeface="Calibri"/>
              </a:rPr>
              <a:t>Vận dụng cụ thể cho bài B9:</a:t>
            </a:r>
          </a:p>
        </p:txBody>
      </p:sp>
      <p:sp>
        <p:nvSpPr>
          <p:cNvPr id="24" name="TextBox 23"/>
          <p:cNvSpPr txBox="1"/>
          <p:nvPr/>
        </p:nvSpPr>
        <p:spPr>
          <a:xfrm>
            <a:off x="777240" y="4498848"/>
            <a:ext cx="10515600" cy="1737360"/>
          </a:xfrm>
          <a:prstGeom prst="rect">
            <a:avLst/>
          </a:prstGeom>
          <a:noFill/>
        </p:spPr>
        <p:txBody>
          <a:bodyPr wrap="square">
            <a:spAutoFit/>
          </a:bodyPr>
          <a:lstStyle/>
          <a:p>
            <a:pPr algn="l">
              <a:spcAft>
                <a:spcPts val="600"/>
              </a:spcAft>
            </a:pPr>
            <a:r>
              <a:rPr sz="1200" b="1">
                <a:solidFill>
                  <a:srgbClr val="06B6D4"/>
                </a:solidFill>
                <a:latin typeface="Calibri"/>
              </a:rPr>
              <a:t>●  </a:t>
            </a:r>
            <a:r>
              <a:rPr sz="1200" b="0">
                <a:solidFill>
                  <a:srgbClr val="475569"/>
                </a:solidFill>
                <a:latin typeface="Calibri"/>
              </a:rPr>
              <a:t>Độ ẩm đất</a:t>
            </a:r>
          </a:p>
          <a:p>
            <a:pPr algn="l">
              <a:spcAft>
                <a:spcPts val="600"/>
              </a:spcAft>
            </a:pPr>
            <a:r>
              <a:rPr sz="1200" b="1">
                <a:solidFill>
                  <a:srgbClr val="06B6D4"/>
                </a:solidFill>
                <a:latin typeface="Calibri"/>
              </a:rPr>
              <a:t>●  </a:t>
            </a:r>
            <a:r>
              <a:rPr sz="1200" b="0">
                <a:solidFill>
                  <a:srgbClr val="475569"/>
                </a:solidFill>
                <a:latin typeface="Calibri"/>
              </a:rPr>
              <a:t>Trạng thái bơm hiện tại</a:t>
            </a:r>
          </a:p>
          <a:p>
            <a:pPr algn="l">
              <a:spcAft>
                <a:spcPts val="600"/>
              </a:spcAft>
            </a:pPr>
            <a:r>
              <a:rPr sz="1200" b="1">
                <a:solidFill>
                  <a:srgbClr val="06B6D4"/>
                </a:solidFill>
                <a:latin typeface="Calibri"/>
              </a:rPr>
              <a:t>●  </a:t>
            </a:r>
            <a:r>
              <a:rPr sz="1200" b="0">
                <a:solidFill>
                  <a:srgbClr val="475569"/>
                </a:solidFill>
                <a:latin typeface="Calibri"/>
              </a:rPr>
              <a:t>Công tắc điều khiển bơm thủ công</a:t>
            </a:r>
          </a:p>
          <a:p>
            <a:pPr algn="l">
              <a:spcAft>
                <a:spcPts val="600"/>
              </a:spcAft>
            </a:pPr>
            <a:r>
              <a:rPr sz="1200" b="1">
                <a:solidFill>
                  <a:srgbClr val="06B6D4"/>
                </a:solidFill>
                <a:latin typeface="Calibri"/>
              </a:rPr>
              <a:t>●  </a:t>
            </a:r>
            <a:r>
              <a:rPr sz="1200" b="0">
                <a:solidFill>
                  <a:srgbClr val="475569"/>
                </a:solidFill>
                <a:latin typeface="Calibri"/>
              </a:rPr>
              <a:t>Ngưỡng bật bơm tự động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B9 · CẤU HÌNH CLOUD</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Bảng ánh xạ Datastream (Virtual Pin)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5</a:t>
            </a:r>
          </a:p>
        </p:txBody>
      </p:sp>
      <p:graphicFrame>
        <p:nvGraphicFramePr>
          <p:cNvPr id="10" name="Table 9"/>
          <p:cNvGraphicFramePr>
            <a:graphicFrameLocks noGrp="1"/>
          </p:cNvGraphicFramePr>
          <p:nvPr/>
        </p:nvGraphicFramePr>
        <p:xfrm>
          <a:off x="548640" y="1463040"/>
          <a:ext cx="11064238" cy="2907791"/>
        </p:xfrm>
        <a:graphic>
          <a:graphicData uri="http://schemas.openxmlformats.org/drawingml/2006/table">
            <a:tbl>
              <a:tblPr>
                <a:tableStyleId>{5C22544A-7EE6-4342-B048-85BDC9FD1C3A}</a:tableStyleId>
              </a:tblPr>
              <a:tblGrid>
                <a:gridCol w="1539372"/>
                <a:gridCol w="3656009"/>
                <a:gridCol w="3367377"/>
                <a:gridCol w="2501480"/>
              </a:tblGrid>
              <a:tr h="581558">
                <a:tc>
                  <a:txBody>
                    <a:bodyPr wrap="square"/>
                    <a:lstStyle/>
                    <a:p>
                      <a:pPr algn="ctr"/>
                      <a:r>
                        <a:rPr sz="1300" b="1">
                          <a:solidFill>
                            <a:srgbClr val="FFFFFF"/>
                          </a:solidFill>
                          <a:latin typeface="Calibri"/>
                        </a:rPr>
                        <a:t>Virtual Pin</a:t>
                      </a:r>
                    </a:p>
                  </a:txBody>
                  <a:tcPr marL="73152" marR="73152" marT="36576" marB="36576" anchor="ctr">
                    <a:solidFill>
                      <a:srgbClr val="F59E0B"/>
                    </a:solidFill>
                  </a:tcPr>
                </a:tc>
                <a:tc>
                  <a:txBody>
                    <a:bodyPr wrap="square"/>
                    <a:lstStyle/>
                    <a:p>
                      <a:pPr algn="ctr"/>
                      <a:r>
                        <a:rPr sz="1300" b="1">
                          <a:solidFill>
                            <a:srgbClr val="FFFFFF"/>
                          </a:solidFill>
                          <a:latin typeface="Calibri"/>
                        </a:rPr>
                        <a:t>Ý nghĩa dữ liệu</a:t>
                      </a:r>
                    </a:p>
                  </a:txBody>
                  <a:tcPr marL="73152" marR="73152" marT="36576" marB="36576" anchor="ctr">
                    <a:solidFill>
                      <a:srgbClr val="F59E0B"/>
                    </a:solidFill>
                  </a:tcPr>
                </a:tc>
                <a:tc>
                  <a:txBody>
                    <a:bodyPr wrap="square"/>
                    <a:lstStyle/>
                    <a:p>
                      <a:pPr algn="ctr"/>
                      <a:r>
                        <a:rPr sz="1300" b="1">
                          <a:solidFill>
                            <a:srgbClr val="FFFFFF"/>
                          </a:solidFill>
                          <a:latin typeface="Calibri"/>
                        </a:rPr>
                        <a:t>Kiểu dữ liệu / Đơn vị</a:t>
                      </a:r>
                    </a:p>
                  </a:txBody>
                  <a:tcPr marL="73152" marR="73152" marT="36576" marB="36576" anchor="ctr">
                    <a:solidFill>
                      <a:srgbClr val="F59E0B"/>
                    </a:solidFill>
                  </a:tcPr>
                </a:tc>
                <a:tc>
                  <a:txBody>
                    <a:bodyPr wrap="square"/>
                    <a:lstStyle/>
                    <a:p>
                      <a:pPr algn="ctr"/>
                      <a:r>
                        <a:rPr sz="1300" b="1">
                          <a:solidFill>
                            <a:srgbClr val="FFFFFF"/>
                          </a:solidFill>
                          <a:latin typeface="Calibri"/>
                        </a:rPr>
                        <a:t>Widget đề xuất</a:t>
                      </a:r>
                    </a:p>
                  </a:txBody>
                  <a:tcPr marL="73152" marR="73152" marT="36576" marB="36576" anchor="ctr">
                    <a:solidFill>
                      <a:srgbClr val="F59E0B"/>
                    </a:solidFill>
                  </a:tcPr>
                </a:tc>
              </a:tr>
              <a:tr h="581558">
                <a:tc>
                  <a:txBody>
                    <a:bodyPr wrap="square"/>
                    <a:lstStyle/>
                    <a:p>
                      <a:pPr algn="l"/>
                      <a:r>
                        <a:rPr sz="1200" b="0">
                          <a:solidFill>
                            <a:srgbClr val="1E293B"/>
                          </a:solidFill>
                          <a:latin typeface="Calibri"/>
                        </a:rPr>
                        <a:t>V0</a:t>
                      </a:r>
                    </a:p>
                  </a:txBody>
                  <a:tcPr marL="73152" marR="73152" marT="36576" marB="36576" anchor="ctr">
                    <a:solidFill>
                      <a:srgbClr val="FFFFFF"/>
                    </a:solidFill>
                  </a:tcPr>
                </a:tc>
                <a:tc>
                  <a:txBody>
                    <a:bodyPr wrap="square"/>
                    <a:lstStyle/>
                    <a:p>
                      <a:pPr algn="l"/>
                      <a:r>
                        <a:rPr sz="1200" b="0">
                          <a:solidFill>
                            <a:srgbClr val="1E293B"/>
                          </a:solidFill>
                          <a:latin typeface="Calibri"/>
                        </a:rPr>
                        <a:t>Độ ẩm đất</a:t>
                      </a:r>
                    </a:p>
                  </a:txBody>
                  <a:tcPr marL="73152" marR="73152" marT="36576" marB="36576" anchor="ctr">
                    <a:solidFill>
                      <a:srgbClr val="FFFFFF"/>
                    </a:solidFill>
                  </a:tcPr>
                </a:tc>
                <a:tc>
                  <a:txBody>
                    <a:bodyPr wrap="square"/>
                    <a:lstStyle/>
                    <a:p>
                      <a:pPr algn="l"/>
                      <a:r>
                        <a:rPr sz="1200" b="0">
                          <a:solidFill>
                            <a:srgbClr val="1E293B"/>
                          </a:solidFill>
                          <a:latin typeface="Calibri"/>
                        </a:rPr>
                        <a:t>Integer, ADC (0-1023)</a:t>
                      </a:r>
                    </a:p>
                  </a:txBody>
                  <a:tcPr marL="73152" marR="73152" marT="36576" marB="36576" anchor="ctr">
                    <a:solidFill>
                      <a:srgbClr val="FFFFFF"/>
                    </a:solidFill>
                  </a:tcPr>
                </a:tc>
                <a:tc>
                  <a:txBody>
                    <a:bodyPr wrap="square"/>
                    <a:lstStyle/>
                    <a:p>
                      <a:pPr algn="l"/>
                      <a:r>
                        <a:rPr sz="1200" b="0">
                          <a:solidFill>
                            <a:srgbClr val="1E293B"/>
                          </a:solidFill>
                          <a:latin typeface="Calibri"/>
                        </a:rPr>
                        <a:t>Gauge</a:t>
                      </a:r>
                    </a:p>
                  </a:txBody>
                  <a:tcPr marL="73152" marR="73152" marT="36576" marB="36576" anchor="ctr">
                    <a:solidFill>
                      <a:srgbClr val="FFFFFF"/>
                    </a:solidFill>
                  </a:tcPr>
                </a:tc>
              </a:tr>
              <a:tr h="581558">
                <a:tc>
                  <a:txBody>
                    <a:bodyPr wrap="square"/>
                    <a:lstStyle/>
                    <a:p>
                      <a:pPr algn="l"/>
                      <a:r>
                        <a:rPr sz="1200" b="0">
                          <a:solidFill>
                            <a:srgbClr val="1E293B"/>
                          </a:solidFill>
                          <a:latin typeface="Calibri"/>
                        </a:rPr>
                        <a:t>V1</a:t>
                      </a:r>
                    </a:p>
                  </a:txBody>
                  <a:tcPr marL="73152" marR="73152" marT="36576" marB="36576" anchor="ctr">
                    <a:solidFill>
                      <a:srgbClr val="F6F8F9"/>
                    </a:solidFill>
                  </a:tcPr>
                </a:tc>
                <a:tc>
                  <a:txBody>
                    <a:bodyPr wrap="square"/>
                    <a:lstStyle/>
                    <a:p>
                      <a:pPr algn="l"/>
                      <a:r>
                        <a:rPr sz="1200" b="0">
                          <a:solidFill>
                            <a:srgbClr val="1E293B"/>
                          </a:solidFill>
                          <a:latin typeface="Calibri"/>
                        </a:rPr>
                        <a:t>Trạng thái bơm hiện tại</a:t>
                      </a:r>
                    </a:p>
                  </a:txBody>
                  <a:tcPr marL="73152" marR="73152" marT="36576" marB="36576" anchor="ctr">
                    <a:solidFill>
                      <a:srgbClr val="F6F8F9"/>
                    </a:solidFill>
                  </a:tcPr>
                </a:tc>
                <a:tc>
                  <a:txBody>
                    <a:bodyPr wrap="square"/>
                    <a:lstStyle/>
                    <a:p>
                      <a:pPr algn="l"/>
                      <a:r>
                        <a:rPr sz="1200" b="0">
                          <a:solidFill>
                            <a:srgbClr val="1E293B"/>
                          </a:solidFill>
                          <a:latin typeface="Calibri"/>
                        </a:rPr>
                        <a:t>Integer, 0/1 (chỉ đọc)</a:t>
                      </a:r>
                    </a:p>
                  </a:txBody>
                  <a:tcPr marL="73152" marR="73152" marT="36576" marB="36576" anchor="ctr">
                    <a:solidFill>
                      <a:srgbClr val="F6F8F9"/>
                    </a:solidFill>
                  </a:tcPr>
                </a:tc>
                <a:tc>
                  <a:txBody>
                    <a:bodyPr wrap="square"/>
                    <a:lstStyle/>
                    <a:p>
                      <a:pPr algn="l"/>
                      <a:r>
                        <a:rPr sz="1200" b="0">
                          <a:solidFill>
                            <a:srgbClr val="1E293B"/>
                          </a:solidFill>
                          <a:latin typeface="Calibri"/>
                        </a:rPr>
                        <a:t>LED</a:t>
                      </a:r>
                    </a:p>
                  </a:txBody>
                  <a:tcPr marL="73152" marR="73152" marT="36576" marB="36576" anchor="ctr">
                    <a:solidFill>
                      <a:srgbClr val="F6F8F9"/>
                    </a:solidFill>
                  </a:tcPr>
                </a:tc>
              </a:tr>
              <a:tr h="581558">
                <a:tc>
                  <a:txBody>
                    <a:bodyPr wrap="square"/>
                    <a:lstStyle/>
                    <a:p>
                      <a:pPr algn="l"/>
                      <a:r>
                        <a:rPr sz="1200" b="0">
                          <a:solidFill>
                            <a:srgbClr val="1E293B"/>
                          </a:solidFill>
                          <a:latin typeface="Calibri"/>
                        </a:rPr>
                        <a:t>V2</a:t>
                      </a:r>
                    </a:p>
                  </a:txBody>
                  <a:tcPr marL="73152" marR="73152" marT="36576" marB="36576" anchor="ctr">
                    <a:solidFill>
                      <a:srgbClr val="FFFFFF"/>
                    </a:solidFill>
                  </a:tcPr>
                </a:tc>
                <a:tc>
                  <a:txBody>
                    <a:bodyPr wrap="square"/>
                    <a:lstStyle/>
                    <a:p>
                      <a:pPr algn="l"/>
                      <a:r>
                        <a:rPr sz="1200" b="0">
                          <a:solidFill>
                            <a:srgbClr val="1E293B"/>
                          </a:solidFill>
                          <a:latin typeface="Calibri"/>
                        </a:rPr>
                        <a:t>Công tắc điều khiển bơm thủ công</a:t>
                      </a:r>
                    </a:p>
                  </a:txBody>
                  <a:tcPr marL="73152" marR="73152" marT="36576" marB="36576" anchor="ctr">
                    <a:solidFill>
                      <a:srgbClr val="FFFFFF"/>
                    </a:solidFill>
                  </a:tcPr>
                </a:tc>
                <a:tc>
                  <a:txBody>
                    <a:bodyPr wrap="square"/>
                    <a:lstStyle/>
                    <a:p>
                      <a:pPr algn="l"/>
                      <a:r>
                        <a:rPr sz="1200" b="0">
                          <a:solidFill>
                            <a:srgbClr val="1E293B"/>
                          </a:solidFill>
                          <a:latin typeface="Calibri"/>
                        </a:rPr>
                        <a:t>Integer, 0/1</a:t>
                      </a:r>
                    </a:p>
                  </a:txBody>
                  <a:tcPr marL="73152" marR="73152" marT="36576" marB="36576" anchor="ctr">
                    <a:solidFill>
                      <a:srgbClr val="FFFFFF"/>
                    </a:solidFill>
                  </a:tcPr>
                </a:tc>
                <a:tc>
                  <a:txBody>
                    <a:bodyPr wrap="square"/>
                    <a:lstStyle/>
                    <a:p>
                      <a:pPr algn="l"/>
                      <a:r>
                        <a:rPr sz="1200" b="0">
                          <a:solidFill>
                            <a:srgbClr val="1E293B"/>
                          </a:solidFill>
                          <a:latin typeface="Calibri"/>
                        </a:rPr>
                        <a:t>Switch (App → Board)</a:t>
                      </a:r>
                    </a:p>
                  </a:txBody>
                  <a:tcPr marL="73152" marR="73152" marT="36576" marB="36576" anchor="ctr">
                    <a:solidFill>
                      <a:srgbClr val="FFFFFF"/>
                    </a:solidFill>
                  </a:tcPr>
                </a:tc>
              </a:tr>
              <a:tr h="581559">
                <a:tc>
                  <a:txBody>
                    <a:bodyPr wrap="square"/>
                    <a:lstStyle/>
                    <a:p>
                      <a:pPr algn="l"/>
                      <a:r>
                        <a:rPr sz="1200" b="0">
                          <a:solidFill>
                            <a:srgbClr val="1E293B"/>
                          </a:solidFill>
                          <a:latin typeface="Calibri"/>
                        </a:rPr>
                        <a:t>V3</a:t>
                      </a:r>
                    </a:p>
                  </a:txBody>
                  <a:tcPr marL="73152" marR="73152" marT="36576" marB="36576" anchor="ctr">
                    <a:solidFill>
                      <a:srgbClr val="F6F8F9"/>
                    </a:solidFill>
                  </a:tcPr>
                </a:tc>
                <a:tc>
                  <a:txBody>
                    <a:bodyPr wrap="square"/>
                    <a:lstStyle/>
                    <a:p>
                      <a:pPr algn="l"/>
                      <a:r>
                        <a:rPr sz="1200" b="0">
                          <a:solidFill>
                            <a:srgbClr val="1E293B"/>
                          </a:solidFill>
                          <a:latin typeface="Calibri"/>
                        </a:rPr>
                        <a:t>Ngưỡng bật bơm tự động</a:t>
                      </a:r>
                    </a:p>
                  </a:txBody>
                  <a:tcPr marL="73152" marR="73152" marT="36576" marB="36576" anchor="ctr">
                    <a:solidFill>
                      <a:srgbClr val="F6F8F9"/>
                    </a:solidFill>
                  </a:tcPr>
                </a:tc>
                <a:tc>
                  <a:txBody>
                    <a:bodyPr wrap="square"/>
                    <a:lstStyle/>
                    <a:p>
                      <a:pPr algn="l"/>
                      <a:r>
                        <a:rPr sz="1200" b="0">
                          <a:solidFill>
                            <a:srgbClr val="1E293B"/>
                          </a:solidFill>
                          <a:latin typeface="Calibri"/>
                        </a:rPr>
                        <a:t>Integer, 0-1023</a:t>
                      </a:r>
                    </a:p>
                  </a:txBody>
                  <a:tcPr marL="73152" marR="73152" marT="36576" marB="36576" anchor="ctr">
                    <a:solidFill>
                      <a:srgbClr val="F6F8F9"/>
                    </a:solidFill>
                  </a:tcPr>
                </a:tc>
                <a:tc>
                  <a:txBody>
                    <a:bodyPr wrap="square"/>
                    <a:lstStyle/>
                    <a:p>
                      <a:pPr algn="l"/>
                      <a:r>
                        <a:rPr sz="1200" b="0">
                          <a:solidFill>
                            <a:srgbClr val="1E293B"/>
                          </a:solidFill>
                          <a:latin typeface="Calibri"/>
                        </a:rPr>
                        <a:t>Slider (App → Board)</a:t>
                      </a:r>
                    </a:p>
                  </a:txBody>
                  <a:tcPr marL="73152" marR="73152" marT="36576" marB="36576" anchor="ctr">
                    <a:solidFill>
                      <a:srgbClr val="F6F8F9"/>
                    </a:solidFill>
                  </a:tcPr>
                </a:tc>
              </a:tr>
            </a:tbl>
          </a:graphicData>
        </a:graphic>
      </p:graphicFrame>
      <p:sp>
        <p:nvSpPr>
          <p:cNvPr id="11" name="TextBox 10"/>
          <p:cNvSpPr txBox="1"/>
          <p:nvPr/>
        </p:nvSpPr>
        <p:spPr>
          <a:xfrm>
            <a:off x="548640" y="4645151"/>
            <a:ext cx="11064240" cy="822960"/>
          </a:xfrm>
          <a:prstGeom prst="rect">
            <a:avLst/>
          </a:prstGeom>
          <a:noFill/>
        </p:spPr>
        <p:txBody>
          <a:bodyPr wrap="square">
            <a:spAutoFit/>
          </a:bodyPr>
          <a:lstStyle/>
          <a:p>
            <a:pPr algn="l">
              <a:lnSpc>
                <a:spcPct val="120000"/>
              </a:lnSpc>
            </a:pPr>
            <a:r>
              <a:rPr sz="1200" b="0" i="1">
                <a:solidFill>
                  <a:srgbClr val="475569"/>
                </a:solidFill>
                <a:latin typeface="Calibri"/>
              </a:rPr>
              <a:t>Datastream được khai báo 1 lần trong Blynk.Console (Template → Datastreams), sau đó firmware chỉ cần gọi đúng số hiệu Virtual Pin (V0, V1...) tương ứng — không cần khai báo lại trong 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C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C4899"/>
                </a:solidFill>
                <a:latin typeface="Calibri"/>
              </a:rPr>
              <a:t>B9 · GIAO DIỆN APP</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Thiết kế giao diện Mobile App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6</a:t>
            </a:r>
          </a:p>
        </p:txBody>
      </p:sp>
      <p:sp>
        <p:nvSpPr>
          <p:cNvPr id="10" name="Rounded Rectangle 9"/>
          <p:cNvSpPr/>
          <p:nvPr/>
        </p:nvSpPr>
        <p:spPr>
          <a:xfrm>
            <a:off x="640080" y="1371600"/>
            <a:ext cx="3108960" cy="507492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5" y="1517904"/>
            <a:ext cx="2944368" cy="4782312"/>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5" y="1517904"/>
            <a:ext cx="2944368" cy="365760"/>
          </a:xfrm>
          <a:prstGeom prst="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FFFFFF"/>
                </a:solidFill>
                <a:latin typeface="Calibri"/>
              </a:rPr>
              <a:t>B9 Dashboard</a:t>
            </a:r>
          </a:p>
        </p:txBody>
      </p:sp>
      <p:sp>
        <p:nvSpPr>
          <p:cNvPr id="13" name="Rounded Rectangle 12"/>
          <p:cNvSpPr/>
          <p:nvPr/>
        </p:nvSpPr>
        <p:spPr>
          <a:xfrm>
            <a:off x="795527" y="1956816"/>
            <a:ext cx="136245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34439" y="2048256"/>
            <a:ext cx="484632" cy="484632"/>
          </a:xfrm>
          <a:prstGeom prst="ellipse">
            <a:avLst/>
          </a:prstGeom>
          <a:solidFill>
            <a:srgbClr val="CFF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10B981"/>
                </a:solidFill>
                <a:latin typeface="Calibri"/>
              </a:rPr>
              <a:t>380</a:t>
            </a:r>
          </a:p>
        </p:txBody>
      </p:sp>
      <p:sp>
        <p:nvSpPr>
          <p:cNvPr id="15" name="TextBox 14"/>
          <p:cNvSpPr txBox="1"/>
          <p:nvPr/>
        </p:nvSpPr>
        <p:spPr>
          <a:xfrm>
            <a:off x="886967" y="2569463"/>
            <a:ext cx="1179575" cy="219456"/>
          </a:xfrm>
          <a:prstGeom prst="rect">
            <a:avLst/>
          </a:prstGeom>
          <a:noFill/>
        </p:spPr>
        <p:txBody>
          <a:bodyPr wrap="square">
            <a:spAutoFit/>
          </a:bodyPr>
          <a:lstStyle/>
          <a:p>
            <a:pPr algn="ctr"/>
            <a:r>
              <a:rPr sz="850" b="0" i="0">
                <a:solidFill>
                  <a:srgbClr val="475569"/>
                </a:solidFill>
                <a:latin typeface="Calibri"/>
              </a:rPr>
              <a:t>Độ ẩm đất</a:t>
            </a:r>
          </a:p>
        </p:txBody>
      </p:sp>
      <p:sp>
        <p:nvSpPr>
          <p:cNvPr id="16" name="Rounded Rectangle 15"/>
          <p:cNvSpPr/>
          <p:nvPr/>
        </p:nvSpPr>
        <p:spPr>
          <a:xfrm>
            <a:off x="2231135" y="1956816"/>
            <a:ext cx="136245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793491" y="2084832"/>
            <a:ext cx="237744" cy="23774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22575" y="2377440"/>
            <a:ext cx="1179575" cy="237744"/>
          </a:xfrm>
          <a:prstGeom prst="rect">
            <a:avLst/>
          </a:prstGeom>
          <a:noFill/>
        </p:spPr>
        <p:txBody>
          <a:bodyPr wrap="square">
            <a:spAutoFit/>
          </a:bodyPr>
          <a:lstStyle/>
          <a:p>
            <a:pPr algn="ctr"/>
            <a:r>
              <a:rPr sz="900" b="1" i="0">
                <a:solidFill>
                  <a:srgbClr val="3B82F6"/>
                </a:solidFill>
                <a:latin typeface="Calibri"/>
              </a:rPr>
              <a:t>BẬT</a:t>
            </a:r>
          </a:p>
        </p:txBody>
      </p:sp>
      <p:sp>
        <p:nvSpPr>
          <p:cNvPr id="19" name="TextBox 18"/>
          <p:cNvSpPr txBox="1"/>
          <p:nvPr/>
        </p:nvSpPr>
        <p:spPr>
          <a:xfrm>
            <a:off x="2322575" y="2587752"/>
            <a:ext cx="1179575" cy="219456"/>
          </a:xfrm>
          <a:prstGeom prst="rect">
            <a:avLst/>
          </a:prstGeom>
          <a:noFill/>
        </p:spPr>
        <p:txBody>
          <a:bodyPr wrap="square">
            <a:spAutoFit/>
          </a:bodyPr>
          <a:lstStyle/>
          <a:p>
            <a:pPr algn="ctr"/>
            <a:r>
              <a:rPr sz="850" b="0" i="0">
                <a:solidFill>
                  <a:srgbClr val="475569"/>
                </a:solidFill>
                <a:latin typeface="Calibri"/>
              </a:rPr>
              <a:t>Bơm đang chạy</a:t>
            </a:r>
          </a:p>
        </p:txBody>
      </p:sp>
      <p:sp>
        <p:nvSpPr>
          <p:cNvPr id="20" name="Rounded Rectangle 19"/>
          <p:cNvSpPr/>
          <p:nvPr/>
        </p:nvSpPr>
        <p:spPr>
          <a:xfrm>
            <a:off x="795527" y="2898648"/>
            <a:ext cx="136245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248155" y="3044952"/>
            <a:ext cx="457200" cy="219456"/>
          </a:xfrm>
          <a:prstGeom prst="roundRect">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75587" y="307238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7" y="3337560"/>
            <a:ext cx="1179575" cy="219456"/>
          </a:xfrm>
          <a:prstGeom prst="rect">
            <a:avLst/>
          </a:prstGeom>
          <a:noFill/>
        </p:spPr>
        <p:txBody>
          <a:bodyPr wrap="square">
            <a:spAutoFit/>
          </a:bodyPr>
          <a:lstStyle/>
          <a:p>
            <a:pPr algn="ctr"/>
            <a:r>
              <a:rPr sz="850" b="0" i="0">
                <a:solidFill>
                  <a:srgbClr val="475569"/>
                </a:solidFill>
                <a:latin typeface="Calibri"/>
              </a:rPr>
              <a:t>Bật/Tắt thủ công</a:t>
            </a:r>
          </a:p>
        </p:txBody>
      </p:sp>
      <p:sp>
        <p:nvSpPr>
          <p:cNvPr id="24" name="Rounded Rectangle 23"/>
          <p:cNvSpPr/>
          <p:nvPr/>
        </p:nvSpPr>
        <p:spPr>
          <a:xfrm>
            <a:off x="2231135" y="2898648"/>
            <a:ext cx="136245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22575" y="3369564"/>
            <a:ext cx="131063" cy="123443"/>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32278" y="3287268"/>
            <a:ext cx="131063" cy="205739"/>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1980" y="3328416"/>
            <a:ext cx="131063" cy="164592"/>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51683" y="3204972"/>
            <a:ext cx="131063" cy="288035"/>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61385" y="3266694"/>
            <a:ext cx="131063" cy="226314"/>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1087" y="3163824"/>
            <a:ext cx="131063" cy="329184"/>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22575" y="3529584"/>
            <a:ext cx="1179575" cy="219456"/>
          </a:xfrm>
          <a:prstGeom prst="rect">
            <a:avLst/>
          </a:prstGeom>
          <a:noFill/>
        </p:spPr>
        <p:txBody>
          <a:bodyPr wrap="square">
            <a:spAutoFit/>
          </a:bodyPr>
          <a:lstStyle/>
          <a:p>
            <a:pPr algn="ctr"/>
            <a:r>
              <a:rPr sz="850" b="0" i="0">
                <a:solidFill>
                  <a:srgbClr val="475569"/>
                </a:solidFill>
                <a:latin typeface="Calibri"/>
              </a:rPr>
              <a:t>Lịch sử độ ẩm đất</a:t>
            </a:r>
          </a:p>
        </p:txBody>
      </p:sp>
      <p:sp>
        <p:nvSpPr>
          <p:cNvPr id="32" name="TextBox 31"/>
          <p:cNvSpPr txBox="1"/>
          <p:nvPr/>
        </p:nvSpPr>
        <p:spPr>
          <a:xfrm>
            <a:off x="4206240" y="1417320"/>
            <a:ext cx="7223760" cy="320040"/>
          </a:xfrm>
          <a:prstGeom prst="rect">
            <a:avLst/>
          </a:prstGeom>
          <a:noFill/>
        </p:spPr>
        <p:txBody>
          <a:bodyPr wrap="square">
            <a:spAutoFit/>
          </a:bodyPr>
          <a:lstStyle/>
          <a:p>
            <a:pPr algn="l"/>
            <a:r>
              <a:rPr sz="1350" b="1" i="0">
                <a:solidFill>
                  <a:srgbClr val="1E293B"/>
                </a:solidFill>
                <a:latin typeface="Calibri"/>
              </a:rPr>
              <a:t>Danh sách Widget sử dụng:</a:t>
            </a:r>
          </a:p>
        </p:txBody>
      </p:sp>
      <p:sp>
        <p:nvSpPr>
          <p:cNvPr id="33" name="Oval 32"/>
          <p:cNvSpPr/>
          <p:nvPr/>
        </p:nvSpPr>
        <p:spPr>
          <a:xfrm>
            <a:off x="4206240" y="1892807"/>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0" y="1874519"/>
            <a:ext cx="6766560" cy="566928"/>
          </a:xfrm>
          <a:prstGeom prst="rect">
            <a:avLst/>
          </a:prstGeom>
          <a:noFill/>
        </p:spPr>
        <p:txBody>
          <a:bodyPr wrap="square" anchor="ctr">
            <a:spAutoFit/>
          </a:bodyPr>
          <a:lstStyle/>
          <a:p>
            <a:pPr algn="l"/>
            <a:r>
              <a:rPr sz="1200" b="0" i="0">
                <a:solidFill>
                  <a:srgbClr val="1E293B"/>
                </a:solidFill>
                <a:latin typeface="Calibri"/>
              </a:rPr>
              <a:t>Gauge (đồng hồ đo) — “Độ ẩm đất”</a:t>
            </a:r>
          </a:p>
        </p:txBody>
      </p:sp>
      <p:sp>
        <p:nvSpPr>
          <p:cNvPr id="35" name="Oval 34"/>
          <p:cNvSpPr/>
          <p:nvPr/>
        </p:nvSpPr>
        <p:spPr>
          <a:xfrm>
            <a:off x="4206240" y="2459736"/>
            <a:ext cx="292608" cy="29260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40" y="2441448"/>
            <a:ext cx="6766560" cy="566928"/>
          </a:xfrm>
          <a:prstGeom prst="rect">
            <a:avLst/>
          </a:prstGeom>
          <a:noFill/>
        </p:spPr>
        <p:txBody>
          <a:bodyPr wrap="square" anchor="ctr">
            <a:spAutoFit/>
          </a:bodyPr>
          <a:lstStyle/>
          <a:p>
            <a:pPr algn="l"/>
            <a:r>
              <a:rPr sz="1200" b="0" i="0">
                <a:solidFill>
                  <a:srgbClr val="1E293B"/>
                </a:solidFill>
                <a:latin typeface="Calibri"/>
              </a:rPr>
              <a:t>LED (đèn trạng thái) — “Bơm đang chạy”</a:t>
            </a:r>
          </a:p>
        </p:txBody>
      </p:sp>
      <p:sp>
        <p:nvSpPr>
          <p:cNvPr id="37" name="Oval 36"/>
          <p:cNvSpPr/>
          <p:nvPr/>
        </p:nvSpPr>
        <p:spPr>
          <a:xfrm>
            <a:off x="4206240" y="3026664"/>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63440" y="3008376"/>
            <a:ext cx="6766560" cy="566928"/>
          </a:xfrm>
          <a:prstGeom prst="rect">
            <a:avLst/>
          </a:prstGeom>
          <a:noFill/>
        </p:spPr>
        <p:txBody>
          <a:bodyPr wrap="square" anchor="ctr">
            <a:spAutoFit/>
          </a:bodyPr>
          <a:lstStyle/>
          <a:p>
            <a:pPr algn="l"/>
            <a:r>
              <a:rPr sz="1200" b="0" i="0">
                <a:solidFill>
                  <a:srgbClr val="1E293B"/>
                </a:solidFill>
                <a:latin typeface="Calibri"/>
              </a:rPr>
              <a:t>Switch (công tắc) — “Bật/Tắt thủ công”</a:t>
            </a:r>
          </a:p>
        </p:txBody>
      </p:sp>
      <p:sp>
        <p:nvSpPr>
          <p:cNvPr id="39" name="Oval 38"/>
          <p:cNvSpPr/>
          <p:nvPr/>
        </p:nvSpPr>
        <p:spPr>
          <a:xfrm>
            <a:off x="4206240" y="3593592"/>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63440" y="3575304"/>
            <a:ext cx="6766560" cy="566928"/>
          </a:xfrm>
          <a:prstGeom prst="rect">
            <a:avLst/>
          </a:prstGeom>
          <a:noFill/>
        </p:spPr>
        <p:txBody>
          <a:bodyPr wrap="square" anchor="ctr">
            <a:spAutoFit/>
          </a:bodyPr>
          <a:lstStyle/>
          <a:p>
            <a:pPr algn="l"/>
            <a:r>
              <a:rPr sz="1200" b="0" i="0">
                <a:solidFill>
                  <a:srgbClr val="1E293B"/>
                </a:solidFill>
                <a:latin typeface="Calibri"/>
              </a:rPr>
              <a:t>SuperChart (biểu đồ) — “Lịch sử độ ẩm đất”</a:t>
            </a:r>
          </a:p>
        </p:txBody>
      </p:sp>
      <p:sp>
        <p:nvSpPr>
          <p:cNvPr id="41" name="Rounded Rectangle 40"/>
          <p:cNvSpPr/>
          <p:nvPr/>
        </p:nvSpPr>
        <p:spPr>
          <a:xfrm>
            <a:off x="4206240" y="4279392"/>
            <a:ext cx="7223760" cy="1051560"/>
          </a:xfrm>
          <a:prstGeom prst="roundRect">
            <a:avLst/>
          </a:prstGeom>
          <a:solidFill>
            <a:srgbClr val="FDECF4"/>
          </a:solidFill>
          <a:ln w="1397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4840" y="4416552"/>
            <a:ext cx="6766560" cy="822960"/>
          </a:xfrm>
          <a:prstGeom prst="rect">
            <a:avLst/>
          </a:prstGeom>
          <a:noFill/>
        </p:spPr>
        <p:txBody>
          <a:bodyPr wrap="square">
            <a:spAutoFit/>
          </a:bodyPr>
          <a:lstStyle/>
          <a:p>
            <a:pPr algn="l">
              <a:lnSpc>
                <a:spcPct val="120000"/>
              </a:lnSpc>
            </a:pPr>
            <a:r>
              <a:rPr sz="1150" b="0" i="1">
                <a:solidFill>
                  <a:srgbClr val="1E293B"/>
                </a:solidFill>
                <a:latin typeface="Calibri"/>
              </a:rPr>
              <a:t>Nguyên tắc thiết kế: đặt Widget quan trọng nhất (cảnh báo, trạng thái) ở vị trí dễ thấy nhất trên màn hình, nhóm các Widget cùng loại cảm biến gần nhau, ưu tiên Gauge/LED cho dữ liệu cần đọc nhanh.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C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6366F1"/>
                </a:solidFill>
                <a:latin typeface="Calibri"/>
              </a:rPr>
              <a:t>B9 · GIAO DIỆN WEB</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Thiết kế Web Dashboard</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7</a:t>
            </a:r>
          </a:p>
        </p:txBody>
      </p:sp>
      <p:sp>
        <p:nvSpPr>
          <p:cNvPr id="10" name="Rounded Rectangle 9"/>
          <p:cNvSpPr/>
          <p:nvPr/>
        </p:nvSpPr>
        <p:spPr>
          <a:xfrm>
            <a:off x="548640" y="1417320"/>
            <a:ext cx="11064240" cy="324612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11064240" cy="365760"/>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1545336"/>
            <a:ext cx="109728" cy="10972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86968" y="1545336"/>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88136" y="1545336"/>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1472184"/>
            <a:ext cx="10058400" cy="274320"/>
          </a:xfrm>
          <a:prstGeom prst="rect">
            <a:avLst/>
          </a:prstGeom>
          <a:noFill/>
        </p:spPr>
        <p:txBody>
          <a:bodyPr wrap="square">
            <a:spAutoFit/>
          </a:bodyPr>
          <a:lstStyle/>
          <a:p>
            <a:pPr algn="l"/>
            <a:r>
              <a:rPr sz="1000" b="1" i="0">
                <a:solidFill>
                  <a:srgbClr val="475569"/>
                </a:solidFill>
                <a:latin typeface="Calibri"/>
              </a:rPr>
              <a:t>blynk.cloud — KMT Smart Irrigation</a:t>
            </a:r>
          </a:p>
        </p:txBody>
      </p:sp>
      <p:sp>
        <p:nvSpPr>
          <p:cNvPr id="16" name="Rounded Rectangle 15"/>
          <p:cNvSpPr/>
          <p:nvPr/>
        </p:nvSpPr>
        <p:spPr>
          <a:xfrm>
            <a:off x="822960" y="2011680"/>
            <a:ext cx="3413759"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246376" y="2103120"/>
            <a:ext cx="566928" cy="566928"/>
          </a:xfrm>
          <a:prstGeom prst="ellipse">
            <a:avLst/>
          </a:prstGeom>
          <a:solidFill>
            <a:srgbClr val="CFF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10B981"/>
                </a:solidFill>
                <a:latin typeface="Calibri"/>
              </a:rPr>
              <a:t>380</a:t>
            </a:r>
          </a:p>
        </p:txBody>
      </p:sp>
      <p:sp>
        <p:nvSpPr>
          <p:cNvPr id="18" name="TextBox 17"/>
          <p:cNvSpPr txBox="1"/>
          <p:nvPr/>
        </p:nvSpPr>
        <p:spPr>
          <a:xfrm>
            <a:off x="914400" y="2807208"/>
            <a:ext cx="3230879" cy="219456"/>
          </a:xfrm>
          <a:prstGeom prst="rect">
            <a:avLst/>
          </a:prstGeom>
          <a:noFill/>
        </p:spPr>
        <p:txBody>
          <a:bodyPr wrap="square">
            <a:spAutoFit/>
          </a:bodyPr>
          <a:lstStyle/>
          <a:p>
            <a:pPr algn="ctr"/>
            <a:r>
              <a:rPr sz="850" b="0" i="0">
                <a:solidFill>
                  <a:srgbClr val="475569"/>
                </a:solidFill>
                <a:latin typeface="Calibri"/>
              </a:rPr>
              <a:t>Độ ẩm đất</a:t>
            </a:r>
          </a:p>
        </p:txBody>
      </p:sp>
      <p:sp>
        <p:nvSpPr>
          <p:cNvPr id="19" name="Rounded Rectangle 18"/>
          <p:cNvSpPr/>
          <p:nvPr/>
        </p:nvSpPr>
        <p:spPr>
          <a:xfrm>
            <a:off x="4373880" y="2011680"/>
            <a:ext cx="3413759"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961888" y="2139696"/>
            <a:ext cx="237744" cy="23774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65320" y="2432304"/>
            <a:ext cx="3230879" cy="237744"/>
          </a:xfrm>
          <a:prstGeom prst="rect">
            <a:avLst/>
          </a:prstGeom>
          <a:noFill/>
        </p:spPr>
        <p:txBody>
          <a:bodyPr wrap="square">
            <a:spAutoFit/>
          </a:bodyPr>
          <a:lstStyle/>
          <a:p>
            <a:pPr algn="ctr"/>
            <a:r>
              <a:rPr sz="900" b="1" i="0">
                <a:solidFill>
                  <a:srgbClr val="3B82F6"/>
                </a:solidFill>
                <a:latin typeface="Calibri"/>
              </a:rPr>
              <a:t>BẬT</a:t>
            </a:r>
          </a:p>
        </p:txBody>
      </p:sp>
      <p:sp>
        <p:nvSpPr>
          <p:cNvPr id="22" name="TextBox 21"/>
          <p:cNvSpPr txBox="1"/>
          <p:nvPr/>
        </p:nvSpPr>
        <p:spPr>
          <a:xfrm>
            <a:off x="4465320" y="2825496"/>
            <a:ext cx="3230879" cy="219456"/>
          </a:xfrm>
          <a:prstGeom prst="rect">
            <a:avLst/>
          </a:prstGeom>
          <a:noFill/>
        </p:spPr>
        <p:txBody>
          <a:bodyPr wrap="square">
            <a:spAutoFit/>
          </a:bodyPr>
          <a:lstStyle/>
          <a:p>
            <a:pPr algn="ctr"/>
            <a:r>
              <a:rPr sz="850" b="0" i="0">
                <a:solidFill>
                  <a:srgbClr val="475569"/>
                </a:solidFill>
                <a:latin typeface="Calibri"/>
              </a:rPr>
              <a:t>Trạng thái bơm</a:t>
            </a:r>
          </a:p>
        </p:txBody>
      </p:sp>
      <p:sp>
        <p:nvSpPr>
          <p:cNvPr id="23" name="Rounded Rectangle 22"/>
          <p:cNvSpPr/>
          <p:nvPr/>
        </p:nvSpPr>
        <p:spPr>
          <a:xfrm>
            <a:off x="7924799" y="2011680"/>
            <a:ext cx="3413759"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6239" y="2610612"/>
            <a:ext cx="358986" cy="178307"/>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90618" y="2491740"/>
            <a:ext cx="358986" cy="297179"/>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64997" y="2551176"/>
            <a:ext cx="358986" cy="237743"/>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39375" y="2372868"/>
            <a:ext cx="358986" cy="416051"/>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313754" y="2462022"/>
            <a:ext cx="358986" cy="326898"/>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888133" y="2313432"/>
            <a:ext cx="358986" cy="475487"/>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6239" y="2825496"/>
            <a:ext cx="3230879" cy="219456"/>
          </a:xfrm>
          <a:prstGeom prst="rect">
            <a:avLst/>
          </a:prstGeom>
          <a:noFill/>
        </p:spPr>
        <p:txBody>
          <a:bodyPr wrap="square">
            <a:spAutoFit/>
          </a:bodyPr>
          <a:lstStyle/>
          <a:p>
            <a:pPr algn="ctr"/>
            <a:r>
              <a:rPr sz="850" b="0" i="0">
                <a:solidFill>
                  <a:srgbClr val="475569"/>
                </a:solidFill>
                <a:latin typeface="Calibri"/>
              </a:rPr>
              <a:t>Xu hướng độ ẩm</a:t>
            </a:r>
          </a:p>
        </p:txBody>
      </p:sp>
      <p:sp>
        <p:nvSpPr>
          <p:cNvPr id="31" name="TextBox 30"/>
          <p:cNvSpPr txBox="1"/>
          <p:nvPr/>
        </p:nvSpPr>
        <p:spPr>
          <a:xfrm>
            <a:off x="548640" y="4892040"/>
            <a:ext cx="11064240" cy="320040"/>
          </a:xfrm>
          <a:prstGeom prst="rect">
            <a:avLst/>
          </a:prstGeom>
          <a:noFill/>
        </p:spPr>
        <p:txBody>
          <a:bodyPr wrap="square">
            <a:spAutoFit/>
          </a:bodyPr>
          <a:lstStyle/>
          <a:p>
            <a:pPr algn="l"/>
            <a:r>
              <a:rPr sz="1350" b="1" i="0">
                <a:solidFill>
                  <a:srgbClr val="1E293B"/>
                </a:solidFill>
                <a:latin typeface="Calibri"/>
              </a:rPr>
              <a:t>Khác biệt so với Mobile App:</a:t>
            </a:r>
          </a:p>
        </p:txBody>
      </p:sp>
      <p:sp>
        <p:nvSpPr>
          <p:cNvPr id="32" name="TextBox 31"/>
          <p:cNvSpPr txBox="1"/>
          <p:nvPr/>
        </p:nvSpPr>
        <p:spPr>
          <a:xfrm>
            <a:off x="548640" y="5257800"/>
            <a:ext cx="11064240" cy="1280160"/>
          </a:xfrm>
          <a:prstGeom prst="rect">
            <a:avLst/>
          </a:prstGeom>
          <a:noFill/>
        </p:spPr>
        <p:txBody>
          <a:bodyPr wrap="square">
            <a:spAutoFit/>
          </a:bodyPr>
          <a:lstStyle/>
          <a:p>
            <a:pPr algn="l">
              <a:spcAft>
                <a:spcPts val="600"/>
              </a:spcAft>
            </a:pPr>
            <a:r>
              <a:rPr sz="1200" b="1">
                <a:solidFill>
                  <a:srgbClr val="6366F1"/>
                </a:solidFill>
                <a:latin typeface="Calibri"/>
              </a:rPr>
              <a:t>●  </a:t>
            </a:r>
            <a:r>
              <a:rPr sz="1200" b="0">
                <a:solidFill>
                  <a:srgbClr val="1E293B"/>
                </a:solidFill>
                <a:latin typeface="Calibri"/>
              </a:rPr>
              <a:t>Web Dashboard phù hợp xem trên màn hình lớn (phòng điều khiển, máy tính bàn) — bố cục nhiều cột hơn App.</a:t>
            </a:r>
          </a:p>
          <a:p>
            <a:pPr algn="l">
              <a:spcAft>
                <a:spcPts val="600"/>
              </a:spcAft>
            </a:pPr>
            <a:r>
              <a:rPr sz="1200" b="1">
                <a:solidFill>
                  <a:srgbClr val="6366F1"/>
                </a:solidFill>
                <a:latin typeface="Calibri"/>
              </a:rPr>
              <a:t>●  </a:t>
            </a:r>
            <a:r>
              <a:rPr sz="1200" b="0">
                <a:solidFill>
                  <a:srgbClr val="1E293B"/>
                </a:solidFill>
                <a:latin typeface="Calibri"/>
              </a:rPr>
              <a:t>Có thể chia sẻ Dashboard cho nhiều người xem (Viewer) mà không cần chia sẻ tài khoản đăng nhập chính.</a:t>
            </a:r>
          </a:p>
          <a:p>
            <a:pPr algn="l">
              <a:spcAft>
                <a:spcPts val="600"/>
              </a:spcAft>
            </a:pPr>
            <a:r>
              <a:rPr sz="1200" b="1">
                <a:solidFill>
                  <a:srgbClr val="6366F1"/>
                </a:solidFill>
                <a:latin typeface="Calibri"/>
              </a:rPr>
              <a:t>●  </a:t>
            </a:r>
            <a:r>
              <a:rPr sz="1200" b="0">
                <a:solidFill>
                  <a:srgbClr val="1E293B"/>
                </a:solidFill>
                <a:latin typeface="Calibri"/>
              </a:rPr>
              <a:t>Truy cập trực tiếp qua trình duyệt tại web.blynk.cloud, không cần cài đặt ứng dụng.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B9 · HƯỚNG DẪN CÀI ĐẶT</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Quy trình cài đặt gồm 3 giai đoạn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8</a:t>
            </a:r>
          </a:p>
        </p:txBody>
      </p:sp>
      <p:sp>
        <p:nvSpPr>
          <p:cNvPr id="10" name="Rounded Rectangle 9"/>
          <p:cNvSpPr/>
          <p:nvPr/>
        </p:nvSpPr>
        <p:spPr>
          <a:xfrm>
            <a:off x="548640" y="1463040"/>
            <a:ext cx="3566160" cy="77724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50" b="1">
                <a:solidFill>
                  <a:srgbClr val="FFFFFF"/>
                </a:solidFill>
                <a:latin typeface="Calibri"/>
              </a:rPr>
              <a:t>GIAI ĐOẠN 1
Thiết lập Cloud (Web)</a:t>
            </a:r>
          </a:p>
        </p:txBody>
      </p:sp>
      <p:sp>
        <p:nvSpPr>
          <p:cNvPr id="11" name="TextBox 10"/>
          <p:cNvSpPr txBox="1"/>
          <p:nvPr/>
        </p:nvSpPr>
        <p:spPr>
          <a:xfrm>
            <a:off x="548640" y="2267712"/>
            <a:ext cx="3566160" cy="274320"/>
          </a:xfrm>
          <a:prstGeom prst="rect">
            <a:avLst/>
          </a:prstGeom>
          <a:noFill/>
        </p:spPr>
        <p:txBody>
          <a:bodyPr wrap="square">
            <a:spAutoFit/>
          </a:bodyPr>
          <a:lstStyle/>
          <a:p>
            <a:pPr algn="ctr"/>
            <a:r>
              <a:rPr sz="1050" b="0" i="1">
                <a:solidFill>
                  <a:srgbClr val="94A3B8"/>
                </a:solidFill>
                <a:latin typeface="Calibri"/>
              </a:rPr>
              <a:t>blynk.cloud</a:t>
            </a:r>
          </a:p>
        </p:txBody>
      </p:sp>
      <p:sp>
        <p:nvSpPr>
          <p:cNvPr id="12" name="Rounded Rectangle 11"/>
          <p:cNvSpPr/>
          <p:nvPr/>
        </p:nvSpPr>
        <p:spPr>
          <a:xfrm>
            <a:off x="548640" y="2606040"/>
            <a:ext cx="3566160" cy="3108960"/>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2816351"/>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2715768"/>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Đăng ký tài khoản Blynk</a:t>
            </a:r>
          </a:p>
        </p:txBody>
      </p:sp>
      <p:sp>
        <p:nvSpPr>
          <p:cNvPr id="15" name="Oval 14"/>
          <p:cNvSpPr/>
          <p:nvPr/>
        </p:nvSpPr>
        <p:spPr>
          <a:xfrm>
            <a:off x="731520" y="3474719"/>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3374135"/>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Tạo Template + Datastream</a:t>
            </a:r>
          </a:p>
        </p:txBody>
      </p:sp>
      <p:sp>
        <p:nvSpPr>
          <p:cNvPr id="17" name="Oval 16"/>
          <p:cNvSpPr/>
          <p:nvPr/>
        </p:nvSpPr>
        <p:spPr>
          <a:xfrm>
            <a:off x="731520" y="4133087"/>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032503"/>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Tạo Device, lấy Auth Token</a:t>
            </a:r>
          </a:p>
        </p:txBody>
      </p:sp>
      <p:sp>
        <p:nvSpPr>
          <p:cNvPr id="19" name="Oval 18"/>
          <p:cNvSpPr/>
          <p:nvPr/>
        </p:nvSpPr>
        <p:spPr>
          <a:xfrm>
            <a:off x="731520" y="4791455"/>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690871"/>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Dựng Web Dashboard</a:t>
            </a:r>
          </a:p>
        </p:txBody>
      </p:sp>
      <p:sp>
        <p:nvSpPr>
          <p:cNvPr id="21" name="Right Arrow 20"/>
          <p:cNvSpPr/>
          <p:nvPr/>
        </p:nvSpPr>
        <p:spPr>
          <a:xfrm>
            <a:off x="4133087" y="2926080"/>
            <a:ext cx="146304"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97679" y="1463040"/>
            <a:ext cx="3566160" cy="77724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50" b="1">
                <a:solidFill>
                  <a:srgbClr val="FFFFFF"/>
                </a:solidFill>
                <a:latin typeface="Calibri"/>
              </a:rPr>
              <a:t>GIAI ĐOẠN 2
Thiết lập App di động</a:t>
            </a:r>
          </a:p>
        </p:txBody>
      </p:sp>
      <p:sp>
        <p:nvSpPr>
          <p:cNvPr id="23" name="TextBox 22"/>
          <p:cNvSpPr txBox="1"/>
          <p:nvPr/>
        </p:nvSpPr>
        <p:spPr>
          <a:xfrm>
            <a:off x="4297679" y="2267712"/>
            <a:ext cx="3566160" cy="274320"/>
          </a:xfrm>
          <a:prstGeom prst="rect">
            <a:avLst/>
          </a:prstGeom>
          <a:noFill/>
        </p:spPr>
        <p:txBody>
          <a:bodyPr wrap="square">
            <a:spAutoFit/>
          </a:bodyPr>
          <a:lstStyle/>
          <a:p>
            <a:pPr algn="ctr"/>
            <a:r>
              <a:rPr sz="1050" b="0" i="1">
                <a:solidFill>
                  <a:srgbClr val="94A3B8"/>
                </a:solidFill>
                <a:latin typeface="Calibri"/>
              </a:rPr>
              <a:t>Blynk IoT App</a:t>
            </a:r>
          </a:p>
        </p:txBody>
      </p:sp>
      <p:sp>
        <p:nvSpPr>
          <p:cNvPr id="24" name="Rounded Rectangle 23"/>
          <p:cNvSpPr/>
          <p:nvPr/>
        </p:nvSpPr>
        <p:spPr>
          <a:xfrm>
            <a:off x="4297679" y="2606040"/>
            <a:ext cx="3566160" cy="3108960"/>
          </a:xfrm>
          <a:prstGeom prst="roundRect">
            <a:avLst/>
          </a:prstGeom>
          <a:solidFill>
            <a:srgbClr val="FFFFFF"/>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480559" y="2816351"/>
            <a:ext cx="146304" cy="14630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36592" y="2715768"/>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Cài đặt Blynk IoT (App Store/Google Play)</a:t>
            </a:r>
          </a:p>
        </p:txBody>
      </p:sp>
      <p:sp>
        <p:nvSpPr>
          <p:cNvPr id="27" name="Oval 26"/>
          <p:cNvSpPr/>
          <p:nvPr/>
        </p:nvSpPr>
        <p:spPr>
          <a:xfrm>
            <a:off x="4480559" y="3474719"/>
            <a:ext cx="146304" cy="14630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36592" y="3374135"/>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Đăng nhập cùng tài khoản Bước 1</a:t>
            </a:r>
          </a:p>
        </p:txBody>
      </p:sp>
      <p:sp>
        <p:nvSpPr>
          <p:cNvPr id="29" name="Oval 28"/>
          <p:cNvSpPr/>
          <p:nvPr/>
        </p:nvSpPr>
        <p:spPr>
          <a:xfrm>
            <a:off x="4480559" y="4133087"/>
            <a:ext cx="146304" cy="14630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36592" y="4032503"/>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Dựng giao diện Mobile Widget</a:t>
            </a:r>
          </a:p>
        </p:txBody>
      </p:sp>
      <p:sp>
        <p:nvSpPr>
          <p:cNvPr id="31" name="Right Arrow 30"/>
          <p:cNvSpPr/>
          <p:nvPr/>
        </p:nvSpPr>
        <p:spPr>
          <a:xfrm>
            <a:off x="7882127" y="2926080"/>
            <a:ext cx="146304"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046719" y="1463040"/>
            <a:ext cx="3566160" cy="77724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50" b="1">
                <a:solidFill>
                  <a:srgbClr val="FFFFFF"/>
                </a:solidFill>
                <a:latin typeface="Calibri"/>
              </a:rPr>
              <a:t>GIAI ĐOẠN 3
Nạp code &amp; Kết nối</a:t>
            </a:r>
          </a:p>
        </p:txBody>
      </p:sp>
      <p:sp>
        <p:nvSpPr>
          <p:cNvPr id="33" name="TextBox 32"/>
          <p:cNvSpPr txBox="1"/>
          <p:nvPr/>
        </p:nvSpPr>
        <p:spPr>
          <a:xfrm>
            <a:off x="8046719" y="2267712"/>
            <a:ext cx="3566160" cy="274320"/>
          </a:xfrm>
          <a:prstGeom prst="rect">
            <a:avLst/>
          </a:prstGeom>
          <a:noFill/>
        </p:spPr>
        <p:txBody>
          <a:bodyPr wrap="square">
            <a:spAutoFit/>
          </a:bodyPr>
          <a:lstStyle/>
          <a:p>
            <a:pPr algn="ctr"/>
            <a:r>
              <a:rPr sz="1050" b="0" i="1">
                <a:solidFill>
                  <a:srgbClr val="94A3B8"/>
                </a:solidFill>
                <a:latin typeface="Calibri"/>
              </a:rPr>
              <a:t>Arduino IDE</a:t>
            </a:r>
          </a:p>
        </p:txBody>
      </p:sp>
      <p:sp>
        <p:nvSpPr>
          <p:cNvPr id="34" name="Rounded Rectangle 33"/>
          <p:cNvSpPr/>
          <p:nvPr/>
        </p:nvSpPr>
        <p:spPr>
          <a:xfrm>
            <a:off x="8046719" y="2606040"/>
            <a:ext cx="3566160" cy="310896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229599" y="281635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85632" y="2715768"/>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Dán Template ID + Auth Token vào code</a:t>
            </a:r>
          </a:p>
        </p:txBody>
      </p:sp>
      <p:sp>
        <p:nvSpPr>
          <p:cNvPr id="37" name="Oval 36"/>
          <p:cNvSpPr/>
          <p:nvPr/>
        </p:nvSpPr>
        <p:spPr>
          <a:xfrm>
            <a:off x="8229599" y="3474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85632" y="3374135"/>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Nạp code lên board qua Arduino IDE</a:t>
            </a:r>
          </a:p>
        </p:txBody>
      </p:sp>
      <p:sp>
        <p:nvSpPr>
          <p:cNvPr id="39" name="Oval 38"/>
          <p:cNvSpPr/>
          <p:nvPr/>
        </p:nvSpPr>
        <p:spPr>
          <a:xfrm>
            <a:off x="8229599" y="413308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85632" y="4032503"/>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Kiểm tra trạng thái Online, thử nghiệm</a:t>
            </a:r>
          </a:p>
        </p:txBody>
      </p:sp>
      <p:sp>
        <p:nvSpPr>
          <p:cNvPr id="41" name="TextBox 40"/>
          <p:cNvSpPr txBox="1"/>
          <p:nvPr/>
        </p:nvSpPr>
        <p:spPr>
          <a:xfrm>
            <a:off x="548640" y="5806440"/>
            <a:ext cx="11064240" cy="457200"/>
          </a:xfrm>
          <a:prstGeom prst="rect">
            <a:avLst/>
          </a:prstGeom>
          <a:noFill/>
        </p:spPr>
        <p:txBody>
          <a:bodyPr wrap="square">
            <a:spAutoFit/>
          </a:bodyPr>
          <a:lstStyle/>
          <a:p>
            <a:pPr algn="ctr"/>
            <a:r>
              <a:rPr sz="1150" b="0" i="1">
                <a:solidFill>
                  <a:srgbClr val="475569"/>
                </a:solidFill>
                <a:latin typeface="Calibri"/>
              </a:rPr>
              <a:t>Toàn bộ 3 giai đoạn CHỈ cần làm 1 lần cho mỗi thiết bị — sau khi đã kết nối thành công, dữ liệu tự động cập nhật mỗi khi board bật nguồn.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B9 · CÀI ĐẶT WEB · BƯỚC 1-2</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Đăng ký tài khoản &amp; Tạo Template (Web)</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9</a:t>
            </a:r>
          </a:p>
        </p:txBody>
      </p:sp>
      <p:sp>
        <p:nvSpPr>
          <p:cNvPr id="10" name="Oval 9"/>
          <p:cNvSpPr/>
          <p:nvPr/>
        </p:nvSpPr>
        <p:spPr>
          <a:xfrm>
            <a:off x="548640" y="141732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Mở trình duyệt, truy cập blynk.cloud, bấm "Sign Up" (hoặc "Create Account") để tạo tài khoản mới.</a:t>
            </a:r>
          </a:p>
        </p:txBody>
      </p:sp>
      <p:sp>
        <p:nvSpPr>
          <p:cNvPr id="12" name="Oval 11"/>
          <p:cNvSpPr/>
          <p:nvPr/>
        </p:nvSpPr>
        <p:spPr>
          <a:xfrm>
            <a:off x="548640" y="214884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13055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Nhập Email + Mật khẩu, hoặc chọn "Continue with Google" để đăng ký/đăng nhập nhanh — xác nhận email nếu hệ thống yêu cầu.</a:t>
            </a:r>
          </a:p>
        </p:txBody>
      </p:sp>
      <p:sp>
        <p:nvSpPr>
          <p:cNvPr id="14" name="Oval 13"/>
          <p:cNvSpPr/>
          <p:nvPr/>
        </p:nvSpPr>
        <p:spPr>
          <a:xfrm>
            <a:off x="548640" y="288036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286207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Sau khi đăng nhập thành công, vào mục "Templates" ở thanh menu bên trái (khu vực Developer Zone).</a:t>
            </a:r>
          </a:p>
        </p:txBody>
      </p:sp>
      <p:sp>
        <p:nvSpPr>
          <p:cNvPr id="16" name="Oval 15"/>
          <p:cNvSpPr/>
          <p:nvPr/>
        </p:nvSpPr>
        <p:spPr>
          <a:xfrm>
            <a:off x="548640" y="361188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59359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Bấm "+ New Template", đặt tên Template là "KMT Smart Irrigation" để dễ nhận diện.</a:t>
            </a:r>
          </a:p>
        </p:txBody>
      </p:sp>
      <p:sp>
        <p:nvSpPr>
          <p:cNvPr id="18" name="Oval 17"/>
          <p:cNvSpPr/>
          <p:nvPr/>
        </p:nvSpPr>
        <p:spPr>
          <a:xfrm>
            <a:off x="548640" y="434340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32511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Chọn Hardware = "ESP32", Connection Type = "WiFi" (đúng loại board ESP32-S3 đang dùng) &gt; bấm "Done" để hoàn tất tạo Template.</a:t>
            </a:r>
          </a:p>
        </p:txBody>
      </p:sp>
      <p:sp>
        <p:nvSpPr>
          <p:cNvPr id="20" name="Rounded Rectangle 19"/>
          <p:cNvSpPr/>
          <p:nvPr/>
        </p:nvSpPr>
        <p:spPr>
          <a:xfrm>
            <a:off x="548640" y="5148072"/>
            <a:ext cx="11064240" cy="1024128"/>
          </a:xfrm>
          <a:prstGeom prst="roundRect">
            <a:avLst/>
          </a:prstGeom>
          <a:solidFill>
            <a:srgbClr val="FEF5E6"/>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57800"/>
            <a:ext cx="10607040" cy="804672"/>
          </a:xfrm>
          <a:prstGeom prst="rect">
            <a:avLst/>
          </a:prstGeom>
          <a:noFill/>
        </p:spPr>
        <p:txBody>
          <a:bodyPr wrap="square" anchor="ctr">
            <a:spAutoFit/>
          </a:bodyPr>
          <a:lstStyle/>
          <a:p>
            <a:pPr algn="l">
              <a:lnSpc>
                <a:spcPct val="115000"/>
              </a:lnSpc>
            </a:pPr>
            <a:r>
              <a:rPr sz="1050" b="0" i="1">
                <a:solidFill>
                  <a:srgbClr val="1E293B"/>
                </a:solidFill>
                <a:latin typeface="Calibri"/>
              </a:rPr>
              <a:t>💡 Ghi nhớ chính xác tên Template — sẽ dùng lại khi tạo Device ở bước sau.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B9 · CÀI ĐẶT WEB · BƯỚC 3</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Thêm Datastream cho từng cảm biến (Web)</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10</a:t>
            </a:r>
          </a:p>
        </p:txBody>
      </p:sp>
      <p:sp>
        <p:nvSpPr>
          <p:cNvPr id="10" name="Oval 9"/>
          <p:cNvSpPr/>
          <p:nvPr/>
        </p:nvSpPr>
        <p:spPr>
          <a:xfrm>
            <a:off x="548640" y="141732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Trong Template vừa tạo, chuyển sang tab "Datastreams".</a:t>
            </a:r>
          </a:p>
        </p:txBody>
      </p:sp>
      <p:sp>
        <p:nvSpPr>
          <p:cNvPr id="12" name="Oval 11"/>
          <p:cNvSpPr/>
          <p:nvPr/>
        </p:nvSpPr>
        <p:spPr>
          <a:xfrm>
            <a:off x="548640" y="214884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13055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Bấm "+ New Datastream" &gt; chọn loại "Virtual Pin".</a:t>
            </a:r>
          </a:p>
        </p:txBody>
      </p:sp>
      <p:sp>
        <p:nvSpPr>
          <p:cNvPr id="14" name="Oval 13"/>
          <p:cNvSpPr/>
          <p:nvPr/>
        </p:nvSpPr>
        <p:spPr>
          <a:xfrm>
            <a:off x="548640" y="288036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286207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Điền đầy đủ: Name (tên gợi nhớ), Pin (chọn đúng số V), Data Type (Integer/Double), giá trị Min/Max theo đúng bảng ánh xạ đã thiết kế ở slide trước.</a:t>
            </a:r>
          </a:p>
        </p:txBody>
      </p:sp>
      <p:sp>
        <p:nvSpPr>
          <p:cNvPr id="16" name="Oval 15"/>
          <p:cNvSpPr/>
          <p:nvPr/>
        </p:nvSpPr>
        <p:spPr>
          <a:xfrm>
            <a:off x="548640" y="361188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59359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Lặp lại thao tác trên cho đến khi tạo đủ 4 Datastream (V0 → V3) đúng theo bảng.</a:t>
            </a:r>
          </a:p>
        </p:txBody>
      </p:sp>
      <p:sp>
        <p:nvSpPr>
          <p:cNvPr id="18" name="Oval 17"/>
          <p:cNvSpPr/>
          <p:nvPr/>
        </p:nvSpPr>
        <p:spPr>
          <a:xfrm>
            <a:off x="548640" y="434340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32511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Bấm "Save" sau mỗi Datastream để lưu lại cấu hình.</a:t>
            </a:r>
          </a:p>
        </p:txBody>
      </p:sp>
      <p:sp>
        <p:nvSpPr>
          <p:cNvPr id="20" name="Rounded Rectangle 19"/>
          <p:cNvSpPr/>
          <p:nvPr/>
        </p:nvSpPr>
        <p:spPr>
          <a:xfrm>
            <a:off x="548640" y="5148072"/>
            <a:ext cx="11064240" cy="1024128"/>
          </a:xfrm>
          <a:prstGeom prst="roundRect">
            <a:avLst/>
          </a:prstGeom>
          <a:solidFill>
            <a:srgbClr val="FEF5E6"/>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57800"/>
            <a:ext cx="10607040" cy="804672"/>
          </a:xfrm>
          <a:prstGeom prst="rect">
            <a:avLst/>
          </a:prstGeom>
          <a:noFill/>
        </p:spPr>
        <p:txBody>
          <a:bodyPr wrap="square" anchor="ctr">
            <a:spAutoFit/>
          </a:bodyPr>
          <a:lstStyle/>
          <a:p>
            <a:pPr algn="l">
              <a:lnSpc>
                <a:spcPct val="115000"/>
              </a:lnSpc>
            </a:pPr>
            <a:r>
              <a:rPr sz="1050" b="0" i="1">
                <a:solidFill>
                  <a:srgbClr val="1E293B"/>
                </a:solidFill>
                <a:latin typeface="Calibri"/>
              </a:rPr>
              <a:t>💡 Đặt tên Datastream và Virtual Pin phải khớp CHÍNH XÁC với số hiệu V-pin dùng trong code ở các slide sau.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B9 · CÀI ĐẶT WEB · BƯỚC 4</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Tạo Device &amp; lấy Auth Token (Web)</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11</a:t>
            </a:r>
          </a:p>
        </p:txBody>
      </p:sp>
      <p:sp>
        <p:nvSpPr>
          <p:cNvPr id="10" name="Oval 9"/>
          <p:cNvSpPr/>
          <p:nvPr/>
        </p:nvSpPr>
        <p:spPr>
          <a:xfrm>
            <a:off x="548640" y="141732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Vào mục "Devices" ở menu bên trái &gt; bấm "+ New Device".</a:t>
            </a:r>
          </a:p>
        </p:txBody>
      </p:sp>
      <p:sp>
        <p:nvSpPr>
          <p:cNvPr id="12" name="Oval 11"/>
          <p:cNvSpPr/>
          <p:nvPr/>
        </p:nvSpPr>
        <p:spPr>
          <a:xfrm>
            <a:off x="548640" y="214884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13055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Chọn "From template" &gt; chọn đúng Template "KMT Smart Irrigation" vừa cấu hình ở bước trước.</a:t>
            </a:r>
          </a:p>
        </p:txBody>
      </p:sp>
      <p:sp>
        <p:nvSpPr>
          <p:cNvPr id="14" name="Oval 13"/>
          <p:cNvSpPr/>
          <p:nvPr/>
        </p:nvSpPr>
        <p:spPr>
          <a:xfrm>
            <a:off x="548640" y="288036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286207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Đặt tên riêng cho thiết bị (ví dụ "Trạm B9 - Phòng Lab") &gt; bấm "Create".</a:t>
            </a:r>
          </a:p>
        </p:txBody>
      </p:sp>
      <p:sp>
        <p:nvSpPr>
          <p:cNvPr id="16" name="Oval 15"/>
          <p:cNvSpPr/>
          <p:nvPr/>
        </p:nvSpPr>
        <p:spPr>
          <a:xfrm>
            <a:off x="548640" y="361188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59359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Hệ thống hiển thị Auth Token — đây là "mật khẩu" DUY NHẤT của riêng thiết bị này, bấm biểu tượng copy để sao chép.</a:t>
            </a:r>
          </a:p>
        </p:txBody>
      </p:sp>
      <p:sp>
        <p:nvSpPr>
          <p:cNvPr id="18" name="Oval 17"/>
          <p:cNvSpPr/>
          <p:nvPr/>
        </p:nvSpPr>
        <p:spPr>
          <a:xfrm>
            <a:off x="548640" y="434340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32511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Dán chuỗi Auth Token vừa copy vào đúng dòng BLYNK_AUTH_TOKEN trong code Arduino (sẽ dùng ở các slide Mã nguồn tiếp theo).</a:t>
            </a:r>
          </a:p>
        </p:txBody>
      </p:sp>
      <p:sp>
        <p:nvSpPr>
          <p:cNvPr id="20" name="Rounded Rectangle 19"/>
          <p:cNvSpPr/>
          <p:nvPr/>
        </p:nvSpPr>
        <p:spPr>
          <a:xfrm>
            <a:off x="548640" y="5148072"/>
            <a:ext cx="11064240" cy="1024128"/>
          </a:xfrm>
          <a:prstGeom prst="roundRect">
            <a:avLst/>
          </a:prstGeom>
          <a:solidFill>
            <a:srgbClr val="FEF5E6"/>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57800"/>
            <a:ext cx="10607040" cy="804672"/>
          </a:xfrm>
          <a:prstGeom prst="rect">
            <a:avLst/>
          </a:prstGeom>
          <a:noFill/>
        </p:spPr>
        <p:txBody>
          <a:bodyPr wrap="square" anchor="ctr">
            <a:spAutoFit/>
          </a:bodyPr>
          <a:lstStyle/>
          <a:p>
            <a:pPr algn="l">
              <a:lnSpc>
                <a:spcPct val="115000"/>
              </a:lnSpc>
            </a:pPr>
            <a:r>
              <a:rPr sz="1050" b="0" i="1">
                <a:solidFill>
                  <a:srgbClr val="1E293B"/>
                </a:solidFill>
                <a:latin typeface="Calibri"/>
              </a:rPr>
              <a:t>💡 TUYỆT ĐỐI không chia sẻ Auth Token công khai (vd đăng lên GitHub/Facebook) — ai có Token đều điều khiển được thiết bị.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C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6366F1"/>
                </a:solidFill>
                <a:latin typeface="Calibri"/>
              </a:rPr>
              <a:t>B9 · CÀI ĐẶT WEB · BƯỚC 5</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Dựng Web Dashboard — kéo thả Widget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12</a:t>
            </a:r>
          </a:p>
        </p:txBody>
      </p:sp>
      <p:sp>
        <p:nvSpPr>
          <p:cNvPr id="10" name="Oval 9"/>
          <p:cNvSpPr/>
          <p:nvPr/>
        </p:nvSpPr>
        <p:spPr>
          <a:xfrm>
            <a:off x="548640" y="1417320"/>
            <a:ext cx="420624" cy="42062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Trong Device vừa tạo, chuyển sang tab "Web Dashboard".</a:t>
            </a:r>
          </a:p>
        </p:txBody>
      </p:sp>
      <p:sp>
        <p:nvSpPr>
          <p:cNvPr id="12" name="Oval 11"/>
          <p:cNvSpPr/>
          <p:nvPr/>
        </p:nvSpPr>
        <p:spPr>
          <a:xfrm>
            <a:off x="548640" y="2258568"/>
            <a:ext cx="420624" cy="42062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240280"/>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Bấm biểu tượng bút chì "Edit" để vào chế độ chỉnh sửa.</a:t>
            </a:r>
          </a:p>
        </p:txBody>
      </p:sp>
      <p:sp>
        <p:nvSpPr>
          <p:cNvPr id="14" name="Oval 13"/>
          <p:cNvSpPr/>
          <p:nvPr/>
        </p:nvSpPr>
        <p:spPr>
          <a:xfrm>
            <a:off x="548640" y="3099816"/>
            <a:ext cx="420624" cy="42062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3081528"/>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Từ khay Widget bên phải, kéo thả từng Widget (Gauge/LED/Chart...) tương ứng bảng thiết kế đã học vào vùng làm việc.</a:t>
            </a:r>
          </a:p>
        </p:txBody>
      </p:sp>
      <p:sp>
        <p:nvSpPr>
          <p:cNvPr id="16" name="Oval 15"/>
          <p:cNvSpPr/>
          <p:nvPr/>
        </p:nvSpPr>
        <p:spPr>
          <a:xfrm>
            <a:off x="548640" y="3941064"/>
            <a:ext cx="420624" cy="42062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922776"/>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Bấm vào từng Widget vừa thả &gt; mục DATASTREAM &gt; chọn đúng Virtual Pin tương ứng &gt; đặt tên hiển thị, đơn vị, dải màu cảnh báo.</a:t>
            </a:r>
          </a:p>
        </p:txBody>
      </p:sp>
      <p:sp>
        <p:nvSpPr>
          <p:cNvPr id="18" name="Oval 17"/>
          <p:cNvSpPr/>
          <p:nvPr/>
        </p:nvSpPr>
        <p:spPr>
          <a:xfrm>
            <a:off x="548640" y="4782312"/>
            <a:ext cx="420624" cy="42062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764024"/>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Sắp xếp lại vị trí/kích thước các Widget cho gọn gàng, dễ nhìn &gt; bấm "Save".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B9 · CÀI ĐẶT APP · BƯỚC 6-7</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Cài đặt &amp; Đăng nhập Blynk IoT App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13</a:t>
            </a:r>
          </a:p>
        </p:txBody>
      </p:sp>
      <p:sp>
        <p:nvSpPr>
          <p:cNvPr id="10" name="Oval 9"/>
          <p:cNvSpPr/>
          <p:nvPr/>
        </p:nvSpPr>
        <p:spPr>
          <a:xfrm>
            <a:off x="548640" y="141732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Mở App Store (iPhone) hoặc Google Play (Android), tìm kiếm chính xác "Blynk IoT".</a:t>
            </a:r>
          </a:p>
        </p:txBody>
      </p:sp>
      <p:sp>
        <p:nvSpPr>
          <p:cNvPr id="12" name="Oval 11"/>
          <p:cNvSpPr/>
          <p:nvPr/>
        </p:nvSpPr>
        <p:spPr>
          <a:xfrm>
            <a:off x="548640" y="214884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13055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Cài đặt và mở ứng dụng vừa tải về.</a:t>
            </a:r>
          </a:p>
        </p:txBody>
      </p:sp>
      <p:sp>
        <p:nvSpPr>
          <p:cNvPr id="14" name="Oval 13"/>
          <p:cNvSpPr/>
          <p:nvPr/>
        </p:nvSpPr>
        <p:spPr>
          <a:xfrm>
            <a:off x="548640" y="288036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286207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Đăng nhập bằng ĐÚNG tài khoản đã dùng để tạo Template ở Bước 1 (email hoặc Google).</a:t>
            </a:r>
          </a:p>
        </p:txBody>
      </p:sp>
      <p:sp>
        <p:nvSpPr>
          <p:cNvPr id="16" name="Oval 15"/>
          <p:cNvSpPr/>
          <p:nvPr/>
        </p:nvSpPr>
        <p:spPr>
          <a:xfrm>
            <a:off x="548640" y="361188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59359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Ứng dụng tự động đồng bộ, hiển thị thiết bị vừa tạo trong danh sách "Devices".</a:t>
            </a:r>
          </a:p>
        </p:txBody>
      </p:sp>
      <p:sp>
        <p:nvSpPr>
          <p:cNvPr id="18" name="Oval 17"/>
          <p:cNvSpPr/>
          <p:nvPr/>
        </p:nvSpPr>
        <p:spPr>
          <a:xfrm>
            <a:off x="548640" y="434340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32511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Chạm vào thiết bị để mở — màn hình lúc này còn trống vì chưa có Widget nào được thêm.</a:t>
            </a:r>
          </a:p>
        </p:txBody>
      </p:sp>
      <p:sp>
        <p:nvSpPr>
          <p:cNvPr id="20" name="Rounded Rectangle 19"/>
          <p:cNvSpPr/>
          <p:nvPr/>
        </p:nvSpPr>
        <p:spPr>
          <a:xfrm>
            <a:off x="548640" y="5148072"/>
            <a:ext cx="11064240" cy="1024128"/>
          </a:xfrm>
          <a:prstGeom prst="roundRect">
            <a:avLst/>
          </a:prstGeom>
          <a:solidFill>
            <a:srgbClr val="FEF5E6"/>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57800"/>
            <a:ext cx="10607040" cy="804672"/>
          </a:xfrm>
          <a:prstGeom prst="rect">
            <a:avLst/>
          </a:prstGeom>
          <a:noFill/>
        </p:spPr>
        <p:txBody>
          <a:bodyPr wrap="square" anchor="ctr">
            <a:spAutoFit/>
          </a:bodyPr>
          <a:lstStyle/>
          <a:p>
            <a:pPr algn="l">
              <a:lnSpc>
                <a:spcPct val="115000"/>
              </a:lnSpc>
            </a:pPr>
            <a:r>
              <a:rPr sz="1050" b="0" i="1">
                <a:solidFill>
                  <a:srgbClr val="1E293B"/>
                </a:solidFill>
                <a:latin typeface="Calibri"/>
              </a:rPr>
              <a:t>💡 Lưu ý phân biệt "Blynk IoT" (app hiện hành) với "Blynk" bản cũ đã ngừng phát triển — cài nhầm sẽ không thấy Template/Device vừa tạo.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B9 · CÀI ĐẶT APP · BƯỚC 8-9</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Dựng giao diện Mobile App — kéo thả Widget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14</a:t>
            </a:r>
          </a:p>
        </p:txBody>
      </p:sp>
      <p:sp>
        <p:nvSpPr>
          <p:cNvPr id="10" name="Oval 9"/>
          <p:cNvSpPr/>
          <p:nvPr/>
        </p:nvSpPr>
        <p:spPr>
          <a:xfrm>
            <a:off x="548640" y="141732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Chạm biểu tượng bút chì (Edit) ở góc trên bên phải màn hình thiết bị để vào chế độ chỉnh sửa.</a:t>
            </a:r>
          </a:p>
        </p:txBody>
      </p:sp>
      <p:sp>
        <p:nvSpPr>
          <p:cNvPr id="12" name="Oval 11"/>
          <p:cNvSpPr/>
          <p:nvPr/>
        </p:nvSpPr>
        <p:spPr>
          <a:xfrm>
            <a:off x="548640" y="2258568"/>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240280"/>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Khay Widget trượt lên từ phía dưới màn hình — chọn và kéo thả từng Widget vào vùng làm việc.</a:t>
            </a:r>
          </a:p>
        </p:txBody>
      </p:sp>
      <p:sp>
        <p:nvSpPr>
          <p:cNvPr id="14" name="Oval 13"/>
          <p:cNvSpPr/>
          <p:nvPr/>
        </p:nvSpPr>
        <p:spPr>
          <a:xfrm>
            <a:off x="548640" y="3099816"/>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3081528"/>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Chạm vào Widget vừa thả &gt; mục DATASTREAM &gt; chọn đúng Virtual Pin theo đúng bảng ánh xạ đã thiết kế.</a:t>
            </a:r>
          </a:p>
        </p:txBody>
      </p:sp>
      <p:sp>
        <p:nvSpPr>
          <p:cNvPr id="16" name="Oval 15"/>
          <p:cNvSpPr/>
          <p:nvPr/>
        </p:nvSpPr>
        <p:spPr>
          <a:xfrm>
            <a:off x="548640" y="3941064"/>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922776"/>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Tuỳ chỉnh tên hiển thị, màu sắc, dải giá trị (min/max) cho từng Widget để dễ đọc.</a:t>
            </a:r>
          </a:p>
        </p:txBody>
      </p:sp>
      <p:sp>
        <p:nvSpPr>
          <p:cNvPr id="18" name="Oval 17"/>
          <p:cNvSpPr/>
          <p:nvPr/>
        </p:nvSpPr>
        <p:spPr>
          <a:xfrm>
            <a:off x="548640" y="4782312"/>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764024"/>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Kéo-thả sắp xếp lại vị trí các Widget, sau đó chạm dấu ✓ (Save) ở góc trên để lưu và thoát chế độ chỉnh sửa.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B9 · HOÀN TẤT · BƯỚC 10-11</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Nạp code &amp; Kiểm tra kết nối thành công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15</a:t>
            </a:r>
          </a:p>
        </p:txBody>
      </p:sp>
      <p:sp>
        <p:nvSpPr>
          <p:cNvPr id="10" name="Oval 9"/>
          <p:cNvSpPr/>
          <p:nvPr/>
        </p:nvSpPr>
        <p:spPr>
          <a:xfrm>
            <a:off x="548640" y="14173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Mở Arduino IDE trên máy tính, cài thư viện "Blynk" (Sketch &gt; Include Library &gt; Manage Libraries &gt; tìm "Blynk").</a:t>
            </a:r>
          </a:p>
        </p:txBody>
      </p:sp>
      <p:sp>
        <p:nvSpPr>
          <p:cNvPr id="12" name="Oval 11"/>
          <p:cNvSpPr/>
          <p:nvPr/>
        </p:nvSpPr>
        <p:spPr>
          <a:xfrm>
            <a:off x="548640" y="224028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22199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Dán đầy đủ đoạn code ở 2 slide "Mã nguồn mở rộng" tiếp theo vào 1 file .ino.</a:t>
            </a:r>
          </a:p>
        </p:txBody>
      </p:sp>
      <p:sp>
        <p:nvSpPr>
          <p:cNvPr id="14" name="Oval 13"/>
          <p:cNvSpPr/>
          <p:nvPr/>
        </p:nvSpPr>
        <p:spPr>
          <a:xfrm>
            <a:off x="548640" y="306324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304495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Kiểm tra lại đã điền đúng: BLYNK_AUTH_TOKEN (lấy ở Bước 4), tên WiFi (ssid) và mật khẩu WiFi (pass).</a:t>
            </a:r>
          </a:p>
        </p:txBody>
      </p:sp>
      <p:sp>
        <p:nvSpPr>
          <p:cNvPr id="16" name="Oval 15"/>
          <p:cNvSpPr/>
          <p:nvPr/>
        </p:nvSpPr>
        <p:spPr>
          <a:xfrm>
            <a:off x="548640" y="388620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86791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Chọn đúng Board "ESP32S3 Dev Module" và cổng COM tương ứng trong Arduino IDE &gt; bấm Upload.</a:t>
            </a:r>
          </a:p>
        </p:txBody>
      </p:sp>
      <p:sp>
        <p:nvSpPr>
          <p:cNvPr id="18" name="Oval 17"/>
          <p:cNvSpPr/>
          <p:nvPr/>
        </p:nvSpPr>
        <p:spPr>
          <a:xfrm>
            <a:off x="548640" y="47091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69087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Mở Serial Monitor (baud rate 115200) — quan sát dòng chữ xác nhận kết nối WiFi và Blynk thành công.</a:t>
            </a:r>
          </a:p>
        </p:txBody>
      </p:sp>
      <p:sp>
        <p:nvSpPr>
          <p:cNvPr id="20" name="Oval 19"/>
          <p:cNvSpPr/>
          <p:nvPr/>
        </p:nvSpPr>
        <p:spPr>
          <a:xfrm>
            <a:off x="548640" y="55321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6</a:t>
            </a:r>
          </a:p>
        </p:txBody>
      </p:sp>
      <p:sp>
        <p:nvSpPr>
          <p:cNvPr id="21" name="TextBox 20"/>
          <p:cNvSpPr txBox="1"/>
          <p:nvPr/>
        </p:nvSpPr>
        <p:spPr>
          <a:xfrm>
            <a:off x="1143000" y="551383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Quay lại App/Web: chấm tròn trạng thái thiết bị chuyển từ xám "Offline" sang xanh lá "Online", số liệu bắt đầu cập nhật realtime trên các Widget.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B9 · XỬ LÝ SỰ CỐ</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Các lỗi thường gặp khi cài đặt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16</a:t>
            </a:r>
          </a:p>
        </p:txBody>
      </p:sp>
      <p:graphicFrame>
        <p:nvGraphicFramePr>
          <p:cNvPr id="10" name="Table 9"/>
          <p:cNvGraphicFramePr>
            <a:graphicFrameLocks noGrp="1"/>
          </p:cNvGraphicFramePr>
          <p:nvPr/>
        </p:nvGraphicFramePr>
        <p:xfrm>
          <a:off x="548640" y="1417320"/>
          <a:ext cx="11064240" cy="3749039"/>
        </p:xfrm>
        <a:graphic>
          <a:graphicData uri="http://schemas.openxmlformats.org/drawingml/2006/table">
            <a:tbl>
              <a:tblPr>
                <a:tableStyleId>{5C22544A-7EE6-4342-B048-85BDC9FD1C3A}</a:tableStyleId>
              </a:tblPr>
              <a:tblGrid>
                <a:gridCol w="3108960"/>
                <a:gridCol w="3657600"/>
                <a:gridCol w="4297680"/>
              </a:tblGrid>
              <a:tr h="535577">
                <a:tc>
                  <a:txBody>
                    <a:bodyPr wrap="square"/>
                    <a:lstStyle/>
                    <a:p>
                      <a:pPr algn="ctr"/>
                      <a:r>
                        <a:rPr sz="1050" b="1">
                          <a:solidFill>
                            <a:srgbClr val="FFFFFF"/>
                          </a:solidFill>
                          <a:latin typeface="Calibri"/>
                        </a:rPr>
                        <a:t>Triệu chứng</a:t>
                      </a:r>
                    </a:p>
                  </a:txBody>
                  <a:tcPr marL="73152" marR="73152" marT="36576" marB="36576" anchor="ctr">
                    <a:solidFill>
                      <a:srgbClr val="EF4444"/>
                    </a:solidFill>
                  </a:tcPr>
                </a:tc>
                <a:tc>
                  <a:txBody>
                    <a:bodyPr wrap="square"/>
                    <a:lstStyle/>
                    <a:p>
                      <a:pPr algn="ctr"/>
                      <a:r>
                        <a:rPr sz="1050" b="1">
                          <a:solidFill>
                            <a:srgbClr val="FFFFFF"/>
                          </a:solidFill>
                          <a:latin typeface="Calibri"/>
                        </a:rPr>
                        <a:t>Nguyên nhân thường gặp</a:t>
                      </a:r>
                    </a:p>
                  </a:txBody>
                  <a:tcPr marL="73152" marR="73152" marT="36576" marB="36576" anchor="ctr">
                    <a:solidFill>
                      <a:srgbClr val="EF4444"/>
                    </a:solidFill>
                  </a:tcPr>
                </a:tc>
                <a:tc>
                  <a:txBody>
                    <a:bodyPr wrap="square"/>
                    <a:lstStyle/>
                    <a:p>
                      <a:pPr algn="ctr"/>
                      <a:r>
                        <a:rPr sz="1050" b="1">
                          <a:solidFill>
                            <a:srgbClr val="FFFFFF"/>
                          </a:solidFill>
                          <a:latin typeface="Calibri"/>
                        </a:rPr>
                        <a:t>Cách khắc phục</a:t>
                      </a:r>
                    </a:p>
                  </a:txBody>
                  <a:tcPr marL="73152" marR="73152" marT="36576" marB="36576" anchor="ctr">
                    <a:solidFill>
                      <a:srgbClr val="EF4444"/>
                    </a:solidFill>
                  </a:tcPr>
                </a:tc>
              </a:tr>
              <a:tr h="535577">
                <a:tc>
                  <a:txBody>
                    <a:bodyPr wrap="square"/>
                    <a:lstStyle/>
                    <a:p>
                      <a:pPr algn="l"/>
                      <a:r>
                        <a:rPr sz="950" b="0">
                          <a:solidFill>
                            <a:srgbClr val="1E293B"/>
                          </a:solidFill>
                          <a:latin typeface="Calibri"/>
                        </a:rPr>
                        <a:t>Thiết bị luôn hiện "Offline"</a:t>
                      </a:r>
                    </a:p>
                  </a:txBody>
                  <a:tcPr marL="73152" marR="73152" marT="36576" marB="36576" anchor="ctr">
                    <a:solidFill>
                      <a:srgbClr val="FFFFFF"/>
                    </a:solidFill>
                  </a:tcPr>
                </a:tc>
                <a:tc>
                  <a:txBody>
                    <a:bodyPr wrap="square"/>
                    <a:lstStyle/>
                    <a:p>
                      <a:pPr algn="l"/>
                      <a:r>
                        <a:rPr sz="950" b="0">
                          <a:solidFill>
                            <a:srgbClr val="1E293B"/>
                          </a:solidFill>
                          <a:latin typeface="Calibri"/>
                        </a:rPr>
                        <a:t>Sai Auth Token, hoặc sai tên/mật khẩu WiFi trong code</a:t>
                      </a:r>
                    </a:p>
                  </a:txBody>
                  <a:tcPr marL="73152" marR="73152" marT="36576" marB="36576" anchor="ctr">
                    <a:solidFill>
                      <a:srgbClr val="FFFFFF"/>
                    </a:solidFill>
                  </a:tcPr>
                </a:tc>
                <a:tc>
                  <a:txBody>
                    <a:bodyPr wrap="square"/>
                    <a:lstStyle/>
                    <a:p>
                      <a:pPr algn="l"/>
                      <a:r>
                        <a:rPr sz="950" b="0">
                          <a:solidFill>
                            <a:srgbClr val="1E293B"/>
                          </a:solidFill>
                          <a:latin typeface="Calibri"/>
                        </a:rPr>
                        <a:t>Kiểm tra lại BLYNK_AUTH_TOKEN dán đúng; xem Serial Monitor để xác nhận board đã kết nối được WiFi</a:t>
                      </a:r>
                    </a:p>
                  </a:txBody>
                  <a:tcPr marL="73152" marR="73152" marT="36576" marB="36576" anchor="ctr">
                    <a:solidFill>
                      <a:srgbClr val="FFFFFF"/>
                    </a:solidFill>
                  </a:tcPr>
                </a:tc>
              </a:tr>
              <a:tr h="535577">
                <a:tc>
                  <a:txBody>
                    <a:bodyPr wrap="square"/>
                    <a:lstStyle/>
                    <a:p>
                      <a:pPr algn="l"/>
                      <a:r>
                        <a:rPr sz="950" b="0">
                          <a:solidFill>
                            <a:srgbClr val="1E293B"/>
                          </a:solidFill>
                          <a:latin typeface="Calibri"/>
                        </a:rPr>
                        <a:t>Widget không hiển thị số liệu (mãi 0 hoặc trống)</a:t>
                      </a:r>
                    </a:p>
                  </a:txBody>
                  <a:tcPr marL="73152" marR="73152" marT="36576" marB="36576" anchor="ctr">
                    <a:solidFill>
                      <a:srgbClr val="F6F8F9"/>
                    </a:solidFill>
                  </a:tcPr>
                </a:tc>
                <a:tc>
                  <a:txBody>
                    <a:bodyPr wrap="square"/>
                    <a:lstStyle/>
                    <a:p>
                      <a:pPr algn="l"/>
                      <a:r>
                        <a:rPr sz="950" b="0">
                          <a:solidFill>
                            <a:srgbClr val="1E293B"/>
                          </a:solidFill>
                          <a:latin typeface="Calibri"/>
                        </a:rPr>
                        <a:t>Widget gán sai Virtual Pin, hoặc code chưa gọi đúng Blynk.virtualWrite()</a:t>
                      </a:r>
                    </a:p>
                  </a:txBody>
                  <a:tcPr marL="73152" marR="73152" marT="36576" marB="36576" anchor="ctr">
                    <a:solidFill>
                      <a:srgbClr val="F6F8F9"/>
                    </a:solidFill>
                  </a:tcPr>
                </a:tc>
                <a:tc>
                  <a:txBody>
                    <a:bodyPr wrap="square"/>
                    <a:lstStyle/>
                    <a:p>
                      <a:pPr algn="l"/>
                      <a:r>
                        <a:rPr sz="950" b="0">
                          <a:solidFill>
                            <a:srgbClr val="1E293B"/>
                          </a:solidFill>
                          <a:latin typeface="Calibri"/>
                        </a:rPr>
                        <a:t>Vào chỉnh sửa Widget &gt; kiểm tra mục DATASTREAM đã chọn đúng V-pin theo bảng ánh xạ chưa</a:t>
                      </a:r>
                    </a:p>
                  </a:txBody>
                  <a:tcPr marL="73152" marR="73152" marT="36576" marB="36576" anchor="ctr">
                    <a:solidFill>
                      <a:srgbClr val="F6F8F9"/>
                    </a:solidFill>
                  </a:tcPr>
                </a:tc>
              </a:tr>
              <a:tr h="535577">
                <a:tc>
                  <a:txBody>
                    <a:bodyPr wrap="square"/>
                    <a:lstStyle/>
                    <a:p>
                      <a:pPr algn="l"/>
                      <a:r>
                        <a:rPr sz="950" b="0">
                          <a:solidFill>
                            <a:srgbClr val="1E293B"/>
                          </a:solidFill>
                          <a:latin typeface="Calibri"/>
                        </a:rPr>
                        <a:t>App điện thoại không thấy Device/Template mới</a:t>
                      </a:r>
                    </a:p>
                  </a:txBody>
                  <a:tcPr marL="73152" marR="73152" marT="36576" marB="36576" anchor="ctr">
                    <a:solidFill>
                      <a:srgbClr val="FFFFFF"/>
                    </a:solidFill>
                  </a:tcPr>
                </a:tc>
                <a:tc>
                  <a:txBody>
                    <a:bodyPr wrap="square"/>
                    <a:lstStyle/>
                    <a:p>
                      <a:pPr algn="l"/>
                      <a:r>
                        <a:rPr sz="950" b="0">
                          <a:solidFill>
                            <a:srgbClr val="1E293B"/>
                          </a:solidFill>
                          <a:latin typeface="Calibri"/>
                        </a:rPr>
                        <a:t>Đăng nhập App bằng tài khoản khác với tài khoản tạo Template trên Web</a:t>
                      </a:r>
                    </a:p>
                  </a:txBody>
                  <a:tcPr marL="73152" marR="73152" marT="36576" marB="36576" anchor="ctr">
                    <a:solidFill>
                      <a:srgbClr val="FFFFFF"/>
                    </a:solidFill>
                  </a:tcPr>
                </a:tc>
                <a:tc>
                  <a:txBody>
                    <a:bodyPr wrap="square"/>
                    <a:lstStyle/>
                    <a:p>
                      <a:pPr algn="l"/>
                      <a:r>
                        <a:rPr sz="950" b="0">
                          <a:solidFill>
                            <a:srgbClr val="1E293B"/>
                          </a:solidFill>
                          <a:latin typeface="Calibri"/>
                        </a:rPr>
                        <a:t>Đăng xuất, đăng nhập lại đúng email đã dùng trên Blynk.Console; kéo màn hình để làm mới</a:t>
                      </a:r>
                    </a:p>
                  </a:txBody>
                  <a:tcPr marL="73152" marR="73152" marT="36576" marB="36576" anchor="ctr">
                    <a:solidFill>
                      <a:srgbClr val="FFFFFF"/>
                    </a:solidFill>
                  </a:tcPr>
                </a:tc>
              </a:tr>
              <a:tr h="535577">
                <a:tc>
                  <a:txBody>
                    <a:bodyPr wrap="square"/>
                    <a:lstStyle/>
                    <a:p>
                      <a:pPr algn="l"/>
                      <a:r>
                        <a:rPr sz="950" b="0">
                          <a:solidFill>
                            <a:srgbClr val="1E293B"/>
                          </a:solidFill>
                          <a:latin typeface="Calibri"/>
                        </a:rPr>
                        <a:t>Gạt Switch trên App nhưng thiết bị không phản ứng</a:t>
                      </a:r>
                    </a:p>
                  </a:txBody>
                  <a:tcPr marL="73152" marR="73152" marT="36576" marB="36576" anchor="ctr">
                    <a:solidFill>
                      <a:srgbClr val="F6F8F9"/>
                    </a:solidFill>
                  </a:tcPr>
                </a:tc>
                <a:tc>
                  <a:txBody>
                    <a:bodyPr wrap="square"/>
                    <a:lstStyle/>
                    <a:p>
                      <a:pPr algn="l"/>
                      <a:r>
                        <a:rPr sz="950" b="0">
                          <a:solidFill>
                            <a:srgbClr val="1E293B"/>
                          </a:solidFill>
                          <a:latin typeface="Calibri"/>
                        </a:rPr>
                        <a:t>Thiếu hàm BLYNK_WRITE(V_pin) tương ứng trong code, hoặc thiết bị đang mất kết nối</a:t>
                      </a:r>
                    </a:p>
                  </a:txBody>
                  <a:tcPr marL="73152" marR="73152" marT="36576" marB="36576" anchor="ctr">
                    <a:solidFill>
                      <a:srgbClr val="F6F8F9"/>
                    </a:solidFill>
                  </a:tcPr>
                </a:tc>
                <a:tc>
                  <a:txBody>
                    <a:bodyPr wrap="square"/>
                    <a:lstStyle/>
                    <a:p>
                      <a:pPr algn="l"/>
                      <a:r>
                        <a:rPr sz="950" b="0">
                          <a:solidFill>
                            <a:srgbClr val="1E293B"/>
                          </a:solidFill>
                          <a:latin typeface="Calibri"/>
                        </a:rPr>
                        <a:t>Kiểm tra code có định nghĩa đúng BLYNK_WRITE() cho đúng V-pin; kiểm tra trạng thái Online</a:t>
                      </a:r>
                    </a:p>
                  </a:txBody>
                  <a:tcPr marL="73152" marR="73152" marT="36576" marB="36576" anchor="ctr">
                    <a:solidFill>
                      <a:srgbClr val="F6F8F9"/>
                    </a:solidFill>
                  </a:tcPr>
                </a:tc>
              </a:tr>
              <a:tr h="535577">
                <a:tc>
                  <a:txBody>
                    <a:bodyPr wrap="square"/>
                    <a:lstStyle/>
                    <a:p>
                      <a:pPr algn="l"/>
                      <a:r>
                        <a:rPr sz="950" b="0">
                          <a:solidFill>
                            <a:srgbClr val="1E293B"/>
                          </a:solidFill>
                          <a:latin typeface="Calibri"/>
                        </a:rPr>
                        <a:t>Không nhận được thông báo dù đã vượt ngưỡng</a:t>
                      </a:r>
                    </a:p>
                  </a:txBody>
                  <a:tcPr marL="73152" marR="73152" marT="36576" marB="36576" anchor="ctr">
                    <a:solidFill>
                      <a:srgbClr val="FFFFFF"/>
                    </a:solidFill>
                  </a:tcPr>
                </a:tc>
                <a:tc>
                  <a:txBody>
                    <a:bodyPr wrap="square"/>
                    <a:lstStyle/>
                    <a:p>
                      <a:pPr algn="l"/>
                      <a:r>
                        <a:rPr sz="950" b="0">
                          <a:solidFill>
                            <a:srgbClr val="1E293B"/>
                          </a:solidFill>
                          <a:latin typeface="Calibri"/>
                        </a:rPr>
                        <a:t>Automation chưa được Bật (Enable), hoặc App bị chặn quyền thông báo</a:t>
                      </a:r>
                    </a:p>
                  </a:txBody>
                  <a:tcPr marL="73152" marR="73152" marT="36576" marB="36576" anchor="ctr">
                    <a:solidFill>
                      <a:srgbClr val="FFFFFF"/>
                    </a:solidFill>
                  </a:tcPr>
                </a:tc>
                <a:tc>
                  <a:txBody>
                    <a:bodyPr wrap="square"/>
                    <a:lstStyle/>
                    <a:p>
                      <a:pPr algn="l"/>
                      <a:r>
                        <a:rPr sz="950" b="0">
                          <a:solidFill>
                            <a:srgbClr val="1E293B"/>
                          </a:solidFill>
                          <a:latin typeface="Calibri"/>
                        </a:rPr>
                        <a:t>Kiểm tra trạng thái Enable trong tab Automations; vào Cài đặt điện thoại &gt; Thông báo &gt; cho phép Blynk IoT gửi</a:t>
                      </a:r>
                    </a:p>
                  </a:txBody>
                  <a:tcPr marL="73152" marR="73152" marT="36576" marB="36576" anchor="ctr">
                    <a:solidFill>
                      <a:srgbClr val="FFFFFF"/>
                    </a:solidFill>
                  </a:tcPr>
                </a:tc>
              </a:tr>
              <a:tr h="535577">
                <a:tc>
                  <a:txBody>
                    <a:bodyPr wrap="square"/>
                    <a:lstStyle/>
                    <a:p>
                      <a:pPr algn="l"/>
                      <a:r>
                        <a:rPr sz="950" b="0">
                          <a:solidFill>
                            <a:srgbClr val="1E293B"/>
                          </a:solidFill>
                          <a:latin typeface="Calibri"/>
                        </a:rPr>
                        <a:t>Cài nhầm app "Blynk" bản cũ thay vì "Blynk IoT"</a:t>
                      </a:r>
                    </a:p>
                  </a:txBody>
                  <a:tcPr marL="73152" marR="73152" marT="36576" marB="36576" anchor="ctr">
                    <a:solidFill>
                      <a:srgbClr val="F6F8F9"/>
                    </a:solidFill>
                  </a:tcPr>
                </a:tc>
                <a:tc>
                  <a:txBody>
                    <a:bodyPr wrap="square"/>
                    <a:lstStyle/>
                    <a:p>
                      <a:pPr algn="l"/>
                      <a:r>
                        <a:rPr sz="950" b="0">
                          <a:solidFill>
                            <a:srgbClr val="1E293B"/>
                          </a:solidFill>
                          <a:latin typeface="Calibri"/>
                        </a:rPr>
                        <a:t>Không để ý tên ứng dụng chính xác khi tìm trên App Store/Google Play</a:t>
                      </a:r>
                    </a:p>
                  </a:txBody>
                  <a:tcPr marL="73152" marR="73152" marT="36576" marB="36576" anchor="ctr">
                    <a:solidFill>
                      <a:srgbClr val="F6F8F9"/>
                    </a:solidFill>
                  </a:tcPr>
                </a:tc>
                <a:tc>
                  <a:txBody>
                    <a:bodyPr wrap="square"/>
                    <a:lstStyle/>
                    <a:p>
                      <a:pPr algn="l"/>
                      <a:r>
                        <a:rPr sz="950" b="0">
                          <a:solidFill>
                            <a:srgbClr val="1E293B"/>
                          </a:solidFill>
                          <a:latin typeface="Calibri"/>
                        </a:rPr>
                        <a:t>Gỡ bản cũ, tìm chính xác "Blynk IoT" (icon chữ B nền xanh lá mới) để cài lại</a:t>
                      </a:r>
                    </a:p>
                  </a:txBody>
                  <a:tcPr marL="73152" marR="73152" marT="36576" marB="36576" anchor="ctr">
                    <a:solidFill>
                      <a:srgbClr val="F6F8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B9 · MÃ NGUỒN MỞ RỘNG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Kết nối WiFi &amp; Blynk Cloud</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17</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08760"/>
            <a:ext cx="10607040" cy="4754880"/>
          </a:xfrm>
          <a:prstGeom prst="rect">
            <a:avLst/>
          </a:prstGeom>
          <a:noFill/>
        </p:spPr>
        <p:txBody>
          <a:bodyPr wrap="square">
            <a:spAutoFit/>
          </a:bodyPr>
          <a:lstStyle/>
          <a:p>
            <a:pPr>
              <a:spcAft>
                <a:spcPts val="100"/>
              </a:spcAft>
            </a:pPr>
            <a:r>
              <a:rPr sz="1250">
                <a:solidFill>
                  <a:srgbClr val="7DE6A8"/>
                </a:solidFill>
                <a:latin typeface="Consolas"/>
              </a:rPr>
              <a:t>#include &lt;WiFi.h&gt;</a:t>
            </a:r>
          </a:p>
          <a:p>
            <a:pPr>
              <a:spcAft>
                <a:spcPts val="100"/>
              </a:spcAft>
            </a:pPr>
            <a:r>
              <a:rPr sz="1250">
                <a:solidFill>
                  <a:srgbClr val="7DE6A8"/>
                </a:solidFill>
                <a:latin typeface="Consolas"/>
              </a:rPr>
              <a:t>#define BLYNK_TEMPLATE_ID   "TMPLxxxxxx"</a:t>
            </a:r>
          </a:p>
          <a:p>
            <a:pPr>
              <a:spcAft>
                <a:spcPts val="100"/>
              </a:spcAft>
            </a:pPr>
            <a:r>
              <a:rPr sz="1250">
                <a:solidFill>
                  <a:srgbClr val="7DE6A8"/>
                </a:solidFill>
                <a:latin typeface="Consolas"/>
              </a:rPr>
              <a:t>#define BLYNK_TEMPLATE_NAME "{tmpl_name}"</a:t>
            </a:r>
          </a:p>
          <a:p>
            <a:pPr>
              <a:spcAft>
                <a:spcPts val="100"/>
              </a:spcAft>
            </a:pPr>
            <a:r>
              <a:rPr sz="1250">
                <a:solidFill>
                  <a:srgbClr val="7DE6A8"/>
                </a:solidFill>
                <a:latin typeface="Consolas"/>
              </a:rPr>
              <a:t>#define BLYNK_AUTH_TOKEN    "xxxxxxxxxxxxxxxxxxxxxxxxxxxxxxxx"</a:t>
            </a:r>
          </a:p>
          <a:p>
            <a:pPr>
              <a:spcAft>
                <a:spcPts val="100"/>
              </a:spcAft>
            </a:pPr>
            <a:r>
              <a:rPr sz="1250">
                <a:solidFill>
                  <a:srgbClr val="7DE6A8"/>
                </a:solidFill>
                <a:latin typeface="Consolas"/>
              </a:rPr>
              <a:t>#include &lt;BlynkSimpleEsp32.h&gt;</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char ssid[] = "TEN_WIFI_CUA_BAN";</a:t>
            </a:r>
          </a:p>
          <a:p>
            <a:pPr>
              <a:spcAft>
                <a:spcPts val="100"/>
              </a:spcAft>
            </a:pPr>
            <a:r>
              <a:rPr sz="1250">
                <a:solidFill>
                  <a:srgbClr val="7DE6A8"/>
                </a:solidFill>
                <a:latin typeface="Consolas"/>
              </a:rPr>
              <a:t>char pass[] = "MAT_KHAU_WIFI";</a:t>
            </a:r>
          </a:p>
          <a:p>
            <a:pPr>
              <a:spcAft>
                <a:spcPts val="100"/>
              </a:spcAft>
            </a:pPr>
            <a:r>
              <a:rPr sz="1250">
                <a:solidFill>
                  <a:srgbClr val="7DE6A8"/>
                </a:solidFill>
                <a:latin typeface="Consolas"/>
              </a:rPr>
              <a:t>BlynkTimer timer;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B9 · MÃ NGUỒN MỞ RỘNG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Xử lý logic &amp; Gửi dữ liệu lên Cloud</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18</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08760"/>
            <a:ext cx="10607040" cy="4754880"/>
          </a:xfrm>
          <a:prstGeom prst="rect">
            <a:avLst/>
          </a:prstGeom>
          <a:noFill/>
        </p:spPr>
        <p:txBody>
          <a:bodyPr wrap="square">
            <a:spAutoFit/>
          </a:bodyPr>
          <a:lstStyle/>
          <a:p>
            <a:pPr>
              <a:spcAft>
                <a:spcPts val="100"/>
              </a:spcAft>
            </a:pPr>
            <a:r>
              <a:rPr sz="1050">
                <a:solidFill>
                  <a:srgbClr val="7DE6A8"/>
                </a:solidFill>
                <a:latin typeface="Consolas"/>
              </a:rPr>
              <a:t>bool manualMode = false;</a:t>
            </a:r>
          </a:p>
          <a:p>
            <a:pPr>
              <a:spcAft>
                <a:spcPts val="100"/>
              </a:spcAft>
            </a:pPr>
            <a:r>
              <a:rPr sz="1050">
                <a:solidFill>
                  <a:srgbClr val="7DE6A8"/>
                </a:solidFill>
                <a:latin typeface="Consolas"/>
              </a:rPr>
              <a:t>int  soilThreshold = 400;</a:t>
            </a:r>
          </a:p>
          <a:p>
            <a:pPr>
              <a:spcAft>
                <a:spcPts val="100"/>
              </a:spcAft>
            </a:pPr>
            <a:r>
              <a:rPr sz="1050">
                <a:solidFill>
                  <a:srgbClr val="7DE6A8"/>
                </a:solidFill>
                <a:latin typeface="Consolas"/>
              </a:rPr>
              <a:t> </a:t>
            </a:r>
          </a:p>
          <a:p>
            <a:pPr>
              <a:spcAft>
                <a:spcPts val="100"/>
              </a:spcAft>
            </a:pPr>
            <a:r>
              <a:rPr sz="1050">
                <a:solidFill>
                  <a:srgbClr val="64748B"/>
                </a:solidFill>
                <a:latin typeface="Consolas"/>
              </a:rPr>
              <a:t>// Duoc goi TU DONG moi khi nguoi dung gat cong tac V2 tren App/Web</a:t>
            </a:r>
          </a:p>
          <a:p>
            <a:pPr>
              <a:spcAft>
                <a:spcPts val="100"/>
              </a:spcAft>
            </a:pPr>
            <a:r>
              <a:rPr sz="1050">
                <a:solidFill>
                  <a:srgbClr val="7DE6A8"/>
                </a:solidFill>
                <a:latin typeface="Consolas"/>
              </a:rPr>
              <a:t>BLYNK_WRITE(V2) {</a:t>
            </a:r>
          </a:p>
          <a:p>
            <a:pPr>
              <a:spcAft>
                <a:spcPts val="100"/>
              </a:spcAft>
            </a:pPr>
            <a:r>
              <a:rPr sz="1050">
                <a:solidFill>
                  <a:srgbClr val="7DE6A8"/>
                </a:solidFill>
                <a:latin typeface="Consolas"/>
              </a:rPr>
              <a:t>  manualMode = param.asInt();</a:t>
            </a:r>
          </a:p>
          <a:p>
            <a:pPr>
              <a:spcAft>
                <a:spcPts val="100"/>
              </a:spcAft>
            </a:pPr>
            <a:r>
              <a:rPr sz="1050">
                <a:solidFill>
                  <a:srgbClr val="7DE6A8"/>
                </a:solidFill>
                <a:latin typeface="Consolas"/>
              </a:rPr>
              <a:t>  if (manualMode) {</a:t>
            </a:r>
          </a:p>
          <a:p>
            <a:pPr>
              <a:spcAft>
                <a:spcPts val="100"/>
              </a:spcAft>
            </a:pPr>
            <a:r>
              <a:rPr sz="1050">
                <a:solidFill>
                  <a:srgbClr val="7DE6A8"/>
                </a:solidFill>
                <a:latin typeface="Consolas"/>
              </a:rPr>
              <a:t>    digitalWrite(RELAY_PIN, HIGH);   // Bat bom ngay theo lenh thu cong</a:t>
            </a:r>
          </a:p>
          <a:p>
            <a:pPr>
              <a:spcAft>
                <a:spcPts val="100"/>
              </a:spcAft>
            </a:pPr>
            <a:r>
              <a:rPr sz="1050">
                <a:solidFill>
                  <a:srgbClr val="7DE6A8"/>
                </a:solidFill>
                <a:latin typeface="Consolas"/>
              </a:rPr>
              <a:t>  } else {</a:t>
            </a:r>
          </a:p>
          <a:p>
            <a:pPr>
              <a:spcAft>
                <a:spcPts val="100"/>
              </a:spcAft>
            </a:pPr>
            <a:r>
              <a:rPr sz="1050">
                <a:solidFill>
                  <a:srgbClr val="7DE6A8"/>
                </a:solidFill>
                <a:latin typeface="Consolas"/>
              </a:rPr>
              <a:t>    digitalWrite(RELAY_PIN, LOW);</a:t>
            </a:r>
          </a:p>
          <a:p>
            <a:pPr>
              <a:spcAft>
                <a:spcPts val="100"/>
              </a:spcAft>
            </a:pPr>
            <a:r>
              <a:rPr sz="1050">
                <a:solidFill>
                  <a:srgbClr val="7DE6A8"/>
                </a:solidFill>
                <a:latin typeface="Consolas"/>
              </a:rPr>
              <a:t>  }</a:t>
            </a:r>
          </a:p>
          <a:p>
            <a:pPr>
              <a:spcAft>
                <a:spcPts val="100"/>
              </a:spcAft>
            </a:pPr>
            <a:r>
              <a:rPr sz="1050">
                <a:solidFill>
                  <a:srgbClr val="7DE6A8"/>
                </a:solidFill>
                <a:latin typeface="Consolas"/>
              </a:rPr>
              <a:t>}</a:t>
            </a:r>
          </a:p>
          <a:p>
            <a:pPr>
              <a:spcAft>
                <a:spcPts val="100"/>
              </a:spcAft>
            </a:pPr>
            <a:r>
              <a:rPr sz="1050">
                <a:solidFill>
                  <a:srgbClr val="7DE6A8"/>
                </a:solidFill>
                <a:latin typeface="Consolas"/>
              </a:rPr>
              <a:t> </a:t>
            </a:r>
          </a:p>
          <a:p>
            <a:pPr>
              <a:spcAft>
                <a:spcPts val="100"/>
              </a:spcAft>
            </a:pPr>
            <a:r>
              <a:rPr sz="1050">
                <a:solidFill>
                  <a:srgbClr val="64748B"/>
                </a:solidFill>
                <a:latin typeface="Consolas"/>
              </a:rPr>
              <a:t>// Duoc goi TU DONG moi khi nguoi dung keo Slider V3 tren App/Web</a:t>
            </a:r>
          </a:p>
          <a:p>
            <a:pPr>
              <a:spcAft>
                <a:spcPts val="100"/>
              </a:spcAft>
            </a:pPr>
            <a:r>
              <a:rPr sz="1050">
                <a:solidFill>
                  <a:srgbClr val="7DE6A8"/>
                </a:solidFill>
                <a:latin typeface="Consolas"/>
              </a:rPr>
              <a:t>BLYNK_WRITE(V3) {</a:t>
            </a:r>
          </a:p>
          <a:p>
            <a:pPr>
              <a:spcAft>
                <a:spcPts val="100"/>
              </a:spcAft>
            </a:pPr>
            <a:r>
              <a:rPr sz="1050">
                <a:solidFill>
                  <a:srgbClr val="7DE6A8"/>
                </a:solidFill>
                <a:latin typeface="Consolas"/>
              </a:rPr>
              <a:t>  soilThreshold = param.asInt();    // Cap nhat nguong tu xa, khong can nap lai code</a:t>
            </a:r>
          </a:p>
          <a:p>
            <a:pPr>
              <a:spcAft>
                <a:spcPts val="100"/>
              </a:spcAft>
            </a:pPr>
            <a:r>
              <a:rPr sz="1050">
                <a:solidFill>
                  <a:srgbClr val="7DE6A8"/>
                </a:solidFill>
                <a:latin typeface="Consolas"/>
              </a:rPr>
              <a:t>}</a:t>
            </a:r>
          </a:p>
          <a:p>
            <a:pPr>
              <a:spcAft>
                <a:spcPts val="100"/>
              </a:spcAft>
            </a:pPr>
            <a:r>
              <a:rPr sz="1050">
                <a:solidFill>
                  <a:srgbClr val="7DE6A8"/>
                </a:solidFill>
                <a:latin typeface="Consolas"/>
              </a:rPr>
              <a:t> </a:t>
            </a:r>
          </a:p>
          <a:p>
            <a:pPr>
              <a:spcAft>
                <a:spcPts val="100"/>
              </a:spcAft>
            </a:pPr>
            <a:r>
              <a:rPr sz="1050">
                <a:solidFill>
                  <a:srgbClr val="7DE6A8"/>
                </a:solidFill>
                <a:latin typeface="Consolas"/>
              </a:rPr>
              <a:t>void sendSensorData() {</a:t>
            </a:r>
          </a:p>
          <a:p>
            <a:pPr>
              <a:spcAft>
                <a:spcPts val="100"/>
              </a:spcAft>
            </a:pPr>
            <a:r>
              <a:rPr sz="1050">
                <a:solidFill>
                  <a:srgbClr val="7DE6A8"/>
                </a:solidFill>
                <a:latin typeface="Consolas"/>
              </a:rPr>
              <a:t>  int soilVal = analogRead(SOIL_PIN);</a:t>
            </a:r>
          </a:p>
          <a:p>
            <a:pPr>
              <a:spcAft>
                <a:spcPts val="100"/>
              </a:spcAft>
            </a:pPr>
            <a:r>
              <a:rPr sz="1050">
                <a:solidFill>
                  <a:srgbClr val="7DE6A8"/>
                </a:solidFill>
                <a:latin typeface="Consolas"/>
              </a:rPr>
              <a:t>  Blynk.virtualWrite(V0, soilVal);</a:t>
            </a:r>
          </a:p>
          <a:p>
            <a:pPr>
              <a:spcAft>
                <a:spcPts val="100"/>
              </a:spcAft>
            </a:pPr>
            <a:r>
              <a:rPr sz="1050">
                <a:solidFill>
                  <a:srgbClr val="7DE6A8"/>
                </a:solidFill>
                <a:latin typeface="Consolas"/>
              </a:rPr>
              <a:t> </a:t>
            </a:r>
          </a:p>
          <a:p>
            <a:pPr>
              <a:spcAft>
                <a:spcPts val="100"/>
              </a:spcAft>
            </a:pPr>
            <a:r>
              <a:rPr sz="1050">
                <a:solidFill>
                  <a:srgbClr val="7DE6A8"/>
                </a:solidFill>
                <a:latin typeface="Consolas"/>
              </a:rPr>
              <a:t>  if (!manualMode) {                // Chi tu dong quyet dinh khi KHONG o che do thu cong</a:t>
            </a:r>
          </a:p>
          <a:p>
            <a:pPr>
              <a:spcAft>
                <a:spcPts val="100"/>
              </a:spcAft>
            </a:pPr>
            <a:r>
              <a:rPr sz="1050">
                <a:solidFill>
                  <a:srgbClr val="7DE6A8"/>
                </a:solidFill>
                <a:latin typeface="Consolas"/>
              </a:rPr>
              <a:t>    bool pumpOn = soilVal &lt; soilThreshold;</a:t>
            </a:r>
          </a:p>
          <a:p>
            <a:pPr>
              <a:spcAft>
                <a:spcPts val="100"/>
              </a:spcAft>
            </a:pPr>
            <a:r>
              <a:rPr sz="1050">
                <a:solidFill>
                  <a:srgbClr val="7DE6A8"/>
                </a:solidFill>
                <a:latin typeface="Consolas"/>
              </a:rPr>
              <a:t>    digitalWrite(RELAY_PIN, pumpOn ? HIGH : LOW);</a:t>
            </a:r>
          </a:p>
          <a:p>
            <a:pPr>
              <a:spcAft>
                <a:spcPts val="100"/>
              </a:spcAft>
            </a:pPr>
            <a:r>
              <a:rPr sz="1050">
                <a:solidFill>
                  <a:srgbClr val="7DE6A8"/>
                </a:solidFill>
                <a:latin typeface="Consolas"/>
              </a:rPr>
              <a:t>    Blynk.virtualWrite(V1, pumpOn ? 1 : 0);</a:t>
            </a:r>
          </a:p>
          <a:p>
            <a:pPr>
              <a:spcAft>
                <a:spcPts val="100"/>
              </a:spcAft>
            </a:pPr>
            <a:r>
              <a:rPr sz="1050">
                <a:solidFill>
                  <a:srgbClr val="7DE6A8"/>
                </a:solidFill>
                <a:latin typeface="Consolas"/>
              </a:rPr>
              <a:t>  } else {</a:t>
            </a:r>
          </a:p>
          <a:p>
            <a:pPr>
              <a:spcAft>
                <a:spcPts val="100"/>
              </a:spcAft>
            </a:pPr>
            <a:r>
              <a:rPr sz="1050">
                <a:solidFill>
                  <a:srgbClr val="7DE6A8"/>
                </a:solidFill>
                <a:latin typeface="Consolas"/>
              </a:rPr>
              <a:t>    Blynk.virtualWrite(V1, 1);</a:t>
            </a:r>
          </a:p>
          <a:p>
            <a:pPr>
              <a:spcAft>
                <a:spcPts val="100"/>
              </a:spcAft>
            </a:pPr>
            <a:r>
              <a:rPr sz="1050">
                <a:solidFill>
                  <a:srgbClr val="7DE6A8"/>
                </a:solidFill>
                <a:latin typeface="Consolas"/>
              </a:rPr>
              <a:t>  }</a:t>
            </a:r>
          </a:p>
          <a:p>
            <a:pPr>
              <a:spcAft>
                <a:spcPts val="100"/>
              </a:spcAft>
            </a:pPr>
            <a:r>
              <a:rPr sz="1050">
                <a:solidFill>
                  <a:srgbClr val="7DE6A8"/>
                </a:solidFill>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B9 · MÃ NGUỒN MỞ RỘNG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Khởi tạo &amp; Vòng lặp chính</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19</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08760"/>
            <a:ext cx="10607040" cy="4754880"/>
          </a:xfrm>
          <a:prstGeom prst="rect">
            <a:avLst/>
          </a:prstGeom>
          <a:noFill/>
        </p:spPr>
        <p:txBody>
          <a:bodyPr wrap="square">
            <a:spAutoFit/>
          </a:bodyPr>
          <a:lstStyle/>
          <a:p>
            <a:pPr>
              <a:spcAft>
                <a:spcPts val="100"/>
              </a:spcAft>
            </a:pPr>
            <a:r>
              <a:rPr sz="1250">
                <a:solidFill>
                  <a:srgbClr val="7DE6A8"/>
                </a:solidFill>
                <a:latin typeface="Consolas"/>
              </a:rPr>
              <a:t>void setup() {</a:t>
            </a:r>
          </a:p>
          <a:p>
            <a:pPr>
              <a:spcAft>
                <a:spcPts val="100"/>
              </a:spcAft>
            </a:pPr>
            <a:r>
              <a:rPr sz="1250">
                <a:solidFill>
                  <a:srgbClr val="7DE6A8"/>
                </a:solidFill>
                <a:latin typeface="Consolas"/>
              </a:rPr>
              <a:t>  Serial.begin(115200);</a:t>
            </a:r>
          </a:p>
          <a:p>
            <a:pPr>
              <a:spcAft>
                <a:spcPts val="100"/>
              </a:spcAft>
            </a:pPr>
            <a:r>
              <a:rPr sz="1250">
                <a:solidFill>
                  <a:srgbClr val="7DE6A8"/>
                </a:solidFill>
                <a:latin typeface="Consolas"/>
              </a:rPr>
              <a:t>  pinMode(RELAY_PIN, OUTPUT);</a:t>
            </a:r>
          </a:p>
          <a:p>
            <a:pPr>
              <a:spcAft>
                <a:spcPts val="100"/>
              </a:spcAft>
            </a:pPr>
            <a:r>
              <a:rPr sz="1250">
                <a:solidFill>
                  <a:srgbClr val="7DE6A8"/>
                </a:solidFill>
                <a:latin typeface="Consolas"/>
              </a:rPr>
              <a:t>  Blynk.begin(BLYNK_AUTH_TOKEN, ssid, pass);</a:t>
            </a:r>
          </a:p>
          <a:p>
            <a:pPr>
              <a:spcAft>
                <a:spcPts val="100"/>
              </a:spcAft>
            </a:pPr>
            <a:r>
              <a:rPr sz="1250">
                <a:solidFill>
                  <a:srgbClr val="7DE6A8"/>
                </a:solidFill>
                <a:latin typeface="Consolas"/>
              </a:rPr>
              <a:t>  timer.setInterval(2000L, sendSensorData);</a:t>
            </a:r>
          </a:p>
          <a:p>
            <a:pPr>
              <a:spcAft>
                <a:spcPts val="100"/>
              </a:spcAft>
            </a:pPr>
            <a:r>
              <a:rPr sz="1250">
                <a:solidFill>
                  <a:srgbClr val="7DE6A8"/>
                </a:solidFill>
                <a:latin typeface="Consolas"/>
              </a:rPr>
              <a:t>}</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void loop() {</a:t>
            </a:r>
          </a:p>
          <a:p>
            <a:pPr>
              <a:spcAft>
                <a:spcPts val="100"/>
              </a:spcAft>
            </a:pPr>
            <a:r>
              <a:rPr sz="1250">
                <a:solidFill>
                  <a:srgbClr val="7DE6A8"/>
                </a:solidFill>
                <a:latin typeface="Consolas"/>
              </a:rPr>
              <a:t>  Blynk.run();</a:t>
            </a:r>
          </a:p>
          <a:p>
            <a:pPr>
              <a:spcAft>
                <a:spcPts val="100"/>
              </a:spcAft>
            </a:pPr>
            <a:r>
              <a:rPr sz="1250">
                <a:solidFill>
                  <a:srgbClr val="7DE6A8"/>
                </a:solidFill>
                <a:latin typeface="Consolas"/>
              </a:rPr>
              <a:t>  timer.run();</a:t>
            </a:r>
          </a:p>
          <a:p>
            <a:pPr>
              <a:spcAft>
                <a:spcPts val="100"/>
              </a:spcAft>
            </a:pPr>
            <a:r>
              <a:rPr sz="1250">
                <a:solidFill>
                  <a:srgbClr val="7DE6A8"/>
                </a:solidFill>
                <a:latin typeface="Consolas"/>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B9 · TỰ ĐỘNG HOÁ</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Cảnh báo &amp; Automation trên Cloud</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20</a:t>
            </a:r>
          </a:p>
        </p:txBody>
      </p:sp>
      <p:sp>
        <p:nvSpPr>
          <p:cNvPr id="10" name="Rounded Rectangle 9"/>
          <p:cNvSpPr/>
          <p:nvPr/>
        </p:nvSpPr>
        <p:spPr>
          <a:xfrm>
            <a:off x="548640" y="1417320"/>
            <a:ext cx="11064240" cy="1554480"/>
          </a:xfrm>
          <a:prstGeom prst="roundRect">
            <a:avLst/>
          </a:prstGeom>
          <a:solidFill>
            <a:srgbClr val="FDECEC"/>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554480"/>
            <a:ext cx="10515600" cy="320040"/>
          </a:xfrm>
          <a:prstGeom prst="rect">
            <a:avLst/>
          </a:prstGeom>
          <a:noFill/>
        </p:spPr>
        <p:txBody>
          <a:bodyPr wrap="square">
            <a:spAutoFit/>
          </a:bodyPr>
          <a:lstStyle/>
          <a:p>
            <a:pPr algn="l"/>
            <a:r>
              <a:rPr sz="1250" b="1" i="0">
                <a:solidFill>
                  <a:srgbClr val="EF4444"/>
                </a:solidFill>
                <a:latin typeface="Calibri"/>
              </a:rPr>
              <a:t>QUY TẮC AUTOMATION CHO BÀI B9</a:t>
            </a:r>
          </a:p>
        </p:txBody>
      </p:sp>
      <p:sp>
        <p:nvSpPr>
          <p:cNvPr id="12" name="TextBox 11"/>
          <p:cNvSpPr txBox="1"/>
          <p:nvPr/>
        </p:nvSpPr>
        <p:spPr>
          <a:xfrm>
            <a:off x="822960" y="1901952"/>
            <a:ext cx="10515600" cy="1005840"/>
          </a:xfrm>
          <a:prstGeom prst="rect">
            <a:avLst/>
          </a:prstGeom>
          <a:noFill/>
        </p:spPr>
        <p:txBody>
          <a:bodyPr wrap="square">
            <a:spAutoFit/>
          </a:bodyPr>
          <a:lstStyle/>
          <a:p>
            <a:pPr algn="l">
              <a:lnSpc>
                <a:spcPct val="125000"/>
              </a:lnSpc>
            </a:pPr>
            <a:r>
              <a:rPr sz="1200" b="0" i="0">
                <a:solidFill>
                  <a:srgbClr val="1E293B"/>
                </a:solidFill>
                <a:latin typeface="Calibri"/>
              </a:rPr>
              <a:t>Automation trong Blynk.Console: nếu Độ ẩm đất (V0) &lt; 250 (rất khô) VÀ chế độ thủ công (V2) đang TẮT liên tục hơn 30 phút → gửi nhắc nhở "Kiểm tra hệ thống tưới — đất đang rất khô".</a:t>
            </a:r>
          </a:p>
        </p:txBody>
      </p:sp>
      <p:sp>
        <p:nvSpPr>
          <p:cNvPr id="13" name="TextBox 12"/>
          <p:cNvSpPr txBox="1"/>
          <p:nvPr/>
        </p:nvSpPr>
        <p:spPr>
          <a:xfrm>
            <a:off x="548640" y="3127248"/>
            <a:ext cx="11064240" cy="320040"/>
          </a:xfrm>
          <a:prstGeom prst="rect">
            <a:avLst/>
          </a:prstGeom>
          <a:noFill/>
        </p:spPr>
        <p:txBody>
          <a:bodyPr wrap="square">
            <a:spAutoFit/>
          </a:bodyPr>
          <a:lstStyle/>
          <a:p>
            <a:pPr algn="l"/>
            <a:r>
              <a:rPr sz="1350" b="1" i="0">
                <a:solidFill>
                  <a:srgbClr val="1E293B"/>
                </a:solidFill>
                <a:latin typeface="Calibri"/>
              </a:rPr>
              <a:t>Các bước cấu hình trên Blynk.Console (Web):</a:t>
            </a:r>
          </a:p>
        </p:txBody>
      </p:sp>
      <p:sp>
        <p:nvSpPr>
          <p:cNvPr id="14" name="Oval 13"/>
          <p:cNvSpPr/>
          <p:nvPr/>
        </p:nvSpPr>
        <p:spPr>
          <a:xfrm>
            <a:off x="548640" y="3520440"/>
            <a:ext cx="384048" cy="38404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a:solidFill>
                  <a:srgbClr val="FFFFFF"/>
                </a:solidFill>
                <a:latin typeface="Calibri"/>
              </a:rPr>
              <a:t>1</a:t>
            </a:r>
          </a:p>
        </p:txBody>
      </p:sp>
      <p:sp>
        <p:nvSpPr>
          <p:cNvPr id="15" name="TextBox 14"/>
          <p:cNvSpPr txBox="1"/>
          <p:nvPr/>
        </p:nvSpPr>
        <p:spPr>
          <a:xfrm>
            <a:off x="1051560" y="3502152"/>
            <a:ext cx="10515600" cy="566928"/>
          </a:xfrm>
          <a:prstGeom prst="rect">
            <a:avLst/>
          </a:prstGeom>
          <a:noFill/>
        </p:spPr>
        <p:txBody>
          <a:bodyPr wrap="square" anchor="ctr">
            <a:spAutoFit/>
          </a:bodyPr>
          <a:lstStyle/>
          <a:p>
            <a:pPr algn="l">
              <a:lnSpc>
                <a:spcPct val="110000"/>
              </a:lnSpc>
            </a:pPr>
            <a:r>
              <a:rPr sz="1150" b="0" i="0">
                <a:solidFill>
                  <a:srgbClr val="1E293B"/>
                </a:solidFill>
                <a:latin typeface="Calibri"/>
              </a:rPr>
              <a:t>Mở thiết bị trên Blynk.Console &gt; chuyển sang tab "Automations" &gt; bấm "+ Create Automation".</a:t>
            </a:r>
          </a:p>
        </p:txBody>
      </p:sp>
      <p:sp>
        <p:nvSpPr>
          <p:cNvPr id="16" name="Oval 15"/>
          <p:cNvSpPr/>
          <p:nvPr/>
        </p:nvSpPr>
        <p:spPr>
          <a:xfrm>
            <a:off x="548640" y="4142232"/>
            <a:ext cx="384048" cy="38404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a:solidFill>
                  <a:srgbClr val="FFFFFF"/>
                </a:solidFill>
                <a:latin typeface="Calibri"/>
              </a:rPr>
              <a:t>2</a:t>
            </a:r>
          </a:p>
        </p:txBody>
      </p:sp>
      <p:sp>
        <p:nvSpPr>
          <p:cNvPr id="17" name="TextBox 16"/>
          <p:cNvSpPr txBox="1"/>
          <p:nvPr/>
        </p:nvSpPr>
        <p:spPr>
          <a:xfrm>
            <a:off x="1051560" y="4123944"/>
            <a:ext cx="10515600" cy="566928"/>
          </a:xfrm>
          <a:prstGeom prst="rect">
            <a:avLst/>
          </a:prstGeom>
          <a:noFill/>
        </p:spPr>
        <p:txBody>
          <a:bodyPr wrap="square" anchor="ctr">
            <a:spAutoFit/>
          </a:bodyPr>
          <a:lstStyle/>
          <a:p>
            <a:pPr algn="l">
              <a:lnSpc>
                <a:spcPct val="110000"/>
              </a:lnSpc>
            </a:pPr>
            <a:r>
              <a:rPr sz="1150" b="0" i="0">
                <a:solidFill>
                  <a:srgbClr val="1E293B"/>
                </a:solidFill>
                <a:latin typeface="Calibri"/>
              </a:rPr>
              <a:t>Đặt tên quy tắc dễ nhớ &gt; phần "IF" chọn đúng Datastream cần theo dõi &gt; chọn phép so sánh (&gt;, &lt;, =) &gt; nhập giá trị ngưỡng.</a:t>
            </a:r>
          </a:p>
        </p:txBody>
      </p:sp>
      <p:sp>
        <p:nvSpPr>
          <p:cNvPr id="18" name="Oval 17"/>
          <p:cNvSpPr/>
          <p:nvPr/>
        </p:nvSpPr>
        <p:spPr>
          <a:xfrm>
            <a:off x="548640" y="4764024"/>
            <a:ext cx="384048" cy="38404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a:solidFill>
                  <a:srgbClr val="FFFFFF"/>
                </a:solidFill>
                <a:latin typeface="Calibri"/>
              </a:rPr>
              <a:t>3</a:t>
            </a:r>
          </a:p>
        </p:txBody>
      </p:sp>
      <p:sp>
        <p:nvSpPr>
          <p:cNvPr id="19" name="TextBox 18"/>
          <p:cNvSpPr txBox="1"/>
          <p:nvPr/>
        </p:nvSpPr>
        <p:spPr>
          <a:xfrm>
            <a:off x="1051560" y="4745736"/>
            <a:ext cx="10515600" cy="566928"/>
          </a:xfrm>
          <a:prstGeom prst="rect">
            <a:avLst/>
          </a:prstGeom>
          <a:noFill/>
        </p:spPr>
        <p:txBody>
          <a:bodyPr wrap="square" anchor="ctr">
            <a:spAutoFit/>
          </a:bodyPr>
          <a:lstStyle/>
          <a:p>
            <a:pPr algn="l">
              <a:lnSpc>
                <a:spcPct val="110000"/>
              </a:lnSpc>
            </a:pPr>
            <a:r>
              <a:rPr sz="1150" b="0" i="0">
                <a:solidFill>
                  <a:srgbClr val="1E293B"/>
                </a:solidFill>
                <a:latin typeface="Calibri"/>
              </a:rPr>
              <a:t>Phần "THEN" chọn hành động "Send Notification" (thông báo đẩy) và/hoặc "Send Email" &gt; soạn nội dung cảnh báo.</a:t>
            </a:r>
          </a:p>
        </p:txBody>
      </p:sp>
      <p:sp>
        <p:nvSpPr>
          <p:cNvPr id="20" name="Oval 19"/>
          <p:cNvSpPr/>
          <p:nvPr/>
        </p:nvSpPr>
        <p:spPr>
          <a:xfrm>
            <a:off x="548640" y="5385816"/>
            <a:ext cx="384048" cy="38404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a:solidFill>
                  <a:srgbClr val="FFFFFF"/>
                </a:solidFill>
                <a:latin typeface="Calibri"/>
              </a:rPr>
              <a:t>4</a:t>
            </a:r>
          </a:p>
        </p:txBody>
      </p:sp>
      <p:sp>
        <p:nvSpPr>
          <p:cNvPr id="21" name="TextBox 20"/>
          <p:cNvSpPr txBox="1"/>
          <p:nvPr/>
        </p:nvSpPr>
        <p:spPr>
          <a:xfrm>
            <a:off x="1051560" y="5367528"/>
            <a:ext cx="10515600" cy="566928"/>
          </a:xfrm>
          <a:prstGeom prst="rect">
            <a:avLst/>
          </a:prstGeom>
          <a:noFill/>
        </p:spPr>
        <p:txBody>
          <a:bodyPr wrap="square" anchor="ctr">
            <a:spAutoFit/>
          </a:bodyPr>
          <a:lstStyle/>
          <a:p>
            <a:pPr algn="l">
              <a:lnSpc>
                <a:spcPct val="110000"/>
              </a:lnSpc>
            </a:pPr>
            <a:r>
              <a:rPr sz="1150" b="0" i="0">
                <a:solidFill>
                  <a:srgbClr val="1E293B"/>
                </a:solidFill>
                <a:latin typeface="Calibri"/>
              </a:rPr>
              <a:t>Bấm "Save" rồi gạt công tắc "Enable" ở đầu quy tắc để chính thức kích hoạt — có thể Tắt/Bật lại bất cứ lúc nào mà không cần sửa code.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B9 · ỨNG DỤNG THỰC TIỄN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Giá trị thực tế khi có App/Web</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21</a:t>
            </a:r>
          </a:p>
        </p:txBody>
      </p:sp>
      <p:sp>
        <p:nvSpPr>
          <p:cNvPr id="10" name="Rounded Rectangle 9"/>
          <p:cNvSpPr/>
          <p:nvPr/>
        </p:nvSpPr>
        <p:spPr>
          <a:xfrm>
            <a:off x="548640" y="1417320"/>
            <a:ext cx="5349240" cy="1965960"/>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109728" cy="19659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581912"/>
            <a:ext cx="4800600" cy="457200"/>
          </a:xfrm>
          <a:prstGeom prst="rect">
            <a:avLst/>
          </a:prstGeom>
          <a:noFill/>
        </p:spPr>
        <p:txBody>
          <a:bodyPr wrap="square">
            <a:spAutoFit/>
          </a:bodyPr>
          <a:lstStyle/>
          <a:p>
            <a:pPr algn="l"/>
            <a:r>
              <a:rPr sz="1500" b="1" i="0">
                <a:solidFill>
                  <a:srgbClr val="1E293B"/>
                </a:solidFill>
                <a:latin typeface="Calibri"/>
              </a:rPr>
              <a:t>Điều khiển tưới cây khi đi vắng dài ngày</a:t>
            </a:r>
          </a:p>
        </p:txBody>
      </p:sp>
      <p:sp>
        <p:nvSpPr>
          <p:cNvPr id="13" name="TextBox 12"/>
          <p:cNvSpPr txBox="1"/>
          <p:nvPr/>
        </p:nvSpPr>
        <p:spPr>
          <a:xfrm>
            <a:off x="868680" y="2075688"/>
            <a:ext cx="4800600" cy="1143000"/>
          </a:xfrm>
          <a:prstGeom prst="rect">
            <a:avLst/>
          </a:prstGeom>
          <a:noFill/>
        </p:spPr>
        <p:txBody>
          <a:bodyPr wrap="square">
            <a:spAutoFit/>
          </a:bodyPr>
          <a:lstStyle/>
          <a:p>
            <a:pPr algn="l">
              <a:lnSpc>
                <a:spcPct val="120000"/>
              </a:lnSpc>
            </a:pPr>
            <a:r>
              <a:rPr sz="1200" b="0" i="0">
                <a:solidFill>
                  <a:srgbClr val="475569"/>
                </a:solidFill>
                <a:latin typeface="Calibri"/>
              </a:rPr>
              <a:t>Chủ vườn bật/tắt bơm thủ công qua điện thoại dù đang ở xa hàng trăm km.</a:t>
            </a:r>
          </a:p>
        </p:txBody>
      </p:sp>
      <p:sp>
        <p:nvSpPr>
          <p:cNvPr id="14" name="Rounded Rectangle 13"/>
          <p:cNvSpPr/>
          <p:nvPr/>
        </p:nvSpPr>
        <p:spPr>
          <a:xfrm>
            <a:off x="6263640" y="1417320"/>
            <a:ext cx="5349240" cy="196596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41732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79" y="1581912"/>
            <a:ext cx="4800600" cy="457200"/>
          </a:xfrm>
          <a:prstGeom prst="rect">
            <a:avLst/>
          </a:prstGeom>
          <a:noFill/>
        </p:spPr>
        <p:txBody>
          <a:bodyPr wrap="square">
            <a:spAutoFit/>
          </a:bodyPr>
          <a:lstStyle/>
          <a:p>
            <a:pPr algn="l"/>
            <a:r>
              <a:rPr sz="1500" b="1" i="0">
                <a:solidFill>
                  <a:srgbClr val="1E293B"/>
                </a:solidFill>
                <a:latin typeface="Calibri"/>
              </a:rPr>
              <a:t>Tinh chỉnh ngưỡng theo mùa mà không cần kỹ thuật viên</a:t>
            </a:r>
          </a:p>
        </p:txBody>
      </p:sp>
      <p:sp>
        <p:nvSpPr>
          <p:cNvPr id="17" name="TextBox 16"/>
          <p:cNvSpPr txBox="1"/>
          <p:nvPr/>
        </p:nvSpPr>
        <p:spPr>
          <a:xfrm>
            <a:off x="6583679" y="2075688"/>
            <a:ext cx="4800600" cy="1143000"/>
          </a:xfrm>
          <a:prstGeom prst="rect">
            <a:avLst/>
          </a:prstGeom>
          <a:noFill/>
        </p:spPr>
        <p:txBody>
          <a:bodyPr wrap="square">
            <a:spAutoFit/>
          </a:bodyPr>
          <a:lstStyle/>
          <a:p>
            <a:pPr algn="l">
              <a:lnSpc>
                <a:spcPct val="120000"/>
              </a:lnSpc>
            </a:pPr>
            <a:r>
              <a:rPr sz="1200" b="0" i="0">
                <a:solidFill>
                  <a:srgbClr val="475569"/>
                </a:solidFill>
                <a:latin typeface="Calibri"/>
              </a:rPr>
              <a:t>Người quản lý tự đổi ngưỡng tưới qua Slider (mùa khô tưới sớm hơn, mùa mưa tưới muộn hơn) mà không cần lập trình viên can thiệp.</a:t>
            </a:r>
          </a:p>
        </p:txBody>
      </p:sp>
      <p:sp>
        <p:nvSpPr>
          <p:cNvPr id="18" name="Rounded Rectangle 17"/>
          <p:cNvSpPr/>
          <p:nvPr/>
        </p:nvSpPr>
        <p:spPr>
          <a:xfrm>
            <a:off x="548640" y="3703320"/>
            <a:ext cx="5349240" cy="1965960"/>
          </a:xfrm>
          <a:prstGeom prst="roundRect">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03320"/>
            <a:ext cx="109728" cy="1965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67911"/>
            <a:ext cx="4800600" cy="457200"/>
          </a:xfrm>
          <a:prstGeom prst="rect">
            <a:avLst/>
          </a:prstGeom>
          <a:noFill/>
        </p:spPr>
        <p:txBody>
          <a:bodyPr wrap="square">
            <a:spAutoFit/>
          </a:bodyPr>
          <a:lstStyle/>
          <a:p>
            <a:pPr algn="l"/>
            <a:r>
              <a:rPr sz="1500" b="1" i="0">
                <a:solidFill>
                  <a:srgbClr val="1E293B"/>
                </a:solidFill>
                <a:latin typeface="Calibri"/>
              </a:rPr>
              <a:t>Nông trại quy mô vừa và nhỏ</a:t>
            </a:r>
          </a:p>
        </p:txBody>
      </p:sp>
      <p:sp>
        <p:nvSpPr>
          <p:cNvPr id="21" name="TextBox 20"/>
          <p:cNvSpPr txBox="1"/>
          <p:nvPr/>
        </p:nvSpPr>
        <p:spPr>
          <a:xfrm>
            <a:off x="868680" y="4361688"/>
            <a:ext cx="4800600" cy="1143000"/>
          </a:xfrm>
          <a:prstGeom prst="rect">
            <a:avLst/>
          </a:prstGeom>
          <a:noFill/>
        </p:spPr>
        <p:txBody>
          <a:bodyPr wrap="square">
            <a:spAutoFit/>
          </a:bodyPr>
          <a:lstStyle/>
          <a:p>
            <a:pPr algn="l">
              <a:lnSpc>
                <a:spcPct val="120000"/>
              </a:lnSpc>
            </a:pPr>
            <a:r>
              <a:rPr sz="1200" b="0" i="0">
                <a:solidFill>
                  <a:srgbClr val="475569"/>
                </a:solidFill>
                <a:latin typeface="Calibri"/>
              </a:rPr>
              <a:t>Một App duy nhất quản lý nhiều khu vườn/nhà kính khác nhau, mỗi khu 1 Template riêng.</a:t>
            </a:r>
          </a:p>
        </p:txBody>
      </p:sp>
      <p:sp>
        <p:nvSpPr>
          <p:cNvPr id="22" name="Rounded Rectangle 21"/>
          <p:cNvSpPr/>
          <p:nvPr/>
        </p:nvSpPr>
        <p:spPr>
          <a:xfrm>
            <a:off x="6263640" y="3703320"/>
            <a:ext cx="5349240" cy="1965960"/>
          </a:xfrm>
          <a:prstGeom prst="roundRect">
            <a:avLst/>
          </a:prstGeom>
          <a:solidFill>
            <a:srgbClr val="FFFFFF"/>
          </a:solidFill>
          <a:ln w="1905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703320"/>
            <a:ext cx="109728" cy="196596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79" y="3867911"/>
            <a:ext cx="4800600" cy="457200"/>
          </a:xfrm>
          <a:prstGeom prst="rect">
            <a:avLst/>
          </a:prstGeom>
          <a:noFill/>
        </p:spPr>
        <p:txBody>
          <a:bodyPr wrap="square">
            <a:spAutoFit/>
          </a:bodyPr>
          <a:lstStyle/>
          <a:p>
            <a:pPr algn="l"/>
            <a:r>
              <a:rPr sz="1500" b="1" i="0">
                <a:solidFill>
                  <a:srgbClr val="1E293B"/>
                </a:solidFill>
                <a:latin typeface="Calibri"/>
              </a:rPr>
              <a:t>Ghi log vận hành phục vụ tối ưu hoá</a:t>
            </a:r>
          </a:p>
        </p:txBody>
      </p:sp>
      <p:sp>
        <p:nvSpPr>
          <p:cNvPr id="25" name="TextBox 24"/>
          <p:cNvSpPr txBox="1"/>
          <p:nvPr/>
        </p:nvSpPr>
        <p:spPr>
          <a:xfrm>
            <a:off x="6583679" y="4361688"/>
            <a:ext cx="4800600" cy="1143000"/>
          </a:xfrm>
          <a:prstGeom prst="rect">
            <a:avLst/>
          </a:prstGeom>
          <a:noFill/>
        </p:spPr>
        <p:txBody>
          <a:bodyPr wrap="square">
            <a:spAutoFit/>
          </a:bodyPr>
          <a:lstStyle/>
          <a:p>
            <a:pPr algn="l">
              <a:lnSpc>
                <a:spcPct val="120000"/>
              </a:lnSpc>
            </a:pPr>
            <a:r>
              <a:rPr sz="1200" b="0" i="0">
                <a:solidFill>
                  <a:srgbClr val="475569"/>
                </a:solidFill>
                <a:latin typeface="Calibri"/>
              </a:rPr>
              <a:t>Lịch sử bật/tắt bơm giúp phân tích lượng nước tiêu thụ, tối ưu chi phí nước tưới.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B9 · LƯU Ý TRIỂN KHAI</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Lưu ý khi triển khai thực tế</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22</a:t>
            </a:r>
          </a:p>
        </p:txBody>
      </p:sp>
      <p:sp>
        <p:nvSpPr>
          <p:cNvPr id="10" name="Oval 9"/>
          <p:cNvSpPr/>
          <p:nvPr/>
        </p:nvSpPr>
        <p:spPr>
          <a:xfrm>
            <a:off x="548640" y="1444752"/>
            <a:ext cx="457200" cy="457200"/>
          </a:xfrm>
          <a:prstGeom prst="ellipse">
            <a:avLst/>
          </a:prstGeom>
          <a:solidFill>
            <a:srgbClr val="FC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1" name="TextBox 10"/>
          <p:cNvSpPr txBox="1"/>
          <p:nvPr/>
        </p:nvSpPr>
        <p:spPr>
          <a:xfrm>
            <a:off x="1188720" y="1417320"/>
            <a:ext cx="10241280" cy="822960"/>
          </a:xfrm>
          <a:prstGeom prst="rect">
            <a:avLst/>
          </a:prstGeom>
          <a:noFill/>
        </p:spPr>
        <p:txBody>
          <a:bodyPr wrap="square" anchor="ctr">
            <a:spAutoFit/>
          </a:bodyPr>
          <a:lstStyle/>
          <a:p>
            <a:pPr algn="l">
              <a:lnSpc>
                <a:spcPct val="115000"/>
              </a:lnSpc>
            </a:pPr>
            <a:r>
              <a:rPr sz="1300" b="0" i="0">
                <a:solidFill>
                  <a:srgbClr val="1E293B"/>
                </a:solidFill>
                <a:latin typeface="Calibri"/>
              </a:rPr>
              <a:t>Điều khiển 2 chiều tiềm ẩn rủi ro an toàn cao hơn giám sát 1 chiều — bắt buộc bảo vệ Auth Token nghiêm ngặt, tránh người lạ điều khiển bơm sai thời điểm.</a:t>
            </a:r>
          </a:p>
        </p:txBody>
      </p:sp>
      <p:sp>
        <p:nvSpPr>
          <p:cNvPr id="12" name="Oval 11"/>
          <p:cNvSpPr/>
          <p:nvPr/>
        </p:nvSpPr>
        <p:spPr>
          <a:xfrm>
            <a:off x="548640" y="2340864"/>
            <a:ext cx="457200" cy="457200"/>
          </a:xfrm>
          <a:prstGeom prst="ellipse">
            <a:avLst/>
          </a:prstGeom>
          <a:solidFill>
            <a:srgbClr val="FC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3" name="TextBox 12"/>
          <p:cNvSpPr txBox="1"/>
          <p:nvPr/>
        </p:nvSpPr>
        <p:spPr>
          <a:xfrm>
            <a:off x="1188720" y="2313432"/>
            <a:ext cx="10241280" cy="822960"/>
          </a:xfrm>
          <a:prstGeom prst="rect">
            <a:avLst/>
          </a:prstGeom>
          <a:noFill/>
        </p:spPr>
        <p:txBody>
          <a:bodyPr wrap="square" anchor="ctr">
            <a:spAutoFit/>
          </a:bodyPr>
          <a:lstStyle/>
          <a:p>
            <a:pPr algn="l">
              <a:lnSpc>
                <a:spcPct val="115000"/>
              </a:lnSpc>
            </a:pPr>
            <a:r>
              <a:rPr sz="1300" b="0" i="0">
                <a:solidFill>
                  <a:srgbClr val="1E293B"/>
                </a:solidFill>
                <a:latin typeface="Calibri"/>
              </a:rPr>
              <a:t>Cần xử lý rõ ràng ưu tiên giữa chế độ Tự động và Thủ công (như code mẫu dùng biến manualMode) để tránh xung đột logic — 2 luồng điều khiển giành quyền cùng lúc.</a:t>
            </a:r>
          </a:p>
        </p:txBody>
      </p:sp>
      <p:sp>
        <p:nvSpPr>
          <p:cNvPr id="14" name="Oval 13"/>
          <p:cNvSpPr/>
          <p:nvPr/>
        </p:nvSpPr>
        <p:spPr>
          <a:xfrm>
            <a:off x="548640" y="3236976"/>
            <a:ext cx="457200" cy="457200"/>
          </a:xfrm>
          <a:prstGeom prst="ellipse">
            <a:avLst/>
          </a:prstGeom>
          <a:solidFill>
            <a:srgbClr val="FC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5" name="TextBox 14"/>
          <p:cNvSpPr txBox="1"/>
          <p:nvPr/>
        </p:nvSpPr>
        <p:spPr>
          <a:xfrm>
            <a:off x="1188720" y="3209544"/>
            <a:ext cx="10241280" cy="822960"/>
          </a:xfrm>
          <a:prstGeom prst="rect">
            <a:avLst/>
          </a:prstGeom>
          <a:noFill/>
        </p:spPr>
        <p:txBody>
          <a:bodyPr wrap="square" anchor="ctr">
            <a:spAutoFit/>
          </a:bodyPr>
          <a:lstStyle/>
          <a:p>
            <a:pPr algn="l">
              <a:lnSpc>
                <a:spcPct val="115000"/>
              </a:lnSpc>
            </a:pPr>
            <a:r>
              <a:rPr sz="1300" b="0" i="0">
                <a:solidFill>
                  <a:srgbClr val="1E293B"/>
                </a:solidFill>
                <a:latin typeface="Calibri"/>
              </a:rPr>
              <a:t>Nếu App gửi lệnh đúng lúc mất kết nối, lệnh có thể không đến được thiết bị — không nên dùng cho các tình huống cần đảm bảo tuyệt đối (an toàn cháy nổ, y tế).</a:t>
            </a:r>
          </a:p>
        </p:txBody>
      </p:sp>
      <p:sp>
        <p:nvSpPr>
          <p:cNvPr id="16" name="Oval 15"/>
          <p:cNvSpPr/>
          <p:nvPr/>
        </p:nvSpPr>
        <p:spPr>
          <a:xfrm>
            <a:off x="548640" y="4133088"/>
            <a:ext cx="457200" cy="457200"/>
          </a:xfrm>
          <a:prstGeom prst="ellipse">
            <a:avLst/>
          </a:prstGeom>
          <a:solidFill>
            <a:srgbClr val="FC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7" name="TextBox 16"/>
          <p:cNvSpPr txBox="1"/>
          <p:nvPr/>
        </p:nvSpPr>
        <p:spPr>
          <a:xfrm>
            <a:off x="1188720" y="4105656"/>
            <a:ext cx="10241280" cy="822960"/>
          </a:xfrm>
          <a:prstGeom prst="rect">
            <a:avLst/>
          </a:prstGeom>
          <a:noFill/>
        </p:spPr>
        <p:txBody>
          <a:bodyPr wrap="square" anchor="ctr">
            <a:spAutoFit/>
          </a:bodyPr>
          <a:lstStyle/>
          <a:p>
            <a:pPr algn="l">
              <a:lnSpc>
                <a:spcPct val="115000"/>
              </a:lnSpc>
            </a:pPr>
            <a:r>
              <a:rPr sz="1300" b="0" i="0">
                <a:solidFill>
                  <a:srgbClr val="1E293B"/>
                </a:solidFill>
                <a:latin typeface="Calibri"/>
              </a:rPr>
              <a:t>Relay đóng/ngắt theo lệnh từ xa nhiều lần trong ngày sẽ giảm tuổi thọ nhanh hơn — cân nhắc giới hạn số lần bật/tắt thủ công liên tiếp trong code.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B9 · ÔN TẬP</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Câu hỏi thảo luận cuối buổi</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23</a:t>
            </a:r>
          </a:p>
        </p:txBody>
      </p:sp>
      <p:sp>
        <p:nvSpPr>
          <p:cNvPr id="10" name="Rounded Rectangle 9"/>
          <p:cNvSpPr/>
          <p:nvPr/>
        </p:nvSpPr>
        <p:spPr>
          <a:xfrm>
            <a:off x="548640" y="146304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Q1</a:t>
            </a:r>
          </a:p>
        </p:txBody>
      </p:sp>
      <p:sp>
        <p:nvSpPr>
          <p:cNvPr id="11" name="TextBox 10"/>
          <p:cNvSpPr txBox="1"/>
          <p:nvPr/>
        </p:nvSpPr>
        <p:spPr>
          <a:xfrm>
            <a:off x="1234440" y="1444752"/>
            <a:ext cx="10241280" cy="777240"/>
          </a:xfrm>
          <a:prstGeom prst="rect">
            <a:avLst/>
          </a:prstGeom>
          <a:noFill/>
        </p:spPr>
        <p:txBody>
          <a:bodyPr wrap="square" anchor="ctr">
            <a:spAutoFit/>
          </a:bodyPr>
          <a:lstStyle/>
          <a:p>
            <a:pPr algn="l">
              <a:lnSpc>
                <a:spcPct val="115000"/>
              </a:lnSpc>
            </a:pPr>
            <a:r>
              <a:rPr sz="1350" b="0" i="0">
                <a:solidFill>
                  <a:srgbClr val="1E293B"/>
                </a:solidFill>
                <a:latin typeface="Calibri"/>
              </a:rPr>
              <a:t>BLYNK_WRITE(V2) được gọi khi nào? Nó khác gì so với Blynk.virtualWrite(V2, ...)?</a:t>
            </a:r>
          </a:p>
        </p:txBody>
      </p:sp>
      <p:sp>
        <p:nvSpPr>
          <p:cNvPr id="12" name="Rounded Rectangle 11"/>
          <p:cNvSpPr/>
          <p:nvPr/>
        </p:nvSpPr>
        <p:spPr>
          <a:xfrm>
            <a:off x="548640" y="2359152"/>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Q2</a:t>
            </a:r>
          </a:p>
        </p:txBody>
      </p:sp>
      <p:sp>
        <p:nvSpPr>
          <p:cNvPr id="13" name="TextBox 12"/>
          <p:cNvSpPr txBox="1"/>
          <p:nvPr/>
        </p:nvSpPr>
        <p:spPr>
          <a:xfrm>
            <a:off x="1234440" y="2340864"/>
            <a:ext cx="10241280" cy="777240"/>
          </a:xfrm>
          <a:prstGeom prst="rect">
            <a:avLst/>
          </a:prstGeom>
          <a:noFill/>
        </p:spPr>
        <p:txBody>
          <a:bodyPr wrap="square" anchor="ctr">
            <a:spAutoFit/>
          </a:bodyPr>
          <a:lstStyle/>
          <a:p>
            <a:pPr algn="l">
              <a:lnSpc>
                <a:spcPct val="115000"/>
              </a:lnSpc>
            </a:pPr>
            <a:r>
              <a:rPr sz="1350" b="0" i="0">
                <a:solidFill>
                  <a:srgbClr val="1E293B"/>
                </a:solidFill>
                <a:latin typeface="Calibri"/>
              </a:rPr>
              <a:t>Giải thích vì sao code mẫu cần biến manualMode để phân xử giữa chế độ tự động và thủ công.</a:t>
            </a:r>
          </a:p>
        </p:txBody>
      </p:sp>
      <p:sp>
        <p:nvSpPr>
          <p:cNvPr id="14" name="Rounded Rectangle 13"/>
          <p:cNvSpPr/>
          <p:nvPr/>
        </p:nvSpPr>
        <p:spPr>
          <a:xfrm>
            <a:off x="548640" y="3255264"/>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Q3</a:t>
            </a:r>
          </a:p>
        </p:txBody>
      </p:sp>
      <p:sp>
        <p:nvSpPr>
          <p:cNvPr id="15" name="TextBox 14"/>
          <p:cNvSpPr txBox="1"/>
          <p:nvPr/>
        </p:nvSpPr>
        <p:spPr>
          <a:xfrm>
            <a:off x="1234440" y="3236976"/>
            <a:ext cx="10241280" cy="777240"/>
          </a:xfrm>
          <a:prstGeom prst="rect">
            <a:avLst/>
          </a:prstGeom>
          <a:noFill/>
        </p:spPr>
        <p:txBody>
          <a:bodyPr wrap="square" anchor="ctr">
            <a:spAutoFit/>
          </a:bodyPr>
          <a:lstStyle/>
          <a:p>
            <a:pPr algn="l">
              <a:lnSpc>
                <a:spcPct val="115000"/>
              </a:lnSpc>
            </a:pPr>
            <a:r>
              <a:rPr sz="1350" b="0" i="0">
                <a:solidFill>
                  <a:srgbClr val="1E293B"/>
                </a:solidFill>
                <a:latin typeface="Calibri"/>
              </a:rPr>
              <a:t>Nếu người dùng vừa gạt Switch bật bơm thủ công, vừa lúc đó độ ẩm đất đã rất cao (đất ướt), hệ thống hiện tại sẽ ưu tiên chế độ nào? Có hợp lý không?</a:t>
            </a:r>
          </a:p>
        </p:txBody>
      </p:sp>
      <p:sp>
        <p:nvSpPr>
          <p:cNvPr id="16" name="Rounded Rectangle 15"/>
          <p:cNvSpPr/>
          <p:nvPr/>
        </p:nvSpPr>
        <p:spPr>
          <a:xfrm>
            <a:off x="548640" y="4151376"/>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Q4</a:t>
            </a:r>
          </a:p>
        </p:txBody>
      </p:sp>
      <p:sp>
        <p:nvSpPr>
          <p:cNvPr id="17" name="TextBox 16"/>
          <p:cNvSpPr txBox="1"/>
          <p:nvPr/>
        </p:nvSpPr>
        <p:spPr>
          <a:xfrm>
            <a:off x="1234440" y="4133088"/>
            <a:ext cx="10241280" cy="777240"/>
          </a:xfrm>
          <a:prstGeom prst="rect">
            <a:avLst/>
          </a:prstGeom>
          <a:noFill/>
        </p:spPr>
        <p:txBody>
          <a:bodyPr wrap="square" anchor="ctr">
            <a:spAutoFit/>
          </a:bodyPr>
          <a:lstStyle/>
          <a:p>
            <a:pPr algn="l">
              <a:lnSpc>
                <a:spcPct val="115000"/>
              </a:lnSpc>
            </a:pPr>
            <a:r>
              <a:rPr sz="1350" b="0" i="0">
                <a:solidFill>
                  <a:srgbClr val="1E293B"/>
                </a:solidFill>
                <a:latin typeface="Calibri"/>
              </a:rPr>
              <a:t>Đề xuất cải tiến để tự động TẮT chế độ thủ công sau một khoảng thời gian nhất định (tránh quên tắt bơm bằng tay).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B9 · TỔNG KẾT</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Tổng kết buổi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B9</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24</a:t>
            </a:r>
          </a:p>
        </p:txBody>
      </p:sp>
      <p:sp>
        <p:nvSpPr>
          <p:cNvPr id="10" name="TextBox 9"/>
          <p:cNvSpPr txBox="1"/>
          <p:nvPr/>
        </p:nvSpPr>
        <p:spPr>
          <a:xfrm>
            <a:off x="548640" y="1371600"/>
            <a:ext cx="10881360" cy="365760"/>
          </a:xfrm>
          <a:prstGeom prst="rect">
            <a:avLst/>
          </a:prstGeom>
          <a:noFill/>
        </p:spPr>
        <p:txBody>
          <a:bodyPr wrap="square">
            <a:spAutoFit/>
          </a:bodyPr>
          <a:lstStyle/>
          <a:p>
            <a:pPr algn="l"/>
            <a:r>
              <a:rPr sz="1500" b="1" i="0">
                <a:solidFill>
                  <a:srgbClr val="1E293B"/>
                </a:solidFill>
                <a:latin typeface="Calibri"/>
              </a:rPr>
              <a:t>Những điều đã đạt được:</a:t>
            </a:r>
          </a:p>
        </p:txBody>
      </p:sp>
      <p:sp>
        <p:nvSpPr>
          <p:cNvPr id="11" name="TextBox 10"/>
          <p:cNvSpPr txBox="1"/>
          <p:nvPr/>
        </p:nvSpPr>
        <p:spPr>
          <a:xfrm>
            <a:off x="548640" y="1783080"/>
            <a:ext cx="10881360" cy="2377440"/>
          </a:xfrm>
          <a:prstGeom prst="rect">
            <a:avLst/>
          </a:prstGeom>
          <a:noFill/>
        </p:spPr>
        <p:txBody>
          <a:bodyPr wrap="square">
            <a:spAutoFit/>
          </a:bodyPr>
          <a:lstStyle/>
          <a:p>
            <a:pPr algn="l">
              <a:spcAft>
                <a:spcPts val="1000"/>
              </a:spcAft>
            </a:pPr>
            <a:r>
              <a:rPr sz="1400" b="1">
                <a:solidFill>
                  <a:srgbClr val="10B981"/>
                </a:solidFill>
                <a:latin typeface="Calibri"/>
              </a:rPr>
              <a:t>●  </a:t>
            </a:r>
            <a:r>
              <a:rPr sz="1400" b="0">
                <a:solidFill>
                  <a:srgbClr val="1E293B"/>
                </a:solidFill>
                <a:latin typeface="Calibri"/>
              </a:rPr>
              <a:t>Đã triển khai thành công điều khiển 2 chiều đầu tiên trong chuỗi bài — App không chỉ xem mà còn RA LỆNH cho thiết bị.</a:t>
            </a:r>
          </a:p>
          <a:p>
            <a:pPr algn="l">
              <a:spcAft>
                <a:spcPts val="1000"/>
              </a:spcAft>
            </a:pPr>
            <a:r>
              <a:rPr sz="1400" b="1">
                <a:solidFill>
                  <a:srgbClr val="10B981"/>
                </a:solidFill>
                <a:latin typeface="Calibri"/>
              </a:rPr>
              <a:t>●  </a:t>
            </a:r>
            <a:r>
              <a:rPr sz="1400" b="0">
                <a:solidFill>
                  <a:srgbClr val="1E293B"/>
                </a:solidFill>
                <a:latin typeface="Calibri"/>
              </a:rPr>
              <a:t>Nắm vững cặp hàm cốt lõi của Blynk: Blynk.virtualWrite() (gửi lên) và BLYNK_WRITE() (nhận lệnh xuống).</a:t>
            </a:r>
          </a:p>
          <a:p>
            <a:pPr algn="l">
              <a:spcAft>
                <a:spcPts val="1000"/>
              </a:spcAft>
            </a:pPr>
            <a:r>
              <a:rPr sz="1400" b="1">
                <a:solidFill>
                  <a:srgbClr val="10B981"/>
                </a:solidFill>
                <a:latin typeface="Calibri"/>
              </a:rPr>
              <a:t>●  </a:t>
            </a:r>
            <a:r>
              <a:rPr sz="1400" b="0">
                <a:solidFill>
                  <a:srgbClr val="1E293B"/>
                </a:solidFill>
                <a:latin typeface="Calibri"/>
              </a:rPr>
              <a:t>Hiểu được bài toán thực tế khi kết hợp logic tự động (ngưỡng cảm biến) với can thiệp thủ công của con người.</a:t>
            </a:r>
          </a:p>
        </p:txBody>
      </p:sp>
      <p:sp>
        <p:nvSpPr>
          <p:cNvPr id="12" name="Rounded Rectangle 11"/>
          <p:cNvSpPr/>
          <p:nvPr/>
        </p:nvSpPr>
        <p:spPr>
          <a:xfrm>
            <a:off x="548640" y="4343400"/>
            <a:ext cx="10881360" cy="160020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10332720" cy="365760"/>
          </a:xfrm>
          <a:prstGeom prst="rect">
            <a:avLst/>
          </a:prstGeom>
          <a:noFill/>
        </p:spPr>
        <p:txBody>
          <a:bodyPr wrap="square">
            <a:spAutoFit/>
          </a:bodyPr>
          <a:lstStyle/>
          <a:p>
            <a:pPr algn="l"/>
            <a:r>
              <a:rPr sz="1300" b="1" i="0">
                <a:solidFill>
                  <a:srgbClr val="10B981"/>
                </a:solidFill>
                <a:latin typeface="Calibri"/>
              </a:rPr>
              <a:t>CHUẨN BỊ CHO BUỔI TIẾP THEO</a:t>
            </a:r>
          </a:p>
        </p:txBody>
      </p:sp>
      <p:sp>
        <p:nvSpPr>
          <p:cNvPr id="14" name="TextBox 13"/>
          <p:cNvSpPr txBox="1"/>
          <p:nvPr/>
        </p:nvSpPr>
        <p:spPr>
          <a:xfrm>
            <a:off x="822960" y="4892040"/>
            <a:ext cx="10332720" cy="960120"/>
          </a:xfrm>
          <a:prstGeom prst="rect">
            <a:avLst/>
          </a:prstGeom>
          <a:noFill/>
        </p:spPr>
        <p:txBody>
          <a:bodyPr wrap="square">
            <a:spAutoFit/>
          </a:bodyPr>
          <a:lstStyle/>
          <a:p>
            <a:pPr algn="l">
              <a:lnSpc>
                <a:spcPct val="120000"/>
              </a:lnSpc>
            </a:pPr>
            <a:r>
              <a:rPr sz="1350" b="0" i="0">
                <a:solidFill>
                  <a:srgbClr val="FFFFFF"/>
                </a:solidFill>
                <a:latin typeface="Calibri"/>
              </a:rPr>
              <a:t>Buổi 10: Mở rộng hệ thống cảnh báo khí độc Buổi 4 — tắt còi khẩn cấp từ xa và nhận thông báo nguy hiểm tức thời.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11277295" cy="594360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66663" y="91440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822960" y="1828800"/>
            <a:ext cx="10545775" cy="914400"/>
          </a:xfrm>
          <a:prstGeom prst="rect">
            <a:avLst/>
          </a:prstGeom>
          <a:noFill/>
        </p:spPr>
        <p:txBody>
          <a:bodyPr wrap="square">
            <a:spAutoFit/>
          </a:bodyPr>
          <a:lstStyle/>
          <a:p>
            <a:pPr algn="ctr"/>
            <a:r>
              <a:rPr sz="3000" b="1" i="0">
                <a:solidFill>
                  <a:srgbClr val="1E293B"/>
                </a:solidFill>
                <a:latin typeface="Calibri"/>
              </a:rPr>
              <a:t>CẢM ƠN CÁC BẠN ĐÃ THEO DÕI</a:t>
            </a:r>
          </a:p>
        </p:txBody>
      </p:sp>
      <p:sp>
        <p:nvSpPr>
          <p:cNvPr id="6" name="TextBox 5"/>
          <p:cNvSpPr txBox="1"/>
          <p:nvPr/>
        </p:nvSpPr>
        <p:spPr>
          <a:xfrm>
            <a:off x="822960" y="2651760"/>
            <a:ext cx="10545775" cy="548640"/>
          </a:xfrm>
          <a:prstGeom prst="rect">
            <a:avLst/>
          </a:prstGeom>
          <a:noFill/>
        </p:spPr>
        <p:txBody>
          <a:bodyPr wrap="square">
            <a:spAutoFit/>
          </a:bodyPr>
          <a:lstStyle/>
          <a:p>
            <a:pPr algn="ctr"/>
            <a:r>
              <a:rPr sz="1400" b="0" i="0">
                <a:solidFill>
                  <a:srgbClr val="8B5CF6"/>
                </a:solidFill>
                <a:latin typeface="Calibri"/>
              </a:rPr>
              <a:t>B9: Điều khiển Tưới cây từ xa</a:t>
            </a:r>
          </a:p>
        </p:txBody>
      </p:sp>
      <p:sp>
        <p:nvSpPr>
          <p:cNvPr id="7" name="Rounded Rectangle 6"/>
          <p:cNvSpPr/>
          <p:nvPr/>
        </p:nvSpPr>
        <p:spPr>
          <a:xfrm>
            <a:off x="3078327" y="3429000"/>
            <a:ext cx="2377440" cy="301752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60623" y="3575304"/>
            <a:ext cx="2212848" cy="2724912"/>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60623" y="3575304"/>
            <a:ext cx="2212848" cy="365760"/>
          </a:xfrm>
          <a:prstGeom prst="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FFFFFF"/>
                </a:solidFill>
                <a:latin typeface="Calibri"/>
              </a:rPr>
              <a:t>B9 App</a:t>
            </a:r>
          </a:p>
        </p:txBody>
      </p:sp>
      <p:sp>
        <p:nvSpPr>
          <p:cNvPr id="10" name="Rounded Rectangle 9"/>
          <p:cNvSpPr/>
          <p:nvPr/>
        </p:nvSpPr>
        <p:spPr>
          <a:xfrm>
            <a:off x="3233775" y="4014216"/>
            <a:ext cx="99669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489807" y="4105656"/>
            <a:ext cx="484632" cy="484632"/>
          </a:xfrm>
          <a:prstGeom prst="ellipse">
            <a:avLst/>
          </a:prstGeom>
          <a:solidFill>
            <a:srgbClr val="CFF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10B981"/>
                </a:solidFill>
                <a:latin typeface="Calibri"/>
              </a:rPr>
              <a:t>380</a:t>
            </a:r>
          </a:p>
        </p:txBody>
      </p:sp>
      <p:sp>
        <p:nvSpPr>
          <p:cNvPr id="12" name="TextBox 11"/>
          <p:cNvSpPr txBox="1"/>
          <p:nvPr/>
        </p:nvSpPr>
        <p:spPr>
          <a:xfrm>
            <a:off x="3325215" y="4626864"/>
            <a:ext cx="813815" cy="219456"/>
          </a:xfrm>
          <a:prstGeom prst="rect">
            <a:avLst/>
          </a:prstGeom>
          <a:noFill/>
        </p:spPr>
        <p:txBody>
          <a:bodyPr wrap="square">
            <a:spAutoFit/>
          </a:bodyPr>
          <a:lstStyle/>
          <a:p>
            <a:pPr algn="ctr"/>
            <a:r>
              <a:rPr sz="850" b="0" i="0">
                <a:solidFill>
                  <a:srgbClr val="475569"/>
                </a:solidFill>
                <a:latin typeface="Calibri"/>
              </a:rPr>
              <a:t>Độ ẩm đất</a:t>
            </a:r>
          </a:p>
        </p:txBody>
      </p:sp>
      <p:sp>
        <p:nvSpPr>
          <p:cNvPr id="13" name="Rounded Rectangle 12"/>
          <p:cNvSpPr/>
          <p:nvPr/>
        </p:nvSpPr>
        <p:spPr>
          <a:xfrm>
            <a:off x="4303623" y="4014216"/>
            <a:ext cx="99669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83099" y="4142232"/>
            <a:ext cx="237744" cy="23774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95063" y="4434840"/>
            <a:ext cx="813815" cy="237744"/>
          </a:xfrm>
          <a:prstGeom prst="rect">
            <a:avLst/>
          </a:prstGeom>
          <a:noFill/>
        </p:spPr>
        <p:txBody>
          <a:bodyPr wrap="square">
            <a:spAutoFit/>
          </a:bodyPr>
          <a:lstStyle/>
          <a:p>
            <a:pPr algn="ctr"/>
            <a:r>
              <a:rPr sz="900" b="1" i="0">
                <a:solidFill>
                  <a:srgbClr val="3B82F6"/>
                </a:solidFill>
                <a:latin typeface="Calibri"/>
              </a:rPr>
              <a:t>BẬT</a:t>
            </a:r>
          </a:p>
        </p:txBody>
      </p:sp>
      <p:sp>
        <p:nvSpPr>
          <p:cNvPr id="16" name="TextBox 15"/>
          <p:cNvSpPr txBox="1"/>
          <p:nvPr/>
        </p:nvSpPr>
        <p:spPr>
          <a:xfrm>
            <a:off x="4395063" y="4645152"/>
            <a:ext cx="813815" cy="219456"/>
          </a:xfrm>
          <a:prstGeom prst="rect">
            <a:avLst/>
          </a:prstGeom>
          <a:noFill/>
        </p:spPr>
        <p:txBody>
          <a:bodyPr wrap="square">
            <a:spAutoFit/>
          </a:bodyPr>
          <a:lstStyle/>
          <a:p>
            <a:pPr algn="ctr"/>
            <a:r>
              <a:rPr sz="850" b="0" i="0">
                <a:solidFill>
                  <a:srgbClr val="475569"/>
                </a:solidFill>
                <a:latin typeface="Calibri"/>
              </a:rPr>
              <a:t>Bơm đang chạy</a:t>
            </a:r>
          </a:p>
        </p:txBody>
      </p:sp>
      <p:sp>
        <p:nvSpPr>
          <p:cNvPr id="17" name="Rounded Rectangle 16"/>
          <p:cNvSpPr/>
          <p:nvPr/>
        </p:nvSpPr>
        <p:spPr>
          <a:xfrm>
            <a:off x="3233775" y="4956048"/>
            <a:ext cx="99669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03523" y="5102352"/>
            <a:ext cx="457200" cy="219456"/>
          </a:xfrm>
          <a:prstGeom prst="roundRect">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30955" y="512978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25215" y="5394960"/>
            <a:ext cx="813815" cy="219456"/>
          </a:xfrm>
          <a:prstGeom prst="rect">
            <a:avLst/>
          </a:prstGeom>
          <a:noFill/>
        </p:spPr>
        <p:txBody>
          <a:bodyPr wrap="square">
            <a:spAutoFit/>
          </a:bodyPr>
          <a:lstStyle/>
          <a:p>
            <a:pPr algn="ctr"/>
            <a:r>
              <a:rPr sz="850" b="0" i="0">
                <a:solidFill>
                  <a:srgbClr val="475569"/>
                </a:solidFill>
                <a:latin typeface="Calibri"/>
              </a:rPr>
              <a:t>Bật/Tắt thủ công</a:t>
            </a:r>
          </a:p>
        </p:txBody>
      </p:sp>
      <p:sp>
        <p:nvSpPr>
          <p:cNvPr id="21" name="Rounded Rectangle 20"/>
          <p:cNvSpPr/>
          <p:nvPr/>
        </p:nvSpPr>
        <p:spPr>
          <a:xfrm>
            <a:off x="4303623" y="4956048"/>
            <a:ext cx="99669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95063" y="5426964"/>
            <a:ext cx="90423" cy="123443"/>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39742" y="5344668"/>
            <a:ext cx="90423" cy="205739"/>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84420" y="5385816"/>
            <a:ext cx="90423" cy="164592"/>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29098" y="5262372"/>
            <a:ext cx="90423" cy="288035"/>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73777" y="5324094"/>
            <a:ext cx="90423" cy="226314"/>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18455" y="5221224"/>
            <a:ext cx="90423" cy="329184"/>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95063" y="5586984"/>
            <a:ext cx="813815" cy="219456"/>
          </a:xfrm>
          <a:prstGeom prst="rect">
            <a:avLst/>
          </a:prstGeom>
          <a:noFill/>
        </p:spPr>
        <p:txBody>
          <a:bodyPr wrap="square">
            <a:spAutoFit/>
          </a:bodyPr>
          <a:lstStyle/>
          <a:p>
            <a:pPr algn="ctr"/>
            <a:r>
              <a:rPr sz="850" b="0" i="0">
                <a:solidFill>
                  <a:srgbClr val="475569"/>
                </a:solidFill>
                <a:latin typeface="Calibri"/>
              </a:rPr>
              <a:t>Lịch sử độ ẩm đất</a:t>
            </a:r>
          </a:p>
        </p:txBody>
      </p:sp>
      <p:sp>
        <p:nvSpPr>
          <p:cNvPr id="29" name="Rounded Rectangle 28"/>
          <p:cNvSpPr/>
          <p:nvPr/>
        </p:nvSpPr>
        <p:spPr>
          <a:xfrm>
            <a:off x="6370167" y="3977639"/>
            <a:ext cx="3108960" cy="192024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70167" y="3977639"/>
            <a:ext cx="3108960" cy="365760"/>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507327" y="4105655"/>
            <a:ext cx="109728" cy="10972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708495" y="4105655"/>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909663" y="4105655"/>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93127" y="4032503"/>
            <a:ext cx="2103120" cy="274320"/>
          </a:xfrm>
          <a:prstGeom prst="rect">
            <a:avLst/>
          </a:prstGeom>
          <a:noFill/>
        </p:spPr>
        <p:txBody>
          <a:bodyPr wrap="square">
            <a:spAutoFit/>
          </a:bodyPr>
          <a:lstStyle/>
          <a:p>
            <a:pPr algn="l"/>
            <a:r>
              <a:rPr sz="1000" b="1" i="0">
                <a:solidFill>
                  <a:srgbClr val="475569"/>
                </a:solidFill>
                <a:latin typeface="Calibri"/>
              </a:rPr>
              <a:t>Web Dashboard</a:t>
            </a:r>
          </a:p>
        </p:txBody>
      </p:sp>
      <p:sp>
        <p:nvSpPr>
          <p:cNvPr id="35" name="Rounded Rectangle 34"/>
          <p:cNvSpPr/>
          <p:nvPr/>
        </p:nvSpPr>
        <p:spPr>
          <a:xfrm>
            <a:off x="6644487" y="4572000"/>
            <a:ext cx="256032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41183" y="4663440"/>
            <a:ext cx="566928" cy="566928"/>
          </a:xfrm>
          <a:prstGeom prst="ellipse">
            <a:avLst/>
          </a:prstGeom>
          <a:solidFill>
            <a:srgbClr val="CFF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10B981"/>
                </a:solidFill>
                <a:latin typeface="Calibri"/>
              </a:rPr>
              <a:t>380</a:t>
            </a:r>
          </a:p>
        </p:txBody>
      </p:sp>
      <p:sp>
        <p:nvSpPr>
          <p:cNvPr id="37" name="TextBox 36"/>
          <p:cNvSpPr txBox="1"/>
          <p:nvPr/>
        </p:nvSpPr>
        <p:spPr>
          <a:xfrm>
            <a:off x="6735927" y="5367528"/>
            <a:ext cx="2377440" cy="219456"/>
          </a:xfrm>
          <a:prstGeom prst="rect">
            <a:avLst/>
          </a:prstGeom>
          <a:noFill/>
        </p:spPr>
        <p:txBody>
          <a:bodyPr wrap="square">
            <a:spAutoFit/>
          </a:bodyPr>
          <a:lstStyle/>
          <a:p>
            <a:pPr algn="ctr"/>
            <a:r>
              <a:rPr sz="850" b="0" i="0">
                <a:solidFill>
                  <a:srgbClr val="475569"/>
                </a:solidFill>
                <a:latin typeface="Calibri"/>
              </a:rPr>
              <a:t>Độ ẩm đất</a:t>
            </a:r>
          </a:p>
        </p:txBody>
      </p:sp>
      <p:sp>
        <p:nvSpPr>
          <p:cNvPr id="38" name="Rounded Rectangle 37"/>
          <p:cNvSpPr/>
          <p:nvPr/>
        </p:nvSpPr>
        <p:spPr>
          <a:xfrm>
            <a:off x="6644487" y="5760720"/>
            <a:ext cx="256032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805775" y="5888736"/>
            <a:ext cx="237744" cy="23774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35927" y="6181343"/>
            <a:ext cx="2377440" cy="237744"/>
          </a:xfrm>
          <a:prstGeom prst="rect">
            <a:avLst/>
          </a:prstGeom>
          <a:noFill/>
        </p:spPr>
        <p:txBody>
          <a:bodyPr wrap="square">
            <a:spAutoFit/>
          </a:bodyPr>
          <a:lstStyle/>
          <a:p>
            <a:pPr algn="ctr"/>
            <a:r>
              <a:rPr sz="900" b="1" i="0">
                <a:solidFill>
                  <a:srgbClr val="3B82F6"/>
                </a:solidFill>
                <a:latin typeface="Calibri"/>
              </a:rPr>
              <a:t>BẬT</a:t>
            </a:r>
          </a:p>
        </p:txBody>
      </p:sp>
      <p:sp>
        <p:nvSpPr>
          <p:cNvPr id="41" name="TextBox 40"/>
          <p:cNvSpPr txBox="1"/>
          <p:nvPr/>
        </p:nvSpPr>
        <p:spPr>
          <a:xfrm>
            <a:off x="6735927" y="6574536"/>
            <a:ext cx="2377440" cy="219456"/>
          </a:xfrm>
          <a:prstGeom prst="rect">
            <a:avLst/>
          </a:prstGeom>
          <a:noFill/>
        </p:spPr>
        <p:txBody>
          <a:bodyPr wrap="square">
            <a:spAutoFit/>
          </a:bodyPr>
          <a:lstStyle/>
          <a:p>
            <a:pPr algn="ctr"/>
            <a:r>
              <a:rPr sz="850" b="0" i="0">
                <a:solidFill>
                  <a:srgbClr val="475569"/>
                </a:solidFill>
                <a:latin typeface="Calibri"/>
              </a:rPr>
              <a:t>Trạng thái bơm</a:t>
            </a:r>
          </a:p>
        </p:txBody>
      </p:sp>
      <p:sp>
        <p:nvSpPr>
          <p:cNvPr id="42" name="Rounded Rectangle 41"/>
          <p:cNvSpPr/>
          <p:nvPr/>
        </p:nvSpPr>
        <p:spPr>
          <a:xfrm>
            <a:off x="6644487" y="6949440"/>
            <a:ext cx="256032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735927" y="7548371"/>
            <a:ext cx="264160" cy="178307"/>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58583" y="7429500"/>
            <a:ext cx="264160" cy="297179"/>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581239" y="7488936"/>
            <a:ext cx="264160" cy="237743"/>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003895" y="7310627"/>
            <a:ext cx="264160" cy="416051"/>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426551" y="7399781"/>
            <a:ext cx="264160" cy="326898"/>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849207" y="7251192"/>
            <a:ext cx="264160" cy="475487"/>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5927" y="7763256"/>
            <a:ext cx="2377440" cy="219456"/>
          </a:xfrm>
          <a:prstGeom prst="rect">
            <a:avLst/>
          </a:prstGeom>
          <a:noFill/>
        </p:spPr>
        <p:txBody>
          <a:bodyPr wrap="square">
            <a:spAutoFit/>
          </a:bodyPr>
          <a:lstStyle/>
          <a:p>
            <a:pPr algn="ctr"/>
            <a:r>
              <a:rPr sz="850" b="0" i="0">
                <a:solidFill>
                  <a:srgbClr val="475569"/>
                </a:solidFill>
                <a:latin typeface="Calibri"/>
              </a:rPr>
              <a:t>Xu hướng độ ẩm</a:t>
            </a:r>
          </a:p>
        </p:txBody>
      </p:sp>
      <p:sp>
        <p:nvSpPr>
          <p:cNvPr id="50" name="TextBox 49"/>
          <p:cNvSpPr txBox="1"/>
          <p:nvPr/>
        </p:nvSpPr>
        <p:spPr>
          <a:xfrm>
            <a:off x="822960" y="6446520"/>
            <a:ext cx="10545775" cy="365760"/>
          </a:xfrm>
          <a:prstGeom prst="rect">
            <a:avLst/>
          </a:prstGeom>
          <a:noFill/>
        </p:spPr>
        <p:txBody>
          <a:bodyPr wrap="square">
            <a:spAutoFit/>
          </a:bodyPr>
          <a:lstStyle/>
          <a:p>
            <a:pPr algn="ctr"/>
            <a:r>
              <a:rPr sz="1100" b="0" i="0">
                <a:solidFill>
                  <a:srgbClr val="475569"/>
                </a:solidFill>
                <a:latin typeface="Calibri"/>
              </a:rPr>
              <a:t>Giảng viên hướng dẫn: Nguyễn Lê Tấn Đạt  ·  datnlt@tdmu.edu.vn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