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Nhiệt độ (°C)</c:v>
                </c:pt>
              </c:strCache>
            </c:strRef>
          </c:tx>
          <c:spPr>
            <a:ln w="31750">
              <a:solidFill>
                <a:srgbClr val="3B82F6"/>
              </a:solidFill>
            </a:ln>
          </c:spPr>
          <c:cat>
            <c:strRef>
              <c:f>Sheet1!$A$2:$A$9</c:f>
              <c:strCache>
                <c:ptCount val="8"/>
                <c:pt idx="0">
                  <c:v>0s</c:v>
                </c:pt>
                <c:pt idx="1">
                  <c:v>0.6s</c:v>
                </c:pt>
                <c:pt idx="2">
                  <c:v>1.2s</c:v>
                </c:pt>
                <c:pt idx="3">
                  <c:v>1.8s</c:v>
                </c:pt>
                <c:pt idx="4">
                  <c:v>2.4s</c:v>
                </c:pt>
                <c:pt idx="5">
                  <c:v>3.0s</c:v>
                </c:pt>
                <c:pt idx="6">
                  <c:v>3.6s</c:v>
                </c:pt>
                <c:pt idx="7">
                  <c:v>4.2s</c:v>
                </c:pt>
              </c:strCache>
            </c:strRef>
          </c:cat>
          <c:val>
            <c:numRef>
              <c:f>Sheet1!$B$2:$B$9</c:f>
              <c:numCache>
                <c:formatCode>General</c:formatCode>
                <c:ptCount val="8"/>
                <c:pt idx="0">
                  <c:v>27</c:v>
                </c:pt>
                <c:pt idx="1">
                  <c:v>28</c:v>
                </c:pt>
                <c:pt idx="2">
                  <c:v>28</c:v>
                </c:pt>
                <c:pt idx="3">
                  <c:v>29</c:v>
                </c:pt>
                <c:pt idx="4">
                  <c:v>30</c:v>
                </c:pt>
                <c:pt idx="5">
                  <c:v>31</c:v>
                </c:pt>
                <c:pt idx="6">
                  <c:v>30</c:v>
                </c:pt>
                <c:pt idx="7">
                  <c:v>29</c:v>
                </c:pt>
              </c:numCache>
            </c:numRef>
          </c:val>
          <c:smooth val="0"/>
        </c:ser>
        <c:ser>
          <c:idx val="1"/>
          <c:order val="1"/>
          <c:tx>
            <c:strRef>
              <c:f>Sheet1!$C$1</c:f>
              <c:strCache>
                <c:ptCount val="1"/>
                <c:pt idx="0">
                  <c:v>Độ ẩm (%RH)</c:v>
                </c:pt>
              </c:strCache>
            </c:strRef>
          </c:tx>
          <c:spPr>
            <a:ln w="31750">
              <a:solidFill>
                <a:srgbClr val="EF4444"/>
              </a:solidFill>
            </a:ln>
          </c:spPr>
          <c:cat>
            <c:strRef>
              <c:f>Sheet1!$A$2:$A$9</c:f>
              <c:strCache>
                <c:ptCount val="8"/>
                <c:pt idx="0">
                  <c:v>0s</c:v>
                </c:pt>
                <c:pt idx="1">
                  <c:v>0.6s</c:v>
                </c:pt>
                <c:pt idx="2">
                  <c:v>1.2s</c:v>
                </c:pt>
                <c:pt idx="3">
                  <c:v>1.8s</c:v>
                </c:pt>
                <c:pt idx="4">
                  <c:v>2.4s</c:v>
                </c:pt>
                <c:pt idx="5">
                  <c:v>3.0s</c:v>
                </c:pt>
                <c:pt idx="6">
                  <c:v>3.6s</c:v>
                </c:pt>
                <c:pt idx="7">
                  <c:v>4.2s</c:v>
                </c:pt>
              </c:strCache>
            </c:strRef>
          </c:cat>
          <c:val>
            <c:numRef>
              <c:f>Sheet1!$C$2:$C$9</c:f>
              <c:numCache>
                <c:formatCode>General</c:formatCode>
                <c:ptCount val="8"/>
                <c:pt idx="0">
                  <c:v>65</c:v>
                </c:pt>
                <c:pt idx="1">
                  <c:v>64</c:v>
                </c:pt>
                <c:pt idx="2">
                  <c:v>63</c:v>
                </c:pt>
                <c:pt idx="3">
                  <c:v>62</c:v>
                </c:pt>
                <c:pt idx="4">
                  <c:v>61</c:v>
                </c:pt>
                <c:pt idx="5">
                  <c:v>60</c:v>
                </c:pt>
                <c:pt idx="6">
                  <c:v>59</c:v>
                </c:pt>
                <c:pt idx="7">
                  <c:v>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10B981"/>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400" b="1" i="0">
                <a:solidFill>
                  <a:srgbClr val="F59E0B"/>
                </a:solidFill>
                <a:latin typeface="Calibri"/>
              </a:rPr>
              <a:t>BUỔI 1/6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3000" b="1" i="0">
                <a:solidFill>
                  <a:srgbClr val="1E293B"/>
                </a:solidFill>
                <a:latin typeface="Calibri"/>
              </a:rPr>
              <a:t>B1: Quan trắc Khí hậu (DHT11 + LCD1602)</a:t>
            </a:r>
          </a:p>
        </p:txBody>
      </p:sp>
      <p:sp>
        <p:nvSpPr>
          <p:cNvPr id="10" name="TextBox 9"/>
          <p:cNvSpPr txBox="1"/>
          <p:nvPr/>
        </p:nvSpPr>
        <p:spPr>
          <a:xfrm>
            <a:off x="640080" y="3657600"/>
            <a:ext cx="5394960" cy="1371600"/>
          </a:xfrm>
          <a:prstGeom prst="rect">
            <a:avLst/>
          </a:prstGeom>
          <a:noFill/>
        </p:spPr>
        <p:txBody>
          <a:bodyPr wrap="square">
            <a:spAutoFit/>
          </a:bodyPr>
          <a:lstStyle/>
          <a:p>
            <a:pPr algn="l">
              <a:lnSpc>
                <a:spcPct val="125000"/>
              </a:lnSpc>
            </a:pPr>
            <a:r>
              <a:rPr sz="1350" b="0" i="0">
                <a:solidFill>
                  <a:srgbClr val="475569"/>
                </a:solidFill>
                <a:latin typeface="Calibri"/>
              </a:rPr>
              <a:t>Đọc nhiệt độ &amp; độ ẩm không khí bằng DHT11, hiển thị realtime lên LCD1602 và Serial Monitor</a:t>
            </a:r>
          </a:p>
        </p:txBody>
      </p:sp>
      <p:cxnSp>
        <p:nvCxnSpPr>
          <p:cNvPr id="11" name="Connector 10"/>
          <p:cNvCxnSpPr/>
          <p:nvPr/>
        </p:nvCxnSpPr>
        <p:spPr>
          <a:xfrm>
            <a:off x="640080" y="525780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1324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05856"/>
            <a:ext cx="5394960" cy="274320"/>
          </a:xfrm>
          <a:prstGeom prst="rect">
            <a:avLst/>
          </a:prstGeom>
          <a:noFill/>
        </p:spPr>
        <p:txBody>
          <a:bodyPr wrap="square">
            <a:spAutoFit/>
          </a:bodyPr>
          <a:lstStyle/>
          <a:p>
            <a:pPr algn="l"/>
            <a:r>
              <a:rPr sz="1050" b="0" i="0">
                <a:solidFill>
                  <a:srgbClr val="475569"/>
                </a:solidFill>
                <a:latin typeface="Calibri"/>
              </a:rPr>
              <a:t>Board sử dụng: ESP32-S3-DevKitC-1</a:t>
            </a:r>
          </a:p>
        </p:txBody>
      </p:sp>
      <p:sp>
        <p:nvSpPr>
          <p:cNvPr id="14" name="TextBox 13"/>
          <p:cNvSpPr txBox="1"/>
          <p:nvPr/>
        </p:nvSpPr>
        <p:spPr>
          <a:xfrm>
            <a:off x="640080" y="5961888"/>
            <a:ext cx="5394960" cy="274320"/>
          </a:xfrm>
          <a:prstGeom prst="rect">
            <a:avLst/>
          </a:prstGeom>
          <a:noFill/>
        </p:spPr>
        <p:txBody>
          <a:bodyPr wrap="square">
            <a:spAutoFit/>
          </a:bodyPr>
          <a:lstStyle/>
          <a:p>
            <a:pPr algn="l"/>
            <a:r>
              <a:rPr sz="1050" b="0" i="0">
                <a:solidFill>
                  <a:srgbClr val="475569"/>
                </a:solidFill>
                <a:latin typeface="Calibri"/>
              </a:rPr>
              <a:t>datnlt@tdmu.edu.vn</a:t>
            </a:r>
          </a:p>
        </p:txBody>
      </p:sp>
      <p:sp>
        <p:nvSpPr>
          <p:cNvPr id="15" name="Rounded Rectangle 14"/>
          <p:cNvSpPr/>
          <p:nvPr/>
        </p:nvSpPr>
        <p:spPr>
          <a:xfrm>
            <a:off x="6720840" y="640080"/>
            <a:ext cx="2743200" cy="3063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sp32s3.jpg"/>
          <p:cNvPicPr>
            <a:picLocks noChangeAspect="1"/>
          </p:cNvPicPr>
          <p:nvPr/>
        </p:nvPicPr>
        <p:blipFill>
          <a:blip r:embed="rId2"/>
          <a:stretch>
            <a:fillRect/>
          </a:stretch>
        </p:blipFill>
        <p:spPr>
          <a:xfrm>
            <a:off x="6812279" y="1189817"/>
            <a:ext cx="2560320" cy="1963765"/>
          </a:xfrm>
          <a:prstGeom prst="rect">
            <a:avLst/>
          </a:prstGeom>
        </p:spPr>
      </p:pic>
      <p:sp>
        <p:nvSpPr>
          <p:cNvPr id="17" name="Rounded Rectangle 16"/>
          <p:cNvSpPr/>
          <p:nvPr/>
        </p:nvSpPr>
        <p:spPr>
          <a:xfrm>
            <a:off x="9281160" y="2148840"/>
            <a:ext cx="2423160" cy="27432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ht11.jpg"/>
          <p:cNvPicPr>
            <a:picLocks noChangeAspect="1"/>
          </p:cNvPicPr>
          <p:nvPr/>
        </p:nvPicPr>
        <p:blipFill>
          <a:blip r:embed="rId3"/>
          <a:stretch>
            <a:fillRect/>
          </a:stretch>
        </p:blipFill>
        <p:spPr>
          <a:xfrm>
            <a:off x="9532620" y="2240280"/>
            <a:ext cx="1920239" cy="2560320"/>
          </a:xfrm>
          <a:prstGeom prst="rect">
            <a:avLst/>
          </a:prstGeom>
        </p:spPr>
      </p:pic>
      <p:sp>
        <p:nvSpPr>
          <p:cNvPr id="19" name="Rounded Rectangle 18"/>
          <p:cNvSpPr/>
          <p:nvPr/>
        </p:nvSpPr>
        <p:spPr>
          <a:xfrm>
            <a:off x="7635240" y="3977639"/>
            <a:ext cx="3291840" cy="23317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sp32s3.jpg"/>
          <p:cNvPicPr>
            <a:picLocks noChangeAspect="1"/>
          </p:cNvPicPr>
          <p:nvPr/>
        </p:nvPicPr>
        <p:blipFill>
          <a:blip r:embed="rId2"/>
          <a:stretch>
            <a:fillRect/>
          </a:stretch>
        </p:blipFill>
        <p:spPr>
          <a:xfrm>
            <a:off x="7880351" y="4069079"/>
            <a:ext cx="2801616" cy="2148839"/>
          </a:xfrm>
          <a:prstGeom prst="rect">
            <a:avLst/>
          </a:prstGeom>
        </p:spPr>
      </p:pic>
      <p:sp>
        <p:nvSpPr>
          <p:cNvPr id="21" name="TextBox 20"/>
          <p:cNvSpPr txBox="1"/>
          <p:nvPr/>
        </p:nvSpPr>
        <p:spPr>
          <a:xfrm>
            <a:off x="6720840" y="6473952"/>
            <a:ext cx="4937760" cy="274320"/>
          </a:xfrm>
          <a:prstGeom prst="rect">
            <a:avLst/>
          </a:prstGeom>
          <a:noFill/>
        </p:spPr>
        <p:txBody>
          <a:bodyPr wrap="square">
            <a:spAutoFit/>
          </a:bodyPr>
          <a:lstStyle/>
          <a:p>
            <a:pPr algn="r"/>
            <a:r>
              <a:rPr sz="850" b="0" i="1">
                <a:solidFill>
                  <a:srgbClr val="94A3B8"/>
                </a:solidFill>
                <a:latin typeface="Calibri"/>
              </a:rPr>
              <a:t>Ảnh minh hoạ thiết bị thực tế sử dụng trong bài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 · MỞ ĐẦU</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1</a:t>
            </a:r>
          </a:p>
        </p:txBody>
      </p:sp>
      <p:sp>
        <p:nvSpPr>
          <p:cNvPr id="11" name="TextBox 10"/>
          <p:cNvSpPr txBox="1"/>
          <p:nvPr/>
        </p:nvSpPr>
        <p:spPr>
          <a:xfrm>
            <a:off x="1325880" y="1444752"/>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tổng quan mô hình hệ thống IoT quan trắc môi trường: Cảm biến → Vi điều khiển → Hiển thị/Cảnh báo.</a:t>
            </a:r>
          </a:p>
        </p:txBody>
      </p:sp>
      <p:sp>
        <p:nvSpPr>
          <p:cNvPr id="12" name="Oval 11"/>
          <p:cNvSpPr/>
          <p:nvPr/>
        </p:nvSpPr>
        <p:spPr>
          <a:xfrm>
            <a:off x="548640" y="235000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2</a:t>
            </a:r>
          </a:p>
        </p:txBody>
      </p:sp>
      <p:sp>
        <p:nvSpPr>
          <p:cNvPr id="13" name="TextBox 12"/>
          <p:cNvSpPr txBox="1"/>
          <p:nvPr/>
        </p:nvSpPr>
        <p:spPr>
          <a:xfrm>
            <a:off x="1325880" y="2377440"/>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Đọc được dữ liệu nhiệt độ và độ ẩm không khí từ cảm biến DHT11.</a:t>
            </a:r>
          </a:p>
        </p:txBody>
      </p:sp>
      <p:sp>
        <p:nvSpPr>
          <p:cNvPr id="14" name="Oval 13"/>
          <p:cNvSpPr/>
          <p:nvPr/>
        </p:nvSpPr>
        <p:spPr>
          <a:xfrm>
            <a:off x="548640" y="328269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3</a:t>
            </a:r>
          </a:p>
        </p:txBody>
      </p:sp>
      <p:sp>
        <p:nvSpPr>
          <p:cNvPr id="15" name="TextBox 14"/>
          <p:cNvSpPr txBox="1"/>
          <p:nvPr/>
        </p:nvSpPr>
        <p:spPr>
          <a:xfrm>
            <a:off x="1325880" y="3310128"/>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Hiển thị dữ liệu theo thời gian thực lên màn hình LCD1602 giao tiếp I2C (chỉ 2 dây tín hiệu).</a:t>
            </a:r>
          </a:p>
        </p:txBody>
      </p:sp>
      <p:sp>
        <p:nvSpPr>
          <p:cNvPr id="16" name="Oval 15"/>
          <p:cNvSpPr/>
          <p:nvPr/>
        </p:nvSpPr>
        <p:spPr>
          <a:xfrm>
            <a:off x="548640" y="421538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4</a:t>
            </a:r>
          </a:p>
        </p:txBody>
      </p:sp>
      <p:sp>
        <p:nvSpPr>
          <p:cNvPr id="17" name="TextBox 16"/>
          <p:cNvSpPr txBox="1"/>
          <p:nvPr/>
        </p:nvSpPr>
        <p:spPr>
          <a:xfrm>
            <a:off x="1325880" y="4242816"/>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Làm quen môi trường lập trình Arduino/ESP32: cấu trúc setup(), loop(), Serial Monitor.</a:t>
            </a:r>
          </a:p>
        </p:txBody>
      </p:sp>
      <p:sp>
        <p:nvSpPr>
          <p:cNvPr id="18" name="Rectangle 17"/>
          <p:cNvSpPr/>
          <p:nvPr/>
        </p:nvSpPr>
        <p:spPr>
          <a:xfrm>
            <a:off x="548640" y="5193792"/>
            <a:ext cx="10881360" cy="18288"/>
          </a:xfrm>
          <a:prstGeom prst="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330952"/>
            <a:ext cx="10881360" cy="457200"/>
          </a:xfrm>
          <a:prstGeom prst="rect">
            <a:avLst/>
          </a:prstGeom>
          <a:noFill/>
        </p:spPr>
        <p:txBody>
          <a:bodyPr wrap="square">
            <a:spAutoFit/>
          </a:bodyPr>
          <a:lstStyle/>
          <a:p>
            <a:pPr algn="l"/>
            <a:r>
              <a:rPr sz="1250" b="1" i="0">
                <a:solidFill>
                  <a:srgbClr val="475569"/>
                </a:solidFill>
                <a:latin typeface="Calibri"/>
              </a:rPr>
              <a:t>Board sử dụng: ESP32-S3-DevKitC-1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 · LÝ THUYẾT NỀN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Nguyên lý cảm biến DHT11</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17320"/>
            <a:ext cx="11064240" cy="4846320"/>
          </a:xfrm>
          <a:prstGeom prst="rect">
            <a:avLst/>
          </a:prstGeom>
          <a:noFill/>
        </p:spPr>
        <p:txBody>
          <a:bodyPr wrap="square">
            <a:spAutoFit/>
          </a:bodyPr>
          <a:lstStyle/>
          <a:p>
            <a:pPr algn="l">
              <a:spcAft>
                <a:spcPts val="1400"/>
              </a:spcAft>
            </a:pPr>
            <a:r>
              <a:rPr sz="1550" b="1">
                <a:solidFill>
                  <a:srgbClr val="3B82F6"/>
                </a:solidFill>
                <a:latin typeface="Calibri"/>
              </a:rPr>
              <a:t>●  </a:t>
            </a:r>
            <a:r>
              <a:rPr sz="1550" b="0">
                <a:solidFill>
                  <a:srgbClr val="1E293B"/>
                </a:solidFill>
                <a:latin typeface="Calibri"/>
              </a:rPr>
              <a:t>DHT11 tích hợp 2 cảm biến trong 1 vỏ: nhiệt điện trở NTC (đo nhiệt độ) và cảm biến điện dung polymer (đo độ ẩm).</a:t>
            </a:r>
          </a:p>
          <a:p>
            <a:pPr algn="l">
              <a:spcAft>
                <a:spcPts val="1400"/>
              </a:spcAft>
            </a:pPr>
            <a:r>
              <a:rPr sz="1550" b="1">
                <a:solidFill>
                  <a:srgbClr val="3B82F6"/>
                </a:solidFill>
                <a:latin typeface="Calibri"/>
              </a:rPr>
              <a:t>●  </a:t>
            </a:r>
            <a:r>
              <a:rPr sz="1550" b="0">
                <a:solidFill>
                  <a:srgbClr val="1E293B"/>
                </a:solidFill>
                <a:latin typeface="Calibri"/>
              </a:rPr>
              <a:t>Vi xử lý 8-bit bên trong DHT11 xử lý tín hiệu analog rồi xuất ra qua 1 chân DATA duy nhất, theo giao thức số riêng của Dallas/Aosong (khác I2C, khác SPI chuẩn).</a:t>
            </a:r>
          </a:p>
          <a:p>
            <a:pPr algn="l">
              <a:spcAft>
                <a:spcPts val="1400"/>
              </a:spcAft>
            </a:pPr>
            <a:r>
              <a:rPr sz="1550" b="1">
                <a:solidFill>
                  <a:srgbClr val="3B82F6"/>
                </a:solidFill>
                <a:latin typeface="Calibri"/>
              </a:rPr>
              <a:t>●  </a:t>
            </a:r>
            <a:r>
              <a:rPr sz="1550" b="0">
                <a:solidFill>
                  <a:srgbClr val="1E293B"/>
                </a:solidFill>
                <a:latin typeface="Calibri"/>
              </a:rPr>
              <a:t>Dải đo: Nhiệt độ 0–50°C (sai số ±2°C); Độ ẩm 20–90 %RH (sai số ±5 %RH) — độ chính xác vừa phải, phù hợp ứng dụng giáo dục/dân dụng.</a:t>
            </a:r>
          </a:p>
          <a:p>
            <a:pPr algn="l">
              <a:spcAft>
                <a:spcPts val="1400"/>
              </a:spcAft>
            </a:pPr>
            <a:r>
              <a:rPr sz="1550" b="1">
                <a:solidFill>
                  <a:srgbClr val="3B82F6"/>
                </a:solidFill>
                <a:latin typeface="Calibri"/>
              </a:rPr>
              <a:t>●  </a:t>
            </a:r>
            <a:r>
              <a:rPr sz="1550" b="0">
                <a:solidFill>
                  <a:srgbClr val="1E293B"/>
                </a:solidFill>
                <a:latin typeface="Calibri"/>
              </a:rPr>
              <a:t>Chu kỳ lấy mẫu tối thiểu ~1 giây/lần — đọc liên tục quá nhanh (vài chục ms) sẽ cho dữ liệu không ổn định hoặc lỗi.</a:t>
            </a:r>
          </a:p>
          <a:p>
            <a:pPr algn="l">
              <a:spcAft>
                <a:spcPts val="1400"/>
              </a:spcAft>
            </a:pPr>
            <a:r>
              <a:rPr sz="1550" b="1">
                <a:solidFill>
                  <a:srgbClr val="3B82F6"/>
                </a:solidFill>
                <a:latin typeface="Calibri"/>
              </a:rPr>
              <a:t>●  </a:t>
            </a:r>
            <a:r>
              <a:rPr sz="1550" b="0">
                <a:solidFill>
                  <a:srgbClr val="1E293B"/>
                </a:solidFill>
                <a:latin typeface="Calibri"/>
              </a:rPr>
              <a:t>Trong bộ mô phỏng của bài học: dùng analogRead()/dhtReadHumidity() để đơn giản hoá việc đọc số liệu qua thanh trượt cấu hình, thay cho thư viện DHT.h thực tế (vốn cần giải mã xung theo thời gian).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B1 ·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Danh sách linh kiện sử dụng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graphicFrame>
        <p:nvGraphicFramePr>
          <p:cNvPr id="10" name="Table 9"/>
          <p:cNvGraphicFramePr>
            <a:graphicFrameLocks noGrp="1"/>
          </p:cNvGraphicFramePr>
          <p:nvPr/>
        </p:nvGraphicFramePr>
        <p:xfrm>
          <a:off x="548640" y="1417320"/>
          <a:ext cx="11064240" cy="2971800"/>
        </p:xfrm>
        <a:graphic>
          <a:graphicData uri="http://schemas.openxmlformats.org/drawingml/2006/table">
            <a:tbl>
              <a:tblPr>
                <a:tableStyleId>{5C22544A-7EE6-4342-B048-85BDC9FD1C3A}</a:tableStyleId>
              </a:tblPr>
              <a:tblGrid>
                <a:gridCol w="2766060"/>
                <a:gridCol w="5532120"/>
                <a:gridCol w="2766060"/>
              </a:tblGrid>
              <a:tr h="742950">
                <a:tc>
                  <a:txBody>
                    <a:bodyPr wrap="square"/>
                    <a:lstStyle/>
                    <a:p>
                      <a:pPr algn="ctr"/>
                      <a:r>
                        <a:rPr sz="1400" b="1">
                          <a:solidFill>
                            <a:srgbClr val="FFFFFF"/>
                          </a:solidFill>
                          <a:latin typeface="Calibri"/>
                        </a:rPr>
                        <a:t>Linh kiện</a:t>
                      </a:r>
                    </a:p>
                  </a:txBody>
                  <a:tcPr marL="73152" marR="73152" marT="36576" marB="36576" anchor="ctr">
                    <a:solidFill>
                      <a:srgbClr val="F59E0B"/>
                    </a:solidFill>
                  </a:tcPr>
                </a:tc>
                <a:tc>
                  <a:txBody>
                    <a:bodyPr wrap="square"/>
                    <a:lstStyle/>
                    <a:p>
                      <a:pPr algn="ctr"/>
                      <a:r>
                        <a:rPr sz="1400" b="1">
                          <a:solidFill>
                            <a:srgbClr val="FFFFFF"/>
                          </a:solidFill>
                          <a:latin typeface="Calibri"/>
                        </a:rPr>
                        <a:t>Chức năng</a:t>
                      </a:r>
                    </a:p>
                  </a:txBody>
                  <a:tcPr marL="73152" marR="73152" marT="36576" marB="36576" anchor="ctr">
                    <a:solidFill>
                      <a:srgbClr val="F59E0B"/>
                    </a:solidFill>
                  </a:tcPr>
                </a:tc>
                <a:tc>
                  <a:txBody>
                    <a:bodyPr wrap="square"/>
                    <a:lstStyle/>
                    <a:p>
                      <a:pPr algn="ctr"/>
                      <a:r>
                        <a:rPr sz="1400" b="1">
                          <a:solidFill>
                            <a:srgbClr val="FFFFFF"/>
                          </a:solidFill>
                          <a:latin typeface="Calibri"/>
                        </a:rPr>
                        <a:t>Chân kết nối</a:t>
                      </a:r>
                    </a:p>
                  </a:txBody>
                  <a:tcPr marL="73152" marR="73152" marT="36576" marB="36576" anchor="ctr">
                    <a:solidFill>
                      <a:srgbClr val="F59E0B"/>
                    </a:solidFill>
                  </a:tcPr>
                </a:tc>
              </a:tr>
              <a:tr h="742950">
                <a:tc>
                  <a:txBody>
                    <a:bodyPr wrap="square"/>
                    <a:lstStyle/>
                    <a:p>
                      <a:pPr algn="l"/>
                      <a:r>
                        <a:rPr sz="1300" b="0">
                          <a:solidFill>
                            <a:srgbClr val="1E293B"/>
                          </a:solidFill>
                          <a:latin typeface="Calibri"/>
                        </a:rPr>
                        <a:t>ESP32-S3-DevKitC-1</a:t>
                      </a:r>
                    </a:p>
                  </a:txBody>
                  <a:tcPr marL="73152" marR="73152" marT="36576" marB="36576" anchor="ctr">
                    <a:solidFill>
                      <a:srgbClr val="FFFFFF"/>
                    </a:solidFill>
                  </a:tcPr>
                </a:tc>
                <a:tc>
                  <a:txBody>
                    <a:bodyPr wrap="square"/>
                    <a:lstStyle/>
                    <a:p>
                      <a:pPr algn="l"/>
                      <a:r>
                        <a:rPr sz="1300" b="0">
                          <a:solidFill>
                            <a:srgbClr val="475569"/>
                          </a:solidFill>
                          <a:latin typeface="Calibri"/>
                        </a:rPr>
                        <a:t>Vi điều khiển trung tâm, xử lý &amp; điều phối toàn hệ thống</a:t>
                      </a:r>
                    </a:p>
                  </a:txBody>
                  <a:tcPr marL="73152" marR="73152" marT="36576" marB="36576" anchor="ctr">
                    <a:solidFill>
                      <a:srgbClr val="FFFFFF"/>
                    </a:solidFill>
                  </a:tcPr>
                </a:tc>
                <a:tc>
                  <a:txBody>
                    <a:bodyPr wrap="square"/>
                    <a:lstStyle/>
                    <a:p>
                      <a:pPr algn="ctr"/>
                      <a:r>
                        <a:rPr sz="1300" b="0">
                          <a:solidFill>
                            <a:srgbClr val="3B82F6"/>
                          </a:solidFill>
                          <a:latin typeface="Calibri"/>
                        </a:rPr>
                        <a:t>—</a:t>
                      </a:r>
                    </a:p>
                  </a:txBody>
                  <a:tcPr marL="73152" marR="73152" marT="36576" marB="36576" anchor="ctr">
                    <a:solidFill>
                      <a:srgbClr val="FFFFFF"/>
                    </a:solidFill>
                  </a:tcPr>
                </a:tc>
              </a:tr>
              <a:tr h="742950">
                <a:tc>
                  <a:txBody>
                    <a:bodyPr wrap="square"/>
                    <a:lstStyle/>
                    <a:p>
                      <a:pPr algn="l"/>
                      <a:r>
                        <a:rPr sz="1300" b="0">
                          <a:solidFill>
                            <a:srgbClr val="1E293B"/>
                          </a:solidFill>
                          <a:latin typeface="Calibri"/>
                        </a:rPr>
                        <a:t>DHT11</a:t>
                      </a:r>
                    </a:p>
                  </a:txBody>
                  <a:tcPr marL="73152" marR="73152" marT="36576" marB="36576" anchor="ctr">
                    <a:solidFill>
                      <a:srgbClr val="FFFFFF"/>
                    </a:solidFill>
                  </a:tcPr>
                </a:tc>
                <a:tc>
                  <a:txBody>
                    <a:bodyPr wrap="square"/>
                    <a:lstStyle/>
                    <a:p>
                      <a:pPr algn="l"/>
                      <a:r>
                        <a:rPr sz="1300" b="0">
                          <a:solidFill>
                            <a:srgbClr val="475569"/>
                          </a:solidFill>
                          <a:latin typeface="Calibri"/>
                        </a:rPr>
                        <a:t>Cảm biến nhiệt độ &amp; độ ẩm không khí (digital)</a:t>
                      </a:r>
                    </a:p>
                  </a:txBody>
                  <a:tcPr marL="73152" marR="73152" marT="36576" marB="36576" anchor="ctr">
                    <a:solidFill>
                      <a:srgbClr val="FFFFFF"/>
                    </a:solidFill>
                  </a:tcPr>
                </a:tc>
                <a:tc>
                  <a:txBody>
                    <a:bodyPr wrap="square"/>
                    <a:lstStyle/>
                    <a:p>
                      <a:pPr algn="ctr"/>
                      <a:r>
                        <a:rPr sz="1300" b="0">
                          <a:solidFill>
                            <a:srgbClr val="10B981"/>
                          </a:solidFill>
                          <a:latin typeface="Calibri"/>
                        </a:rPr>
                        <a:t>GPIO15</a:t>
                      </a:r>
                    </a:p>
                  </a:txBody>
                  <a:tcPr marL="73152" marR="73152" marT="36576" marB="36576" anchor="ctr">
                    <a:solidFill>
                      <a:srgbClr val="FFFFFF"/>
                    </a:solidFill>
                  </a:tcPr>
                </a:tc>
              </a:tr>
              <a:tr h="742950">
                <a:tc>
                  <a:txBody>
                    <a:bodyPr wrap="square"/>
                    <a:lstStyle/>
                    <a:p>
                      <a:pPr algn="l"/>
                      <a:r>
                        <a:rPr sz="1300" b="0">
                          <a:solidFill>
                            <a:srgbClr val="1E293B"/>
                          </a:solidFill>
                          <a:latin typeface="Calibri"/>
                        </a:rPr>
                        <a:t>LCD1602 (I2C)</a:t>
                      </a:r>
                    </a:p>
                  </a:txBody>
                  <a:tcPr marL="73152" marR="73152" marT="36576" marB="36576" anchor="ctr">
                    <a:solidFill>
                      <a:srgbClr val="FFFFFF"/>
                    </a:solidFill>
                  </a:tcPr>
                </a:tc>
                <a:tc>
                  <a:txBody>
                    <a:bodyPr wrap="square"/>
                    <a:lstStyle/>
                    <a:p>
                      <a:pPr algn="l"/>
                      <a:r>
                        <a:rPr sz="1300" b="0">
                          <a:solidFill>
                            <a:srgbClr val="475569"/>
                          </a:solidFill>
                          <a:latin typeface="Calibri"/>
                        </a:rPr>
                        <a:t>Màn hình hiển thị 16x2 ký tự, giao tiếp I2C</a:t>
                      </a:r>
                    </a:p>
                  </a:txBody>
                  <a:tcPr marL="73152" marR="73152" marT="36576" marB="36576" anchor="ctr">
                    <a:solidFill>
                      <a:srgbClr val="FFFFFF"/>
                    </a:solidFill>
                  </a:tcPr>
                </a:tc>
                <a:tc>
                  <a:txBody>
                    <a:bodyPr wrap="square"/>
                    <a:lstStyle/>
                    <a:p>
                      <a:pPr algn="ctr"/>
                      <a:r>
                        <a:rPr sz="1300" b="0">
                          <a:solidFill>
                            <a:srgbClr val="F59E0B"/>
                          </a:solidFill>
                          <a:latin typeface="Calibri"/>
                        </a:rPr>
                        <a:t>SCL: GPIO9 · SDA: GPIO8</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B1 · HÌNH ẢNH THIẾT BỊ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Nhận diện linh kiện phần cứng</a:t>
            </a:r>
          </a:p>
        </p:txBody>
      </p:sp>
      <p:sp>
        <p:nvSpPr>
          <p:cNvPr id="7" name="TextBox 6"/>
          <p:cNvSpPr txBox="1"/>
          <p:nvPr/>
        </p:nvSpPr>
        <p:spPr>
          <a:xfrm>
            <a:off x="502920" y="6236208"/>
            <a:ext cx="11185855" cy="237744"/>
          </a:xfrm>
          <a:prstGeom prst="rect">
            <a:avLst/>
          </a:prstGeom>
          <a:noFill/>
        </p:spPr>
        <p:txBody>
          <a:bodyPr wrap="square">
            <a:spAutoFit/>
          </a:bodyPr>
          <a:lstStyle/>
          <a:p>
            <a:pPr algn="r"/>
            <a:r>
              <a:rPr sz="800" b="0" i="1">
                <a:solidFill>
                  <a:srgbClr val="94A3B8"/>
                </a:solidFill>
                <a:latin typeface="Calibri"/>
              </a:rPr>
              <a:t>Nguồn ảnh: xem slide Nguồn tham khảo cuối bài B0</a:t>
            </a:r>
          </a:p>
        </p:txBody>
      </p:sp>
      <p:cxnSp>
        <p:nvCxnSpPr>
          <p:cNvPr id="8" name="Connector 7"/>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10" name="TextBox 9"/>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1" name="Rounded Rectangle 10"/>
          <p:cNvSpPr/>
          <p:nvPr/>
        </p:nvSpPr>
        <p:spPr>
          <a:xfrm>
            <a:off x="548640" y="1417320"/>
            <a:ext cx="3517391"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sp32s3.jpg"/>
          <p:cNvPicPr>
            <a:picLocks noChangeAspect="1"/>
          </p:cNvPicPr>
          <p:nvPr/>
        </p:nvPicPr>
        <p:blipFill>
          <a:blip r:embed="rId2"/>
          <a:stretch>
            <a:fillRect/>
          </a:stretch>
        </p:blipFill>
        <p:spPr>
          <a:xfrm>
            <a:off x="1276102" y="1508760"/>
            <a:ext cx="2062466" cy="1581912"/>
          </a:xfrm>
          <a:prstGeom prst="rect">
            <a:avLst/>
          </a:prstGeom>
        </p:spPr>
      </p:pic>
      <p:sp>
        <p:nvSpPr>
          <p:cNvPr id="13" name="Rectangle 12"/>
          <p:cNvSpPr/>
          <p:nvPr/>
        </p:nvSpPr>
        <p:spPr>
          <a:xfrm>
            <a:off x="548640" y="3182112"/>
            <a:ext cx="3517391"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18688"/>
            <a:ext cx="3334511" cy="256032"/>
          </a:xfrm>
          <a:prstGeom prst="rect">
            <a:avLst/>
          </a:prstGeom>
          <a:noFill/>
        </p:spPr>
        <p:txBody>
          <a:bodyPr wrap="square">
            <a:spAutoFit/>
          </a:bodyPr>
          <a:lstStyle/>
          <a:p>
            <a:pPr algn="ctr"/>
            <a:r>
              <a:rPr sz="1150" b="1" i="0">
                <a:solidFill>
                  <a:srgbClr val="1E293B"/>
                </a:solidFill>
                <a:latin typeface="Calibri"/>
              </a:rPr>
              <a:t>ESP32-S3-DevKitC-1</a:t>
            </a:r>
          </a:p>
        </p:txBody>
      </p:sp>
      <p:sp>
        <p:nvSpPr>
          <p:cNvPr id="15" name="TextBox 14"/>
          <p:cNvSpPr txBox="1"/>
          <p:nvPr/>
        </p:nvSpPr>
        <p:spPr>
          <a:xfrm>
            <a:off x="640080" y="3474720"/>
            <a:ext cx="3334511" cy="347471"/>
          </a:xfrm>
          <a:prstGeom prst="rect">
            <a:avLst/>
          </a:prstGeom>
          <a:noFill/>
        </p:spPr>
        <p:txBody>
          <a:bodyPr wrap="square">
            <a:spAutoFit/>
          </a:bodyPr>
          <a:lstStyle/>
          <a:p>
            <a:pPr algn="ctr"/>
            <a:r>
              <a:rPr sz="850" b="0" i="0">
                <a:solidFill>
                  <a:srgbClr val="475569"/>
                </a:solidFill>
                <a:latin typeface="Calibri"/>
              </a:rPr>
              <a:t>Vi điều khiển trung tâm (ảnh minh hoạ dòng ESP32 DevKit — board dùng trong bài là bản S3, 44 chân)</a:t>
            </a:r>
          </a:p>
        </p:txBody>
      </p:sp>
      <p:sp>
        <p:nvSpPr>
          <p:cNvPr id="16" name="Rounded Rectangle 15"/>
          <p:cNvSpPr/>
          <p:nvPr/>
        </p:nvSpPr>
        <p:spPr>
          <a:xfrm>
            <a:off x="4322063" y="1417320"/>
            <a:ext cx="3517391"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ht11.jpg"/>
          <p:cNvPicPr>
            <a:picLocks noChangeAspect="1"/>
          </p:cNvPicPr>
          <p:nvPr/>
        </p:nvPicPr>
        <p:blipFill>
          <a:blip r:embed="rId3"/>
          <a:stretch>
            <a:fillRect/>
          </a:stretch>
        </p:blipFill>
        <p:spPr>
          <a:xfrm>
            <a:off x="5487542" y="1508760"/>
            <a:ext cx="1186434" cy="1581912"/>
          </a:xfrm>
          <a:prstGeom prst="rect">
            <a:avLst/>
          </a:prstGeom>
        </p:spPr>
      </p:pic>
      <p:sp>
        <p:nvSpPr>
          <p:cNvPr id="18" name="Rectangle 17"/>
          <p:cNvSpPr/>
          <p:nvPr/>
        </p:nvSpPr>
        <p:spPr>
          <a:xfrm>
            <a:off x="4322063" y="3182112"/>
            <a:ext cx="3517391"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3503" y="3218688"/>
            <a:ext cx="3334511" cy="256032"/>
          </a:xfrm>
          <a:prstGeom prst="rect">
            <a:avLst/>
          </a:prstGeom>
          <a:noFill/>
        </p:spPr>
        <p:txBody>
          <a:bodyPr wrap="square">
            <a:spAutoFit/>
          </a:bodyPr>
          <a:lstStyle/>
          <a:p>
            <a:pPr algn="ctr"/>
            <a:r>
              <a:rPr sz="1150" b="1" i="0">
                <a:solidFill>
                  <a:srgbClr val="1E293B"/>
                </a:solidFill>
                <a:latin typeface="Calibri"/>
              </a:rPr>
              <a:t>DHT11</a:t>
            </a:r>
          </a:p>
        </p:txBody>
      </p:sp>
      <p:sp>
        <p:nvSpPr>
          <p:cNvPr id="20" name="TextBox 19"/>
          <p:cNvSpPr txBox="1"/>
          <p:nvPr/>
        </p:nvSpPr>
        <p:spPr>
          <a:xfrm>
            <a:off x="4413503" y="3474720"/>
            <a:ext cx="3334511" cy="347471"/>
          </a:xfrm>
          <a:prstGeom prst="rect">
            <a:avLst/>
          </a:prstGeom>
          <a:noFill/>
        </p:spPr>
        <p:txBody>
          <a:bodyPr wrap="square">
            <a:spAutoFit/>
          </a:bodyPr>
          <a:lstStyle/>
          <a:p>
            <a:pPr algn="ctr"/>
            <a:r>
              <a:rPr sz="850" b="0" i="0">
                <a:solidFill>
                  <a:srgbClr val="475569"/>
                </a:solidFill>
                <a:latin typeface="Calibri"/>
              </a:rPr>
              <a:t>Cảm biến nhiệt độ &amp; độ ẩm không khí</a:t>
            </a:r>
          </a:p>
        </p:txBody>
      </p:sp>
      <p:sp>
        <p:nvSpPr>
          <p:cNvPr id="21" name="Rounded Rectangle 20"/>
          <p:cNvSpPr/>
          <p:nvPr/>
        </p:nvSpPr>
        <p:spPr>
          <a:xfrm>
            <a:off x="8095487" y="1417320"/>
            <a:ext cx="3517391"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cd1602.jpg"/>
          <p:cNvPicPr>
            <a:picLocks noChangeAspect="1"/>
          </p:cNvPicPr>
          <p:nvPr/>
        </p:nvPicPr>
        <p:blipFill>
          <a:blip r:embed="rId4"/>
          <a:stretch>
            <a:fillRect/>
          </a:stretch>
        </p:blipFill>
        <p:spPr>
          <a:xfrm>
            <a:off x="8666562" y="1508760"/>
            <a:ext cx="2375243" cy="1581912"/>
          </a:xfrm>
          <a:prstGeom prst="rect">
            <a:avLst/>
          </a:prstGeom>
        </p:spPr>
      </p:pic>
      <p:sp>
        <p:nvSpPr>
          <p:cNvPr id="23" name="Rectangle 22"/>
          <p:cNvSpPr/>
          <p:nvPr/>
        </p:nvSpPr>
        <p:spPr>
          <a:xfrm>
            <a:off x="8095487" y="3182112"/>
            <a:ext cx="3517391"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6927" y="3218688"/>
            <a:ext cx="3334511" cy="256032"/>
          </a:xfrm>
          <a:prstGeom prst="rect">
            <a:avLst/>
          </a:prstGeom>
          <a:noFill/>
        </p:spPr>
        <p:txBody>
          <a:bodyPr wrap="square">
            <a:spAutoFit/>
          </a:bodyPr>
          <a:lstStyle/>
          <a:p>
            <a:pPr algn="ctr"/>
            <a:r>
              <a:rPr sz="1150" b="1" i="0">
                <a:solidFill>
                  <a:srgbClr val="1E293B"/>
                </a:solidFill>
                <a:latin typeface="Calibri"/>
              </a:rPr>
              <a:t>LCD1602 (I2C)</a:t>
            </a:r>
          </a:p>
        </p:txBody>
      </p:sp>
      <p:sp>
        <p:nvSpPr>
          <p:cNvPr id="25" name="TextBox 24"/>
          <p:cNvSpPr txBox="1"/>
          <p:nvPr/>
        </p:nvSpPr>
        <p:spPr>
          <a:xfrm>
            <a:off x="8186927" y="3474720"/>
            <a:ext cx="3334511" cy="347471"/>
          </a:xfrm>
          <a:prstGeom prst="rect">
            <a:avLst/>
          </a:prstGeom>
          <a:noFill/>
        </p:spPr>
        <p:txBody>
          <a:bodyPr wrap="square">
            <a:spAutoFit/>
          </a:bodyPr>
          <a:lstStyle/>
          <a:p>
            <a:pPr algn="ctr"/>
            <a:r>
              <a:rPr sz="850" b="0" i="0">
                <a:solidFill>
                  <a:srgbClr val="475569"/>
                </a:solidFill>
                <a:latin typeface="Calibri"/>
              </a:rPr>
              <a:t>Màn hình hiển thị 16×2 ký tự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B1 · KIẾN TRÚC HỆ THỐNG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khối tín hiệu</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sp>
        <p:nvSpPr>
          <p:cNvPr id="10" name="Rounded Rectangle 9"/>
          <p:cNvSpPr/>
          <p:nvPr/>
        </p:nvSpPr>
        <p:spPr>
          <a:xfrm>
            <a:off x="548640" y="2377440"/>
            <a:ext cx="2331720" cy="137160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DHT11
(Cảm biến Nhiệt/Ẩm)</a:t>
            </a:r>
          </a:p>
        </p:txBody>
      </p:sp>
      <p:sp>
        <p:nvSpPr>
          <p:cNvPr id="11" name="Rectangle 10"/>
          <p:cNvSpPr/>
          <p:nvPr/>
        </p:nvSpPr>
        <p:spPr>
          <a:xfrm>
            <a:off x="548640" y="2377440"/>
            <a:ext cx="233172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294985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9480" y="2377440"/>
            <a:ext cx="2331720" cy="137160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ESP32-S3
(Đọc &amp; Xử lý)</a:t>
            </a:r>
          </a:p>
        </p:txBody>
      </p:sp>
      <p:sp>
        <p:nvSpPr>
          <p:cNvPr id="14" name="Rectangle 13"/>
          <p:cNvSpPr/>
          <p:nvPr/>
        </p:nvSpPr>
        <p:spPr>
          <a:xfrm>
            <a:off x="3459480" y="2377440"/>
            <a:ext cx="23317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86069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319" y="2377440"/>
            <a:ext cx="2331720" cy="137160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LCD1602
(Hiển thị)</a:t>
            </a:r>
          </a:p>
        </p:txBody>
      </p:sp>
      <p:sp>
        <p:nvSpPr>
          <p:cNvPr id="17" name="Rectangle 16"/>
          <p:cNvSpPr/>
          <p:nvPr/>
        </p:nvSpPr>
        <p:spPr>
          <a:xfrm>
            <a:off x="6370319" y="2377440"/>
            <a:ext cx="233172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153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2377440"/>
            <a:ext cx="2331720" cy="1371600"/>
          </a:xfrm>
          <a:prstGeom prst="roundRect">
            <a:avLst/>
          </a:prstGeom>
          <a:solidFill>
            <a:srgbClr val="FFFFFF"/>
          </a:solidFill>
          <a:ln w="28575">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Serial Monitor
(Debug/Log)</a:t>
            </a:r>
          </a:p>
        </p:txBody>
      </p:sp>
      <p:sp>
        <p:nvSpPr>
          <p:cNvPr id="20" name="Rectangle 19"/>
          <p:cNvSpPr/>
          <p:nvPr/>
        </p:nvSpPr>
        <p:spPr>
          <a:xfrm>
            <a:off x="9281159" y="2377440"/>
            <a:ext cx="2331720" cy="10972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97680"/>
            <a:ext cx="11064240" cy="457200"/>
          </a:xfrm>
          <a:prstGeom prst="rect">
            <a:avLst/>
          </a:prstGeom>
          <a:noFill/>
        </p:spPr>
        <p:txBody>
          <a:bodyPr wrap="square">
            <a:spAutoFit/>
          </a:bodyPr>
          <a:lstStyle/>
          <a:p>
            <a:pPr algn="l"/>
            <a:r>
              <a:rPr sz="1350" b="0" i="1">
                <a:solidFill>
                  <a:srgbClr val="475569"/>
                </a:solidFill>
                <a:latin typeface="Calibri"/>
              </a:rPr>
              <a:t>Dữ liệu chảy theo một chiều: cảm biến sinh tín hiệu → vi điều khiển đọc &amp; xử lý → kết quả đưa ra thiết bị đầu ra.</a:t>
            </a:r>
          </a:p>
        </p:txBody>
      </p:sp>
      <p:sp>
        <p:nvSpPr>
          <p:cNvPr id="22" name="Rounded Rectangle 21"/>
          <p:cNvSpPr/>
          <p:nvPr/>
        </p:nvSpPr>
        <p:spPr>
          <a:xfrm>
            <a:off x="548640" y="4892040"/>
            <a:ext cx="11064240" cy="14173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607040" cy="1188720"/>
          </a:xfrm>
          <a:prstGeom prst="rect">
            <a:avLst/>
          </a:prstGeom>
          <a:noFill/>
        </p:spPr>
        <p:txBody>
          <a:bodyPr wrap="square">
            <a:spAutoFit/>
          </a:bodyPr>
          <a:lstStyle/>
          <a:p>
            <a:pPr algn="l">
              <a:lnSpc>
                <a:spcPct val="125000"/>
              </a:lnSpc>
            </a:pPr>
            <a:r>
              <a:rPr sz="1300" b="0" i="0">
                <a:solidFill>
                  <a:srgbClr val="475569"/>
                </a:solidFill>
                <a:latin typeface="Calibri"/>
              </a:rPr>
              <a:t>Đây là mô hình đơn giản nhất của một trạm quan trắc IoT: 1 cảm biến số → vi điều khiển đọc dữ liệu mỗi 600ms → hiển thị song song trên 2 kênh (LCD tại chỗ và Serial Monitor để debug). Mọi bài học tiếp theo (B2-B6) đều mở rộng từ mô hình nền tảng này bằng cách thêm cảm biến, thêm logic quyết định và thêm thiết bị đầu 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B1 · ĐẤU NỐI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đấu dây chi tiết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828800"/>
            <a:ext cx="2377440" cy="329184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ESP32-S3
DevKitC-1</a:t>
            </a:r>
          </a:p>
        </p:txBody>
      </p:sp>
      <p:sp>
        <p:nvSpPr>
          <p:cNvPr id="11" name="Rounded Rectangle 10"/>
          <p:cNvSpPr/>
          <p:nvPr/>
        </p:nvSpPr>
        <p:spPr>
          <a:xfrm>
            <a:off x="6080760" y="1600200"/>
            <a:ext cx="2514600" cy="868680"/>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DHT11</a:t>
            </a:r>
          </a:p>
        </p:txBody>
      </p:sp>
      <p:sp>
        <p:nvSpPr>
          <p:cNvPr id="12" name="Rounded Rectangle 11"/>
          <p:cNvSpPr/>
          <p:nvPr/>
        </p:nvSpPr>
        <p:spPr>
          <a:xfrm>
            <a:off x="6080760" y="3589020"/>
            <a:ext cx="2514600" cy="868680"/>
          </a:xfrm>
          <a:prstGeom prst="roundRect">
            <a:avLst/>
          </a:prstGeom>
          <a:solidFill>
            <a:srgbClr val="FFFFFF"/>
          </a:solidFill>
          <a:ln w="254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LCD1602</a:t>
            </a:r>
          </a:p>
        </p:txBody>
      </p:sp>
      <p:cxnSp>
        <p:nvCxnSpPr>
          <p:cNvPr id="13" name="Connector 12"/>
          <p:cNvCxnSpPr/>
          <p:nvPr/>
        </p:nvCxnSpPr>
        <p:spPr>
          <a:xfrm flipV="1">
            <a:off x="3017520" y="2034540"/>
            <a:ext cx="3063240" cy="251460"/>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017520" y="2034540"/>
            <a:ext cx="3063240" cy="845820"/>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017520" y="2034540"/>
            <a:ext cx="3063240" cy="144018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17520" y="4023359"/>
            <a:ext cx="3063240" cy="45721"/>
          </a:xfrm>
          <a:prstGeom prst="line">
            <a:avLst/>
          </a:prstGeom>
          <a:ln w="28575">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17520" y="4023359"/>
            <a:ext cx="3063240" cy="640081"/>
          </a:xfrm>
          <a:prstGeom prst="line">
            <a:avLst/>
          </a:prstGeom>
          <a:ln w="28575">
            <a:solidFill>
              <a:srgbClr val="8B5CF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5303520"/>
            <a:ext cx="3657600" cy="274320"/>
          </a:xfrm>
          <a:prstGeom prst="rect">
            <a:avLst/>
          </a:prstGeom>
          <a:noFill/>
        </p:spPr>
        <p:txBody>
          <a:bodyPr wrap="square">
            <a:spAutoFit/>
          </a:bodyPr>
          <a:lstStyle/>
          <a:p>
            <a:pPr algn="l"/>
            <a:r>
              <a:rPr sz="1200" b="1" i="0">
                <a:solidFill>
                  <a:srgbClr val="1E293B"/>
                </a:solidFill>
                <a:latin typeface="Calibri"/>
              </a:rPr>
              <a:t>Bảng tín hiệu:</a:t>
            </a:r>
          </a:p>
        </p:txBody>
      </p:sp>
      <p:sp>
        <p:nvSpPr>
          <p:cNvPr id="19" name="Rectangle 18"/>
          <p:cNvSpPr/>
          <p:nvPr/>
        </p:nvSpPr>
        <p:spPr>
          <a:xfrm>
            <a:off x="6400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586984"/>
            <a:ext cx="3428999" cy="292608"/>
          </a:xfrm>
          <a:prstGeom prst="rect">
            <a:avLst/>
          </a:prstGeom>
          <a:noFill/>
        </p:spPr>
        <p:txBody>
          <a:bodyPr wrap="square">
            <a:spAutoFit/>
          </a:bodyPr>
          <a:lstStyle/>
          <a:p>
            <a:pPr algn="l"/>
            <a:r>
              <a:rPr sz="900" b="0" i="0">
                <a:solidFill>
                  <a:srgbClr val="475569"/>
                </a:solidFill>
                <a:latin typeface="Calibri"/>
              </a:rPr>
              <a:t>ESP32-S3 · 5V → DHT11 · VCC  (Nguồn 5V)</a:t>
            </a:r>
          </a:p>
        </p:txBody>
      </p:sp>
      <p:sp>
        <p:nvSpPr>
          <p:cNvPr id="21" name="Rectangle 20"/>
          <p:cNvSpPr/>
          <p:nvPr/>
        </p:nvSpPr>
        <p:spPr>
          <a:xfrm>
            <a:off x="4389120" y="5669280"/>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5586984"/>
            <a:ext cx="3428999" cy="292608"/>
          </a:xfrm>
          <a:prstGeom prst="rect">
            <a:avLst/>
          </a:prstGeom>
          <a:noFill/>
        </p:spPr>
        <p:txBody>
          <a:bodyPr wrap="square">
            <a:spAutoFit/>
          </a:bodyPr>
          <a:lstStyle/>
          <a:p>
            <a:pPr algn="l"/>
            <a:r>
              <a:rPr sz="900" b="0" i="0">
                <a:solidFill>
                  <a:srgbClr val="475569"/>
                </a:solidFill>
                <a:latin typeface="Calibri"/>
              </a:rPr>
              <a:t>ESP32-S3 · GND1 → DHT11 · GND  (Nối đất)</a:t>
            </a:r>
          </a:p>
        </p:txBody>
      </p:sp>
      <p:sp>
        <p:nvSpPr>
          <p:cNvPr id="23" name="Rectangle 22"/>
          <p:cNvSpPr/>
          <p:nvPr/>
        </p:nvSpPr>
        <p:spPr>
          <a:xfrm>
            <a:off x="8138159" y="5669280"/>
            <a:ext cx="182880"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5586984"/>
            <a:ext cx="3428999" cy="292608"/>
          </a:xfrm>
          <a:prstGeom prst="rect">
            <a:avLst/>
          </a:prstGeom>
          <a:noFill/>
        </p:spPr>
        <p:txBody>
          <a:bodyPr wrap="square">
            <a:spAutoFit/>
          </a:bodyPr>
          <a:lstStyle/>
          <a:p>
            <a:pPr algn="l"/>
            <a:r>
              <a:rPr sz="900" b="0" i="0">
                <a:solidFill>
                  <a:srgbClr val="475569"/>
                </a:solidFill>
                <a:latin typeface="Calibri"/>
              </a:rPr>
              <a:t>ESP32-S3 · GPIO15 → DHT11 · DATA  (Tín hiệu số)</a:t>
            </a:r>
          </a:p>
        </p:txBody>
      </p:sp>
      <p:sp>
        <p:nvSpPr>
          <p:cNvPr id="25" name="Rectangle 24"/>
          <p:cNvSpPr/>
          <p:nvPr/>
        </p:nvSpPr>
        <p:spPr>
          <a:xfrm>
            <a:off x="640080" y="5961888"/>
            <a:ext cx="182880" cy="11887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879592"/>
            <a:ext cx="3428999" cy="292608"/>
          </a:xfrm>
          <a:prstGeom prst="rect">
            <a:avLst/>
          </a:prstGeom>
          <a:noFill/>
        </p:spPr>
        <p:txBody>
          <a:bodyPr wrap="square">
            <a:spAutoFit/>
          </a:bodyPr>
          <a:lstStyle/>
          <a:p>
            <a:pPr algn="l"/>
            <a:r>
              <a:rPr sz="900" b="0" i="0">
                <a:solidFill>
                  <a:srgbClr val="475569"/>
                </a:solidFill>
                <a:latin typeface="Calibri"/>
              </a:rPr>
              <a:t>ESP32-S3 · GPIO9 → LCD1602 · SCL  (I2C Clock)</a:t>
            </a:r>
          </a:p>
        </p:txBody>
      </p:sp>
      <p:sp>
        <p:nvSpPr>
          <p:cNvPr id="27" name="Rectangle 26"/>
          <p:cNvSpPr/>
          <p:nvPr/>
        </p:nvSpPr>
        <p:spPr>
          <a:xfrm>
            <a:off x="4389120" y="5961888"/>
            <a:ext cx="182880" cy="118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5879592"/>
            <a:ext cx="3428999" cy="292608"/>
          </a:xfrm>
          <a:prstGeom prst="rect">
            <a:avLst/>
          </a:prstGeom>
          <a:noFill/>
        </p:spPr>
        <p:txBody>
          <a:bodyPr wrap="square">
            <a:spAutoFit/>
          </a:bodyPr>
          <a:lstStyle/>
          <a:p>
            <a:pPr algn="l"/>
            <a:r>
              <a:rPr sz="900" b="0" i="0">
                <a:solidFill>
                  <a:srgbClr val="475569"/>
                </a:solidFill>
                <a:latin typeface="Calibri"/>
              </a:rPr>
              <a:t>ESP32-S3 · GPIO8 → LCD1602 · SDA  (I2C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B1 · THUẬT TOÁN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đồ xử lý trong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1188720" y="2569464"/>
            <a:ext cx="2377440" cy="43891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FFFFF"/>
                </a:solidFill>
                <a:latin typeface="Calibri"/>
              </a:rPr>
              <a:t>setup(): Khởi tạo Serial/LCD/chân I-O</a:t>
            </a:r>
          </a:p>
        </p:txBody>
      </p:sp>
      <p:sp>
        <p:nvSpPr>
          <p:cNvPr id="11" name="Down Arrow 10"/>
          <p:cNvSpPr/>
          <p:nvPr/>
        </p:nvSpPr>
        <p:spPr>
          <a:xfrm>
            <a:off x="2286000" y="3026664"/>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88720" y="3154680"/>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Đọc Nhiệt độ &amp; Độ ẩm LIVE từ DHT11</a:t>
            </a:r>
          </a:p>
        </p:txBody>
      </p:sp>
      <p:sp>
        <p:nvSpPr>
          <p:cNvPr id="13" name="Down Arrow 12"/>
          <p:cNvSpPr/>
          <p:nvPr/>
        </p:nvSpPr>
        <p:spPr>
          <a:xfrm>
            <a:off x="2286000" y="3611880"/>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3739896"/>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In dữ liệu ra Serial Monitor</a:t>
            </a:r>
          </a:p>
        </p:txBody>
      </p:sp>
      <p:sp>
        <p:nvSpPr>
          <p:cNvPr id="15" name="Down Arrow 14"/>
          <p:cNvSpPr/>
          <p:nvPr/>
        </p:nvSpPr>
        <p:spPr>
          <a:xfrm>
            <a:off x="2286000" y="4197096"/>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4325112"/>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Cập nhật 2 dòng trên LCD1602</a:t>
            </a:r>
          </a:p>
        </p:txBody>
      </p:sp>
      <p:sp>
        <p:nvSpPr>
          <p:cNvPr id="17" name="Down Arrow 16"/>
          <p:cNvSpPr/>
          <p:nvPr/>
        </p:nvSpPr>
        <p:spPr>
          <a:xfrm>
            <a:off x="2286000" y="4782312"/>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188720" y="4910328"/>
            <a:ext cx="2377440" cy="38404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FFFFFF"/>
                </a:solidFill>
                <a:latin typeface="Calibri"/>
              </a:rPr>
              <a:t>delay(600ms) → quay lại loop()</a:t>
            </a:r>
          </a:p>
        </p:txBody>
      </p:sp>
      <p:sp>
        <p:nvSpPr>
          <p:cNvPr id="19" name="TextBox 18"/>
          <p:cNvSpPr txBox="1"/>
          <p:nvPr/>
        </p:nvSpPr>
        <p:spPr>
          <a:xfrm>
            <a:off x="6309360" y="1463040"/>
            <a:ext cx="5303520" cy="4937760"/>
          </a:xfrm>
          <a:prstGeom prst="rect">
            <a:avLst/>
          </a:prstGeom>
          <a:noFill/>
        </p:spPr>
        <p:txBody>
          <a:bodyPr wrap="square">
            <a:spAutoFit/>
          </a:bodyPr>
          <a:lstStyle/>
          <a:p>
            <a:pPr algn="l">
              <a:lnSpc>
                <a:spcPct val="130000"/>
              </a:lnSpc>
            </a:pPr>
            <a:r>
              <a:rPr sz="1350" b="0" i="0">
                <a:solidFill>
                  <a:srgbClr val="475569"/>
                </a:solidFill>
                <a:latin typeface="Calibri"/>
              </a:rPr>
              <a:t>Bài B1 chưa có logic rẽ nhánh (if/else) — đây là bài "đọc &amp; hiển thị" thuần tuý, giúp sinh viên làm quen cấu trúc vòng lặp loop() và cách giao tiếp I2C với LCD trước khi bước sang các bài có logic ra quyết định (B2 trở đi).
Mỗi vòng lặp cách nhau delay(600ms) — đây là chu kỳ lấy mẫu, không phải giới hạn phần cứng của DHT11 mà là lựa chọn sư phạm để quan sát dữ liệu thay đổi rõ ràng trên màn hình.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setup()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pinMode(DHT_PIN, INPUT);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lcd.begin(16, 2);</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lcd.print("TRAM QUAN TRAC");</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lcd.print("KHI HAU KMT v1.0");</a:t>
            </a:r>
          </a:p>
          <a:p>
            <a:pPr>
              <a:spcAft>
                <a:spcPts val="100"/>
              </a:spcAft>
            </a:pPr>
            <a:r>
              <a:rPr sz="1250">
                <a:solidFill>
                  <a:srgbClr val="7DE6A8"/>
                </a:solidFill>
                <a:latin typeface="Consolas"/>
              </a:rPr>
              <a:t>  delay(1500);</a:t>
            </a:r>
          </a:p>
          <a:p>
            <a:pPr>
              <a:spcAft>
                <a:spcPts val="100"/>
              </a:spcAft>
            </a:pPr>
            <a:r>
              <a:rPr sz="1250">
                <a:solidFill>
                  <a:srgbClr val="7DE6A8"/>
                </a:solidFill>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loop() {</a:t>
            </a:r>
          </a:p>
          <a:p>
            <a:pPr>
              <a:spcAft>
                <a:spcPts val="100"/>
              </a:spcAft>
            </a:pPr>
            <a:r>
              <a:rPr sz="1250">
                <a:solidFill>
                  <a:srgbClr val="64748B"/>
                </a:solidFill>
                <a:latin typeface="Consolas"/>
              </a:rPr>
              <a:t>  // Doc du lieu Nhiet do &amp; Do am LIVE lien tuc tu Cam bien DHT11 (Chan D15)</a:t>
            </a:r>
          </a:p>
          <a:p>
            <a:pPr>
              <a:spcAft>
                <a:spcPts val="100"/>
              </a:spcAft>
            </a:pPr>
            <a:r>
              <a:rPr sz="1250">
                <a:solidFill>
                  <a:srgbClr val="7DE6A8"/>
                </a:solidFill>
                <a:latin typeface="Consolas"/>
              </a:rPr>
              <a:t>  int temp = analogRead(DHT_PIN);          // Nhiet do live tu slider (C)</a:t>
            </a:r>
          </a:p>
          <a:p>
            <a:pPr>
              <a:spcAft>
                <a:spcPts val="100"/>
              </a:spcAft>
            </a:pPr>
            <a:r>
              <a:rPr sz="1250">
                <a:solidFill>
                  <a:srgbClr val="7DE6A8"/>
                </a:solidFill>
                <a:latin typeface="Consolas"/>
              </a:rPr>
              <a:t>  int humi = dhtReadHumidity(DHT_PIN);     // Do am live tu slider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Serial.print("[KMT IoT] Nhiet do: ");</a:t>
            </a:r>
          </a:p>
          <a:p>
            <a:pPr>
              <a:spcAft>
                <a:spcPts val="100"/>
              </a:spcAft>
            </a:pPr>
            <a:r>
              <a:rPr sz="1250">
                <a:solidFill>
                  <a:srgbClr val="7DE6A8"/>
                </a:solidFill>
                <a:latin typeface="Consolas"/>
              </a:rPr>
              <a:t>  Serial.print(temp);</a:t>
            </a:r>
          </a:p>
          <a:p>
            <a:pPr>
              <a:spcAft>
                <a:spcPts val="100"/>
              </a:spcAft>
            </a:pPr>
            <a:r>
              <a:rPr sz="1250">
                <a:solidFill>
                  <a:srgbClr val="7DE6A8"/>
                </a:solidFill>
                <a:latin typeface="Consolas"/>
              </a:rPr>
              <a:t>  Serial.print(" C | Do am: ");</a:t>
            </a:r>
          </a:p>
          <a:p>
            <a:pPr>
              <a:spcAft>
                <a:spcPts val="100"/>
              </a:spcAft>
            </a:pPr>
            <a:r>
              <a:rPr sz="1250">
                <a:solidFill>
                  <a:srgbClr val="7DE6A8"/>
                </a:solidFill>
                <a:latin typeface="Consolas"/>
              </a:rPr>
              <a:t>  Serial.print(humi);</a:t>
            </a:r>
          </a:p>
          <a:p>
            <a:pPr>
              <a:spcAft>
                <a:spcPts val="100"/>
              </a:spcAft>
            </a:pPr>
            <a:r>
              <a:rPr sz="1250">
                <a:solidFill>
                  <a:srgbClr val="7DE6A8"/>
                </a:solidFill>
                <a:latin typeface="Consolas"/>
              </a:rPr>
              <a:t>  Serial.println("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lcd.print("Temp: ");</a:t>
            </a:r>
          </a:p>
          <a:p>
            <a:pPr>
              <a:spcAft>
                <a:spcPts val="100"/>
              </a:spcAft>
            </a:pPr>
            <a:r>
              <a:rPr sz="1250">
                <a:solidFill>
                  <a:srgbClr val="7DE6A8"/>
                </a:solidFill>
                <a:latin typeface="Consolas"/>
              </a:rPr>
              <a:t>  lcd.print(temp);</a:t>
            </a:r>
          </a:p>
          <a:p>
            <a:pPr>
              <a:spcAft>
                <a:spcPts val="100"/>
              </a:spcAft>
            </a:pPr>
            <a:r>
              <a:rPr sz="1250">
                <a:solidFill>
                  <a:srgbClr val="7DE6A8"/>
                </a:solidFill>
                <a:latin typeface="Consolas"/>
              </a:rPr>
              <a:t>  lcd.print(" C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lcd.print("Humi: ");</a:t>
            </a:r>
          </a:p>
          <a:p>
            <a:pPr>
              <a:spcAft>
                <a:spcPts val="100"/>
              </a:spcAft>
            </a:pPr>
            <a:r>
              <a:rPr sz="1250">
                <a:solidFill>
                  <a:srgbClr val="7DE6A8"/>
                </a:solidFill>
                <a:latin typeface="Consolas"/>
              </a:rPr>
              <a:t>  lcd.print(humi);</a:t>
            </a:r>
          </a:p>
          <a:p>
            <a:pPr>
              <a:spcAft>
                <a:spcPts val="100"/>
              </a:spcAft>
            </a:pPr>
            <a:r>
              <a:rPr sz="1250">
                <a:solidFill>
                  <a:srgbClr val="7DE6A8"/>
                </a:solidFill>
                <a:latin typeface="Consolas"/>
              </a:rPr>
              <a:t>  lcd.print(" %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delay(600);</a:t>
            </a:r>
          </a:p>
          <a:p>
            <a:pPr>
              <a:spcAft>
                <a:spcPts val="100"/>
              </a:spcAft>
            </a:pPr>
            <a:r>
              <a:rPr sz="1250">
                <a:solidFill>
                  <a:srgbClr val="7DE6A8"/>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B1 · LOGIC RA QUYẾT ĐỊNH</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ngưỡng &amp; hành động điều khiển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graphicFrame>
        <p:nvGraphicFramePr>
          <p:cNvPr id="10" name="Table 9"/>
          <p:cNvGraphicFramePr>
            <a:graphicFrameLocks noGrp="1"/>
          </p:cNvGraphicFramePr>
          <p:nvPr/>
        </p:nvGraphicFramePr>
        <p:xfrm>
          <a:off x="548640" y="1417320"/>
          <a:ext cx="11064240" cy="2286000"/>
        </p:xfrm>
        <a:graphic>
          <a:graphicData uri="http://schemas.openxmlformats.org/drawingml/2006/table">
            <a:tbl>
              <a:tblPr>
                <a:tableStyleId>{5C22544A-7EE6-4342-B048-85BDC9FD1C3A}</a:tableStyleId>
              </a:tblPr>
              <a:tblGrid>
                <a:gridCol w="3840480"/>
                <a:gridCol w="2194560"/>
                <a:gridCol w="5029200"/>
              </a:tblGrid>
              <a:tr h="762000">
                <a:tc>
                  <a:txBody>
                    <a:bodyPr wrap="square"/>
                    <a:lstStyle/>
                    <a:p>
                      <a:pPr algn="ctr"/>
                      <a:r>
                        <a:rPr sz="1400" b="1">
                          <a:solidFill>
                            <a:srgbClr val="FFFFFF"/>
                          </a:solidFill>
                          <a:latin typeface="Calibri"/>
                        </a:rPr>
                        <a:t>Điều kiện cảm biến</a:t>
                      </a:r>
                    </a:p>
                  </a:txBody>
                  <a:tcPr marL="73152" marR="73152" marT="36576" marB="36576" anchor="ctr">
                    <a:solidFill>
                      <a:srgbClr val="F59E0B"/>
                    </a:solidFill>
                  </a:tcPr>
                </a:tc>
                <a:tc>
                  <a:txBody>
                    <a:bodyPr wrap="square"/>
                    <a:lstStyle/>
                    <a:p>
                      <a:pPr algn="ctr"/>
                      <a:r>
                        <a:rPr sz="1400" b="1">
                          <a:solidFill>
                            <a:srgbClr val="FFFFFF"/>
                          </a:solidFill>
                          <a:latin typeface="Calibri"/>
                        </a:rPr>
                        <a:t>Ngưỡng</a:t>
                      </a:r>
                    </a:p>
                  </a:txBody>
                  <a:tcPr marL="73152" marR="73152" marT="36576" marB="36576" anchor="ctr">
                    <a:solidFill>
                      <a:srgbClr val="F59E0B"/>
                    </a:solidFill>
                  </a:tcPr>
                </a:tc>
                <a:tc>
                  <a:txBody>
                    <a:bodyPr wrap="square"/>
                    <a:lstStyle/>
                    <a:p>
                      <a:pPr algn="ctr"/>
                      <a:r>
                        <a:rPr sz="1400" b="1">
                          <a:solidFill>
                            <a:srgbClr val="FFFFFF"/>
                          </a:solidFill>
                          <a:latin typeface="Calibri"/>
                        </a:rPr>
                        <a:t>Hành động của hệ thống</a:t>
                      </a:r>
                    </a:p>
                  </a:txBody>
                  <a:tcPr marL="73152" marR="73152" marT="36576" marB="36576" anchor="ctr">
                    <a:solidFill>
                      <a:srgbClr val="F59E0B"/>
                    </a:solidFill>
                  </a:tcPr>
                </a:tc>
              </a:tr>
              <a:tr h="762000">
                <a:tc>
                  <a:txBody>
                    <a:bodyPr wrap="square"/>
                    <a:lstStyle/>
                    <a:p>
                      <a:pPr algn="l"/>
                      <a:r>
                        <a:rPr sz="1300" b="0">
                          <a:solidFill>
                            <a:srgbClr val="1E293B"/>
                          </a:solidFill>
                          <a:latin typeface="Calibri"/>
                        </a:rPr>
                        <a:t>Nhiệt độ / Độ ẩm không khí</a:t>
                      </a:r>
                    </a:p>
                  </a:txBody>
                  <a:tcPr marL="73152" marR="73152" marT="36576" marB="36576" anchor="ctr">
                    <a:solidFill>
                      <a:srgbClr val="FFFFFF"/>
                    </a:solidFill>
                  </a:tcPr>
                </a:tc>
                <a:tc>
                  <a:txBody>
                    <a:bodyPr wrap="square"/>
                    <a:lstStyle/>
                    <a:p>
                      <a:pPr algn="ctr"/>
                      <a:r>
                        <a:rPr sz="1300" b="0">
                          <a:solidFill>
                            <a:srgbClr val="3B82F6"/>
                          </a:solidFill>
                          <a:latin typeface="Calibri"/>
                        </a:rPr>
                        <a:t>Chỉ hiển thị</a:t>
                      </a:r>
                    </a:p>
                  </a:txBody>
                  <a:tcPr marL="73152" marR="73152" marT="36576" marB="36576" anchor="ctr">
                    <a:solidFill>
                      <a:srgbClr val="DBEAFE"/>
                    </a:solidFill>
                  </a:tcPr>
                </a:tc>
                <a:tc>
                  <a:txBody>
                    <a:bodyPr wrap="square"/>
                    <a:lstStyle/>
                    <a:p>
                      <a:pPr algn="l"/>
                      <a:r>
                        <a:rPr sz="1300" b="0">
                          <a:solidFill>
                            <a:srgbClr val="475569"/>
                          </a:solidFill>
                          <a:latin typeface="Calibri"/>
                        </a:rPr>
                        <a:t>Không có logic cảnh báo — dữ liệu được đọc &amp; hiển thị liên tục</a:t>
                      </a:r>
                    </a:p>
                  </a:txBody>
                  <a:tcPr marL="73152" marR="73152" marT="36576" marB="36576" anchor="ctr">
                    <a:solidFill>
                      <a:srgbClr val="FFFFFF"/>
                    </a:solidFill>
                  </a:tcPr>
                </a:tc>
              </a:tr>
              <a:tr h="762000">
                <a:tc>
                  <a:txBody>
                    <a:bodyPr wrap="square"/>
                    <a:lstStyle/>
                    <a:p>
                      <a:pPr algn="l"/>
                      <a:r>
                        <a:rPr sz="1300" b="0">
                          <a:solidFill>
                            <a:srgbClr val="1E293B"/>
                          </a:solidFill>
                          <a:latin typeface="Calibri"/>
                        </a:rPr>
                        <a:t>(Gợi ý mở rộng cho bài tập)</a:t>
                      </a:r>
                    </a:p>
                  </a:txBody>
                  <a:tcPr marL="73152" marR="73152" marT="36576" marB="36576" anchor="ctr">
                    <a:solidFill>
                      <a:srgbClr val="FFFFFF"/>
                    </a:solidFill>
                  </a:tcPr>
                </a:tc>
                <a:tc>
                  <a:txBody>
                    <a:bodyPr wrap="square"/>
                    <a:lstStyle/>
                    <a:p>
                      <a:pPr algn="ctr"/>
                      <a:r>
                        <a:rPr sz="1300" b="0">
                          <a:solidFill>
                            <a:srgbClr val="10B981"/>
                          </a:solidFill>
                          <a:latin typeface="Calibri"/>
                        </a:rPr>
                        <a:t>&gt; 35 °C hoặc &lt; 30 %RH</a:t>
                      </a:r>
                    </a:p>
                  </a:txBody>
                  <a:tcPr marL="73152" marR="73152" marT="36576" marB="36576" anchor="ctr">
                    <a:solidFill>
                      <a:srgbClr val="DCFCE7"/>
                    </a:solidFill>
                  </a:tcPr>
                </a:tc>
                <a:tc>
                  <a:txBody>
                    <a:bodyPr wrap="square"/>
                    <a:lstStyle/>
                    <a:p>
                      <a:pPr algn="l"/>
                      <a:r>
                        <a:rPr sz="1300" b="0">
                          <a:solidFill>
                            <a:srgbClr val="475569"/>
                          </a:solidFill>
                          <a:latin typeface="Calibri"/>
                        </a:rPr>
                        <a:t>Có thể tự thêm logic cảnh báo nhiệt độ cao / không khí hanh khô</a:t>
                      </a:r>
                    </a:p>
                  </a:txBody>
                  <a:tcPr marL="73152" marR="73152" marT="36576" marB="36576" anchor="ctr">
                    <a:solidFill>
                      <a:srgbClr val="FFFFFF"/>
                    </a:solidFill>
                  </a:tcPr>
                </a:tc>
              </a:tr>
            </a:tbl>
          </a:graphicData>
        </a:graphic>
      </p:graphicFrame>
      <p:sp>
        <p:nvSpPr>
          <p:cNvPr id="11" name="TextBox 10"/>
          <p:cNvSpPr txBox="1"/>
          <p:nvPr/>
        </p:nvSpPr>
        <p:spPr>
          <a:xfrm>
            <a:off x="548640" y="4023359"/>
            <a:ext cx="11064240" cy="1097280"/>
          </a:xfrm>
          <a:prstGeom prst="rect">
            <a:avLst/>
          </a:prstGeom>
          <a:noFill/>
        </p:spPr>
        <p:txBody>
          <a:bodyPr wrap="square">
            <a:spAutoFit/>
          </a:bodyPr>
          <a:lstStyle/>
          <a:p>
            <a:pPr algn="l">
              <a:lnSpc>
                <a:spcPct val="125000"/>
              </a:lnSpc>
            </a:pPr>
            <a:r>
              <a:rPr sz="1250" b="0" i="1">
                <a:solidFill>
                  <a:srgbClr val="475569"/>
                </a:solidFill>
                <a:latin typeface="Calibri"/>
              </a:rPr>
              <a:t>B1 tập trung vào kỹ năng đọc &amp; hiển thị dữ liệu — chưa có ngưỡng cảnh báo. Sinh viên có thể tự luyện tập bằng cách thêm 1 điều kiện if() đơn giản (ví dụ cảnh báo nhiệt độ phòng máy chủ vượt 35°C) như bài tập mở rộng, làm nền tảng cho cú pháp sẽ dùng chính thức từ Buổi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B1 · DỮ LIỆU MINH HOẠ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Xu hướng dữ liệu cảm biến theo thời gian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graphicFrame>
        <p:nvGraphicFramePr>
          <p:cNvPr id="10" name="Chart 9"/>
          <p:cNvGraphicFramePr>
            <a:graphicFrameLocks noGrp="1"/>
          </p:cNvGraphicFramePr>
          <p:nvPr/>
        </p:nvGraphicFramePr>
        <p:xfrm>
          <a:off x="731520" y="1463040"/>
          <a:ext cx="7498079" cy="47548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463040"/>
            <a:ext cx="3108960" cy="47548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45920"/>
            <a:ext cx="2651760" cy="365760"/>
          </a:xfrm>
          <a:prstGeom prst="rect">
            <a:avLst/>
          </a:prstGeom>
          <a:noFill/>
        </p:spPr>
        <p:txBody>
          <a:bodyPr wrap="square">
            <a:spAutoFit/>
          </a:bodyPr>
          <a:lstStyle/>
          <a:p>
            <a:pPr algn="l"/>
            <a:r>
              <a:rPr sz="1400" b="1" i="0">
                <a:solidFill>
                  <a:srgbClr val="1E293B"/>
                </a:solidFill>
                <a:latin typeface="Calibri"/>
              </a:rPr>
              <a:t>Nhận xét</a:t>
            </a:r>
          </a:p>
        </p:txBody>
      </p:sp>
      <p:sp>
        <p:nvSpPr>
          <p:cNvPr id="13" name="TextBox 12"/>
          <p:cNvSpPr txBox="1"/>
          <p:nvPr/>
        </p:nvSpPr>
        <p:spPr>
          <a:xfrm>
            <a:off x="8732520" y="2103120"/>
            <a:ext cx="2697480" cy="3931920"/>
          </a:xfrm>
          <a:prstGeom prst="rect">
            <a:avLst/>
          </a:prstGeom>
          <a:noFill/>
        </p:spPr>
        <p:txBody>
          <a:bodyPr wrap="square">
            <a:spAutoFit/>
          </a:bodyPr>
          <a:lstStyle/>
          <a:p>
            <a:pPr algn="l">
              <a:spcAft>
                <a:spcPts val="1000"/>
              </a:spcAft>
            </a:pPr>
            <a:r>
              <a:rPr sz="1150" b="1">
                <a:solidFill>
                  <a:srgbClr val="3B82F6"/>
                </a:solidFill>
                <a:latin typeface="Calibri"/>
              </a:rPr>
              <a:t>●  </a:t>
            </a:r>
            <a:r>
              <a:rPr sz="1150" b="0">
                <a:solidFill>
                  <a:srgbClr val="475569"/>
                </a:solidFill>
                <a:latin typeface="Calibri"/>
              </a:rPr>
              <a:t>Dữ liệu minh hoạ mô phỏng dao động tự nhiên của nhiệt độ/độ ẩm trong một khoảng thời gian ngắn.</a:t>
            </a:r>
          </a:p>
          <a:p>
            <a:pPr algn="l">
              <a:spcAft>
                <a:spcPts val="1000"/>
              </a:spcAft>
            </a:pPr>
            <a:r>
              <a:rPr sz="1150" b="1">
                <a:solidFill>
                  <a:srgbClr val="3B82F6"/>
                </a:solidFill>
                <a:latin typeface="Calibri"/>
              </a:rPr>
              <a:t>●  </a:t>
            </a:r>
            <a:r>
              <a:rPr sz="1150" b="0">
                <a:solidFill>
                  <a:srgbClr val="475569"/>
                </a:solidFill>
                <a:latin typeface="Calibri"/>
              </a:rPr>
              <a:t>Nhiệt độ và độ ẩm thường biến thiên NGƯỢC chiều nhau — khi nhiệt độ tăng, độ ẩm tương đối (%RH) có xu hướng giảm.</a:t>
            </a:r>
          </a:p>
          <a:p>
            <a:pPr algn="l">
              <a:spcAft>
                <a:spcPts val="1000"/>
              </a:spcAft>
            </a:pPr>
            <a:r>
              <a:rPr sz="1150" b="1">
                <a:solidFill>
                  <a:srgbClr val="3B82F6"/>
                </a:solidFill>
                <a:latin typeface="Calibri"/>
              </a:rPr>
              <a:t>●  </a:t>
            </a:r>
            <a:r>
              <a:rPr sz="1150" b="0">
                <a:solidFill>
                  <a:srgbClr val="475569"/>
                </a:solidFill>
                <a:latin typeface="Calibri"/>
              </a:rPr>
              <a:t>Trong ứng dụng thực tế, nên lưu chuỗi dữ liệu này (datalogging) để phân tích xu hướng dài hạn, không chỉ xem giá trị tức thời.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Ứng dụng trong Kỹ thuật Môi trường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50" b="1" i="0">
                <a:solidFill>
                  <a:srgbClr val="1E293B"/>
                </a:solidFill>
                <a:latin typeface="Calibri"/>
              </a:rPr>
              <a:t>Nhà kính thông minh</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Tự động điều chỉnh quạt/phun sương khi nhiệt độ, độ ẩm vượt ngưỡng tối ưu cho cây trồng.</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50" b="1" i="0">
                <a:solidFill>
                  <a:srgbClr val="1E293B"/>
                </a:solidFill>
                <a:latin typeface="Calibri"/>
              </a:rPr>
              <a:t>Phòng thí nghiệm / Kho lưu trữ</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Giám sát vi khí hậu để bảo quản mẫu, hoá chất, thiết bị nhạy cảm với nhiệt-ẩm.</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50" b="1" i="0">
                <a:solidFill>
                  <a:srgbClr val="1E293B"/>
                </a:solidFill>
                <a:latin typeface="Calibri"/>
              </a:rPr>
              <a:t>Trạm khí tượng mini</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Thu thập dữ liệu khí hậu cục bộ phục vụ nghiên cứu môi trường đô thị (Urban Heat Island).</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50" b="1" i="0">
                <a:solidFill>
                  <a:srgbClr val="1E293B"/>
                </a:solidFill>
                <a:latin typeface="Calibri"/>
              </a:rPr>
              <a:t>Hệ thống HVAC toà nhà</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Điều khiển điều hoà/thông gió tự động theo điều kiện thực tế trong phòng, tiết kiệm năng lượng.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B1 · LƯU Ý TRIỂN KHAI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Sai sót thường gặp &amp; lưu ý khi lắp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44752"/>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Không đặt DHT11 gần nguồn nhiệt (đèn, động cơ, ánh nắng trực tiếp) — sẽ gây sai lệch kết quả đo.</a:t>
            </a:r>
          </a:p>
        </p:txBody>
      </p:sp>
      <p:sp>
        <p:nvSpPr>
          <p:cNvPr id="12" name="Oval 11"/>
          <p:cNvSpPr/>
          <p:nvPr/>
        </p:nvSpPr>
        <p:spPr>
          <a:xfrm>
            <a:off x="548640" y="2295144"/>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267712"/>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Chờ tối thiểu khoảng 1 giây giữa 2 lần đọc liên tiếp để cảm biến kịp ổn định giá trị.</a:t>
            </a:r>
          </a:p>
        </p:txBody>
      </p:sp>
      <p:sp>
        <p:nvSpPr>
          <p:cNvPr id="14" name="Oval 13"/>
          <p:cNvSpPr/>
          <p:nvPr/>
        </p:nvSpPr>
        <p:spPr>
          <a:xfrm>
            <a:off x="548640" y="3145536"/>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118104"/>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Dây tín hiệu DATA không nên đi quá dài (&gt;20m) nếu không có bộ khuếch đại/đệm tín hiệu.</a:t>
            </a:r>
          </a:p>
        </p:txBody>
      </p:sp>
      <p:sp>
        <p:nvSpPr>
          <p:cNvPr id="16" name="Oval 15"/>
          <p:cNvSpPr/>
          <p:nvPr/>
        </p:nvSpPr>
        <p:spPr>
          <a:xfrm>
            <a:off x="548640" y="3995928"/>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3968496"/>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LCD I2C cần đúng địa chỉ I2C (thường 0x27 hoặc 0x3F) — nếu màn hình không hiện chữ, hãy dò địa chỉ bằng chương trình I2C Scanner.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B1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DHT11 đo được những đại lượng nào? Sai số của mỗi đại lượng là bao nhiêu?</a:t>
            </a:r>
          </a:p>
        </p:txBody>
      </p:sp>
      <p:sp>
        <p:nvSpPr>
          <p:cNvPr id="12" name="Rounded Rectangle 11"/>
          <p:cNvSpPr/>
          <p:nvPr/>
        </p:nvSpPr>
        <p:spPr>
          <a:xfrm>
            <a:off x="548640" y="233172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1343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Vì sao LCD1602 trong bài này chỉ cần 2 dây tín hiệu (SCL, SDA) thay vì 6-8 dây như LCD giao tiếp song song thông thường?</a:t>
            </a:r>
          </a:p>
        </p:txBody>
      </p:sp>
      <p:sp>
        <p:nvSpPr>
          <p:cNvPr id="14" name="Rounded Rectangle 13"/>
          <p:cNvSpPr/>
          <p:nvPr/>
        </p:nvSpPr>
        <p:spPr>
          <a:xfrm>
            <a:off x="548640" y="320040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18211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Điều gì có thể xảy ra nếu ta đọc DHT11 với chu kỳ 100ms thay vì 600ms như trong code mẫu?</a:t>
            </a:r>
          </a:p>
        </p:txBody>
      </p:sp>
      <p:sp>
        <p:nvSpPr>
          <p:cNvPr id="16" name="Rounded Rectangle 15"/>
          <p:cNvSpPr/>
          <p:nvPr/>
        </p:nvSpPr>
        <p:spPr>
          <a:xfrm>
            <a:off x="548640" y="406908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05079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Hãy đề xuất 1 ngưỡng cảnh báo nhiệt độ/độ ẩm phù hợp cho một nhà kính trồng rau và giải thích lý do chọn ngưỡng đó.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B1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B1</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50" b="1">
                <a:solidFill>
                  <a:srgbClr val="10B981"/>
                </a:solidFill>
                <a:latin typeface="Calibri"/>
              </a:rPr>
              <a:t>●  </a:t>
            </a:r>
            <a:r>
              <a:rPr sz="1450" b="0">
                <a:solidFill>
                  <a:srgbClr val="1E293B"/>
                </a:solidFill>
                <a:latin typeface="Calibri"/>
              </a:rPr>
              <a:t>Đã xây dựng được hệ thống đọc cảm biến DHT11 và hiển thị dữ liệu realtime lên LCD1602 qua giao tiếp I2C.</a:t>
            </a:r>
          </a:p>
          <a:p>
            <a:pPr algn="l">
              <a:spcAft>
                <a:spcPts val="1000"/>
              </a:spcAft>
            </a:pPr>
            <a:r>
              <a:rPr sz="1450" b="1">
                <a:solidFill>
                  <a:srgbClr val="10B981"/>
                </a:solidFill>
                <a:latin typeface="Calibri"/>
              </a:rPr>
              <a:t>●  </a:t>
            </a:r>
            <a:r>
              <a:rPr sz="1450" b="0">
                <a:solidFill>
                  <a:srgbClr val="1E293B"/>
                </a:solidFill>
                <a:latin typeface="Calibri"/>
              </a:rPr>
              <a:t>Nắm được cấu trúc chương trình Arduino cơ bản: setup() chạy một lần, loop() lặp vô hạn.</a:t>
            </a:r>
          </a:p>
          <a:p>
            <a:pPr algn="l">
              <a:spcAft>
                <a:spcPts val="1000"/>
              </a:spcAft>
            </a:pPr>
            <a:r>
              <a:rPr sz="1450" b="1">
                <a:solidFill>
                  <a:srgbClr val="10B981"/>
                </a:solidFill>
                <a:latin typeface="Calibri"/>
              </a:rPr>
              <a:t>●  </a:t>
            </a:r>
            <a:r>
              <a:rPr sz="1450" b="0">
                <a:solidFill>
                  <a:srgbClr val="1E293B"/>
                </a:solidFill>
                <a:latin typeface="Calibri"/>
              </a:rPr>
              <a:t>Đây là nền tảng cho mọi bài tiếp theo — mọi hệ thống quan trắc trong chuỗi bài giảng đều theo mô hình chung: Cảm biến → Xử lý → Hiển thị/Cảnh báo.</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500" b="0" i="0">
                <a:solidFill>
                  <a:srgbClr val="FFFFFF"/>
                </a:solidFill>
                <a:latin typeface="Calibri"/>
              </a:rPr>
              <a:t>Buổi 2: Quan trắc mực nước bằng cảm biến siêu âm HC-SR04 kết hợp cảm biến nhiệt độ nước DS18B20, bắt đầu áp dụng logic so sánh ngưỡng để cảnh báo ngập lụt tự động.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100584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965960"/>
            <a:ext cx="10545775" cy="914400"/>
          </a:xfrm>
          <a:prstGeom prst="rect">
            <a:avLst/>
          </a:prstGeom>
          <a:noFill/>
        </p:spPr>
        <p:txBody>
          <a:bodyPr wrap="square">
            <a:spAutoFit/>
          </a:bodyPr>
          <a:lstStyle/>
          <a:p>
            <a:pPr algn="ctr"/>
            <a:r>
              <a:rPr sz="3200" b="1" i="0">
                <a:solidFill>
                  <a:srgbClr val="1E293B"/>
                </a:solidFill>
                <a:latin typeface="Calibri"/>
              </a:rPr>
              <a:t>CẢM ƠN CÁC BẠN ĐÃ THEO DÕI</a:t>
            </a:r>
          </a:p>
        </p:txBody>
      </p:sp>
      <p:sp>
        <p:nvSpPr>
          <p:cNvPr id="6" name="TextBox 5"/>
          <p:cNvSpPr txBox="1"/>
          <p:nvPr/>
        </p:nvSpPr>
        <p:spPr>
          <a:xfrm>
            <a:off x="822960" y="2834640"/>
            <a:ext cx="10545775" cy="548640"/>
          </a:xfrm>
          <a:prstGeom prst="rect">
            <a:avLst/>
          </a:prstGeom>
          <a:noFill/>
        </p:spPr>
        <p:txBody>
          <a:bodyPr wrap="square">
            <a:spAutoFit/>
          </a:bodyPr>
          <a:lstStyle/>
          <a:p>
            <a:pPr algn="ctr"/>
            <a:r>
              <a:rPr sz="1500" b="0" i="0">
                <a:solidFill>
                  <a:srgbClr val="10B981"/>
                </a:solidFill>
                <a:latin typeface="Calibri"/>
              </a:rPr>
              <a:t>Hỏi đáp &amp; Thực hành trực tiếp trên trình mô phỏng — B1</a:t>
            </a:r>
          </a:p>
        </p:txBody>
      </p:sp>
      <p:sp>
        <p:nvSpPr>
          <p:cNvPr id="7" name="Rounded Rectangle 6"/>
          <p:cNvSpPr/>
          <p:nvPr/>
        </p:nvSpPr>
        <p:spPr>
          <a:xfrm>
            <a:off x="266684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sp32s3.jpg"/>
          <p:cNvPicPr>
            <a:picLocks noChangeAspect="1"/>
          </p:cNvPicPr>
          <p:nvPr/>
        </p:nvPicPr>
        <p:blipFill>
          <a:blip r:embed="rId2"/>
          <a:stretch>
            <a:fillRect/>
          </a:stretch>
        </p:blipFill>
        <p:spPr>
          <a:xfrm>
            <a:off x="2758287" y="3835587"/>
            <a:ext cx="1920239" cy="1472824"/>
          </a:xfrm>
          <a:prstGeom prst="rect">
            <a:avLst/>
          </a:prstGeom>
        </p:spPr>
      </p:pic>
      <p:sp>
        <p:nvSpPr>
          <p:cNvPr id="9" name="Rounded Rectangle 8"/>
          <p:cNvSpPr/>
          <p:nvPr/>
        </p:nvSpPr>
        <p:spPr>
          <a:xfrm>
            <a:off x="504428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ht11.jpg"/>
          <p:cNvPicPr>
            <a:picLocks noChangeAspect="1"/>
          </p:cNvPicPr>
          <p:nvPr/>
        </p:nvPicPr>
        <p:blipFill>
          <a:blip r:embed="rId3"/>
          <a:stretch>
            <a:fillRect/>
          </a:stretch>
        </p:blipFill>
        <p:spPr>
          <a:xfrm>
            <a:off x="5478627" y="3749039"/>
            <a:ext cx="1234440" cy="1645920"/>
          </a:xfrm>
          <a:prstGeom prst="rect">
            <a:avLst/>
          </a:prstGeom>
        </p:spPr>
      </p:pic>
      <p:sp>
        <p:nvSpPr>
          <p:cNvPr id="11" name="Rounded Rectangle 10"/>
          <p:cNvSpPr/>
          <p:nvPr/>
        </p:nvSpPr>
        <p:spPr>
          <a:xfrm>
            <a:off x="742172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cd1602.jpg"/>
          <p:cNvPicPr>
            <a:picLocks noChangeAspect="1"/>
          </p:cNvPicPr>
          <p:nvPr/>
        </p:nvPicPr>
        <p:blipFill>
          <a:blip r:embed="rId4"/>
          <a:stretch>
            <a:fillRect/>
          </a:stretch>
        </p:blipFill>
        <p:spPr>
          <a:xfrm>
            <a:off x="7513167" y="3932560"/>
            <a:ext cx="1920239" cy="1278879"/>
          </a:xfrm>
          <a:prstGeom prst="rect">
            <a:avLst/>
          </a:prstGeom>
        </p:spPr>
      </p:pic>
      <p:sp>
        <p:nvSpPr>
          <p:cNvPr id="13" name="TextBox 12"/>
          <p:cNvSpPr txBox="1"/>
          <p:nvPr/>
        </p:nvSpPr>
        <p:spPr>
          <a:xfrm>
            <a:off x="822960" y="6035040"/>
            <a:ext cx="10545775" cy="365760"/>
          </a:xfrm>
          <a:prstGeom prst="rect">
            <a:avLst/>
          </a:prstGeom>
          <a:noFill/>
        </p:spPr>
        <p:txBody>
          <a:bodyPr wrap="square">
            <a:spAutoFit/>
          </a:bodyPr>
          <a:lstStyle/>
          <a:p>
            <a:pPr algn="ctr"/>
            <a:r>
              <a:rPr sz="115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