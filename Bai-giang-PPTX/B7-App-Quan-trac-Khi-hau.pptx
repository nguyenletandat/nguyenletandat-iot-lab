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6364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502920"/>
            <a:ext cx="658368" cy="658368"/>
          </a:xfrm>
          <a:prstGeom prst="round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48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Calibri"/>
              </a:rPr>
              <a:t>ĐẠI HỌC THỦ DẦU MỘT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80467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IOT TRONG KỸ THUẬT MÔI TRƯỜNG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BUỔI 7/12 · NỐI TIẾP B1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532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E293B"/>
                </a:solidFill>
                <a:latin typeface="Calibri"/>
              </a:rPr>
              <a:t>B7: Web App &amp; Mobile App — Quan trắc Khí hậu từ xa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Mở rộng hệ thống DHT11 + LCD của Buổi 1 thành ứng dụng giám sát nhiệt độ, độ ẩm từ xa qua điện thoại và trình duyệt web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5349240"/>
            <a:ext cx="4480560" cy="0"/>
          </a:xfrm>
          <a:prstGeom prst="line">
            <a:avLst/>
          </a:prstGeom>
          <a:ln w="1270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55046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Calibri"/>
              </a:rPr>
              <a:t>Giảng viên hướng dẫn: Nguyễn Lê Tấn Đạt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9729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Nền tảng: Blynk IoT (App di động + Web Dashboard)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685800"/>
            <a:ext cx="24688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03136" y="832104"/>
            <a:ext cx="2304288" cy="4736592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03136" y="832104"/>
            <a:ext cx="2304288" cy="365760"/>
          </a:xfrm>
          <a:prstGeom prst="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B7 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1271016"/>
            <a:ext cx="104241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55180" y="1362456"/>
            <a:ext cx="484632" cy="484632"/>
          </a:xfrm>
          <a:prstGeom prst="ellipse">
            <a:avLst/>
          </a:prstGeom>
          <a:solidFill>
            <a:srgbClr val="FD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F59E0B"/>
                </a:solidFill>
                <a:latin typeface="Calibri"/>
              </a:rPr>
              <a:t>28°C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7" y="1883663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Nhiệt độ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1271016"/>
            <a:ext cx="104241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70748" y="1362456"/>
            <a:ext cx="484632" cy="484632"/>
          </a:xfrm>
          <a:prstGeom prst="ellipse">
            <a:avLst/>
          </a:prstGeom>
          <a:solidFill>
            <a:srgbClr val="D7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3B82F6"/>
                </a:solidFill>
                <a:latin typeface="Calibri"/>
              </a:rPr>
              <a:t>65%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1883663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Độ ẩm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76288" y="2212848"/>
            <a:ext cx="104241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67727" y="2683764"/>
            <a:ext cx="95504" cy="123443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20534" y="2601468"/>
            <a:ext cx="95504" cy="205739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73340" y="2642616"/>
            <a:ext cx="95504" cy="164592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26147" y="2519172"/>
            <a:ext cx="95504" cy="288035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78953" y="2580894"/>
            <a:ext cx="95504" cy="226314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31760" y="2478024"/>
            <a:ext cx="95504" cy="329184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7727" y="2843784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Lịch sử 24h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91856" y="2212848"/>
            <a:ext cx="104241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83296" y="2304288"/>
            <a:ext cx="859536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10B981"/>
                </a:solidFill>
                <a:latin typeface="Calibri"/>
              </a:rPr>
              <a:t>Online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3296" y="2825496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Trạng thái trạm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72600" y="1280160"/>
            <a:ext cx="2331720" cy="2926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72600" y="1280160"/>
            <a:ext cx="2331720" cy="365760"/>
          </a:xfrm>
          <a:prstGeom prst="rect">
            <a:avLst/>
          </a:prstGeom>
          <a:solidFill>
            <a:srgbClr val="F6F8F9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509760" y="1408176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10928" y="14081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912096" y="14081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60" y="1335024"/>
            <a:ext cx="1325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Web Dashboard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46920" y="1874519"/>
            <a:ext cx="1783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254996" y="1965960"/>
            <a:ext cx="566928" cy="566928"/>
          </a:xfrm>
          <a:prstGeom prst="ellipse">
            <a:avLst/>
          </a:prstGeom>
          <a:solidFill>
            <a:srgbClr val="FD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F59E0B"/>
                </a:solidFill>
                <a:latin typeface="Calibri"/>
              </a:rPr>
              <a:t>28°C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8360" y="2670048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Nhiệt độ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46920" y="3063239"/>
            <a:ext cx="1783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54996" y="3154679"/>
            <a:ext cx="566928" cy="566928"/>
          </a:xfrm>
          <a:prstGeom prst="ellipse">
            <a:avLst/>
          </a:prstGeom>
          <a:solidFill>
            <a:srgbClr val="D7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3B82F6"/>
                </a:solidFill>
                <a:latin typeface="Calibri"/>
              </a:rPr>
              <a:t>65%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3858768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Độ ẩm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46920" y="4251959"/>
            <a:ext cx="1783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738360" y="4850891"/>
            <a:ext cx="177800" cy="178307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022840" y="4732019"/>
            <a:ext cx="177800" cy="297179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307320" y="4791455"/>
            <a:ext cx="177800" cy="237743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591800" y="4613147"/>
            <a:ext cx="177800" cy="416051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876280" y="4702301"/>
            <a:ext cx="177800" cy="326898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160760" y="4553712"/>
            <a:ext cx="177800" cy="475487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38360" y="5065775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Xu hướng 7 ngày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372600" y="4343400"/>
            <a:ext cx="2331720" cy="1371600"/>
          </a:xfrm>
          <a:prstGeom prst="roundRect">
            <a:avLst/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8B5CF6"/>
                </a:solidFill>
                <a:latin typeface="Calibri"/>
              </a:rPr>
              <a:t>B7
↔ B1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0840" y="64739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94A3B8"/>
                </a:solidFill>
                <a:latin typeface="Calibri"/>
              </a:rPr>
              <a:t>Minh hoạ bố cục giao diện App/Web — thiết kế thực tế tuỳ chỉnh trong Blynk.Console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B7 · MỤC TIÊU BÀI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Mục tiêu bài học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530352" cy="5303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35608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E293B"/>
                </a:solidFill>
                <a:latin typeface="Calibri"/>
              </a:rPr>
              <a:t>Hiểu vì sao một hệ thống IoT thực tế cần thêm lớp giám sát từ xa ngoài màn hình LCD tại chỗ.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5856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276856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E293B"/>
                </a:solidFill>
                <a:latin typeface="Calibri"/>
              </a:rPr>
              <a:t>Nắm được kiến trúc kết nối Board → Internet → Blynk Cloud → App di động &amp; Web Dashboard.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99816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18104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E293B"/>
                </a:solidFill>
                <a:latin typeface="Calibri"/>
              </a:rPr>
              <a:t>Cấu hình Datastream (chân ảo — Virtual Pin) tương ứng với dữ liệu nhiệt độ, độ ẩm của Buổi 1.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41064"/>
            <a:ext cx="530352" cy="53035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59352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E293B"/>
                </a:solidFill>
                <a:latin typeface="Calibri"/>
              </a:rPr>
              <a:t>Thiết kế giao diện Mobile App và Web Dashboard hiển thị dữ liệu khí hậu theo thời gian thực.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782312"/>
            <a:ext cx="530352" cy="530352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80060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E293B"/>
                </a:solidFill>
                <a:latin typeface="Calibri"/>
              </a:rPr>
              <a:t>Viết được đoạn mã mở rộng gửi dữ liệu cảm biến lên Cloud song song với việc hiển thị LCD tại chỗ.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7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B7 · ÔN LẠI KIẾN THỨC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Nhắc lại hệ thống phần cứng B1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●  </a:t>
            </a:r>
            <a:r>
              <a:rPr sz="1500" b="0">
                <a:solidFill>
                  <a:srgbClr val="1E293B"/>
                </a:solidFill>
                <a:latin typeface="Calibri"/>
              </a:rPr>
              <a:t>Buổi 1 đã xây dựng: ESP32-S3 đọc DHT11 (GPIO15) → hiển thị Nhiệt độ/Độ ẩm lên LCD1602 tại chỗ mỗi 600ms.</a:t>
            </a:r>
          </a:p>
          <a:p>
            <a:pPr algn="l">
              <a:spcAft>
                <a:spcPts val="16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●  </a:t>
            </a:r>
            <a:r>
              <a:rPr sz="1500" b="0">
                <a:solidFill>
                  <a:srgbClr val="1E293B"/>
                </a:solidFill>
                <a:latin typeface="Calibri"/>
              </a:rPr>
              <a:t>Hạn chế: dữ liệu chỉ xem được khi đứng trực tiếp cạnh thiết bị — không biết được tình trạng khi ở xa.</a:t>
            </a:r>
          </a:p>
          <a:p>
            <a:pPr algn="l">
              <a:spcAft>
                <a:spcPts val="16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●  </a:t>
            </a:r>
            <a:r>
              <a:rPr sz="1500" b="0">
                <a:solidFill>
                  <a:srgbClr val="1E293B"/>
                </a:solidFill>
                <a:latin typeface="Calibri"/>
              </a:rPr>
              <a:t>Buổi 7 sẽ KHÔNG thay đổi phần cứng — chỉ bổ sung phần mềm để gửi dữ liệu đã đọc được lên Internet.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11064240" cy="1691640"/>
          </a:xfrm>
          <a:prstGeom prst="roundRect">
            <a:avLst/>
          </a:prstGeom>
          <a:solidFill>
            <a:srgbClr val="F3EEFE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4515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BÀI B7 SẼ MỞ RỘNG PHẦN NÀO?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92624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Chỉ bổ sung PHẦN MỀM (thư viện Blynk + WiFi) — toàn bộ sơ đồ đấu dây và logic cảm biến/thiết bị chấp hành đã học ở B1 được giữ nguyên 100%, không cần lắp lại mạch.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B7 · NỀN TẢNG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Blynk IoT là gì?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Blynk IoT là nền tảng đám mây (Cloud) chuyên dụng cho thiết bị nhúng — cho phép thiết bị như ESP32-S3 gửi dữ liệu lên và nhận lệnh điều khiển xuống, hiển thị qua ứng dụng di động (iOS/Android) và Web Dashboard mà không cần tự xây server riêng.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Mỗi loại thiết bị được định nghĩa bằng 1 "Template" — gồm Template ID, danh sách Datastream (dữ liệu trao đổi) và cấu hình Widget mặc định.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Datastream (còn gọi là Virtual Pin, ký hiệu V0, V1, V2...) là các "kênh dữ liệu ảo" độc lập với chân GPIO vật lý — dùng để trao đổi bất kỳ loại dữ liệu nào (số, chuỗi, trạng thái) giữa firmware và Cloud.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Mỗi thiết bị vật lý có 1 Auth Token duy nhất — đóng vai trò như "mật khẩu riêng" xác thực thiết bị đó với đúng tài khoản Cloud của người dùng.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Firmware giao tiếp với Cloud qua 2 chiều: Blynk.virtualWrite(V_pin, value) để GỬI dữ liệu lên App/Web; hàm BLYNK_WRITE(V_pin) để NHẬN lệnh điều khiển từ App/Web gửi xuống.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1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B7 · KIẾN TRÚC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Kiến trúc kết nối Board — Cloud — App/Web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45920"/>
            <a:ext cx="2423160" cy="118872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1E293B"/>
                </a:solidFill>
                <a:latin typeface="Calibri"/>
              </a:rPr>
              <a:t>ESP32-S3
(B1)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24231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3040380" y="2075688"/>
            <a:ext cx="320040" cy="329184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1645920"/>
            <a:ext cx="2423160" cy="118872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1E293B"/>
                </a:solidFill>
                <a:latin typeface="Calibri"/>
              </a:rPr>
              <a:t>Kết nối WiFi
(Internet)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645920"/>
            <a:ext cx="2423160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5920740" y="2075688"/>
            <a:ext cx="320040" cy="329184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59" y="1645920"/>
            <a:ext cx="2423160" cy="118872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1E293B"/>
                </a:solidFill>
                <a:latin typeface="Calibri"/>
              </a:rPr>
              <a:t>Blynk Cloud
(Datastream)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1645920"/>
            <a:ext cx="242316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8801099" y="2075688"/>
            <a:ext cx="320040" cy="329184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9719" y="1645920"/>
            <a:ext cx="2423160" cy="118872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1E293B"/>
                </a:solidFill>
                <a:latin typeface="Calibri"/>
              </a:rPr>
              <a:t>App di động &amp;
Web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19" y="1645920"/>
            <a:ext cx="2423160" cy="1097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063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Dữ liệu đi 2 CHIỀU qua Blynk Cloud: (1) Cảm biến → Board → Cloud → App/Web (giám sát), và (2) App/Web → Cloud → Board → Thiết bị chấp hành (điều khiển ngược lại, nếu bài có Switch/Slider).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77639"/>
            <a:ext cx="11064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33087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Vận dụng cụ thể cho bài B7: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498848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6B6D4"/>
                </a:solidFill>
                <a:latin typeface="Calibri"/>
              </a:rPr>
              <a:t>●  </a:t>
            </a:r>
            <a:r>
              <a:rPr sz="1200" b="0">
                <a:solidFill>
                  <a:srgbClr val="475569"/>
                </a:solidFill>
                <a:latin typeface="Calibri"/>
              </a:rPr>
              <a:t>Nhiệt độ không khí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B6D4"/>
                </a:solidFill>
                <a:latin typeface="Calibri"/>
              </a:rPr>
              <a:t>●  </a:t>
            </a:r>
            <a:r>
              <a:rPr sz="1200" b="0">
                <a:solidFill>
                  <a:srgbClr val="475569"/>
                </a:solidFill>
                <a:latin typeface="Calibri"/>
              </a:rPr>
              <a:t>Độ ẩm không khí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B6D4"/>
                </a:solidFill>
                <a:latin typeface="Calibri"/>
              </a:rPr>
              <a:t>●  </a:t>
            </a:r>
            <a:r>
              <a:rPr sz="1200" b="0">
                <a:solidFill>
                  <a:srgbClr val="475569"/>
                </a:solidFill>
                <a:latin typeface="Calibri"/>
              </a:rPr>
              <a:t>Lịch sử Nhiệt độ &amp; Độ ẩm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B7 · CẤU HÌNH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Bảng ánh xạ Datastream (Virtual Pin)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463040"/>
          <a:ext cx="11064238" cy="23408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9372"/>
                <a:gridCol w="3656009"/>
                <a:gridCol w="3367377"/>
                <a:gridCol w="2501480"/>
              </a:tblGrid>
              <a:tr h="585215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Virtual Pin</a:t>
                      </a:r>
                    </a:p>
                  </a:txBody>
                  <a:tcPr marL="73152" marR="73152" marT="36576" marB="36576" anchor="ctr"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Ý nghĩa dữ liệu</a:t>
                      </a:r>
                    </a:p>
                  </a:txBody>
                  <a:tcPr marL="73152" marR="73152" marT="36576" marB="36576" anchor="ctr"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Kiểu dữ liệu / Đơn vị</a:t>
                      </a:r>
                    </a:p>
                  </a:txBody>
                  <a:tcPr marL="73152" marR="73152" marT="36576" marB="36576" anchor="ctr"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Widget đề xuất</a:t>
                      </a:r>
                    </a:p>
                  </a:txBody>
                  <a:tcPr marL="73152" marR="73152" marT="36576" marB="36576" anchor="ctr">
                    <a:solidFill>
                      <a:srgbClr val="F59E0B"/>
                    </a:solidFill>
                  </a:tcPr>
                </a:tc>
              </a:tr>
              <a:tr h="58521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Nhiệt độ không khí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Double, °C (0-50)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Gauge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8521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Độ ẩm không khí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Double, %RH (0-100)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Gauge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</a:tr>
              <a:tr h="58521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Lịch sử Nhiệt độ &amp; Độ ẩm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Dùng lại dữ liệu V0, V1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SuperChart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07822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75569"/>
                </a:solidFill>
                <a:latin typeface="Calibri"/>
              </a:rPr>
              <a:t>Datastream được khai báo 1 lần trong Blynk.Console (Template → Datastreams), sau đó firmware chỉ cần gọi đúng số hiệu Virtual Pin (V0, V1...) tương ứng — không cần khai báo lại trong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C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  <a:latin typeface="Calibri"/>
              </a:rPr>
              <a:t>B7 · GIAO DIỆN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Thiết kế giao diện Mobile App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3108960" cy="5074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5" y="1517904"/>
            <a:ext cx="2944368" cy="4782312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5" y="1517904"/>
            <a:ext cx="2944368" cy="365760"/>
          </a:xfrm>
          <a:prstGeom prst="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B7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" y="1956816"/>
            <a:ext cx="13624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34439" y="2048256"/>
            <a:ext cx="484632" cy="484632"/>
          </a:xfrm>
          <a:prstGeom prst="ellipse">
            <a:avLst/>
          </a:prstGeom>
          <a:solidFill>
            <a:srgbClr val="FD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F59E0B"/>
                </a:solidFill>
                <a:latin typeface="Calibri"/>
              </a:rPr>
              <a:t>28°C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7" y="2569463"/>
            <a:ext cx="11795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Nhiệt độ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31135" y="1956816"/>
            <a:ext cx="13624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670047" y="2048256"/>
            <a:ext cx="484632" cy="484632"/>
          </a:xfrm>
          <a:prstGeom prst="ellipse">
            <a:avLst/>
          </a:prstGeom>
          <a:solidFill>
            <a:srgbClr val="D7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3B82F6"/>
                </a:solidFill>
                <a:latin typeface="Calibri"/>
              </a:rPr>
              <a:t>65%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5" y="2569463"/>
            <a:ext cx="11795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Độ ẩm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" y="2898648"/>
            <a:ext cx="13624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7" y="3369564"/>
            <a:ext cx="131063" cy="123443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6670" y="3287268"/>
            <a:ext cx="131063" cy="205739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06372" y="3328416"/>
            <a:ext cx="131063" cy="164592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16075" y="3204972"/>
            <a:ext cx="131063" cy="288035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25777" y="3266694"/>
            <a:ext cx="131063" cy="226314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35479" y="3163824"/>
            <a:ext cx="131063" cy="329184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7" y="3529584"/>
            <a:ext cx="11795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Lịch sử 24h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31135" y="2898648"/>
            <a:ext cx="13624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22575" y="2990088"/>
            <a:ext cx="1179575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10B981"/>
                </a:solidFill>
                <a:latin typeface="Calibri"/>
              </a:rPr>
              <a:t>Online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22575" y="3511296"/>
            <a:ext cx="11795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Trạng thái trạm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141732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alibri"/>
              </a:rPr>
              <a:t>Danh sách Widget sử dụng:</a:t>
            </a:r>
          </a:p>
        </p:txBody>
      </p:sp>
      <p:sp>
        <p:nvSpPr>
          <p:cNvPr id="31" name="Oval 30"/>
          <p:cNvSpPr/>
          <p:nvPr/>
        </p:nvSpPr>
        <p:spPr>
          <a:xfrm>
            <a:off x="4206240" y="1892807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1874519"/>
            <a:ext cx="6766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Gauge (đồng hồ đo) — “Nhiệt độ”</a:t>
            </a:r>
          </a:p>
        </p:txBody>
      </p:sp>
      <p:sp>
        <p:nvSpPr>
          <p:cNvPr id="33" name="Oval 32"/>
          <p:cNvSpPr/>
          <p:nvPr/>
        </p:nvSpPr>
        <p:spPr>
          <a:xfrm>
            <a:off x="4206240" y="2459736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2441448"/>
            <a:ext cx="6766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Gauge (đồng hồ đo) — “Độ ẩm”</a:t>
            </a:r>
          </a:p>
        </p:txBody>
      </p:sp>
      <p:sp>
        <p:nvSpPr>
          <p:cNvPr id="35" name="Oval 34"/>
          <p:cNvSpPr/>
          <p:nvPr/>
        </p:nvSpPr>
        <p:spPr>
          <a:xfrm>
            <a:off x="4206240" y="3026664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3008376"/>
            <a:ext cx="6766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SuperChart (biểu đồ) — “Lịch sử 24h”</a:t>
            </a:r>
          </a:p>
        </p:txBody>
      </p:sp>
      <p:sp>
        <p:nvSpPr>
          <p:cNvPr id="37" name="Oval 36"/>
          <p:cNvSpPr/>
          <p:nvPr/>
        </p:nvSpPr>
        <p:spPr>
          <a:xfrm>
            <a:off x="4206240" y="3593592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3575304"/>
            <a:ext cx="6766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Value Display (số liệu) — “Trạng thái trạm”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06240" y="4279392"/>
            <a:ext cx="7223760" cy="1051560"/>
          </a:xfrm>
          <a:prstGeom prst="roundRect">
            <a:avLst/>
          </a:prstGeom>
          <a:solidFill>
            <a:srgbClr val="FDECF4"/>
          </a:solidFill>
          <a:ln w="1397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4416552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1E293B"/>
                </a:solidFill>
                <a:latin typeface="Calibri"/>
              </a:rPr>
              <a:t>Nguyên tắc thiết kế: đặt Widget quan trọng nhất (cảnh báo, trạng thái) ở vị trí dễ thấy nhất trên màn hình, nhóm các Widget cùng loại cảm biến gần nhau, ưu tiên Gauge/LED cho dữ liệu cần đọc nhanh.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B7 · GIAO DIỆN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Thiết kế Web Dashboard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11064240" cy="3246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solidFill>
            <a:srgbClr val="F6F8F9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1545336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54533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54533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1472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blynk.cloud — KMT Weather Station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011680"/>
            <a:ext cx="341375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46376" y="2103120"/>
            <a:ext cx="566928" cy="566928"/>
          </a:xfrm>
          <a:prstGeom prst="ellipse">
            <a:avLst/>
          </a:prstGeom>
          <a:solidFill>
            <a:srgbClr val="FD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F59E0B"/>
                </a:solidFill>
                <a:latin typeface="Calibri"/>
              </a:rPr>
              <a:t>28°C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807208"/>
            <a:ext cx="3230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Nhiệt độ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3880" y="2011680"/>
            <a:ext cx="341375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97296" y="2103120"/>
            <a:ext cx="566928" cy="566928"/>
          </a:xfrm>
          <a:prstGeom prst="ellipse">
            <a:avLst/>
          </a:prstGeom>
          <a:solidFill>
            <a:srgbClr val="D7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3B82F6"/>
                </a:solidFill>
                <a:latin typeface="Calibri"/>
              </a:rPr>
              <a:t>65%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5320" y="2807208"/>
            <a:ext cx="3230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Độ ẩm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24799" y="2011680"/>
            <a:ext cx="341375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6239" y="2610612"/>
            <a:ext cx="358986" cy="178307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90618" y="2491740"/>
            <a:ext cx="358986" cy="297179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64997" y="2551176"/>
            <a:ext cx="358986" cy="237743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39375" y="2372868"/>
            <a:ext cx="358986" cy="416051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13754" y="2462022"/>
            <a:ext cx="358986" cy="326898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888133" y="2313432"/>
            <a:ext cx="358986" cy="475487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6239" y="2825496"/>
            <a:ext cx="3230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Xu hướng 7 ngày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920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alibri"/>
              </a:rPr>
              <a:t>Khác biệt so với Mobile App: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2578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●  </a:t>
            </a:r>
            <a:r>
              <a:rPr sz="1200" b="0">
                <a:solidFill>
                  <a:srgbClr val="1E293B"/>
                </a:solidFill>
                <a:latin typeface="Calibri"/>
              </a:rPr>
              <a:t>Web Dashboard phù hợp xem trên màn hình lớn (phòng điều khiển, máy tính bàn) — bố cục nhiều cột hơn App.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●  </a:t>
            </a:r>
            <a:r>
              <a:rPr sz="1200" b="0">
                <a:solidFill>
                  <a:srgbClr val="1E293B"/>
                </a:solidFill>
                <a:latin typeface="Calibri"/>
              </a:rPr>
              <a:t>Có thể chia sẻ Dashboard cho nhiều người xem (Viewer) mà không cần chia sẻ tài khoản đăng nhập chính.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●  </a:t>
            </a:r>
            <a:r>
              <a:rPr sz="1200" b="0">
                <a:solidFill>
                  <a:srgbClr val="1E293B"/>
                </a:solidFill>
                <a:latin typeface="Calibri"/>
              </a:rPr>
              <a:t>Truy cập trực tiếp qua trình duyệt tại web.blynk.cloud, không cần cài đặt ứng dụng.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7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B7 · HƯỚNG DẪN CÀI ĐẶT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Quy trình cài đặt gồm 3 giai đoạn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3566160" cy="77724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GIAI ĐOẠN 1
Thiết lập Cloud (Web)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677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4A3B8"/>
                </a:solidFill>
                <a:latin typeface="Calibri"/>
              </a:rPr>
              <a:t>blynk.cloud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6040"/>
            <a:ext cx="356616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2816351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71576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Đăng ký tài khoản Blynk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74719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374135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Tạo Template + Datastream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33087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032503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Tạo Device, lấy Auth Token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791455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690871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Dựng Web Dashboard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133087" y="2926080"/>
            <a:ext cx="146304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97679" y="1463040"/>
            <a:ext cx="3566160" cy="7772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GIAI ĐOẠN 2
Thiết lập App di động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22677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4A3B8"/>
                </a:solidFill>
                <a:latin typeface="Calibri"/>
              </a:rPr>
              <a:t>Blynk IoT App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2606040"/>
            <a:ext cx="356616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80559" y="2816351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271576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Cài đặt Blynk IoT (App Store/Google Play)</a:t>
            </a:r>
          </a:p>
        </p:txBody>
      </p:sp>
      <p:sp>
        <p:nvSpPr>
          <p:cNvPr id="27" name="Oval 26"/>
          <p:cNvSpPr/>
          <p:nvPr/>
        </p:nvSpPr>
        <p:spPr>
          <a:xfrm>
            <a:off x="4480559" y="3474719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3374135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Đăng nhập cùng tài khoản Bước 1</a:t>
            </a:r>
          </a:p>
        </p:txBody>
      </p:sp>
      <p:sp>
        <p:nvSpPr>
          <p:cNvPr id="29" name="Oval 28"/>
          <p:cNvSpPr/>
          <p:nvPr/>
        </p:nvSpPr>
        <p:spPr>
          <a:xfrm>
            <a:off x="4480559" y="4133087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36592" y="4032503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Dựng giao diện Mobile Widget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882127" y="2926080"/>
            <a:ext cx="146304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19" y="1463040"/>
            <a:ext cx="3566160" cy="7772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GIAI ĐOẠN 3
Nạp code &amp; Kết nối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9" y="22677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4A3B8"/>
                </a:solidFill>
                <a:latin typeface="Calibri"/>
              </a:rPr>
              <a:t>Arduino IDE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2606040"/>
            <a:ext cx="356616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29599" y="2816351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85632" y="271576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Dán Template ID + Auth Token vào code</a:t>
            </a:r>
          </a:p>
        </p:txBody>
      </p:sp>
      <p:sp>
        <p:nvSpPr>
          <p:cNvPr id="37" name="Oval 36"/>
          <p:cNvSpPr/>
          <p:nvPr/>
        </p:nvSpPr>
        <p:spPr>
          <a:xfrm>
            <a:off x="8229599" y="3474719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85632" y="3374135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Nạp code lên board qua Arduino IDE</a:t>
            </a:r>
          </a:p>
        </p:txBody>
      </p:sp>
      <p:sp>
        <p:nvSpPr>
          <p:cNvPr id="39" name="Oval 38"/>
          <p:cNvSpPr/>
          <p:nvPr/>
        </p:nvSpPr>
        <p:spPr>
          <a:xfrm>
            <a:off x="8229599" y="4133087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85632" y="4032503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Kiểm tra trạng thái Online, thử nghiệm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475569"/>
                </a:solidFill>
                <a:latin typeface="Calibri"/>
              </a:rPr>
              <a:t>Toàn bộ 3 giai đoạn CHỈ cần làm 1 lần cho mỗi thiết bị — sau khi đã kết nối thành công, dữ liệu tự động cập nhật mỗi khi board bật nguồn.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7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B7 · CÀI ĐẶT WEB · BƯỚC 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Đăng ký tài khoản &amp; Tạo Template (Web)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Mở trình duyệt, truy cập blynk.cloud, bấm "Sign Up" (hoặc "Create Account") để tạo tài khoản mới.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3055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Nhập Email + Mật khẩu, hoặc chọn "Continue with Google" để đăng ký/đăng nhập nhanh — xác nhận email nếu hệ thống yêu cầu.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6207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Sau khi đăng nhập thành công, vào mục "Templates" ở thanh menu bên trái (khu vực Developer Zone).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359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Bấm "+ New Template", đặt tên Template là "KMT Weather Station" để dễ nhận diện.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2511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Chọn Hardware = "ESP32", Connection Type = "WiFi" (đúng loại board ESP32-S3 đang dùng) &gt; bấm "Done" để hoàn tất tạo Template.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48072"/>
            <a:ext cx="11064240" cy="1024128"/>
          </a:xfrm>
          <a:prstGeom prst="roundRect">
            <a:avLst/>
          </a:prstGeom>
          <a:solidFill>
            <a:srgbClr val="FEF5E6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6070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E293B"/>
                </a:solidFill>
                <a:latin typeface="Calibri"/>
              </a:rPr>
              <a:t>💡 Ghi nhớ chính xác tên Template — sẽ dùng lại khi tạo Device ở bước sau.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7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B7 · CÀI ĐẶT WEB · BƯỚC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Thêm Datastream cho từng cảm biến (Web)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Trong Template vừa tạo, chuyển sang tab "Datastreams".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3055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Bấm "+ New Datastream" &gt; chọn loại "Virtual Pin".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6207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Điền đầy đủ: Name (tên gợi nhớ), Pin (chọn đúng số V), Data Type (Integer/Double), giá trị Min/Max theo đúng bảng ánh xạ đã thiết kế ở slide trước.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359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Lặp lại thao tác trên cho đến khi tạo đủ 3 Datastream (V0 → V2) đúng theo bảng.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2511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Bấm "Save" sau mỗi Datastream để lưu lại cấu hình.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48072"/>
            <a:ext cx="11064240" cy="1024128"/>
          </a:xfrm>
          <a:prstGeom prst="roundRect">
            <a:avLst/>
          </a:prstGeom>
          <a:solidFill>
            <a:srgbClr val="FEF5E6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6070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E293B"/>
                </a:solidFill>
                <a:latin typeface="Calibri"/>
              </a:rPr>
              <a:t>💡 Đặt tên Datastream và Virtual Pin phải khớp CHÍNH XÁC với số hiệu V-pin dùng trong code ở các slide sau.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7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B7 · CÀI ĐẶT WEB · BƯỚC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Tạo Device &amp; lấy Auth Token (Web)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Vào mục "Devices" ở menu bên trái &gt; bấm "+ New Device".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3055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Chọn "From template" &gt; chọn đúng Template "KMT Weather Station" vừa cấu hình ở bước trước.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6207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Đặt tên riêng cho thiết bị (ví dụ "Trạm B7 - Phòng Lab") &gt; bấm "Create".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359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Hệ thống hiển thị Auth Token — đây là "mật khẩu" DUY NHẤT của riêng thiết bị này, bấm biểu tượng copy để sao chép.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2511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Dán chuỗi Auth Token vừa copy vào đúng dòng BLYNK_AUTH_TOKEN trong code Arduino (sẽ dùng ở các slide Mã nguồn tiếp theo).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48072"/>
            <a:ext cx="11064240" cy="1024128"/>
          </a:xfrm>
          <a:prstGeom prst="roundRect">
            <a:avLst/>
          </a:prstGeom>
          <a:solidFill>
            <a:srgbClr val="FEF5E6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6070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E293B"/>
                </a:solidFill>
                <a:latin typeface="Calibri"/>
              </a:rPr>
              <a:t>💡 TUYỆT ĐỐI không chia sẻ Auth Token công khai (vd đăng lên GitHub/Facebook) — ai có Token đều điều khiển được thiết bị.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B7 · CÀI ĐẶT WEB · BƯỚC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Dựng Web Dashboard — kéo thả Widget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Trong Device vừa tạo, chuyển sang tab "Web Dashboard".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58568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40280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Bấm biểu tượng bút chì "Edit" để vào chế độ chỉnh sửa.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99816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81528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Từ khay Widget bên phải, kéo thả từng Widget (Gauge/LED/Chart...) tương ứng bảng thiết kế đã học vào vùng làm việc.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41064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22776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Bấm vào từng Widget vừa thả &gt; mục DATASTREAM &gt; chọn đúng Virtual Pin tương ứng &gt; đặt tên hiển thị, đơn vị, dải màu cảnh báo.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782312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764024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Sắp xếp lại vị trí/kích thước các Widget cho gọn gàng, dễ nhìn &gt; bấm "Save".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B7 · CÀI ĐẶT APP · BƯỚC 6-7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Cài đặt &amp; Đăng nhập Blynk IoT App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Mở App Store (iPhone) hoặc Google Play (Android), tìm kiếm chính xác "Blynk IoT".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3055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Cài đặt và mở ứng dụng vừa tải về.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6207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Đăng nhập bằng ĐÚNG tài khoản đã dùng để tạo Template ở Bước 1 (email hoặc Google).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359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Ứng dụng tự động đồng bộ, hiển thị thiết bị vừa tạo trong danh sách "Devices".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2511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Chạm vào thiết bị để mở — màn hình lúc này còn trống vì chưa có Widget nào được thêm.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48072"/>
            <a:ext cx="11064240" cy="1024128"/>
          </a:xfrm>
          <a:prstGeom prst="roundRect">
            <a:avLst/>
          </a:prstGeom>
          <a:solidFill>
            <a:srgbClr val="FEF5E6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6070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E293B"/>
                </a:solidFill>
                <a:latin typeface="Calibri"/>
              </a:rPr>
              <a:t>💡 Lưu ý phân biệt "Blynk IoT" (app hiện hành) với "Blynk" bản cũ đã ngừng phát triển — cài nhầm sẽ không thấy Template/Device vừa tạo.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B7 · CÀI ĐẶT APP · BƯỚC 8-9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Dựng giao diện Mobile App — kéo thả Widget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Chạm biểu tượng bút chì (Edit) ở góc trên bên phải màn hình thiết bị để vào chế độ chỉnh sửa.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58568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40280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Khay Widget trượt lên từ phía dưới màn hình — chọn và kéo thả từng Widget vào vùng làm việc.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99816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81528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Chạm vào Widget vừa thả &gt; mục DATASTREAM &gt; chọn đúng Virtual Pin theo đúng bảng ánh xạ đã thiết kế.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41064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22776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Tuỳ chỉnh tên hiển thị, màu sắc, dải giá trị (min/max) cho từng Widget để dễ đọc.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782312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764024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Kéo-thả sắp xếp lại vị trí các Widget, sau đó chạm dấu ✓ (Save) ở góc trên để lưu và thoát chế độ chỉnh sửa.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B7 · HOÀN TẤT · BƯỚC 10-11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Nạp code &amp; Kiểm tra kết nối thành công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Mở Arduino IDE trên máy tính, cài thư viện "Blynk" (Sketch &gt; Include Library &gt; Manage Libraries &gt; tìm "Blynk").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4028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2199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Dán đầy đủ đoạn code ở 2 slide "Mã nguồn mở rộng" tiếp theo vào 1 file .ino.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6324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4495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Kiểm tra lại đã điền đúng: BLYNK_AUTH_TOKEN (lấy ở Bước 4), tên WiFi (ssid) và mật khẩu WiFi (pass).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88620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86791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Chọn đúng Board "ESP32S3 Dev Module" và cổng COM tương ứng trong Arduino IDE &gt; bấm Upload.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7091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69087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Mở Serial Monitor (baud rate 115200) — quan sát dòng chữ xác nhận kết nối WiFi và Blynk thành công.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5321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51383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Quay lại App/Web: chấm tròn trạng thái thiết bị chuyển từ xám "Offline" sang xanh lá "Online", số liệu bắt đầu cập nhật realtime trên các Widget.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B7 · XỬ LÝ SỰ CỐ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Các lỗi thường gặp khi cài đặt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417320"/>
          <a:ext cx="11064240" cy="37490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3657600"/>
                <a:gridCol w="4297680"/>
              </a:tblGrid>
              <a:tr h="535577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Triệu chứng</a:t>
                      </a:r>
                    </a:p>
                  </a:txBody>
                  <a:tcPr marL="73152" marR="73152" marT="36576" marB="36576" anchor="ctr">
                    <a:solidFill>
                      <a:srgbClr val="EF44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Nguyên nhân thường gặp</a:t>
                      </a:r>
                    </a:p>
                  </a:txBody>
                  <a:tcPr marL="73152" marR="73152" marT="36576" marB="36576" anchor="ctr">
                    <a:solidFill>
                      <a:srgbClr val="EF44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Cách khắc phục</a:t>
                      </a:r>
                    </a:p>
                  </a:txBody>
                  <a:tcPr marL="73152" marR="73152" marT="36576" marB="36576" anchor="ctr">
                    <a:solidFill>
                      <a:srgbClr val="EF4444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Thiết bị luôn hiện "Offline"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Sai Auth Token, hoặc sai tên/mật khẩu WiFi trong code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Kiểm tra lại BLYNK_AUTH_TOKEN dán đúng; xem Serial Monitor để xác nhận board đã kết nối được WiFi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Widget không hiển thị số liệu (mãi 0 hoặc trống)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Widget gán sai Virtual Pin, hoặc code chưa gọi đúng Blynk.virtualWrite()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Vào chỉnh sửa Widget &gt; kiểm tra mục DATASTREAM đã chọn đúng V-pin theo bảng ánh xạ chưa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App điện thoại không thấy Device/Template mới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Đăng nhập App bằng tài khoản khác với tài khoản tạo Template trên Web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Đăng xuất, đăng nhập lại đúng email đã dùng trên Blynk.Console; kéo màn hình để làm mới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Gạt Switch trên App nhưng thiết bị không phản ứng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Thiếu hàm BLYNK_WRITE(V_pin) tương ứng trong code, hoặc thiết bị đang mất kết nối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Kiểm tra code có định nghĩa đúng BLYNK_WRITE() cho đúng V-pin; kiểm tra trạng thái Online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Không nhận được thông báo dù đã vượt ngưỡng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Automation chưa được Bật (Enable), hoặc App bị chặn quyền thông báo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Kiểm tra trạng thái Enable trong tab Automations; vào Cài đặt điện thoại &gt; Thông báo &gt; cho phép Blynk IoT gửi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Cài nhầm app "Blynk" bản cũ thay vì "Blynk IoT"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Không để ý tên ứng dụng chính xác khi tìm trên App Store/Google Play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Gỡ bản cũ, tìm chính xác "Blynk IoT" (icon chữ B nền xanh lá mới) để cài lại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B7 · MÃ NGUỒN MỞ RỘNG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Kết nối WiFi &amp; Blynk Cloud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50292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#include &lt;WiFi.h&gt;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#define BLYNK_TEMPLATE_ID   "TMPLxxxxxx"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#define BLYNK_TEMPLATE_NAME "{tmpl_name}"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#define BLYNK_AUTH_TOKEN    "xxxxxxxxxxxxxxxxxxxxxxxxxxxxxxxx"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#include &lt;BlynkSimpleEsp32.h&gt;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char ssid[] = "TEN_WIFI_CUA_BAN";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char pass[] = "MAT_KHAU_WIFI";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BlynkTimer timer;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B7 · MÃ NGUỒN MỞ RỘNG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Gửi dữ liệu cảm biến &amp; Nhận lệnh điều khiển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50292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void sendSensorData() {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int temp = analogRead(DHT_PIN);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int humi = dhtReadHumidity(DHT_PIN);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64748B"/>
                </a:solidFill>
                <a:latin typeface="Consolas"/>
              </a:rPr>
              <a:t>  // Gui du lieu cam bien len Blynk Cloud (hien thi tren App &amp; Web)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Blynk.virtualWrite(V0, temp);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Blynk.virtualWrite(V1, humi);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64748B"/>
                </a:solidFill>
                <a:latin typeface="Consolas"/>
              </a:rPr>
              <a:t>  // Van giu nguyen phan hien thi LCD tai cho nhu Buoi 1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lcd.setCursor(0, 0);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lcd.print("Temp: "); lcd.print(temp); lcd.print(" C     ");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lcd.setCursor(0, 1);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lcd.print("Humi: "); lcd.print(humi); lcd.print(" %     ");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void setup() {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Serial.begin(115200);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lcd.begin(16, 2);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Blynk.begin(BLYNK_AUTH_TOKEN, ssid, pass);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timer.setInterval(2000L, sendSensorData); // gui du lieu moi 2 giay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void loop() {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Blynk.run();   // duy tri ket noi &amp; xu ly du lieu Blynk Cloud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  timer.run();   // kich hoat sendSensorData() theo chu ky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7DE6A8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B7 · TỰ ĐỘNG HOÁ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Cảnh báo &amp; Automation trên Cloud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11064240" cy="155448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554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F4444"/>
                </a:solidFill>
                <a:latin typeface="Calibri"/>
              </a:rPr>
              <a:t>QUY TẮC AUTOMATION CHO BÀI B7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01952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Tự động hoá trong Blynk.Console: THIẾT LẬP → nếu Nhiệt độ (V0) &gt; 35°C liên tục 5 phút → gửi thông báo đẩy "⚠️ Phòng máy quá nóng!" đến điện thoại quản trị viên — không cần sửa code firmware.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2724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alibri"/>
              </a:rPr>
              <a:t>Các bước cấu hình trên Blynk.Console (Web):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502152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Mở thiết bị trên Blynk.Console &gt; chuyển sang tab "Automations" &gt; bấm "+ Create Automation".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142232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23944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Đặt tên quy tắc dễ nhớ &gt; phần "IF" chọn đúng Datastream cần theo dõi &gt; chọn phép so sánh (&gt;, &lt;, =) &gt; nhập giá trị ngưỡng.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764024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45736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Phần "THEN" chọn hành động "Send Notification" (thông báo đẩy) và/hoặc "Send Email" &gt; soạn nội dung cảnh báo.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385816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367528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Bấm "Save" rồi gạt công tắc "Enable" ở đầu quy tắc để chính thức kích hoạt — có thể Tắt/Bật lại bất cứ lúc nào mà không cần sửa code.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B7 · ỨNG DỤNG THỰC TIỄN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Giá trị thực tế khi có App/Web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53492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109728" cy="19659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581912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Giám sát phòng thí nghiệm từ xa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07568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Cán bộ quản lý xem nhiệt độ/độ ẩm phòng lưu mẫu ngay trên điện thoại dù đang ở nhà hoặc đi công tác.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53492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10972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1581912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Cảnh báo tức thời qua điện thoại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07568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Nhận thông báo đẩy (push notification) ngay khi nhiệt độ vượt ngưỡng, phản ứng nhanh hơn nhiều so với việc phải đến tận nơi kiểm tra.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53492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109728" cy="1965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67911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Lưu trữ dữ liệu lịch sử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6168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Blynk Cloud tự lưu chuỗi dữ liệu — phục vụ phân tích xu hướng khí hậu dài hạn mà LCD tại chỗ không làm được.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703320"/>
            <a:ext cx="53492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703320"/>
            <a:ext cx="109728" cy="196596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79" y="3867911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Chia sẻ giám sát cho nhiều người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436168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Nhiều thành viên trong nhóm cùng xem 1 dashboard từ các thiết bị khác nhau, không giới hạn như đứng cạnh 1 màn hình LCD.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B7 · LƯU Ý TRIỂN KHAI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Lưu ý khi triển khai thực tế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21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44752"/>
            <a:ext cx="457200" cy="457200"/>
          </a:xfrm>
          <a:prstGeom prst="ellipse">
            <a:avLst/>
          </a:prstGeom>
          <a:solidFill>
            <a:srgbClr val="FC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EF4444"/>
                </a:solidFill>
                <a:latin typeface="Calibr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1732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Tài khoản Blynk miễn phí giới hạn số lượng thiết bị và tần suất gửi dữ liệu — cần cân nhắc chu kỳ gửi hợp lý (không nên gửi mỗi 600ms như LCD).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340864"/>
            <a:ext cx="457200" cy="457200"/>
          </a:xfrm>
          <a:prstGeom prst="ellipse">
            <a:avLst/>
          </a:prstGeom>
          <a:solidFill>
            <a:srgbClr val="FC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EF4444"/>
                </a:solidFill>
                <a:latin typeface="Calibri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13432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Auth Token là "mật khẩu" của riêng thiết bị — tuyệt đối không chia sẻ công khai (vd đăng lên GitHub) vì ai có Token đều điều khiển được thiết bị.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236976"/>
            <a:ext cx="457200" cy="457200"/>
          </a:xfrm>
          <a:prstGeom prst="ellipse">
            <a:avLst/>
          </a:prstGeom>
          <a:solidFill>
            <a:srgbClr val="FC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EF4444"/>
                </a:solidFill>
                <a:latin typeface="Calibr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954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Nếu mất kết nối WiFi, Blynk.run() sẽ tự thử kết nối lại — cần thêm xử lý để LCD vẫn hoạt động bình thường ngay cả khi mất mạng.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133088"/>
            <a:ext cx="457200" cy="457200"/>
          </a:xfrm>
          <a:prstGeom prst="ellipse">
            <a:avLst/>
          </a:prstGeom>
          <a:solidFill>
            <a:srgbClr val="FC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EF4444"/>
                </a:solidFill>
                <a:latin typeface="Calibri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105656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Độ trễ giữa cảm biến thật và hiển thị trên App phụ thuộc tốc độ Internet — không phù hợp cho các ứng dụng cần phản ứng tức thời trong mili-giây.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B7 · ÔN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Câu hỏi thảo luận cuối buổi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502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444752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Calibri"/>
              </a:rPr>
              <a:t>Vì sao không nên đặt chu kỳ gửi dữ liệu lên Blynk Cloud giống hệt chu kỳ quét LCD (600ms)?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59152"/>
            <a:ext cx="502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340864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Calibri"/>
              </a:rPr>
              <a:t>Auth Token trong code có vai trò gì? Điều gì xảy ra nếu Token bị lộ ra ngoài?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55264"/>
            <a:ext cx="502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236976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Calibri"/>
              </a:rPr>
              <a:t>Nếu muốn thêm 1 Gauge hiển thị "Chỉ số nhiệt cảm nhận" (Heat Index) tính từ nhiệt độ + độ ẩm, cần thêm Datastream nào và sửa hàm nào trong code?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51376"/>
            <a:ext cx="502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33088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Calibri"/>
              </a:rPr>
              <a:t>So sánh ưu — nhược điểm giữa xem dữ liệu qua LCD tại chỗ và qua App điện thoại.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B7 · TỔNG KẾT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Tổng kết buổi học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Những điều đã đạt được: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Đã mở rộng thành công hệ thống Buổi 1 từ "chỉ hiển thị tại chỗ" thành "giám sát được từ bất kỳ đâu có Internet".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Nắm được quy trình chuẩn để đưa 1 hệ thống cảm biến bất kỳ lên Cloud: Template → Datastream → Widget → Code virtualWrite().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Đây là nền tảng dùng lại cho toàn bộ các bài B8-B12 tiếp theo — mỗi bài chỉ khác nhau ở Datastream và loại Widget.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43400"/>
            <a:ext cx="10881360" cy="1600200"/>
          </a:xfrm>
          <a:prstGeom prst="round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CHUẨN BỊ CHO BUỔI TIẾP THEO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9204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Buổi 8: Mở rộng hệ thống quan trắc nước Buổi 2 — thêm cảnh báo ngập lụt tức thời qua thông báo đẩy trên điện thoại.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7295" cy="594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6663" y="914400"/>
            <a:ext cx="658368" cy="658368"/>
          </a:xfrm>
          <a:prstGeom prst="round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E293B"/>
                </a:solidFill>
                <a:latin typeface="Calibri"/>
              </a:rPr>
              <a:t>CẢM ƠN CÁC BẠN ĐÃ THEO DÕI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5CF6"/>
                </a:solidFill>
                <a:latin typeface="Calibri"/>
              </a:rPr>
              <a:t>B7: Quan trắc Khí hậu từ xa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78327" y="3429000"/>
            <a:ext cx="2377440" cy="3017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60623" y="3575304"/>
            <a:ext cx="2212848" cy="2724912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60623" y="3575304"/>
            <a:ext cx="2212848" cy="365760"/>
          </a:xfrm>
          <a:prstGeom prst="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B7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3775" y="4014216"/>
            <a:ext cx="99669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89807" y="4105656"/>
            <a:ext cx="484632" cy="484632"/>
          </a:xfrm>
          <a:prstGeom prst="ellipse">
            <a:avLst/>
          </a:prstGeom>
          <a:solidFill>
            <a:srgbClr val="FD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F59E0B"/>
                </a:solidFill>
                <a:latin typeface="Calibri"/>
              </a:rPr>
              <a:t>28°C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5215" y="4626864"/>
            <a:ext cx="8138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Nhiệt độ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3623" y="4014216"/>
            <a:ext cx="99669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59655" y="4105656"/>
            <a:ext cx="484632" cy="484632"/>
          </a:xfrm>
          <a:prstGeom prst="ellipse">
            <a:avLst/>
          </a:prstGeom>
          <a:solidFill>
            <a:srgbClr val="D7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3B82F6"/>
                </a:solidFill>
                <a:latin typeface="Calibri"/>
              </a:rPr>
              <a:t>65%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5063" y="4626864"/>
            <a:ext cx="8138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Độ ẩm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33775" y="4956048"/>
            <a:ext cx="99669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25215" y="5426964"/>
            <a:ext cx="90423" cy="123443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69894" y="5344668"/>
            <a:ext cx="90423" cy="205739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14572" y="5385816"/>
            <a:ext cx="90423" cy="164592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59250" y="5262372"/>
            <a:ext cx="90423" cy="288035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03929" y="5324094"/>
            <a:ext cx="90423" cy="226314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48607" y="5221224"/>
            <a:ext cx="90423" cy="329184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25215" y="5586984"/>
            <a:ext cx="8138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Lịch sử 24h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03623" y="4956048"/>
            <a:ext cx="99669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95063" y="5047488"/>
            <a:ext cx="813815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10B981"/>
                </a:solidFill>
                <a:latin typeface="Calibri"/>
              </a:rPr>
              <a:t>Online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5063" y="5568696"/>
            <a:ext cx="8138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Trạng thái trạm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70167" y="3977639"/>
            <a:ext cx="310896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70167" y="3977639"/>
            <a:ext cx="3108960" cy="365760"/>
          </a:xfrm>
          <a:prstGeom prst="rect">
            <a:avLst/>
          </a:prstGeom>
          <a:solidFill>
            <a:srgbClr val="F6F8F9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07327" y="4105655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08495" y="4105655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09663" y="4105655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93127" y="4032503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Web Dashboard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44487" y="457200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641183" y="4663440"/>
            <a:ext cx="566928" cy="566928"/>
          </a:xfrm>
          <a:prstGeom prst="ellipse">
            <a:avLst/>
          </a:prstGeom>
          <a:solidFill>
            <a:srgbClr val="FD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F59E0B"/>
                </a:solidFill>
                <a:latin typeface="Calibri"/>
              </a:rPr>
              <a:t>28°C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5927" y="536752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Nhiệt độ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44487" y="576072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41183" y="5852159"/>
            <a:ext cx="566928" cy="566928"/>
          </a:xfrm>
          <a:prstGeom prst="ellipse">
            <a:avLst/>
          </a:prstGeom>
          <a:solidFill>
            <a:srgbClr val="D7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3B82F6"/>
                </a:solidFill>
                <a:latin typeface="Calibri"/>
              </a:rPr>
              <a:t>65%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5927" y="6556247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Độ ẩm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44487" y="694944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35927" y="7548371"/>
            <a:ext cx="264160" cy="178307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58583" y="7429500"/>
            <a:ext cx="264160" cy="297179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81239" y="7488936"/>
            <a:ext cx="264160" cy="237743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03895" y="7310627"/>
            <a:ext cx="264160" cy="416051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26551" y="7399781"/>
            <a:ext cx="264160" cy="326898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849207" y="7251192"/>
            <a:ext cx="264160" cy="475487"/>
          </a:xfrm>
          <a:prstGeom prst="rect">
            <a:avLst/>
          </a:prstGeom>
          <a:solidFill>
            <a:srgbClr val="7BD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35927" y="7763256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Xu hướng 7 ngày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644652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Giảng viên hướng dẫn: Nguyễn Lê Tấn Đạt  ·  datnlt@tdmu.edu.vn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