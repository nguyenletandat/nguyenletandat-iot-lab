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6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30936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263640" y="0"/>
            <a:ext cx="54864" cy="6858000"/>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502920"/>
            <a:ext cx="658368" cy="658368"/>
          </a:xfrm>
          <a:prstGeom prst="roundRect">
            <a:avLst/>
          </a:prstGeom>
          <a:solidFill>
            <a:srgbClr val="0F4C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500" b="1">
                <a:solidFill>
                  <a:srgbClr val="FFFFFF"/>
                </a:solidFill>
                <a:latin typeface="Calibri"/>
              </a:rPr>
              <a:t>IoT</a:t>
            </a:r>
          </a:p>
        </p:txBody>
      </p:sp>
      <p:sp>
        <p:nvSpPr>
          <p:cNvPr id="6" name="TextBox 5"/>
          <p:cNvSpPr txBox="1"/>
          <p:nvPr/>
        </p:nvSpPr>
        <p:spPr>
          <a:xfrm>
            <a:off x="1463040" y="548640"/>
            <a:ext cx="4663440" cy="274320"/>
          </a:xfrm>
          <a:prstGeom prst="rect">
            <a:avLst/>
          </a:prstGeom>
          <a:noFill/>
        </p:spPr>
        <p:txBody>
          <a:bodyPr wrap="square">
            <a:spAutoFit/>
          </a:bodyPr>
          <a:lstStyle/>
          <a:p>
            <a:pPr algn="l"/>
            <a:r>
              <a:rPr sz="1200" b="1" i="0">
                <a:solidFill>
                  <a:srgbClr val="94A3B8"/>
                </a:solidFill>
                <a:latin typeface="Calibri"/>
              </a:rPr>
              <a:t>ĐẠI HỌC THỦ DẦU MỘT</a:t>
            </a:r>
          </a:p>
        </p:txBody>
      </p:sp>
      <p:sp>
        <p:nvSpPr>
          <p:cNvPr id="7" name="TextBox 6"/>
          <p:cNvSpPr txBox="1"/>
          <p:nvPr/>
        </p:nvSpPr>
        <p:spPr>
          <a:xfrm>
            <a:off x="1463040" y="804672"/>
            <a:ext cx="4663440" cy="320040"/>
          </a:xfrm>
          <a:prstGeom prst="rect">
            <a:avLst/>
          </a:prstGeom>
          <a:noFill/>
        </p:spPr>
        <p:txBody>
          <a:bodyPr wrap="square">
            <a:spAutoFit/>
          </a:bodyPr>
          <a:lstStyle/>
          <a:p>
            <a:pPr algn="l"/>
            <a:r>
              <a:rPr sz="1300" b="1" i="0">
                <a:solidFill>
                  <a:srgbClr val="8B5CF6"/>
                </a:solidFill>
                <a:latin typeface="Calibri"/>
              </a:rPr>
              <a:t>IOT TRONG KỸ THUẬT MÔI TRƯỜNG</a:t>
            </a:r>
          </a:p>
        </p:txBody>
      </p:sp>
      <p:sp>
        <p:nvSpPr>
          <p:cNvPr id="8" name="TextBox 7"/>
          <p:cNvSpPr txBox="1"/>
          <p:nvPr/>
        </p:nvSpPr>
        <p:spPr>
          <a:xfrm>
            <a:off x="640080" y="1600200"/>
            <a:ext cx="5486400" cy="365760"/>
          </a:xfrm>
          <a:prstGeom prst="rect">
            <a:avLst/>
          </a:prstGeom>
          <a:noFill/>
        </p:spPr>
        <p:txBody>
          <a:bodyPr wrap="square">
            <a:spAutoFit/>
          </a:bodyPr>
          <a:lstStyle/>
          <a:p>
            <a:pPr algn="l"/>
            <a:r>
              <a:rPr sz="1300" b="1" i="0">
                <a:solidFill>
                  <a:srgbClr val="F59E0B"/>
                </a:solidFill>
                <a:latin typeface="Calibri"/>
              </a:rPr>
              <a:t>BUỔI 12/12 · NỐI TIẾP B6</a:t>
            </a:r>
          </a:p>
        </p:txBody>
      </p:sp>
      <p:sp>
        <p:nvSpPr>
          <p:cNvPr id="9" name="TextBox 8"/>
          <p:cNvSpPr txBox="1"/>
          <p:nvPr/>
        </p:nvSpPr>
        <p:spPr>
          <a:xfrm>
            <a:off x="640080" y="1965960"/>
            <a:ext cx="5532120" cy="1737360"/>
          </a:xfrm>
          <a:prstGeom prst="rect">
            <a:avLst/>
          </a:prstGeom>
          <a:noFill/>
        </p:spPr>
        <p:txBody>
          <a:bodyPr wrap="square">
            <a:spAutoFit/>
          </a:bodyPr>
          <a:lstStyle/>
          <a:p>
            <a:pPr algn="l">
              <a:lnSpc>
                <a:spcPct val="108000"/>
              </a:lnSpc>
            </a:pPr>
            <a:r>
              <a:rPr sz="2700" b="1" i="0">
                <a:solidFill>
                  <a:srgbClr val="1E293B"/>
                </a:solidFill>
                <a:latin typeface="Calibri"/>
              </a:rPr>
              <a:t>B12: Web App &amp; Mobile App — Nền tảng IoT Đa thông số Hoàn chỉnh</a:t>
            </a:r>
          </a:p>
        </p:txBody>
      </p:sp>
      <p:sp>
        <p:nvSpPr>
          <p:cNvPr id="10" name="TextBox 9"/>
          <p:cNvSpPr txBox="1"/>
          <p:nvPr/>
        </p:nvSpPr>
        <p:spPr>
          <a:xfrm>
            <a:off x="640080" y="3794760"/>
            <a:ext cx="5394960" cy="1371600"/>
          </a:xfrm>
          <a:prstGeom prst="rect">
            <a:avLst/>
          </a:prstGeom>
          <a:noFill/>
        </p:spPr>
        <p:txBody>
          <a:bodyPr wrap="square">
            <a:spAutoFit/>
          </a:bodyPr>
          <a:lstStyle/>
          <a:p>
            <a:pPr algn="l">
              <a:lnSpc>
                <a:spcPct val="125000"/>
              </a:lnSpc>
            </a:pPr>
            <a:r>
              <a:rPr sz="1250" b="0" i="0">
                <a:solidFill>
                  <a:srgbClr val="475569"/>
                </a:solidFill>
                <a:latin typeface="Calibri"/>
              </a:rPr>
              <a:t>Đưa toàn bộ trạm đa cảm biến của Buổi 6 lên nền tảng Cloud hoàn chỉnh — bài tổng hợp khép kín chuỗi App B7-B12</a:t>
            </a:r>
          </a:p>
        </p:txBody>
      </p:sp>
      <p:cxnSp>
        <p:nvCxnSpPr>
          <p:cNvPr id="11" name="Connector 10"/>
          <p:cNvCxnSpPr/>
          <p:nvPr/>
        </p:nvCxnSpPr>
        <p:spPr>
          <a:xfrm>
            <a:off x="640080" y="5349240"/>
            <a:ext cx="4480560" cy="0"/>
          </a:xfrm>
          <a:prstGeom prst="line">
            <a:avLst/>
          </a:prstGeom>
          <a:ln w="12700">
            <a:solidFill>
              <a:srgbClr val="DDE3E8"/>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40080" y="5504688"/>
            <a:ext cx="5394960" cy="320040"/>
          </a:xfrm>
          <a:prstGeom prst="rect">
            <a:avLst/>
          </a:prstGeom>
          <a:noFill/>
        </p:spPr>
        <p:txBody>
          <a:bodyPr wrap="square">
            <a:spAutoFit/>
          </a:bodyPr>
          <a:lstStyle/>
          <a:p>
            <a:pPr algn="l"/>
            <a:r>
              <a:rPr sz="1150" b="1" i="0">
                <a:solidFill>
                  <a:srgbClr val="1E293B"/>
                </a:solidFill>
                <a:latin typeface="Calibri"/>
              </a:rPr>
              <a:t>Giảng viên hướng dẫn: Nguyễn Lê Tấn Đạt</a:t>
            </a:r>
          </a:p>
        </p:txBody>
      </p:sp>
      <p:sp>
        <p:nvSpPr>
          <p:cNvPr id="13" name="TextBox 12"/>
          <p:cNvSpPr txBox="1"/>
          <p:nvPr/>
        </p:nvSpPr>
        <p:spPr>
          <a:xfrm>
            <a:off x="640080" y="5797296"/>
            <a:ext cx="5394960" cy="274320"/>
          </a:xfrm>
          <a:prstGeom prst="rect">
            <a:avLst/>
          </a:prstGeom>
          <a:noFill/>
        </p:spPr>
        <p:txBody>
          <a:bodyPr wrap="square">
            <a:spAutoFit/>
          </a:bodyPr>
          <a:lstStyle/>
          <a:p>
            <a:pPr algn="l"/>
            <a:r>
              <a:rPr sz="1050" b="0" i="0">
                <a:solidFill>
                  <a:srgbClr val="475569"/>
                </a:solidFill>
                <a:latin typeface="Calibri"/>
              </a:rPr>
              <a:t>Nền tảng: Blynk IoT (App di động + Web Dashboard)</a:t>
            </a:r>
          </a:p>
        </p:txBody>
      </p:sp>
      <p:sp>
        <p:nvSpPr>
          <p:cNvPr id="14" name="Rounded Rectangle 13"/>
          <p:cNvSpPr/>
          <p:nvPr/>
        </p:nvSpPr>
        <p:spPr>
          <a:xfrm>
            <a:off x="6720840" y="685800"/>
            <a:ext cx="2468880" cy="5029200"/>
          </a:xfrm>
          <a:prstGeom prst="round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803136" y="832104"/>
            <a:ext cx="2304288" cy="4736592"/>
          </a:xfrm>
          <a:prstGeom prst="rect">
            <a:avLst/>
          </a:prstGeom>
          <a:solidFill>
            <a:srgbClr val="F6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803136" y="832104"/>
            <a:ext cx="2304288" cy="365760"/>
          </a:xfrm>
          <a:prstGeom prst="rect">
            <a:avLst/>
          </a:prstGeom>
          <a:solidFill>
            <a:srgbClr val="0F4C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000" b="1">
                <a:solidFill>
                  <a:srgbClr val="FFFFFF"/>
                </a:solidFill>
                <a:latin typeface="Calibri"/>
              </a:rPr>
              <a:t>B12 App</a:t>
            </a:r>
          </a:p>
        </p:txBody>
      </p:sp>
      <p:sp>
        <p:nvSpPr>
          <p:cNvPr id="17" name="Rounded Rectangle 16"/>
          <p:cNvSpPr/>
          <p:nvPr/>
        </p:nvSpPr>
        <p:spPr>
          <a:xfrm>
            <a:off x="6876288" y="1271016"/>
            <a:ext cx="1042416" cy="868680"/>
          </a:xfrm>
          <a:prstGeom prst="roundRect">
            <a:avLst/>
          </a:prstGeom>
          <a:solidFill>
            <a:srgbClr val="FFFFFF"/>
          </a:solidFill>
          <a:ln w="12700">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155180" y="1362456"/>
            <a:ext cx="484632" cy="484632"/>
          </a:xfrm>
          <a:prstGeom prst="ellipse">
            <a:avLst/>
          </a:prstGeom>
          <a:solidFill>
            <a:srgbClr val="FDEBC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050" b="1">
                <a:solidFill>
                  <a:srgbClr val="F59E0B"/>
                </a:solidFill>
                <a:latin typeface="Calibri"/>
              </a:rPr>
              <a:t>28°C</a:t>
            </a:r>
          </a:p>
        </p:txBody>
      </p:sp>
      <p:sp>
        <p:nvSpPr>
          <p:cNvPr id="19" name="TextBox 18"/>
          <p:cNvSpPr txBox="1"/>
          <p:nvPr/>
        </p:nvSpPr>
        <p:spPr>
          <a:xfrm>
            <a:off x="6967727" y="1883663"/>
            <a:ext cx="859536" cy="219456"/>
          </a:xfrm>
          <a:prstGeom prst="rect">
            <a:avLst/>
          </a:prstGeom>
          <a:noFill/>
        </p:spPr>
        <p:txBody>
          <a:bodyPr wrap="square">
            <a:spAutoFit/>
          </a:bodyPr>
          <a:lstStyle/>
          <a:p>
            <a:pPr algn="ctr"/>
            <a:r>
              <a:rPr sz="850" b="0" i="0">
                <a:solidFill>
                  <a:srgbClr val="475569"/>
                </a:solidFill>
                <a:latin typeface="Calibri"/>
              </a:rPr>
              <a:t>Nhiệt độ</a:t>
            </a:r>
          </a:p>
        </p:txBody>
      </p:sp>
      <p:sp>
        <p:nvSpPr>
          <p:cNvPr id="20" name="Rounded Rectangle 19"/>
          <p:cNvSpPr/>
          <p:nvPr/>
        </p:nvSpPr>
        <p:spPr>
          <a:xfrm>
            <a:off x="7991856" y="1271016"/>
            <a:ext cx="1042416" cy="868680"/>
          </a:xfrm>
          <a:prstGeom prst="roundRect">
            <a:avLst/>
          </a:prstGeom>
          <a:solidFill>
            <a:srgbClr val="FFFFFF"/>
          </a:solidFill>
          <a:ln w="12700">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270748" y="1362456"/>
            <a:ext cx="484632" cy="484632"/>
          </a:xfrm>
          <a:prstGeom prst="ellipse">
            <a:avLst/>
          </a:prstGeom>
          <a:solidFill>
            <a:srgbClr val="D7E6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050" b="1">
                <a:solidFill>
                  <a:srgbClr val="3B82F6"/>
                </a:solidFill>
                <a:latin typeface="Calibri"/>
              </a:rPr>
              <a:t>62%</a:t>
            </a:r>
          </a:p>
        </p:txBody>
      </p:sp>
      <p:sp>
        <p:nvSpPr>
          <p:cNvPr id="22" name="TextBox 21"/>
          <p:cNvSpPr txBox="1"/>
          <p:nvPr/>
        </p:nvSpPr>
        <p:spPr>
          <a:xfrm>
            <a:off x="8083296" y="1883663"/>
            <a:ext cx="859536" cy="219456"/>
          </a:xfrm>
          <a:prstGeom prst="rect">
            <a:avLst/>
          </a:prstGeom>
          <a:noFill/>
        </p:spPr>
        <p:txBody>
          <a:bodyPr wrap="square">
            <a:spAutoFit/>
          </a:bodyPr>
          <a:lstStyle/>
          <a:p>
            <a:pPr algn="ctr"/>
            <a:r>
              <a:rPr sz="850" b="0" i="0">
                <a:solidFill>
                  <a:srgbClr val="475569"/>
                </a:solidFill>
                <a:latin typeface="Calibri"/>
              </a:rPr>
              <a:t>Độ ẩm</a:t>
            </a:r>
          </a:p>
        </p:txBody>
      </p:sp>
      <p:sp>
        <p:nvSpPr>
          <p:cNvPr id="23" name="Rounded Rectangle 22"/>
          <p:cNvSpPr/>
          <p:nvPr/>
        </p:nvSpPr>
        <p:spPr>
          <a:xfrm>
            <a:off x="6876288" y="2212848"/>
            <a:ext cx="1042416" cy="868680"/>
          </a:xfrm>
          <a:prstGeom prst="roundRect">
            <a:avLst/>
          </a:prstGeom>
          <a:solidFill>
            <a:srgbClr val="FFFFFF"/>
          </a:solidFill>
          <a:ln w="12700">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155180" y="2304288"/>
            <a:ext cx="484632" cy="484632"/>
          </a:xfrm>
          <a:prstGeom prst="ellipse">
            <a:avLst/>
          </a:prstGeom>
          <a:solidFill>
            <a:srgbClr val="CDF0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050" b="1">
                <a:solidFill>
                  <a:srgbClr val="06B6D4"/>
                </a:solidFill>
                <a:latin typeface="Calibri"/>
              </a:rPr>
              <a:t>110</a:t>
            </a:r>
          </a:p>
        </p:txBody>
      </p:sp>
      <p:sp>
        <p:nvSpPr>
          <p:cNvPr id="25" name="TextBox 24"/>
          <p:cNvSpPr txBox="1"/>
          <p:nvPr/>
        </p:nvSpPr>
        <p:spPr>
          <a:xfrm>
            <a:off x="6967727" y="2825496"/>
            <a:ext cx="859536" cy="219456"/>
          </a:xfrm>
          <a:prstGeom prst="rect">
            <a:avLst/>
          </a:prstGeom>
          <a:noFill/>
        </p:spPr>
        <p:txBody>
          <a:bodyPr wrap="square">
            <a:spAutoFit/>
          </a:bodyPr>
          <a:lstStyle/>
          <a:p>
            <a:pPr algn="ctr"/>
            <a:r>
              <a:rPr sz="850" b="0" i="0">
                <a:solidFill>
                  <a:srgbClr val="475569"/>
                </a:solidFill>
                <a:latin typeface="Calibri"/>
              </a:rPr>
              <a:t>Gas PPM</a:t>
            </a:r>
          </a:p>
        </p:txBody>
      </p:sp>
      <p:sp>
        <p:nvSpPr>
          <p:cNvPr id="26" name="Rounded Rectangle 25"/>
          <p:cNvSpPr/>
          <p:nvPr/>
        </p:nvSpPr>
        <p:spPr>
          <a:xfrm>
            <a:off x="7991856" y="2212848"/>
            <a:ext cx="1042416" cy="868680"/>
          </a:xfrm>
          <a:prstGeom prst="roundRect">
            <a:avLst/>
          </a:prstGeom>
          <a:solidFill>
            <a:srgbClr val="FFFFFF"/>
          </a:solidFill>
          <a:ln w="12700">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8270748" y="2304288"/>
            <a:ext cx="484632" cy="484632"/>
          </a:xfrm>
          <a:prstGeom prst="ellipse">
            <a:avLst/>
          </a:prstGeom>
          <a:solidFill>
            <a:srgbClr val="E7DE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050" b="1">
                <a:solidFill>
                  <a:srgbClr val="8B5CF6"/>
                </a:solidFill>
                <a:latin typeface="Calibri"/>
              </a:rPr>
              <a:t>45cm</a:t>
            </a:r>
          </a:p>
        </p:txBody>
      </p:sp>
      <p:sp>
        <p:nvSpPr>
          <p:cNvPr id="28" name="TextBox 27"/>
          <p:cNvSpPr txBox="1"/>
          <p:nvPr/>
        </p:nvSpPr>
        <p:spPr>
          <a:xfrm>
            <a:off x="8083296" y="2825496"/>
            <a:ext cx="859536" cy="219456"/>
          </a:xfrm>
          <a:prstGeom prst="rect">
            <a:avLst/>
          </a:prstGeom>
          <a:noFill/>
        </p:spPr>
        <p:txBody>
          <a:bodyPr wrap="square">
            <a:spAutoFit/>
          </a:bodyPr>
          <a:lstStyle/>
          <a:p>
            <a:pPr algn="ctr"/>
            <a:r>
              <a:rPr sz="850" b="0" i="0">
                <a:solidFill>
                  <a:srgbClr val="475569"/>
                </a:solidFill>
                <a:latin typeface="Calibri"/>
              </a:rPr>
              <a:t>Mực nước</a:t>
            </a:r>
          </a:p>
        </p:txBody>
      </p:sp>
      <p:sp>
        <p:nvSpPr>
          <p:cNvPr id="29" name="Rounded Rectangle 28"/>
          <p:cNvSpPr/>
          <p:nvPr/>
        </p:nvSpPr>
        <p:spPr>
          <a:xfrm>
            <a:off x="9372600" y="1280160"/>
            <a:ext cx="2331720" cy="2926080"/>
          </a:xfrm>
          <a:prstGeom prst="roundRect">
            <a:avLst/>
          </a:prstGeom>
          <a:solidFill>
            <a:srgbClr val="FFFFFF"/>
          </a:solidFill>
          <a:ln w="15875">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372600" y="1280160"/>
            <a:ext cx="2331720" cy="365760"/>
          </a:xfrm>
          <a:prstGeom prst="rect">
            <a:avLst/>
          </a:prstGeom>
          <a:solidFill>
            <a:srgbClr val="F6F8F9"/>
          </a:solidFill>
          <a:ln w="12700">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9509760" y="1408176"/>
            <a:ext cx="109728" cy="109728"/>
          </a:xfrm>
          <a:prstGeom prst="ellipse">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9710928" y="1408176"/>
            <a:ext cx="109728" cy="10972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9912096" y="1408176"/>
            <a:ext cx="109728" cy="1097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195560" y="1335024"/>
            <a:ext cx="1325879" cy="274320"/>
          </a:xfrm>
          <a:prstGeom prst="rect">
            <a:avLst/>
          </a:prstGeom>
          <a:noFill/>
        </p:spPr>
        <p:txBody>
          <a:bodyPr wrap="square">
            <a:spAutoFit/>
          </a:bodyPr>
          <a:lstStyle/>
          <a:p>
            <a:pPr algn="l"/>
            <a:r>
              <a:rPr sz="1000" b="1" i="0">
                <a:solidFill>
                  <a:srgbClr val="475569"/>
                </a:solidFill>
                <a:latin typeface="Calibri"/>
              </a:rPr>
              <a:t>Web Dashboard</a:t>
            </a:r>
          </a:p>
        </p:txBody>
      </p:sp>
      <p:sp>
        <p:nvSpPr>
          <p:cNvPr id="35" name="Rounded Rectangle 34"/>
          <p:cNvSpPr/>
          <p:nvPr/>
        </p:nvSpPr>
        <p:spPr>
          <a:xfrm>
            <a:off x="9646920" y="1874519"/>
            <a:ext cx="1783080" cy="1051560"/>
          </a:xfrm>
          <a:prstGeom prst="roundRect">
            <a:avLst/>
          </a:prstGeom>
          <a:solidFill>
            <a:srgbClr val="FFFFFF"/>
          </a:solidFill>
          <a:ln w="12700">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0254996" y="1965960"/>
            <a:ext cx="566928" cy="566928"/>
          </a:xfrm>
          <a:prstGeom prst="ellipse">
            <a:avLst/>
          </a:prstGeom>
          <a:solidFill>
            <a:srgbClr val="FDEBC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050" b="1">
                <a:solidFill>
                  <a:srgbClr val="F59E0B"/>
                </a:solidFill>
                <a:latin typeface="Calibri"/>
              </a:rPr>
              <a:t>28°C</a:t>
            </a:r>
          </a:p>
        </p:txBody>
      </p:sp>
      <p:sp>
        <p:nvSpPr>
          <p:cNvPr id="37" name="TextBox 36"/>
          <p:cNvSpPr txBox="1"/>
          <p:nvPr/>
        </p:nvSpPr>
        <p:spPr>
          <a:xfrm>
            <a:off x="9738360" y="2670048"/>
            <a:ext cx="1600200" cy="219456"/>
          </a:xfrm>
          <a:prstGeom prst="rect">
            <a:avLst/>
          </a:prstGeom>
          <a:noFill/>
        </p:spPr>
        <p:txBody>
          <a:bodyPr wrap="square">
            <a:spAutoFit/>
          </a:bodyPr>
          <a:lstStyle/>
          <a:p>
            <a:pPr algn="ctr"/>
            <a:r>
              <a:rPr sz="850" b="0" i="0">
                <a:solidFill>
                  <a:srgbClr val="475569"/>
                </a:solidFill>
                <a:latin typeface="Calibri"/>
              </a:rPr>
              <a:t>Nhiệt độ</a:t>
            </a:r>
          </a:p>
        </p:txBody>
      </p:sp>
      <p:sp>
        <p:nvSpPr>
          <p:cNvPr id="38" name="Rounded Rectangle 37"/>
          <p:cNvSpPr/>
          <p:nvPr/>
        </p:nvSpPr>
        <p:spPr>
          <a:xfrm>
            <a:off x="9646920" y="3063239"/>
            <a:ext cx="1783080" cy="1051560"/>
          </a:xfrm>
          <a:prstGeom prst="roundRect">
            <a:avLst/>
          </a:prstGeom>
          <a:solidFill>
            <a:srgbClr val="FFFFFF"/>
          </a:solidFill>
          <a:ln w="12700">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254996" y="3154679"/>
            <a:ext cx="566928" cy="566928"/>
          </a:xfrm>
          <a:prstGeom prst="ellipse">
            <a:avLst/>
          </a:prstGeom>
          <a:solidFill>
            <a:srgbClr val="D7E6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050" b="1">
                <a:solidFill>
                  <a:srgbClr val="3B82F6"/>
                </a:solidFill>
                <a:latin typeface="Calibri"/>
              </a:rPr>
              <a:t>62%</a:t>
            </a:r>
          </a:p>
        </p:txBody>
      </p:sp>
      <p:sp>
        <p:nvSpPr>
          <p:cNvPr id="40" name="TextBox 39"/>
          <p:cNvSpPr txBox="1"/>
          <p:nvPr/>
        </p:nvSpPr>
        <p:spPr>
          <a:xfrm>
            <a:off x="9738360" y="3858768"/>
            <a:ext cx="1600200" cy="219456"/>
          </a:xfrm>
          <a:prstGeom prst="rect">
            <a:avLst/>
          </a:prstGeom>
          <a:noFill/>
        </p:spPr>
        <p:txBody>
          <a:bodyPr wrap="square">
            <a:spAutoFit/>
          </a:bodyPr>
          <a:lstStyle/>
          <a:p>
            <a:pPr algn="ctr"/>
            <a:r>
              <a:rPr sz="850" b="0" i="0">
                <a:solidFill>
                  <a:srgbClr val="475569"/>
                </a:solidFill>
                <a:latin typeface="Calibri"/>
              </a:rPr>
              <a:t>Độ ẩm</a:t>
            </a:r>
          </a:p>
        </p:txBody>
      </p:sp>
      <p:sp>
        <p:nvSpPr>
          <p:cNvPr id="41" name="Rounded Rectangle 40"/>
          <p:cNvSpPr/>
          <p:nvPr/>
        </p:nvSpPr>
        <p:spPr>
          <a:xfrm>
            <a:off x="9646920" y="4251959"/>
            <a:ext cx="1783080" cy="1051560"/>
          </a:xfrm>
          <a:prstGeom prst="roundRect">
            <a:avLst/>
          </a:prstGeom>
          <a:solidFill>
            <a:srgbClr val="FFFFFF"/>
          </a:solidFill>
          <a:ln w="12700">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10254996" y="4343399"/>
            <a:ext cx="566928" cy="566928"/>
          </a:xfrm>
          <a:prstGeom prst="ellipse">
            <a:avLst/>
          </a:prstGeom>
          <a:solidFill>
            <a:srgbClr val="CDF0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050" b="1">
                <a:solidFill>
                  <a:srgbClr val="06B6D4"/>
                </a:solidFill>
                <a:latin typeface="Calibri"/>
              </a:rPr>
              <a:t>110</a:t>
            </a:r>
          </a:p>
        </p:txBody>
      </p:sp>
      <p:sp>
        <p:nvSpPr>
          <p:cNvPr id="43" name="TextBox 42"/>
          <p:cNvSpPr txBox="1"/>
          <p:nvPr/>
        </p:nvSpPr>
        <p:spPr>
          <a:xfrm>
            <a:off x="9738360" y="5047487"/>
            <a:ext cx="1600200" cy="219456"/>
          </a:xfrm>
          <a:prstGeom prst="rect">
            <a:avLst/>
          </a:prstGeom>
          <a:noFill/>
        </p:spPr>
        <p:txBody>
          <a:bodyPr wrap="square">
            <a:spAutoFit/>
          </a:bodyPr>
          <a:lstStyle/>
          <a:p>
            <a:pPr algn="ctr"/>
            <a:r>
              <a:rPr sz="850" b="0" i="0">
                <a:solidFill>
                  <a:srgbClr val="475569"/>
                </a:solidFill>
                <a:latin typeface="Calibri"/>
              </a:rPr>
              <a:t>Gas PPM</a:t>
            </a:r>
          </a:p>
        </p:txBody>
      </p:sp>
      <p:sp>
        <p:nvSpPr>
          <p:cNvPr id="44" name="Rounded Rectangle 43"/>
          <p:cNvSpPr/>
          <p:nvPr/>
        </p:nvSpPr>
        <p:spPr>
          <a:xfrm>
            <a:off x="9372600" y="4343400"/>
            <a:ext cx="2331720" cy="1371600"/>
          </a:xfrm>
          <a:prstGeom prst="roundRect">
            <a:avLst/>
          </a:prstGeom>
          <a:solidFill>
            <a:srgbClr val="F1EB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300" b="1">
                <a:solidFill>
                  <a:srgbClr val="8B5CF6"/>
                </a:solidFill>
                <a:latin typeface="Calibri"/>
              </a:rPr>
              <a:t>B12
↔ B6</a:t>
            </a:r>
          </a:p>
        </p:txBody>
      </p:sp>
      <p:sp>
        <p:nvSpPr>
          <p:cNvPr id="45" name="TextBox 44"/>
          <p:cNvSpPr txBox="1"/>
          <p:nvPr/>
        </p:nvSpPr>
        <p:spPr>
          <a:xfrm>
            <a:off x="6720840" y="6473952"/>
            <a:ext cx="4937760" cy="274320"/>
          </a:xfrm>
          <a:prstGeom prst="rect">
            <a:avLst/>
          </a:prstGeom>
          <a:noFill/>
        </p:spPr>
        <p:txBody>
          <a:bodyPr wrap="square">
            <a:spAutoFit/>
          </a:bodyPr>
          <a:lstStyle/>
          <a:p>
            <a:pPr algn="r"/>
            <a:r>
              <a:rPr sz="800" b="0" i="1">
                <a:solidFill>
                  <a:srgbClr val="94A3B8"/>
                </a:solidFill>
                <a:latin typeface="Calibri"/>
              </a:rPr>
              <a:t>Minh hoạ bố cục giao diện App/Web — thiết kế thực tế tuỳ chỉnh trong Blynk.Console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1508760" y="292608"/>
            <a:ext cx="10195560" cy="841248"/>
          </a:xfrm>
          <a:prstGeom prst="roundRect">
            <a:avLst/>
          </a:prstGeom>
          <a:solidFill>
            <a:srgbClr val="E2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508760" y="384048"/>
            <a:ext cx="73152"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2920" y="384048"/>
            <a:ext cx="658368" cy="658368"/>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400" b="1">
                <a:solidFill>
                  <a:srgbClr val="FFFFFF"/>
                </a:solidFill>
                <a:latin typeface="Calibri"/>
              </a:rPr>
              <a:t>IoT</a:t>
            </a:r>
          </a:p>
        </p:txBody>
      </p:sp>
      <p:sp>
        <p:nvSpPr>
          <p:cNvPr id="5" name="TextBox 4"/>
          <p:cNvSpPr txBox="1"/>
          <p:nvPr/>
        </p:nvSpPr>
        <p:spPr>
          <a:xfrm>
            <a:off x="1819656" y="374904"/>
            <a:ext cx="9646920" cy="256032"/>
          </a:xfrm>
          <a:prstGeom prst="rect">
            <a:avLst/>
          </a:prstGeom>
          <a:noFill/>
        </p:spPr>
        <p:txBody>
          <a:bodyPr wrap="square">
            <a:spAutoFit/>
          </a:bodyPr>
          <a:lstStyle/>
          <a:p>
            <a:pPr algn="l"/>
            <a:r>
              <a:rPr sz="1200" b="1" i="0">
                <a:solidFill>
                  <a:srgbClr val="10B981"/>
                </a:solidFill>
                <a:latin typeface="Calibri"/>
              </a:rPr>
              <a:t>B12 · MỤC TIÊU BÀI HỌC</a:t>
            </a:r>
          </a:p>
        </p:txBody>
      </p:sp>
      <p:sp>
        <p:nvSpPr>
          <p:cNvPr id="6" name="TextBox 5"/>
          <p:cNvSpPr txBox="1"/>
          <p:nvPr/>
        </p:nvSpPr>
        <p:spPr>
          <a:xfrm>
            <a:off x="1819656" y="630936"/>
            <a:ext cx="9646920" cy="457200"/>
          </a:xfrm>
          <a:prstGeom prst="rect">
            <a:avLst/>
          </a:prstGeom>
          <a:noFill/>
        </p:spPr>
        <p:txBody>
          <a:bodyPr wrap="square">
            <a:spAutoFit/>
          </a:bodyPr>
          <a:lstStyle/>
          <a:p>
            <a:pPr algn="l"/>
            <a:r>
              <a:rPr sz="2100" b="1" i="0">
                <a:solidFill>
                  <a:srgbClr val="1E293B"/>
                </a:solidFill>
                <a:latin typeface="Calibri"/>
              </a:rPr>
              <a:t>Mục tiêu bài học</a:t>
            </a:r>
          </a:p>
        </p:txBody>
      </p:sp>
      <p:cxnSp>
        <p:nvCxnSpPr>
          <p:cNvPr id="7" name="Connector 6"/>
          <p:cNvCxnSpPr/>
          <p:nvPr/>
        </p:nvCxnSpPr>
        <p:spPr>
          <a:xfrm>
            <a:off x="502920" y="6400800"/>
            <a:ext cx="11185855" cy="0"/>
          </a:xfrm>
          <a:prstGeom prst="line">
            <a:avLst/>
          </a:prstGeom>
          <a:ln w="9525">
            <a:solidFill>
              <a:srgbClr val="DDE3E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473952"/>
            <a:ext cx="6858000" cy="274320"/>
          </a:xfrm>
          <a:prstGeom prst="rect">
            <a:avLst/>
          </a:prstGeom>
          <a:noFill/>
        </p:spPr>
        <p:txBody>
          <a:bodyPr wrap="square">
            <a:spAutoFit/>
          </a:bodyPr>
          <a:lstStyle/>
          <a:p>
            <a:pPr algn="l"/>
            <a:r>
              <a:rPr sz="900" b="0" i="0">
                <a:solidFill>
                  <a:srgbClr val="94A3B8"/>
                </a:solidFill>
                <a:latin typeface="Calibri"/>
              </a:rPr>
              <a:t>IOT TRONG KỸ THUẬT MÔI TRƯỜNG  ·  B12</a:t>
            </a:r>
          </a:p>
        </p:txBody>
      </p:sp>
      <p:sp>
        <p:nvSpPr>
          <p:cNvPr id="9" name="TextBox 8"/>
          <p:cNvSpPr txBox="1"/>
          <p:nvPr/>
        </p:nvSpPr>
        <p:spPr>
          <a:xfrm>
            <a:off x="10820095" y="6473952"/>
            <a:ext cx="914400" cy="274320"/>
          </a:xfrm>
          <a:prstGeom prst="rect">
            <a:avLst/>
          </a:prstGeom>
          <a:noFill/>
        </p:spPr>
        <p:txBody>
          <a:bodyPr wrap="square">
            <a:spAutoFit/>
          </a:bodyPr>
          <a:lstStyle/>
          <a:p>
            <a:pPr algn="r"/>
            <a:r>
              <a:rPr sz="900" b="0" i="0">
                <a:solidFill>
                  <a:srgbClr val="94A3B8"/>
                </a:solidFill>
                <a:latin typeface="Calibri"/>
              </a:rPr>
              <a:t>1</a:t>
            </a:r>
          </a:p>
        </p:txBody>
      </p:sp>
      <p:sp>
        <p:nvSpPr>
          <p:cNvPr id="10" name="Oval 9"/>
          <p:cNvSpPr/>
          <p:nvPr/>
        </p:nvSpPr>
        <p:spPr>
          <a:xfrm>
            <a:off x="548640" y="1417320"/>
            <a:ext cx="530352" cy="530352"/>
          </a:xfrm>
          <a:prstGeom prst="ellipse">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800" b="1">
                <a:solidFill>
                  <a:srgbClr val="FFFFFF"/>
                </a:solidFill>
                <a:latin typeface="Calibri"/>
              </a:rPr>
              <a:t>1</a:t>
            </a:r>
          </a:p>
        </p:txBody>
      </p:sp>
      <p:sp>
        <p:nvSpPr>
          <p:cNvPr id="11" name="TextBox 10"/>
          <p:cNvSpPr txBox="1"/>
          <p:nvPr/>
        </p:nvSpPr>
        <p:spPr>
          <a:xfrm>
            <a:off x="1280160" y="1435608"/>
            <a:ext cx="10332720" cy="731520"/>
          </a:xfrm>
          <a:prstGeom prst="rect">
            <a:avLst/>
          </a:prstGeom>
          <a:noFill/>
        </p:spPr>
        <p:txBody>
          <a:bodyPr wrap="square" anchor="ctr">
            <a:spAutoFit/>
          </a:bodyPr>
          <a:lstStyle/>
          <a:p>
            <a:pPr algn="l">
              <a:lnSpc>
                <a:spcPct val="112000"/>
              </a:lnSpc>
            </a:pPr>
            <a:r>
              <a:rPr sz="1400" b="0" i="0">
                <a:solidFill>
                  <a:srgbClr val="1E293B"/>
                </a:solidFill>
                <a:latin typeface="Calibri"/>
              </a:rPr>
              <a:t>Tổng hợp toàn bộ kỹ thuật đã học từ Buổi 7-11 (virtualWrite, BLYNK_WRITE, logEvent, đa Widget, phân quyền) vào 1 hệ thống hoàn chỉnh.</a:t>
            </a:r>
          </a:p>
        </p:txBody>
      </p:sp>
      <p:sp>
        <p:nvSpPr>
          <p:cNvPr id="12" name="Oval 11"/>
          <p:cNvSpPr/>
          <p:nvPr/>
        </p:nvSpPr>
        <p:spPr>
          <a:xfrm>
            <a:off x="548640" y="225856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800" b="1">
                <a:solidFill>
                  <a:srgbClr val="FFFFFF"/>
                </a:solidFill>
                <a:latin typeface="Calibri"/>
              </a:rPr>
              <a:t>2</a:t>
            </a:r>
          </a:p>
        </p:txBody>
      </p:sp>
      <p:sp>
        <p:nvSpPr>
          <p:cNvPr id="13" name="TextBox 12"/>
          <p:cNvSpPr txBox="1"/>
          <p:nvPr/>
        </p:nvSpPr>
        <p:spPr>
          <a:xfrm>
            <a:off x="1280160" y="2276856"/>
            <a:ext cx="10332720" cy="731520"/>
          </a:xfrm>
          <a:prstGeom prst="rect">
            <a:avLst/>
          </a:prstGeom>
          <a:noFill/>
        </p:spPr>
        <p:txBody>
          <a:bodyPr wrap="square" anchor="ctr">
            <a:spAutoFit/>
          </a:bodyPr>
          <a:lstStyle/>
          <a:p>
            <a:pPr algn="l">
              <a:lnSpc>
                <a:spcPct val="112000"/>
              </a:lnSpc>
            </a:pPr>
            <a:r>
              <a:rPr sz="1400" b="0" i="0">
                <a:solidFill>
                  <a:srgbClr val="1E293B"/>
                </a:solidFill>
                <a:latin typeface="Calibri"/>
              </a:rPr>
              <a:t>Thay thế cách "gửi chuỗi JSON qua Serial" của Buổi 6 bằng việc gửi thật lên Blynk Cloud — hoàn thiện vòng đời dữ liệu Telemetry đã giới thiệu khái niệm ở B0/B6.</a:t>
            </a:r>
          </a:p>
        </p:txBody>
      </p:sp>
      <p:sp>
        <p:nvSpPr>
          <p:cNvPr id="14" name="Oval 13"/>
          <p:cNvSpPr/>
          <p:nvPr/>
        </p:nvSpPr>
        <p:spPr>
          <a:xfrm>
            <a:off x="548640" y="3099816"/>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800" b="1">
                <a:solidFill>
                  <a:srgbClr val="FFFFFF"/>
                </a:solidFill>
                <a:latin typeface="Calibri"/>
              </a:rPr>
              <a:t>3</a:t>
            </a:r>
          </a:p>
        </p:txBody>
      </p:sp>
      <p:sp>
        <p:nvSpPr>
          <p:cNvPr id="15" name="TextBox 14"/>
          <p:cNvSpPr txBox="1"/>
          <p:nvPr/>
        </p:nvSpPr>
        <p:spPr>
          <a:xfrm>
            <a:off x="1280160" y="3118104"/>
            <a:ext cx="10332720" cy="731520"/>
          </a:xfrm>
          <a:prstGeom prst="rect">
            <a:avLst/>
          </a:prstGeom>
          <a:noFill/>
        </p:spPr>
        <p:txBody>
          <a:bodyPr wrap="square" anchor="ctr">
            <a:spAutoFit/>
          </a:bodyPr>
          <a:lstStyle/>
          <a:p>
            <a:pPr algn="l">
              <a:lnSpc>
                <a:spcPct val="112000"/>
              </a:lnSpc>
            </a:pPr>
            <a:r>
              <a:rPr sz="1400" b="0" i="0">
                <a:solidFill>
                  <a:srgbClr val="1E293B"/>
                </a:solidFill>
                <a:latin typeface="Calibri"/>
              </a:rPr>
              <a:t>Thiết lập Automation đa điều kiện (OR) trên Cloud, tương ứng với logic if(gasPpm &gt; 300 || waterLevel &lt; 15) đã viết ở Buổi 6.</a:t>
            </a:r>
          </a:p>
        </p:txBody>
      </p:sp>
      <p:sp>
        <p:nvSpPr>
          <p:cNvPr id="16" name="Oval 15"/>
          <p:cNvSpPr/>
          <p:nvPr/>
        </p:nvSpPr>
        <p:spPr>
          <a:xfrm>
            <a:off x="548640" y="3941064"/>
            <a:ext cx="530352" cy="530352"/>
          </a:xfrm>
          <a:prstGeom prst="ellipse">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800" b="1">
                <a:solidFill>
                  <a:srgbClr val="FFFFFF"/>
                </a:solidFill>
                <a:latin typeface="Calibri"/>
              </a:rPr>
              <a:t>4</a:t>
            </a:r>
          </a:p>
        </p:txBody>
      </p:sp>
      <p:sp>
        <p:nvSpPr>
          <p:cNvPr id="17" name="TextBox 16"/>
          <p:cNvSpPr txBox="1"/>
          <p:nvPr/>
        </p:nvSpPr>
        <p:spPr>
          <a:xfrm>
            <a:off x="1280160" y="3959352"/>
            <a:ext cx="10332720" cy="731520"/>
          </a:xfrm>
          <a:prstGeom prst="rect">
            <a:avLst/>
          </a:prstGeom>
          <a:noFill/>
        </p:spPr>
        <p:txBody>
          <a:bodyPr wrap="square" anchor="ctr">
            <a:spAutoFit/>
          </a:bodyPr>
          <a:lstStyle/>
          <a:p>
            <a:pPr algn="l">
              <a:lnSpc>
                <a:spcPct val="112000"/>
              </a:lnSpc>
            </a:pPr>
            <a:r>
              <a:rPr sz="1400" b="0" i="0">
                <a:solidFill>
                  <a:srgbClr val="1E293B"/>
                </a:solidFill>
                <a:latin typeface="Calibri"/>
              </a:rPr>
              <a:t>Đánh giá tổng thể một hệ thống IoT hoàn chỉnh: Cảm biến → Vi điều khiển → Cloud → App/Web → Cảnh báo → Con người ra quyết định.</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1508760" y="292608"/>
            <a:ext cx="10195560" cy="841248"/>
          </a:xfrm>
          <a:prstGeom prst="roundRect">
            <a:avLst/>
          </a:prstGeom>
          <a:solidFill>
            <a:srgbClr val="E7F0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508760" y="384048"/>
            <a:ext cx="73152" cy="658368"/>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2920" y="384048"/>
            <a:ext cx="658368" cy="658368"/>
          </a:xfrm>
          <a:prstGeom prst="round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400" b="1">
                <a:solidFill>
                  <a:srgbClr val="FFFFFF"/>
                </a:solidFill>
                <a:latin typeface="Calibri"/>
              </a:rPr>
              <a:t>IoT</a:t>
            </a:r>
          </a:p>
        </p:txBody>
      </p:sp>
      <p:sp>
        <p:nvSpPr>
          <p:cNvPr id="5" name="TextBox 4"/>
          <p:cNvSpPr txBox="1"/>
          <p:nvPr/>
        </p:nvSpPr>
        <p:spPr>
          <a:xfrm>
            <a:off x="1819656" y="374904"/>
            <a:ext cx="9646920" cy="256032"/>
          </a:xfrm>
          <a:prstGeom prst="rect">
            <a:avLst/>
          </a:prstGeom>
          <a:noFill/>
        </p:spPr>
        <p:txBody>
          <a:bodyPr wrap="square">
            <a:spAutoFit/>
          </a:bodyPr>
          <a:lstStyle/>
          <a:p>
            <a:pPr algn="l"/>
            <a:r>
              <a:rPr sz="1200" b="1" i="0">
                <a:solidFill>
                  <a:srgbClr val="3B82F6"/>
                </a:solidFill>
                <a:latin typeface="Calibri"/>
              </a:rPr>
              <a:t>B12 · ÔN LẠI KIẾN THỨC</a:t>
            </a:r>
          </a:p>
        </p:txBody>
      </p:sp>
      <p:sp>
        <p:nvSpPr>
          <p:cNvPr id="6" name="TextBox 5"/>
          <p:cNvSpPr txBox="1"/>
          <p:nvPr/>
        </p:nvSpPr>
        <p:spPr>
          <a:xfrm>
            <a:off x="1819656" y="630936"/>
            <a:ext cx="9646920" cy="457200"/>
          </a:xfrm>
          <a:prstGeom prst="rect">
            <a:avLst/>
          </a:prstGeom>
          <a:noFill/>
        </p:spPr>
        <p:txBody>
          <a:bodyPr wrap="square">
            <a:spAutoFit/>
          </a:bodyPr>
          <a:lstStyle/>
          <a:p>
            <a:pPr algn="l"/>
            <a:r>
              <a:rPr sz="2100" b="1" i="0">
                <a:solidFill>
                  <a:srgbClr val="1E293B"/>
                </a:solidFill>
                <a:latin typeface="Calibri"/>
              </a:rPr>
              <a:t>Nhắc lại hệ thống phần cứng B6</a:t>
            </a:r>
          </a:p>
        </p:txBody>
      </p:sp>
      <p:cxnSp>
        <p:nvCxnSpPr>
          <p:cNvPr id="7" name="Connector 6"/>
          <p:cNvCxnSpPr/>
          <p:nvPr/>
        </p:nvCxnSpPr>
        <p:spPr>
          <a:xfrm>
            <a:off x="502920" y="6400800"/>
            <a:ext cx="11185855" cy="0"/>
          </a:xfrm>
          <a:prstGeom prst="line">
            <a:avLst/>
          </a:prstGeom>
          <a:ln w="9525">
            <a:solidFill>
              <a:srgbClr val="DDE3E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473952"/>
            <a:ext cx="6858000" cy="274320"/>
          </a:xfrm>
          <a:prstGeom prst="rect">
            <a:avLst/>
          </a:prstGeom>
          <a:noFill/>
        </p:spPr>
        <p:txBody>
          <a:bodyPr wrap="square">
            <a:spAutoFit/>
          </a:bodyPr>
          <a:lstStyle/>
          <a:p>
            <a:pPr algn="l"/>
            <a:r>
              <a:rPr sz="900" b="0" i="0">
                <a:solidFill>
                  <a:srgbClr val="94A3B8"/>
                </a:solidFill>
                <a:latin typeface="Calibri"/>
              </a:rPr>
              <a:t>IOT TRONG KỸ THUẬT MÔI TRƯỜNG  ·  B12</a:t>
            </a:r>
          </a:p>
        </p:txBody>
      </p:sp>
      <p:sp>
        <p:nvSpPr>
          <p:cNvPr id="9" name="TextBox 8"/>
          <p:cNvSpPr txBox="1"/>
          <p:nvPr/>
        </p:nvSpPr>
        <p:spPr>
          <a:xfrm>
            <a:off x="10820095" y="6473952"/>
            <a:ext cx="914400" cy="274320"/>
          </a:xfrm>
          <a:prstGeom prst="rect">
            <a:avLst/>
          </a:prstGeom>
          <a:noFill/>
        </p:spPr>
        <p:txBody>
          <a:bodyPr wrap="square">
            <a:spAutoFit/>
          </a:bodyPr>
          <a:lstStyle/>
          <a:p>
            <a:pPr algn="r"/>
            <a:r>
              <a:rPr sz="900" b="0" i="0">
                <a:solidFill>
                  <a:srgbClr val="94A3B8"/>
                </a:solidFill>
                <a:latin typeface="Calibri"/>
              </a:rPr>
              <a:t>2</a:t>
            </a:r>
          </a:p>
        </p:txBody>
      </p:sp>
      <p:sp>
        <p:nvSpPr>
          <p:cNvPr id="10" name="TextBox 9"/>
          <p:cNvSpPr txBox="1"/>
          <p:nvPr/>
        </p:nvSpPr>
        <p:spPr>
          <a:xfrm>
            <a:off x="548640" y="1463040"/>
            <a:ext cx="11064240" cy="2926080"/>
          </a:xfrm>
          <a:prstGeom prst="rect">
            <a:avLst/>
          </a:prstGeom>
          <a:noFill/>
        </p:spPr>
        <p:txBody>
          <a:bodyPr wrap="square">
            <a:spAutoFit/>
          </a:bodyPr>
          <a:lstStyle/>
          <a:p>
            <a:pPr algn="l">
              <a:spcAft>
                <a:spcPts val="1600"/>
              </a:spcAft>
            </a:pPr>
            <a:r>
              <a:rPr sz="1500" b="1">
                <a:solidFill>
                  <a:srgbClr val="3B82F6"/>
                </a:solidFill>
                <a:latin typeface="Calibri"/>
              </a:rPr>
              <a:t>●  </a:t>
            </a:r>
            <a:r>
              <a:rPr sz="1500" b="0">
                <a:solidFill>
                  <a:srgbClr val="1E293B"/>
                </a:solidFill>
                <a:latin typeface="Calibri"/>
              </a:rPr>
              <a:t>Buổi 6 đã xây dựng: đọc đồng thời DHT11, MQ-2, HC-SR04 → LCD hiển thị tổng hợp, LED cảnh báo khi Gas &gt; 300 PPM HOẶC Mực nước &lt; 15cm, in JSON minh hoạ ra Serial Monitor.</a:t>
            </a:r>
          </a:p>
          <a:p>
            <a:pPr algn="l">
              <a:spcAft>
                <a:spcPts val="1600"/>
              </a:spcAft>
            </a:pPr>
            <a:r>
              <a:rPr sz="1500" b="1">
                <a:solidFill>
                  <a:srgbClr val="3B82F6"/>
                </a:solidFill>
                <a:latin typeface="Calibri"/>
              </a:rPr>
              <a:t>●  </a:t>
            </a:r>
            <a:r>
              <a:rPr sz="1500" b="0">
                <a:solidFill>
                  <a:srgbClr val="1E293B"/>
                </a:solidFill>
                <a:latin typeface="Calibri"/>
              </a:rPr>
              <a:t>Hạn chế lớn nhất được nêu rõ ngay từ Buổi 6: "gửi Cloud" khi đó CHỈ in JSON ra Serial để minh hoạ cấu trúc — chưa thực sự kết nối Internet.</a:t>
            </a:r>
          </a:p>
          <a:p>
            <a:pPr algn="l">
              <a:spcAft>
                <a:spcPts val="1600"/>
              </a:spcAft>
            </a:pPr>
            <a:r>
              <a:rPr sz="1500" b="1">
                <a:solidFill>
                  <a:srgbClr val="3B82F6"/>
                </a:solidFill>
                <a:latin typeface="Calibri"/>
              </a:rPr>
              <a:t>●  </a:t>
            </a:r>
            <a:r>
              <a:rPr sz="1500" b="0">
                <a:solidFill>
                  <a:srgbClr val="1E293B"/>
                </a:solidFill>
                <a:latin typeface="Calibri"/>
              </a:rPr>
              <a:t>Buổi 12 hoàn thiện đúng phần còn thiếu đó: chuỗi JSON minh hoạ ngày xưa nay trở thành 4 lệnh Blynk.virtualWrite() thật sự gửi lên Cloud.</a:t>
            </a:r>
          </a:p>
        </p:txBody>
      </p:sp>
      <p:sp>
        <p:nvSpPr>
          <p:cNvPr id="11" name="Rounded Rectangle 10"/>
          <p:cNvSpPr/>
          <p:nvPr/>
        </p:nvSpPr>
        <p:spPr>
          <a:xfrm>
            <a:off x="548640" y="4480560"/>
            <a:ext cx="11064240" cy="1691640"/>
          </a:xfrm>
          <a:prstGeom prst="roundRect">
            <a:avLst/>
          </a:prstGeom>
          <a:solidFill>
            <a:srgbClr val="F3EEFE"/>
          </a:solidFill>
          <a:ln w="15875">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4645152"/>
            <a:ext cx="10424160" cy="365760"/>
          </a:xfrm>
          <a:prstGeom prst="rect">
            <a:avLst/>
          </a:prstGeom>
          <a:noFill/>
        </p:spPr>
        <p:txBody>
          <a:bodyPr wrap="square">
            <a:spAutoFit/>
          </a:bodyPr>
          <a:lstStyle/>
          <a:p>
            <a:pPr algn="l"/>
            <a:r>
              <a:rPr sz="1300" b="1" i="0">
                <a:solidFill>
                  <a:srgbClr val="8B5CF6"/>
                </a:solidFill>
                <a:latin typeface="Calibri"/>
              </a:rPr>
              <a:t>BÀI B12 SẼ MỞ RỘNG PHẦN NÀO?</a:t>
            </a:r>
          </a:p>
        </p:txBody>
      </p:sp>
      <p:sp>
        <p:nvSpPr>
          <p:cNvPr id="13" name="TextBox 12"/>
          <p:cNvSpPr txBox="1"/>
          <p:nvPr/>
        </p:nvSpPr>
        <p:spPr>
          <a:xfrm>
            <a:off x="822960" y="4992624"/>
            <a:ext cx="10424160" cy="1097280"/>
          </a:xfrm>
          <a:prstGeom prst="rect">
            <a:avLst/>
          </a:prstGeom>
          <a:noFill/>
        </p:spPr>
        <p:txBody>
          <a:bodyPr wrap="square">
            <a:spAutoFit/>
          </a:bodyPr>
          <a:lstStyle/>
          <a:p>
            <a:pPr algn="l">
              <a:lnSpc>
                <a:spcPct val="125000"/>
              </a:lnSpc>
            </a:pPr>
            <a:r>
              <a:rPr sz="1300" b="0" i="0">
                <a:solidFill>
                  <a:srgbClr val="1E293B"/>
                </a:solidFill>
                <a:latin typeface="Calibri"/>
              </a:rPr>
              <a:t>Chỉ bổ sung PHẦN MỀM (thư viện Blynk + WiFi) — toàn bộ sơ đồ đấu dây và logic cảm biến/thiết bị chấp hành đã học ở B6 được giữ nguyên 100%, không cần lắp lại mạch.</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1508760" y="292608"/>
            <a:ext cx="10195560" cy="841248"/>
          </a:xfrm>
          <a:prstGeom prst="roundRect">
            <a:avLst/>
          </a:prstGeom>
          <a:solidFill>
            <a:srgbClr val="F1EB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508760" y="384048"/>
            <a:ext cx="73152" cy="658368"/>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2920" y="384048"/>
            <a:ext cx="658368" cy="658368"/>
          </a:xfrm>
          <a:prstGeom prst="round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400" b="1">
                <a:solidFill>
                  <a:srgbClr val="FFFFFF"/>
                </a:solidFill>
                <a:latin typeface="Calibri"/>
              </a:rPr>
              <a:t>IoT</a:t>
            </a:r>
          </a:p>
        </p:txBody>
      </p:sp>
      <p:sp>
        <p:nvSpPr>
          <p:cNvPr id="5" name="TextBox 4"/>
          <p:cNvSpPr txBox="1"/>
          <p:nvPr/>
        </p:nvSpPr>
        <p:spPr>
          <a:xfrm>
            <a:off x="1819656" y="374904"/>
            <a:ext cx="9646920" cy="256032"/>
          </a:xfrm>
          <a:prstGeom prst="rect">
            <a:avLst/>
          </a:prstGeom>
          <a:noFill/>
        </p:spPr>
        <p:txBody>
          <a:bodyPr wrap="square">
            <a:spAutoFit/>
          </a:bodyPr>
          <a:lstStyle/>
          <a:p>
            <a:pPr algn="l"/>
            <a:r>
              <a:rPr sz="1200" b="1" i="0">
                <a:solidFill>
                  <a:srgbClr val="8B5CF6"/>
                </a:solidFill>
                <a:latin typeface="Calibri"/>
              </a:rPr>
              <a:t>B12 · NỀN TẢNG</a:t>
            </a:r>
          </a:p>
        </p:txBody>
      </p:sp>
      <p:sp>
        <p:nvSpPr>
          <p:cNvPr id="6" name="TextBox 5"/>
          <p:cNvSpPr txBox="1"/>
          <p:nvPr/>
        </p:nvSpPr>
        <p:spPr>
          <a:xfrm>
            <a:off x="1819656" y="630936"/>
            <a:ext cx="9646920" cy="457200"/>
          </a:xfrm>
          <a:prstGeom prst="rect">
            <a:avLst/>
          </a:prstGeom>
          <a:noFill/>
        </p:spPr>
        <p:txBody>
          <a:bodyPr wrap="square">
            <a:spAutoFit/>
          </a:bodyPr>
          <a:lstStyle/>
          <a:p>
            <a:pPr algn="l"/>
            <a:r>
              <a:rPr sz="2100" b="1" i="0">
                <a:solidFill>
                  <a:srgbClr val="1E293B"/>
                </a:solidFill>
                <a:latin typeface="Calibri"/>
              </a:rPr>
              <a:t>Blynk IoT là gì?</a:t>
            </a:r>
          </a:p>
        </p:txBody>
      </p:sp>
      <p:cxnSp>
        <p:nvCxnSpPr>
          <p:cNvPr id="7" name="Connector 6"/>
          <p:cNvCxnSpPr/>
          <p:nvPr/>
        </p:nvCxnSpPr>
        <p:spPr>
          <a:xfrm>
            <a:off x="502920" y="6400800"/>
            <a:ext cx="11185855" cy="0"/>
          </a:xfrm>
          <a:prstGeom prst="line">
            <a:avLst/>
          </a:prstGeom>
          <a:ln w="9525">
            <a:solidFill>
              <a:srgbClr val="DDE3E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473952"/>
            <a:ext cx="6858000" cy="274320"/>
          </a:xfrm>
          <a:prstGeom prst="rect">
            <a:avLst/>
          </a:prstGeom>
          <a:noFill/>
        </p:spPr>
        <p:txBody>
          <a:bodyPr wrap="square">
            <a:spAutoFit/>
          </a:bodyPr>
          <a:lstStyle/>
          <a:p>
            <a:pPr algn="l"/>
            <a:r>
              <a:rPr sz="900" b="0" i="0">
                <a:solidFill>
                  <a:srgbClr val="94A3B8"/>
                </a:solidFill>
                <a:latin typeface="Calibri"/>
              </a:rPr>
              <a:t>IOT TRONG KỸ THUẬT MÔI TRƯỜNG  ·  B12</a:t>
            </a:r>
          </a:p>
        </p:txBody>
      </p:sp>
      <p:sp>
        <p:nvSpPr>
          <p:cNvPr id="9" name="TextBox 8"/>
          <p:cNvSpPr txBox="1"/>
          <p:nvPr/>
        </p:nvSpPr>
        <p:spPr>
          <a:xfrm>
            <a:off x="10820095" y="6473952"/>
            <a:ext cx="914400" cy="274320"/>
          </a:xfrm>
          <a:prstGeom prst="rect">
            <a:avLst/>
          </a:prstGeom>
          <a:noFill/>
        </p:spPr>
        <p:txBody>
          <a:bodyPr wrap="square">
            <a:spAutoFit/>
          </a:bodyPr>
          <a:lstStyle/>
          <a:p>
            <a:pPr algn="r"/>
            <a:r>
              <a:rPr sz="900" b="0" i="0">
                <a:solidFill>
                  <a:srgbClr val="94A3B8"/>
                </a:solidFill>
                <a:latin typeface="Calibri"/>
              </a:rPr>
              <a:t>3</a:t>
            </a:r>
          </a:p>
        </p:txBody>
      </p:sp>
      <p:sp>
        <p:nvSpPr>
          <p:cNvPr id="10" name="TextBox 9"/>
          <p:cNvSpPr txBox="1"/>
          <p:nvPr/>
        </p:nvSpPr>
        <p:spPr>
          <a:xfrm>
            <a:off x="548640" y="1371600"/>
            <a:ext cx="11064240" cy="4937760"/>
          </a:xfrm>
          <a:prstGeom prst="rect">
            <a:avLst/>
          </a:prstGeom>
          <a:noFill/>
        </p:spPr>
        <p:txBody>
          <a:bodyPr wrap="square">
            <a:spAutoFit/>
          </a:bodyPr>
          <a:lstStyle/>
          <a:p>
            <a:pPr algn="l">
              <a:spcAft>
                <a:spcPts val="1400"/>
              </a:spcAft>
            </a:pPr>
            <a:r>
              <a:rPr sz="1400" b="1">
                <a:solidFill>
                  <a:srgbClr val="8B5CF6"/>
                </a:solidFill>
                <a:latin typeface="Calibri"/>
              </a:rPr>
              <a:t>●  </a:t>
            </a:r>
            <a:r>
              <a:rPr sz="1400" b="0">
                <a:solidFill>
                  <a:srgbClr val="1E293B"/>
                </a:solidFill>
                <a:latin typeface="Calibri"/>
              </a:rPr>
              <a:t>Blynk IoT là nền tảng đám mây (Cloud) chuyên dụng cho thiết bị nhúng — cho phép thiết bị như ESP32-S3 gửi dữ liệu lên và nhận lệnh điều khiển xuống, hiển thị qua ứng dụng di động (iOS/Android) và Web Dashboard mà không cần tự xây server riêng.</a:t>
            </a:r>
          </a:p>
          <a:p>
            <a:pPr algn="l">
              <a:spcAft>
                <a:spcPts val="1400"/>
              </a:spcAft>
            </a:pPr>
            <a:r>
              <a:rPr sz="1400" b="1">
                <a:solidFill>
                  <a:srgbClr val="8B5CF6"/>
                </a:solidFill>
                <a:latin typeface="Calibri"/>
              </a:rPr>
              <a:t>●  </a:t>
            </a:r>
            <a:r>
              <a:rPr sz="1400" b="0">
                <a:solidFill>
                  <a:srgbClr val="1E293B"/>
                </a:solidFill>
                <a:latin typeface="Calibri"/>
              </a:rPr>
              <a:t>Mỗi loại thiết bị được định nghĩa bằng 1 "Template" — gồm Template ID, danh sách Datastream (dữ liệu trao đổi) và cấu hình Widget mặc định.</a:t>
            </a:r>
          </a:p>
          <a:p>
            <a:pPr algn="l">
              <a:spcAft>
                <a:spcPts val="1400"/>
              </a:spcAft>
            </a:pPr>
            <a:r>
              <a:rPr sz="1400" b="1">
                <a:solidFill>
                  <a:srgbClr val="8B5CF6"/>
                </a:solidFill>
                <a:latin typeface="Calibri"/>
              </a:rPr>
              <a:t>●  </a:t>
            </a:r>
            <a:r>
              <a:rPr sz="1400" b="0">
                <a:solidFill>
                  <a:srgbClr val="1E293B"/>
                </a:solidFill>
                <a:latin typeface="Calibri"/>
              </a:rPr>
              <a:t>Datastream (còn gọi là Virtual Pin, ký hiệu V0, V1, V2...) là các "kênh dữ liệu ảo" độc lập với chân GPIO vật lý — dùng để trao đổi bất kỳ loại dữ liệu nào (số, chuỗi, trạng thái) giữa firmware và Cloud.</a:t>
            </a:r>
          </a:p>
          <a:p>
            <a:pPr algn="l">
              <a:spcAft>
                <a:spcPts val="1400"/>
              </a:spcAft>
            </a:pPr>
            <a:r>
              <a:rPr sz="1400" b="1">
                <a:solidFill>
                  <a:srgbClr val="8B5CF6"/>
                </a:solidFill>
                <a:latin typeface="Calibri"/>
              </a:rPr>
              <a:t>●  </a:t>
            </a:r>
            <a:r>
              <a:rPr sz="1400" b="0">
                <a:solidFill>
                  <a:srgbClr val="1E293B"/>
                </a:solidFill>
                <a:latin typeface="Calibri"/>
              </a:rPr>
              <a:t>Mỗi thiết bị vật lý có 1 Auth Token duy nhất — đóng vai trò như "mật khẩu riêng" xác thực thiết bị đó với đúng tài khoản Cloud của người dùng.</a:t>
            </a:r>
          </a:p>
          <a:p>
            <a:pPr algn="l">
              <a:spcAft>
                <a:spcPts val="1400"/>
              </a:spcAft>
            </a:pPr>
            <a:r>
              <a:rPr sz="1400" b="1">
                <a:solidFill>
                  <a:srgbClr val="8B5CF6"/>
                </a:solidFill>
                <a:latin typeface="Calibri"/>
              </a:rPr>
              <a:t>●  </a:t>
            </a:r>
            <a:r>
              <a:rPr sz="1400" b="0">
                <a:solidFill>
                  <a:srgbClr val="1E293B"/>
                </a:solidFill>
                <a:latin typeface="Calibri"/>
              </a:rPr>
              <a:t>Firmware giao tiếp với Cloud qua 2 chiều: Blynk.virtualWrite(V_pin, value) để GỬI dữ liệu lên App/Web; hàm BLYNK_WRITE(V_pin) để NHẬN lệnh điều khiển từ App/Web gửi xuống.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1508760" y="292608"/>
            <a:ext cx="10195560" cy="841248"/>
          </a:xfrm>
          <a:prstGeom prst="roundRect">
            <a:avLst/>
          </a:prstGeom>
          <a:solidFill>
            <a:srgbClr val="E1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508760" y="384048"/>
            <a:ext cx="73152" cy="658368"/>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2920" y="384048"/>
            <a:ext cx="658368" cy="658368"/>
          </a:xfrm>
          <a:prstGeom prst="round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400" b="1">
                <a:solidFill>
                  <a:srgbClr val="FFFFFF"/>
                </a:solidFill>
                <a:latin typeface="Calibri"/>
              </a:rPr>
              <a:t>IoT</a:t>
            </a:r>
          </a:p>
        </p:txBody>
      </p:sp>
      <p:sp>
        <p:nvSpPr>
          <p:cNvPr id="5" name="TextBox 4"/>
          <p:cNvSpPr txBox="1"/>
          <p:nvPr/>
        </p:nvSpPr>
        <p:spPr>
          <a:xfrm>
            <a:off x="1819656" y="374904"/>
            <a:ext cx="9646920" cy="256032"/>
          </a:xfrm>
          <a:prstGeom prst="rect">
            <a:avLst/>
          </a:prstGeom>
          <a:noFill/>
        </p:spPr>
        <p:txBody>
          <a:bodyPr wrap="square">
            <a:spAutoFit/>
          </a:bodyPr>
          <a:lstStyle/>
          <a:p>
            <a:pPr algn="l"/>
            <a:r>
              <a:rPr sz="1200" b="1" i="0">
                <a:solidFill>
                  <a:srgbClr val="06B6D4"/>
                </a:solidFill>
                <a:latin typeface="Calibri"/>
              </a:rPr>
              <a:t>B12 · KIẾN TRÚC</a:t>
            </a:r>
          </a:p>
        </p:txBody>
      </p:sp>
      <p:sp>
        <p:nvSpPr>
          <p:cNvPr id="6" name="TextBox 5"/>
          <p:cNvSpPr txBox="1"/>
          <p:nvPr/>
        </p:nvSpPr>
        <p:spPr>
          <a:xfrm>
            <a:off x="1819656" y="630936"/>
            <a:ext cx="9646920" cy="457200"/>
          </a:xfrm>
          <a:prstGeom prst="rect">
            <a:avLst/>
          </a:prstGeom>
          <a:noFill/>
        </p:spPr>
        <p:txBody>
          <a:bodyPr wrap="square">
            <a:spAutoFit/>
          </a:bodyPr>
          <a:lstStyle/>
          <a:p>
            <a:pPr algn="l"/>
            <a:r>
              <a:rPr sz="2100" b="1" i="0">
                <a:solidFill>
                  <a:srgbClr val="1E293B"/>
                </a:solidFill>
                <a:latin typeface="Calibri"/>
              </a:rPr>
              <a:t>Kiến trúc kết nối Board — Cloud — App/Web</a:t>
            </a:r>
          </a:p>
        </p:txBody>
      </p:sp>
      <p:cxnSp>
        <p:nvCxnSpPr>
          <p:cNvPr id="7" name="Connector 6"/>
          <p:cNvCxnSpPr/>
          <p:nvPr/>
        </p:nvCxnSpPr>
        <p:spPr>
          <a:xfrm>
            <a:off x="502920" y="6400800"/>
            <a:ext cx="11185855" cy="0"/>
          </a:xfrm>
          <a:prstGeom prst="line">
            <a:avLst/>
          </a:prstGeom>
          <a:ln w="9525">
            <a:solidFill>
              <a:srgbClr val="DDE3E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473952"/>
            <a:ext cx="6858000" cy="274320"/>
          </a:xfrm>
          <a:prstGeom prst="rect">
            <a:avLst/>
          </a:prstGeom>
          <a:noFill/>
        </p:spPr>
        <p:txBody>
          <a:bodyPr wrap="square">
            <a:spAutoFit/>
          </a:bodyPr>
          <a:lstStyle/>
          <a:p>
            <a:pPr algn="l"/>
            <a:r>
              <a:rPr sz="900" b="0" i="0">
                <a:solidFill>
                  <a:srgbClr val="94A3B8"/>
                </a:solidFill>
                <a:latin typeface="Calibri"/>
              </a:rPr>
              <a:t>IOT TRONG KỸ THUẬT MÔI TRƯỜNG  ·  B12</a:t>
            </a:r>
          </a:p>
        </p:txBody>
      </p:sp>
      <p:sp>
        <p:nvSpPr>
          <p:cNvPr id="9" name="TextBox 8"/>
          <p:cNvSpPr txBox="1"/>
          <p:nvPr/>
        </p:nvSpPr>
        <p:spPr>
          <a:xfrm>
            <a:off x="10820095" y="6473952"/>
            <a:ext cx="914400" cy="274320"/>
          </a:xfrm>
          <a:prstGeom prst="rect">
            <a:avLst/>
          </a:prstGeom>
          <a:noFill/>
        </p:spPr>
        <p:txBody>
          <a:bodyPr wrap="square">
            <a:spAutoFit/>
          </a:bodyPr>
          <a:lstStyle/>
          <a:p>
            <a:pPr algn="r"/>
            <a:r>
              <a:rPr sz="900" b="0" i="0">
                <a:solidFill>
                  <a:srgbClr val="94A3B8"/>
                </a:solidFill>
                <a:latin typeface="Calibri"/>
              </a:rPr>
              <a:t>4</a:t>
            </a:r>
          </a:p>
        </p:txBody>
      </p:sp>
      <p:sp>
        <p:nvSpPr>
          <p:cNvPr id="10" name="Rounded Rectangle 9"/>
          <p:cNvSpPr/>
          <p:nvPr/>
        </p:nvSpPr>
        <p:spPr>
          <a:xfrm>
            <a:off x="548640" y="1645920"/>
            <a:ext cx="2423160" cy="1188720"/>
          </a:xfrm>
          <a:prstGeom prst="roundRect">
            <a:avLst/>
          </a:prstGeom>
          <a:solidFill>
            <a:srgbClr val="FFFFFF"/>
          </a:solidFill>
          <a:ln w="285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300" b="1">
                <a:solidFill>
                  <a:srgbClr val="1E293B"/>
                </a:solidFill>
                <a:latin typeface="Calibri"/>
              </a:rPr>
              <a:t>ESP32-S3
(B6)</a:t>
            </a:r>
          </a:p>
        </p:txBody>
      </p:sp>
      <p:sp>
        <p:nvSpPr>
          <p:cNvPr id="11" name="Rectangle 10"/>
          <p:cNvSpPr/>
          <p:nvPr/>
        </p:nvSpPr>
        <p:spPr>
          <a:xfrm>
            <a:off x="548640" y="1645920"/>
            <a:ext cx="24231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ight Arrow 11"/>
          <p:cNvSpPr/>
          <p:nvPr/>
        </p:nvSpPr>
        <p:spPr>
          <a:xfrm>
            <a:off x="3040380" y="2075688"/>
            <a:ext cx="320040" cy="329184"/>
          </a:xfrm>
          <a:prstGeom prst="rightArrow">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429000" y="1645920"/>
            <a:ext cx="2423160" cy="1188720"/>
          </a:xfrm>
          <a:prstGeom prst="roundRect">
            <a:avLst/>
          </a:prstGeom>
          <a:solidFill>
            <a:srgbClr val="FFFFFF"/>
          </a:solidFill>
          <a:ln w="28575">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300" b="1">
                <a:solidFill>
                  <a:srgbClr val="1E293B"/>
                </a:solidFill>
                <a:latin typeface="Calibri"/>
              </a:rPr>
              <a:t>Kết nối WiFi
(Internet)</a:t>
            </a:r>
          </a:p>
        </p:txBody>
      </p:sp>
      <p:sp>
        <p:nvSpPr>
          <p:cNvPr id="14" name="Rectangle 13"/>
          <p:cNvSpPr/>
          <p:nvPr/>
        </p:nvSpPr>
        <p:spPr>
          <a:xfrm>
            <a:off x="3429000" y="1645920"/>
            <a:ext cx="2423160" cy="109728"/>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ight Arrow 14"/>
          <p:cNvSpPr/>
          <p:nvPr/>
        </p:nvSpPr>
        <p:spPr>
          <a:xfrm>
            <a:off x="5920740" y="2075688"/>
            <a:ext cx="320040" cy="329184"/>
          </a:xfrm>
          <a:prstGeom prst="rightArrow">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309359" y="1645920"/>
            <a:ext cx="2423160" cy="1188720"/>
          </a:xfrm>
          <a:prstGeom prst="roundRect">
            <a:avLst/>
          </a:prstGeom>
          <a:solidFill>
            <a:srgbClr val="FFFFFF"/>
          </a:solidFill>
          <a:ln w="285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300" b="1">
                <a:solidFill>
                  <a:srgbClr val="1E293B"/>
                </a:solidFill>
                <a:latin typeface="Calibri"/>
              </a:rPr>
              <a:t>Blynk Cloud
(Datastream)</a:t>
            </a:r>
          </a:p>
        </p:txBody>
      </p:sp>
      <p:sp>
        <p:nvSpPr>
          <p:cNvPr id="17" name="Rectangle 16"/>
          <p:cNvSpPr/>
          <p:nvPr/>
        </p:nvSpPr>
        <p:spPr>
          <a:xfrm>
            <a:off x="6309359" y="1645920"/>
            <a:ext cx="2423160" cy="1097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ight Arrow 17"/>
          <p:cNvSpPr/>
          <p:nvPr/>
        </p:nvSpPr>
        <p:spPr>
          <a:xfrm>
            <a:off x="8801099" y="2075688"/>
            <a:ext cx="320040" cy="329184"/>
          </a:xfrm>
          <a:prstGeom prst="rightArrow">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9189719" y="1645920"/>
            <a:ext cx="2423160" cy="1188720"/>
          </a:xfrm>
          <a:prstGeom prst="roundRect">
            <a:avLst/>
          </a:prstGeom>
          <a:solidFill>
            <a:srgbClr val="FFFFFF"/>
          </a:solidFill>
          <a:ln w="28575">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300" b="1">
                <a:solidFill>
                  <a:srgbClr val="1E293B"/>
                </a:solidFill>
                <a:latin typeface="Calibri"/>
              </a:rPr>
              <a:t>App di động &amp;
Web Dashboard</a:t>
            </a:r>
          </a:p>
        </p:txBody>
      </p:sp>
      <p:sp>
        <p:nvSpPr>
          <p:cNvPr id="20" name="Rectangle 19"/>
          <p:cNvSpPr/>
          <p:nvPr/>
        </p:nvSpPr>
        <p:spPr>
          <a:xfrm>
            <a:off x="9189719" y="1645920"/>
            <a:ext cx="2423160" cy="109728"/>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48640" y="3063240"/>
            <a:ext cx="11064240" cy="777240"/>
          </a:xfrm>
          <a:prstGeom prst="rect">
            <a:avLst/>
          </a:prstGeom>
          <a:noFill/>
        </p:spPr>
        <p:txBody>
          <a:bodyPr wrap="square">
            <a:spAutoFit/>
          </a:bodyPr>
          <a:lstStyle/>
          <a:p>
            <a:pPr algn="l">
              <a:lnSpc>
                <a:spcPct val="125000"/>
              </a:lnSpc>
            </a:pPr>
            <a:r>
              <a:rPr sz="1300" b="0" i="1">
                <a:solidFill>
                  <a:srgbClr val="475569"/>
                </a:solidFill>
                <a:latin typeface="Calibri"/>
              </a:rPr>
              <a:t>Dữ liệu đi 2 CHIỀU qua Blynk Cloud: (1) Cảm biến → Board → Cloud → App/Web (giám sát), và (2) App/Web → Cloud → Board → Thiết bị chấp hành (điều khiển ngược lại, nếu bài có Switch/Slider).</a:t>
            </a:r>
          </a:p>
        </p:txBody>
      </p:sp>
      <p:sp>
        <p:nvSpPr>
          <p:cNvPr id="22" name="Rounded Rectangle 21"/>
          <p:cNvSpPr/>
          <p:nvPr/>
        </p:nvSpPr>
        <p:spPr>
          <a:xfrm>
            <a:off x="548640" y="3977639"/>
            <a:ext cx="11064240" cy="2331720"/>
          </a:xfrm>
          <a:prstGeom prst="roundRect">
            <a:avLst/>
          </a:prstGeom>
          <a:solidFill>
            <a:srgbClr val="FFFFFF"/>
          </a:solidFill>
          <a:ln w="12700">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 y="4133087"/>
            <a:ext cx="10515600" cy="320040"/>
          </a:xfrm>
          <a:prstGeom prst="rect">
            <a:avLst/>
          </a:prstGeom>
          <a:noFill/>
        </p:spPr>
        <p:txBody>
          <a:bodyPr wrap="square">
            <a:spAutoFit/>
          </a:bodyPr>
          <a:lstStyle/>
          <a:p>
            <a:pPr algn="l"/>
            <a:r>
              <a:rPr sz="1300" b="1" i="0">
                <a:solidFill>
                  <a:srgbClr val="1E293B"/>
                </a:solidFill>
                <a:latin typeface="Calibri"/>
              </a:rPr>
              <a:t>Vận dụng cụ thể cho bài B12:</a:t>
            </a:r>
          </a:p>
        </p:txBody>
      </p:sp>
      <p:sp>
        <p:nvSpPr>
          <p:cNvPr id="24" name="TextBox 23"/>
          <p:cNvSpPr txBox="1"/>
          <p:nvPr/>
        </p:nvSpPr>
        <p:spPr>
          <a:xfrm>
            <a:off x="777240" y="4498848"/>
            <a:ext cx="10515600" cy="1737360"/>
          </a:xfrm>
          <a:prstGeom prst="rect">
            <a:avLst/>
          </a:prstGeom>
          <a:noFill/>
        </p:spPr>
        <p:txBody>
          <a:bodyPr wrap="square">
            <a:spAutoFit/>
          </a:bodyPr>
          <a:lstStyle/>
          <a:p>
            <a:pPr algn="l">
              <a:spcAft>
                <a:spcPts val="600"/>
              </a:spcAft>
            </a:pPr>
            <a:r>
              <a:rPr sz="1200" b="1">
                <a:solidFill>
                  <a:srgbClr val="06B6D4"/>
                </a:solidFill>
                <a:latin typeface="Calibri"/>
              </a:rPr>
              <a:t>●  </a:t>
            </a:r>
            <a:r>
              <a:rPr sz="1200" b="0">
                <a:solidFill>
                  <a:srgbClr val="475569"/>
                </a:solidFill>
                <a:latin typeface="Calibri"/>
              </a:rPr>
              <a:t>Nhiệt độ không khí</a:t>
            </a:r>
          </a:p>
          <a:p>
            <a:pPr algn="l">
              <a:spcAft>
                <a:spcPts val="600"/>
              </a:spcAft>
            </a:pPr>
            <a:r>
              <a:rPr sz="1200" b="1">
                <a:solidFill>
                  <a:srgbClr val="06B6D4"/>
                </a:solidFill>
                <a:latin typeface="Calibri"/>
              </a:rPr>
              <a:t>●  </a:t>
            </a:r>
            <a:r>
              <a:rPr sz="1200" b="0">
                <a:solidFill>
                  <a:srgbClr val="475569"/>
                </a:solidFill>
                <a:latin typeface="Calibri"/>
              </a:rPr>
              <a:t>Độ ẩm không khí</a:t>
            </a:r>
          </a:p>
          <a:p>
            <a:pPr algn="l">
              <a:spcAft>
                <a:spcPts val="600"/>
              </a:spcAft>
            </a:pPr>
            <a:r>
              <a:rPr sz="1200" b="1">
                <a:solidFill>
                  <a:srgbClr val="06B6D4"/>
                </a:solidFill>
                <a:latin typeface="Calibri"/>
              </a:rPr>
              <a:t>●  </a:t>
            </a:r>
            <a:r>
              <a:rPr sz="1200" b="0">
                <a:solidFill>
                  <a:srgbClr val="475569"/>
                </a:solidFill>
                <a:latin typeface="Calibri"/>
              </a:rPr>
              <a:t>Nồng độ khí Gas</a:t>
            </a:r>
          </a:p>
          <a:p>
            <a:pPr algn="l">
              <a:spcAft>
                <a:spcPts val="600"/>
              </a:spcAft>
            </a:pPr>
            <a:r>
              <a:rPr sz="1200" b="1">
                <a:solidFill>
                  <a:srgbClr val="06B6D4"/>
                </a:solidFill>
                <a:latin typeface="Calibri"/>
              </a:rPr>
              <a:t>●  </a:t>
            </a:r>
            <a:r>
              <a:rPr sz="1200" b="0">
                <a:solidFill>
                  <a:srgbClr val="475569"/>
                </a:solidFill>
                <a:latin typeface="Calibri"/>
              </a:rPr>
              <a:t>Mực nước (khoảng cách)</a:t>
            </a:r>
          </a:p>
          <a:p>
            <a:pPr algn="l">
              <a:spcAft>
                <a:spcPts val="600"/>
              </a:spcAft>
            </a:pPr>
            <a:r>
              <a:rPr sz="1200" b="1">
                <a:solidFill>
                  <a:srgbClr val="06B6D4"/>
                </a:solidFill>
                <a:latin typeface="Calibri"/>
              </a:rPr>
              <a:t>●  </a:t>
            </a:r>
            <a:r>
              <a:rPr sz="1200" b="0">
                <a:solidFill>
                  <a:srgbClr val="475569"/>
                </a:solidFill>
                <a:latin typeface="Calibri"/>
              </a:rPr>
              <a:t>LED cảnh báo tổng hợp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1508760" y="292608"/>
            <a:ext cx="10195560" cy="841248"/>
          </a:xfrm>
          <a:prstGeom prst="roundRect">
            <a:avLst/>
          </a:prstGeom>
          <a:solidFill>
            <a:srgbClr val="FDF3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508760" y="384048"/>
            <a:ext cx="73152" cy="6583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2920" y="384048"/>
            <a:ext cx="658368" cy="658368"/>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400" b="1">
                <a:solidFill>
                  <a:srgbClr val="FFFFFF"/>
                </a:solidFill>
                <a:latin typeface="Calibri"/>
              </a:rPr>
              <a:t>IoT</a:t>
            </a:r>
          </a:p>
        </p:txBody>
      </p:sp>
      <p:sp>
        <p:nvSpPr>
          <p:cNvPr id="5" name="TextBox 4"/>
          <p:cNvSpPr txBox="1"/>
          <p:nvPr/>
        </p:nvSpPr>
        <p:spPr>
          <a:xfrm>
            <a:off x="1819656" y="374904"/>
            <a:ext cx="9646920" cy="256032"/>
          </a:xfrm>
          <a:prstGeom prst="rect">
            <a:avLst/>
          </a:prstGeom>
          <a:noFill/>
        </p:spPr>
        <p:txBody>
          <a:bodyPr wrap="square">
            <a:spAutoFit/>
          </a:bodyPr>
          <a:lstStyle/>
          <a:p>
            <a:pPr algn="l"/>
            <a:r>
              <a:rPr sz="1200" b="1" i="0">
                <a:solidFill>
                  <a:srgbClr val="F59E0B"/>
                </a:solidFill>
                <a:latin typeface="Calibri"/>
              </a:rPr>
              <a:t>B12 · CẤU HÌNH CLOUD</a:t>
            </a:r>
          </a:p>
        </p:txBody>
      </p:sp>
      <p:sp>
        <p:nvSpPr>
          <p:cNvPr id="6" name="TextBox 5"/>
          <p:cNvSpPr txBox="1"/>
          <p:nvPr/>
        </p:nvSpPr>
        <p:spPr>
          <a:xfrm>
            <a:off x="1819656" y="630936"/>
            <a:ext cx="9646920" cy="457200"/>
          </a:xfrm>
          <a:prstGeom prst="rect">
            <a:avLst/>
          </a:prstGeom>
          <a:noFill/>
        </p:spPr>
        <p:txBody>
          <a:bodyPr wrap="square">
            <a:spAutoFit/>
          </a:bodyPr>
          <a:lstStyle/>
          <a:p>
            <a:pPr algn="l"/>
            <a:r>
              <a:rPr sz="2100" b="1" i="0">
                <a:solidFill>
                  <a:srgbClr val="1E293B"/>
                </a:solidFill>
                <a:latin typeface="Calibri"/>
              </a:rPr>
              <a:t>Bảng ánh xạ Datastream (Virtual Pin)</a:t>
            </a:r>
          </a:p>
        </p:txBody>
      </p:sp>
      <p:cxnSp>
        <p:nvCxnSpPr>
          <p:cNvPr id="7" name="Connector 6"/>
          <p:cNvCxnSpPr/>
          <p:nvPr/>
        </p:nvCxnSpPr>
        <p:spPr>
          <a:xfrm>
            <a:off x="502920" y="6400800"/>
            <a:ext cx="11185855" cy="0"/>
          </a:xfrm>
          <a:prstGeom prst="line">
            <a:avLst/>
          </a:prstGeom>
          <a:ln w="9525">
            <a:solidFill>
              <a:srgbClr val="DDE3E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473952"/>
            <a:ext cx="6858000" cy="274320"/>
          </a:xfrm>
          <a:prstGeom prst="rect">
            <a:avLst/>
          </a:prstGeom>
          <a:noFill/>
        </p:spPr>
        <p:txBody>
          <a:bodyPr wrap="square">
            <a:spAutoFit/>
          </a:bodyPr>
          <a:lstStyle/>
          <a:p>
            <a:pPr algn="l"/>
            <a:r>
              <a:rPr sz="900" b="0" i="0">
                <a:solidFill>
                  <a:srgbClr val="94A3B8"/>
                </a:solidFill>
                <a:latin typeface="Calibri"/>
              </a:rPr>
              <a:t>IOT TRONG KỸ THUẬT MÔI TRƯỜNG  ·  B12</a:t>
            </a:r>
          </a:p>
        </p:txBody>
      </p:sp>
      <p:sp>
        <p:nvSpPr>
          <p:cNvPr id="9" name="TextBox 8"/>
          <p:cNvSpPr txBox="1"/>
          <p:nvPr/>
        </p:nvSpPr>
        <p:spPr>
          <a:xfrm>
            <a:off x="10820095" y="6473952"/>
            <a:ext cx="914400" cy="274320"/>
          </a:xfrm>
          <a:prstGeom prst="rect">
            <a:avLst/>
          </a:prstGeom>
          <a:noFill/>
        </p:spPr>
        <p:txBody>
          <a:bodyPr wrap="square">
            <a:spAutoFit/>
          </a:bodyPr>
          <a:lstStyle/>
          <a:p>
            <a:pPr algn="r"/>
            <a:r>
              <a:rPr sz="900" b="0" i="0">
                <a:solidFill>
                  <a:srgbClr val="94A3B8"/>
                </a:solidFill>
                <a:latin typeface="Calibri"/>
              </a:rPr>
              <a:t>5</a:t>
            </a:r>
          </a:p>
        </p:txBody>
      </p:sp>
      <p:graphicFrame>
        <p:nvGraphicFramePr>
          <p:cNvPr id="10" name="Table 9"/>
          <p:cNvGraphicFramePr>
            <a:graphicFrameLocks noGrp="1"/>
          </p:cNvGraphicFramePr>
          <p:nvPr/>
        </p:nvGraphicFramePr>
        <p:xfrm>
          <a:off x="548640" y="1463040"/>
          <a:ext cx="11064238" cy="3474720"/>
        </p:xfrm>
        <a:graphic>
          <a:graphicData uri="http://schemas.openxmlformats.org/drawingml/2006/table">
            <a:tbl>
              <a:tblPr>
                <a:tableStyleId>{5C22544A-7EE6-4342-B048-85BDC9FD1C3A}</a:tableStyleId>
              </a:tblPr>
              <a:tblGrid>
                <a:gridCol w="1539372"/>
                <a:gridCol w="3656009"/>
                <a:gridCol w="3367377"/>
                <a:gridCol w="2501480"/>
              </a:tblGrid>
              <a:tr h="579120">
                <a:tc>
                  <a:txBody>
                    <a:bodyPr wrap="square"/>
                    <a:lstStyle/>
                    <a:p>
                      <a:pPr algn="ctr"/>
                      <a:r>
                        <a:rPr sz="1300" b="1">
                          <a:solidFill>
                            <a:srgbClr val="FFFFFF"/>
                          </a:solidFill>
                          <a:latin typeface="Calibri"/>
                        </a:rPr>
                        <a:t>Virtual Pin</a:t>
                      </a:r>
                    </a:p>
                  </a:txBody>
                  <a:tcPr marL="73152" marR="73152" marT="36576" marB="36576" anchor="ctr">
                    <a:solidFill>
                      <a:srgbClr val="F59E0B"/>
                    </a:solidFill>
                  </a:tcPr>
                </a:tc>
                <a:tc>
                  <a:txBody>
                    <a:bodyPr wrap="square"/>
                    <a:lstStyle/>
                    <a:p>
                      <a:pPr algn="ctr"/>
                      <a:r>
                        <a:rPr sz="1300" b="1">
                          <a:solidFill>
                            <a:srgbClr val="FFFFFF"/>
                          </a:solidFill>
                          <a:latin typeface="Calibri"/>
                        </a:rPr>
                        <a:t>Ý nghĩa dữ liệu</a:t>
                      </a:r>
                    </a:p>
                  </a:txBody>
                  <a:tcPr marL="73152" marR="73152" marT="36576" marB="36576" anchor="ctr">
                    <a:solidFill>
                      <a:srgbClr val="F59E0B"/>
                    </a:solidFill>
                  </a:tcPr>
                </a:tc>
                <a:tc>
                  <a:txBody>
                    <a:bodyPr wrap="square"/>
                    <a:lstStyle/>
                    <a:p>
                      <a:pPr algn="ctr"/>
                      <a:r>
                        <a:rPr sz="1300" b="1">
                          <a:solidFill>
                            <a:srgbClr val="FFFFFF"/>
                          </a:solidFill>
                          <a:latin typeface="Calibri"/>
                        </a:rPr>
                        <a:t>Kiểu dữ liệu / Đơn vị</a:t>
                      </a:r>
                    </a:p>
                  </a:txBody>
                  <a:tcPr marL="73152" marR="73152" marT="36576" marB="36576" anchor="ctr">
                    <a:solidFill>
                      <a:srgbClr val="F59E0B"/>
                    </a:solidFill>
                  </a:tcPr>
                </a:tc>
                <a:tc>
                  <a:txBody>
                    <a:bodyPr wrap="square"/>
                    <a:lstStyle/>
                    <a:p>
                      <a:pPr algn="ctr"/>
                      <a:r>
                        <a:rPr sz="1300" b="1">
                          <a:solidFill>
                            <a:srgbClr val="FFFFFF"/>
                          </a:solidFill>
                          <a:latin typeface="Calibri"/>
                        </a:rPr>
                        <a:t>Widget đề xuất</a:t>
                      </a:r>
                    </a:p>
                  </a:txBody>
                  <a:tcPr marL="73152" marR="73152" marT="36576" marB="36576" anchor="ctr">
                    <a:solidFill>
                      <a:srgbClr val="F59E0B"/>
                    </a:solidFill>
                  </a:tcPr>
                </a:tc>
              </a:tr>
              <a:tr h="579120">
                <a:tc>
                  <a:txBody>
                    <a:bodyPr wrap="square"/>
                    <a:lstStyle/>
                    <a:p>
                      <a:pPr algn="l"/>
                      <a:r>
                        <a:rPr sz="1200" b="0">
                          <a:solidFill>
                            <a:srgbClr val="1E293B"/>
                          </a:solidFill>
                          <a:latin typeface="Calibri"/>
                        </a:rPr>
                        <a:t>V0</a:t>
                      </a:r>
                    </a:p>
                  </a:txBody>
                  <a:tcPr marL="73152" marR="73152" marT="36576" marB="36576" anchor="ctr">
                    <a:solidFill>
                      <a:srgbClr val="FFFFFF"/>
                    </a:solidFill>
                  </a:tcPr>
                </a:tc>
                <a:tc>
                  <a:txBody>
                    <a:bodyPr wrap="square"/>
                    <a:lstStyle/>
                    <a:p>
                      <a:pPr algn="l"/>
                      <a:r>
                        <a:rPr sz="1200" b="0">
                          <a:solidFill>
                            <a:srgbClr val="1E293B"/>
                          </a:solidFill>
                          <a:latin typeface="Calibri"/>
                        </a:rPr>
                        <a:t>Nhiệt độ không khí</a:t>
                      </a:r>
                    </a:p>
                  </a:txBody>
                  <a:tcPr marL="73152" marR="73152" marT="36576" marB="36576" anchor="ctr">
                    <a:solidFill>
                      <a:srgbClr val="FFFFFF"/>
                    </a:solidFill>
                  </a:tcPr>
                </a:tc>
                <a:tc>
                  <a:txBody>
                    <a:bodyPr wrap="square"/>
                    <a:lstStyle/>
                    <a:p>
                      <a:pPr algn="l"/>
                      <a:r>
                        <a:rPr sz="1200" b="0">
                          <a:solidFill>
                            <a:srgbClr val="1E293B"/>
                          </a:solidFill>
                          <a:latin typeface="Calibri"/>
                        </a:rPr>
                        <a:t>Double, °C</a:t>
                      </a:r>
                    </a:p>
                  </a:txBody>
                  <a:tcPr marL="73152" marR="73152" marT="36576" marB="36576" anchor="ctr">
                    <a:solidFill>
                      <a:srgbClr val="FFFFFF"/>
                    </a:solidFill>
                  </a:tcPr>
                </a:tc>
                <a:tc>
                  <a:txBody>
                    <a:bodyPr wrap="square"/>
                    <a:lstStyle/>
                    <a:p>
                      <a:pPr algn="l"/>
                      <a:r>
                        <a:rPr sz="1200" b="0">
                          <a:solidFill>
                            <a:srgbClr val="1E293B"/>
                          </a:solidFill>
                          <a:latin typeface="Calibri"/>
                        </a:rPr>
                        <a:t>Gauge</a:t>
                      </a:r>
                    </a:p>
                  </a:txBody>
                  <a:tcPr marL="73152" marR="73152" marT="36576" marB="36576" anchor="ctr">
                    <a:solidFill>
                      <a:srgbClr val="FFFFFF"/>
                    </a:solidFill>
                  </a:tcPr>
                </a:tc>
              </a:tr>
              <a:tr h="579120">
                <a:tc>
                  <a:txBody>
                    <a:bodyPr wrap="square"/>
                    <a:lstStyle/>
                    <a:p>
                      <a:pPr algn="l"/>
                      <a:r>
                        <a:rPr sz="1200" b="0">
                          <a:solidFill>
                            <a:srgbClr val="1E293B"/>
                          </a:solidFill>
                          <a:latin typeface="Calibri"/>
                        </a:rPr>
                        <a:t>V1</a:t>
                      </a:r>
                    </a:p>
                  </a:txBody>
                  <a:tcPr marL="73152" marR="73152" marT="36576" marB="36576" anchor="ctr">
                    <a:solidFill>
                      <a:srgbClr val="F6F8F9"/>
                    </a:solidFill>
                  </a:tcPr>
                </a:tc>
                <a:tc>
                  <a:txBody>
                    <a:bodyPr wrap="square"/>
                    <a:lstStyle/>
                    <a:p>
                      <a:pPr algn="l"/>
                      <a:r>
                        <a:rPr sz="1200" b="0">
                          <a:solidFill>
                            <a:srgbClr val="1E293B"/>
                          </a:solidFill>
                          <a:latin typeface="Calibri"/>
                        </a:rPr>
                        <a:t>Độ ẩm không khí</a:t>
                      </a:r>
                    </a:p>
                  </a:txBody>
                  <a:tcPr marL="73152" marR="73152" marT="36576" marB="36576" anchor="ctr">
                    <a:solidFill>
                      <a:srgbClr val="F6F8F9"/>
                    </a:solidFill>
                  </a:tcPr>
                </a:tc>
                <a:tc>
                  <a:txBody>
                    <a:bodyPr wrap="square"/>
                    <a:lstStyle/>
                    <a:p>
                      <a:pPr algn="l"/>
                      <a:r>
                        <a:rPr sz="1200" b="0">
                          <a:solidFill>
                            <a:srgbClr val="1E293B"/>
                          </a:solidFill>
                          <a:latin typeface="Calibri"/>
                        </a:rPr>
                        <a:t>Double, %</a:t>
                      </a:r>
                    </a:p>
                  </a:txBody>
                  <a:tcPr marL="73152" marR="73152" marT="36576" marB="36576" anchor="ctr">
                    <a:solidFill>
                      <a:srgbClr val="F6F8F9"/>
                    </a:solidFill>
                  </a:tcPr>
                </a:tc>
                <a:tc>
                  <a:txBody>
                    <a:bodyPr wrap="square"/>
                    <a:lstStyle/>
                    <a:p>
                      <a:pPr algn="l"/>
                      <a:r>
                        <a:rPr sz="1200" b="0">
                          <a:solidFill>
                            <a:srgbClr val="1E293B"/>
                          </a:solidFill>
                          <a:latin typeface="Calibri"/>
                        </a:rPr>
                        <a:t>Gauge</a:t>
                      </a:r>
                    </a:p>
                  </a:txBody>
                  <a:tcPr marL="73152" marR="73152" marT="36576" marB="36576" anchor="ctr">
                    <a:solidFill>
                      <a:srgbClr val="F6F8F9"/>
                    </a:solidFill>
                  </a:tcPr>
                </a:tc>
              </a:tr>
              <a:tr h="579120">
                <a:tc>
                  <a:txBody>
                    <a:bodyPr wrap="square"/>
                    <a:lstStyle/>
                    <a:p>
                      <a:pPr algn="l"/>
                      <a:r>
                        <a:rPr sz="1200" b="0">
                          <a:solidFill>
                            <a:srgbClr val="1E293B"/>
                          </a:solidFill>
                          <a:latin typeface="Calibri"/>
                        </a:rPr>
                        <a:t>V2</a:t>
                      </a:r>
                    </a:p>
                  </a:txBody>
                  <a:tcPr marL="73152" marR="73152" marT="36576" marB="36576" anchor="ctr">
                    <a:solidFill>
                      <a:srgbClr val="FFFFFF"/>
                    </a:solidFill>
                  </a:tcPr>
                </a:tc>
                <a:tc>
                  <a:txBody>
                    <a:bodyPr wrap="square"/>
                    <a:lstStyle/>
                    <a:p>
                      <a:pPr algn="l"/>
                      <a:r>
                        <a:rPr sz="1200" b="0">
                          <a:solidFill>
                            <a:srgbClr val="1E293B"/>
                          </a:solidFill>
                          <a:latin typeface="Calibri"/>
                        </a:rPr>
                        <a:t>Nồng độ khí Gas</a:t>
                      </a:r>
                    </a:p>
                  </a:txBody>
                  <a:tcPr marL="73152" marR="73152" marT="36576" marB="36576" anchor="ctr">
                    <a:solidFill>
                      <a:srgbClr val="FFFFFF"/>
                    </a:solidFill>
                  </a:tcPr>
                </a:tc>
                <a:tc>
                  <a:txBody>
                    <a:bodyPr wrap="square"/>
                    <a:lstStyle/>
                    <a:p>
                      <a:pPr algn="l"/>
                      <a:r>
                        <a:rPr sz="1200" b="0">
                          <a:solidFill>
                            <a:srgbClr val="1E293B"/>
                          </a:solidFill>
                          <a:latin typeface="Calibri"/>
                        </a:rPr>
                        <a:t>Integer, PPM</a:t>
                      </a:r>
                    </a:p>
                  </a:txBody>
                  <a:tcPr marL="73152" marR="73152" marT="36576" marB="36576" anchor="ctr">
                    <a:solidFill>
                      <a:srgbClr val="FFFFFF"/>
                    </a:solidFill>
                  </a:tcPr>
                </a:tc>
                <a:tc>
                  <a:txBody>
                    <a:bodyPr wrap="square"/>
                    <a:lstStyle/>
                    <a:p>
                      <a:pPr algn="l"/>
                      <a:r>
                        <a:rPr sz="1200" b="0">
                          <a:solidFill>
                            <a:srgbClr val="1E293B"/>
                          </a:solidFill>
                          <a:latin typeface="Calibri"/>
                        </a:rPr>
                        <a:t>Gauge</a:t>
                      </a:r>
                    </a:p>
                  </a:txBody>
                  <a:tcPr marL="73152" marR="73152" marT="36576" marB="36576" anchor="ctr">
                    <a:solidFill>
                      <a:srgbClr val="FFFFFF"/>
                    </a:solidFill>
                  </a:tcPr>
                </a:tc>
              </a:tr>
              <a:tr h="579120">
                <a:tc>
                  <a:txBody>
                    <a:bodyPr wrap="square"/>
                    <a:lstStyle/>
                    <a:p>
                      <a:pPr algn="l"/>
                      <a:r>
                        <a:rPr sz="1200" b="0">
                          <a:solidFill>
                            <a:srgbClr val="1E293B"/>
                          </a:solidFill>
                          <a:latin typeface="Calibri"/>
                        </a:rPr>
                        <a:t>V3</a:t>
                      </a:r>
                    </a:p>
                  </a:txBody>
                  <a:tcPr marL="73152" marR="73152" marT="36576" marB="36576" anchor="ctr">
                    <a:solidFill>
                      <a:srgbClr val="F6F8F9"/>
                    </a:solidFill>
                  </a:tcPr>
                </a:tc>
                <a:tc>
                  <a:txBody>
                    <a:bodyPr wrap="square"/>
                    <a:lstStyle/>
                    <a:p>
                      <a:pPr algn="l"/>
                      <a:r>
                        <a:rPr sz="1200" b="0">
                          <a:solidFill>
                            <a:srgbClr val="1E293B"/>
                          </a:solidFill>
                          <a:latin typeface="Calibri"/>
                        </a:rPr>
                        <a:t>Mực nước (khoảng cách)</a:t>
                      </a:r>
                    </a:p>
                  </a:txBody>
                  <a:tcPr marL="73152" marR="73152" marT="36576" marB="36576" anchor="ctr">
                    <a:solidFill>
                      <a:srgbClr val="F6F8F9"/>
                    </a:solidFill>
                  </a:tcPr>
                </a:tc>
                <a:tc>
                  <a:txBody>
                    <a:bodyPr wrap="square"/>
                    <a:lstStyle/>
                    <a:p>
                      <a:pPr algn="l"/>
                      <a:r>
                        <a:rPr sz="1200" b="0">
                          <a:solidFill>
                            <a:srgbClr val="1E293B"/>
                          </a:solidFill>
                          <a:latin typeface="Calibri"/>
                        </a:rPr>
                        <a:t>Double, cm</a:t>
                      </a:r>
                    </a:p>
                  </a:txBody>
                  <a:tcPr marL="73152" marR="73152" marT="36576" marB="36576" anchor="ctr">
                    <a:solidFill>
                      <a:srgbClr val="F6F8F9"/>
                    </a:solidFill>
                  </a:tcPr>
                </a:tc>
                <a:tc>
                  <a:txBody>
                    <a:bodyPr wrap="square"/>
                    <a:lstStyle/>
                    <a:p>
                      <a:pPr algn="l"/>
                      <a:r>
                        <a:rPr sz="1200" b="0">
                          <a:solidFill>
                            <a:srgbClr val="1E293B"/>
                          </a:solidFill>
                          <a:latin typeface="Calibri"/>
                        </a:rPr>
                        <a:t>Gauge</a:t>
                      </a:r>
                    </a:p>
                  </a:txBody>
                  <a:tcPr marL="73152" marR="73152" marT="36576" marB="36576" anchor="ctr">
                    <a:solidFill>
                      <a:srgbClr val="F6F8F9"/>
                    </a:solidFill>
                  </a:tcPr>
                </a:tc>
              </a:tr>
              <a:tr h="579120">
                <a:tc>
                  <a:txBody>
                    <a:bodyPr wrap="square"/>
                    <a:lstStyle/>
                    <a:p>
                      <a:pPr algn="l"/>
                      <a:r>
                        <a:rPr sz="1200" b="0">
                          <a:solidFill>
                            <a:srgbClr val="1E293B"/>
                          </a:solidFill>
                          <a:latin typeface="Calibri"/>
                        </a:rPr>
                        <a:t>V4</a:t>
                      </a:r>
                    </a:p>
                  </a:txBody>
                  <a:tcPr marL="73152" marR="73152" marT="36576" marB="36576" anchor="ctr">
                    <a:solidFill>
                      <a:srgbClr val="FFFFFF"/>
                    </a:solidFill>
                  </a:tcPr>
                </a:tc>
                <a:tc>
                  <a:txBody>
                    <a:bodyPr wrap="square"/>
                    <a:lstStyle/>
                    <a:p>
                      <a:pPr algn="l"/>
                      <a:r>
                        <a:rPr sz="1200" b="0">
                          <a:solidFill>
                            <a:srgbClr val="1E293B"/>
                          </a:solidFill>
                          <a:latin typeface="Calibri"/>
                        </a:rPr>
                        <a:t>LED cảnh báo tổng hợp</a:t>
                      </a:r>
                    </a:p>
                  </a:txBody>
                  <a:tcPr marL="73152" marR="73152" marT="36576" marB="36576" anchor="ctr">
                    <a:solidFill>
                      <a:srgbClr val="FFFFFF"/>
                    </a:solidFill>
                  </a:tcPr>
                </a:tc>
                <a:tc>
                  <a:txBody>
                    <a:bodyPr wrap="square"/>
                    <a:lstStyle/>
                    <a:p>
                      <a:pPr algn="l"/>
                      <a:r>
                        <a:rPr sz="1200" b="0">
                          <a:solidFill>
                            <a:srgbClr val="1E293B"/>
                          </a:solidFill>
                          <a:latin typeface="Calibri"/>
                        </a:rPr>
                        <a:t>Integer, 0/1 (chỉ đọc)</a:t>
                      </a:r>
                    </a:p>
                  </a:txBody>
                  <a:tcPr marL="73152" marR="73152" marT="36576" marB="36576" anchor="ctr">
                    <a:solidFill>
                      <a:srgbClr val="FFFFFF"/>
                    </a:solidFill>
                  </a:tcPr>
                </a:tc>
                <a:tc>
                  <a:txBody>
                    <a:bodyPr wrap="square"/>
                    <a:lstStyle/>
                    <a:p>
                      <a:pPr algn="l"/>
                      <a:r>
                        <a:rPr sz="1200" b="0">
                          <a:solidFill>
                            <a:srgbClr val="1E293B"/>
                          </a:solidFill>
                          <a:latin typeface="Calibri"/>
                        </a:rPr>
                        <a:t>LED + Event</a:t>
                      </a:r>
                    </a:p>
                  </a:txBody>
                  <a:tcPr marL="73152" marR="73152" marT="36576" marB="36576" anchor="ctr">
                    <a:solidFill>
                      <a:srgbClr val="FFFFFF"/>
                    </a:solidFill>
                  </a:tcPr>
                </a:tc>
              </a:tr>
            </a:tbl>
          </a:graphicData>
        </a:graphic>
      </p:graphicFrame>
      <p:sp>
        <p:nvSpPr>
          <p:cNvPr id="11" name="TextBox 10"/>
          <p:cNvSpPr txBox="1"/>
          <p:nvPr/>
        </p:nvSpPr>
        <p:spPr>
          <a:xfrm>
            <a:off x="548640" y="5212080"/>
            <a:ext cx="11064240" cy="822960"/>
          </a:xfrm>
          <a:prstGeom prst="rect">
            <a:avLst/>
          </a:prstGeom>
          <a:noFill/>
        </p:spPr>
        <p:txBody>
          <a:bodyPr wrap="square">
            <a:spAutoFit/>
          </a:bodyPr>
          <a:lstStyle/>
          <a:p>
            <a:pPr algn="l">
              <a:lnSpc>
                <a:spcPct val="120000"/>
              </a:lnSpc>
            </a:pPr>
            <a:r>
              <a:rPr sz="1200" b="0" i="1">
                <a:solidFill>
                  <a:srgbClr val="475569"/>
                </a:solidFill>
                <a:latin typeface="Calibri"/>
              </a:rPr>
              <a:t>Datastream được khai báo 1 lần trong Blynk.Console (Template → Datastreams), sau đó firmware chỉ cần gọi đúng số hiệu Virtual Pin (V0, V1...) tương ứng — không cần khai báo lại trong code.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1508760" y="292608"/>
            <a:ext cx="10195560" cy="841248"/>
          </a:xfrm>
          <a:prstGeom prst="roundRect">
            <a:avLst/>
          </a:prstGeom>
          <a:solidFill>
            <a:srgbClr val="FCE9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508760" y="384048"/>
            <a:ext cx="73152" cy="658368"/>
          </a:xfrm>
          <a:prstGeom prst="rect">
            <a:avLst/>
          </a:prstGeom>
          <a:solidFill>
            <a:srgbClr val="EC48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2920" y="384048"/>
            <a:ext cx="658368" cy="658368"/>
          </a:xfrm>
          <a:prstGeom prst="roundRect">
            <a:avLst/>
          </a:prstGeom>
          <a:solidFill>
            <a:srgbClr val="EC489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400" b="1">
                <a:solidFill>
                  <a:srgbClr val="FFFFFF"/>
                </a:solidFill>
                <a:latin typeface="Calibri"/>
              </a:rPr>
              <a:t>IoT</a:t>
            </a:r>
          </a:p>
        </p:txBody>
      </p:sp>
      <p:sp>
        <p:nvSpPr>
          <p:cNvPr id="5" name="TextBox 4"/>
          <p:cNvSpPr txBox="1"/>
          <p:nvPr/>
        </p:nvSpPr>
        <p:spPr>
          <a:xfrm>
            <a:off x="1819656" y="374904"/>
            <a:ext cx="9646920" cy="256032"/>
          </a:xfrm>
          <a:prstGeom prst="rect">
            <a:avLst/>
          </a:prstGeom>
          <a:noFill/>
        </p:spPr>
        <p:txBody>
          <a:bodyPr wrap="square">
            <a:spAutoFit/>
          </a:bodyPr>
          <a:lstStyle/>
          <a:p>
            <a:pPr algn="l"/>
            <a:r>
              <a:rPr sz="1200" b="1" i="0">
                <a:solidFill>
                  <a:srgbClr val="EC4899"/>
                </a:solidFill>
                <a:latin typeface="Calibri"/>
              </a:rPr>
              <a:t>B12 · GIAO DIỆN APP</a:t>
            </a:r>
          </a:p>
        </p:txBody>
      </p:sp>
      <p:sp>
        <p:nvSpPr>
          <p:cNvPr id="6" name="TextBox 5"/>
          <p:cNvSpPr txBox="1"/>
          <p:nvPr/>
        </p:nvSpPr>
        <p:spPr>
          <a:xfrm>
            <a:off x="1819656" y="630936"/>
            <a:ext cx="9646920" cy="457200"/>
          </a:xfrm>
          <a:prstGeom prst="rect">
            <a:avLst/>
          </a:prstGeom>
          <a:noFill/>
        </p:spPr>
        <p:txBody>
          <a:bodyPr wrap="square">
            <a:spAutoFit/>
          </a:bodyPr>
          <a:lstStyle/>
          <a:p>
            <a:pPr algn="l"/>
            <a:r>
              <a:rPr sz="2100" b="1" i="0">
                <a:solidFill>
                  <a:srgbClr val="1E293B"/>
                </a:solidFill>
                <a:latin typeface="Calibri"/>
              </a:rPr>
              <a:t>Thiết kế giao diện Mobile App</a:t>
            </a:r>
          </a:p>
        </p:txBody>
      </p:sp>
      <p:cxnSp>
        <p:nvCxnSpPr>
          <p:cNvPr id="7" name="Connector 6"/>
          <p:cNvCxnSpPr/>
          <p:nvPr/>
        </p:nvCxnSpPr>
        <p:spPr>
          <a:xfrm>
            <a:off x="502920" y="6400800"/>
            <a:ext cx="11185855" cy="0"/>
          </a:xfrm>
          <a:prstGeom prst="line">
            <a:avLst/>
          </a:prstGeom>
          <a:ln w="9525">
            <a:solidFill>
              <a:srgbClr val="DDE3E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473952"/>
            <a:ext cx="6858000" cy="274320"/>
          </a:xfrm>
          <a:prstGeom prst="rect">
            <a:avLst/>
          </a:prstGeom>
          <a:noFill/>
        </p:spPr>
        <p:txBody>
          <a:bodyPr wrap="square">
            <a:spAutoFit/>
          </a:bodyPr>
          <a:lstStyle/>
          <a:p>
            <a:pPr algn="l"/>
            <a:r>
              <a:rPr sz="900" b="0" i="0">
                <a:solidFill>
                  <a:srgbClr val="94A3B8"/>
                </a:solidFill>
                <a:latin typeface="Calibri"/>
              </a:rPr>
              <a:t>IOT TRONG KỸ THUẬT MÔI TRƯỜNG  ·  B12</a:t>
            </a:r>
          </a:p>
        </p:txBody>
      </p:sp>
      <p:sp>
        <p:nvSpPr>
          <p:cNvPr id="9" name="TextBox 8"/>
          <p:cNvSpPr txBox="1"/>
          <p:nvPr/>
        </p:nvSpPr>
        <p:spPr>
          <a:xfrm>
            <a:off x="10820095" y="6473952"/>
            <a:ext cx="914400" cy="274320"/>
          </a:xfrm>
          <a:prstGeom prst="rect">
            <a:avLst/>
          </a:prstGeom>
          <a:noFill/>
        </p:spPr>
        <p:txBody>
          <a:bodyPr wrap="square">
            <a:spAutoFit/>
          </a:bodyPr>
          <a:lstStyle/>
          <a:p>
            <a:pPr algn="r"/>
            <a:r>
              <a:rPr sz="900" b="0" i="0">
                <a:solidFill>
                  <a:srgbClr val="94A3B8"/>
                </a:solidFill>
                <a:latin typeface="Calibri"/>
              </a:rPr>
              <a:t>6</a:t>
            </a:r>
          </a:p>
        </p:txBody>
      </p:sp>
      <p:sp>
        <p:nvSpPr>
          <p:cNvPr id="10" name="Rounded Rectangle 9"/>
          <p:cNvSpPr/>
          <p:nvPr/>
        </p:nvSpPr>
        <p:spPr>
          <a:xfrm>
            <a:off x="640080" y="1371600"/>
            <a:ext cx="3108960" cy="5074920"/>
          </a:xfrm>
          <a:prstGeom prst="round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22375" y="1517904"/>
            <a:ext cx="2944368" cy="4782312"/>
          </a:xfrm>
          <a:prstGeom prst="rect">
            <a:avLst/>
          </a:prstGeom>
          <a:solidFill>
            <a:srgbClr val="F6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22375" y="1517904"/>
            <a:ext cx="2944368" cy="365760"/>
          </a:xfrm>
          <a:prstGeom prst="rect">
            <a:avLst/>
          </a:prstGeom>
          <a:solidFill>
            <a:srgbClr val="0F4C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000" b="1">
                <a:solidFill>
                  <a:srgbClr val="FFFFFF"/>
                </a:solidFill>
                <a:latin typeface="Calibri"/>
              </a:rPr>
              <a:t>B12 Dashboard</a:t>
            </a:r>
          </a:p>
        </p:txBody>
      </p:sp>
      <p:sp>
        <p:nvSpPr>
          <p:cNvPr id="13" name="Rounded Rectangle 12"/>
          <p:cNvSpPr/>
          <p:nvPr/>
        </p:nvSpPr>
        <p:spPr>
          <a:xfrm>
            <a:off x="795527" y="1956816"/>
            <a:ext cx="1362455" cy="868680"/>
          </a:xfrm>
          <a:prstGeom prst="roundRect">
            <a:avLst/>
          </a:prstGeom>
          <a:solidFill>
            <a:srgbClr val="FFFFFF"/>
          </a:solidFill>
          <a:ln w="12700">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234439" y="2048256"/>
            <a:ext cx="484632" cy="484632"/>
          </a:xfrm>
          <a:prstGeom prst="ellipse">
            <a:avLst/>
          </a:prstGeom>
          <a:solidFill>
            <a:srgbClr val="FDEBC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050" b="1">
                <a:solidFill>
                  <a:srgbClr val="F59E0B"/>
                </a:solidFill>
                <a:latin typeface="Calibri"/>
              </a:rPr>
              <a:t>28°C</a:t>
            </a:r>
          </a:p>
        </p:txBody>
      </p:sp>
      <p:sp>
        <p:nvSpPr>
          <p:cNvPr id="15" name="TextBox 14"/>
          <p:cNvSpPr txBox="1"/>
          <p:nvPr/>
        </p:nvSpPr>
        <p:spPr>
          <a:xfrm>
            <a:off x="886967" y="2569463"/>
            <a:ext cx="1179575" cy="219456"/>
          </a:xfrm>
          <a:prstGeom prst="rect">
            <a:avLst/>
          </a:prstGeom>
          <a:noFill/>
        </p:spPr>
        <p:txBody>
          <a:bodyPr wrap="square">
            <a:spAutoFit/>
          </a:bodyPr>
          <a:lstStyle/>
          <a:p>
            <a:pPr algn="ctr"/>
            <a:r>
              <a:rPr sz="850" b="0" i="0">
                <a:solidFill>
                  <a:srgbClr val="475569"/>
                </a:solidFill>
                <a:latin typeface="Calibri"/>
              </a:rPr>
              <a:t>Nhiệt độ</a:t>
            </a:r>
          </a:p>
        </p:txBody>
      </p:sp>
      <p:sp>
        <p:nvSpPr>
          <p:cNvPr id="16" name="Rounded Rectangle 15"/>
          <p:cNvSpPr/>
          <p:nvPr/>
        </p:nvSpPr>
        <p:spPr>
          <a:xfrm>
            <a:off x="2231135" y="1956816"/>
            <a:ext cx="1362455" cy="868680"/>
          </a:xfrm>
          <a:prstGeom prst="roundRect">
            <a:avLst/>
          </a:prstGeom>
          <a:solidFill>
            <a:srgbClr val="FFFFFF"/>
          </a:solidFill>
          <a:ln w="12700">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2670047" y="2048256"/>
            <a:ext cx="484632" cy="484632"/>
          </a:xfrm>
          <a:prstGeom prst="ellipse">
            <a:avLst/>
          </a:prstGeom>
          <a:solidFill>
            <a:srgbClr val="D7E6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050" b="1">
                <a:solidFill>
                  <a:srgbClr val="3B82F6"/>
                </a:solidFill>
                <a:latin typeface="Calibri"/>
              </a:rPr>
              <a:t>62%</a:t>
            </a:r>
          </a:p>
        </p:txBody>
      </p:sp>
      <p:sp>
        <p:nvSpPr>
          <p:cNvPr id="18" name="TextBox 17"/>
          <p:cNvSpPr txBox="1"/>
          <p:nvPr/>
        </p:nvSpPr>
        <p:spPr>
          <a:xfrm>
            <a:off x="2322575" y="2569463"/>
            <a:ext cx="1179575" cy="219456"/>
          </a:xfrm>
          <a:prstGeom prst="rect">
            <a:avLst/>
          </a:prstGeom>
          <a:noFill/>
        </p:spPr>
        <p:txBody>
          <a:bodyPr wrap="square">
            <a:spAutoFit/>
          </a:bodyPr>
          <a:lstStyle/>
          <a:p>
            <a:pPr algn="ctr"/>
            <a:r>
              <a:rPr sz="850" b="0" i="0">
                <a:solidFill>
                  <a:srgbClr val="475569"/>
                </a:solidFill>
                <a:latin typeface="Calibri"/>
              </a:rPr>
              <a:t>Độ ẩm</a:t>
            </a:r>
          </a:p>
        </p:txBody>
      </p:sp>
      <p:sp>
        <p:nvSpPr>
          <p:cNvPr id="19" name="Rounded Rectangle 18"/>
          <p:cNvSpPr/>
          <p:nvPr/>
        </p:nvSpPr>
        <p:spPr>
          <a:xfrm>
            <a:off x="795527" y="2898648"/>
            <a:ext cx="1362455" cy="868680"/>
          </a:xfrm>
          <a:prstGeom prst="roundRect">
            <a:avLst/>
          </a:prstGeom>
          <a:solidFill>
            <a:srgbClr val="FFFFFF"/>
          </a:solidFill>
          <a:ln w="12700">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1234439" y="2990088"/>
            <a:ext cx="484632" cy="484632"/>
          </a:xfrm>
          <a:prstGeom prst="ellipse">
            <a:avLst/>
          </a:prstGeom>
          <a:solidFill>
            <a:srgbClr val="CDF0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050" b="1">
                <a:solidFill>
                  <a:srgbClr val="06B6D4"/>
                </a:solidFill>
                <a:latin typeface="Calibri"/>
              </a:rPr>
              <a:t>110</a:t>
            </a:r>
          </a:p>
        </p:txBody>
      </p:sp>
      <p:sp>
        <p:nvSpPr>
          <p:cNvPr id="21" name="TextBox 20"/>
          <p:cNvSpPr txBox="1"/>
          <p:nvPr/>
        </p:nvSpPr>
        <p:spPr>
          <a:xfrm>
            <a:off x="886967" y="3511296"/>
            <a:ext cx="1179575" cy="219456"/>
          </a:xfrm>
          <a:prstGeom prst="rect">
            <a:avLst/>
          </a:prstGeom>
          <a:noFill/>
        </p:spPr>
        <p:txBody>
          <a:bodyPr wrap="square">
            <a:spAutoFit/>
          </a:bodyPr>
          <a:lstStyle/>
          <a:p>
            <a:pPr algn="ctr"/>
            <a:r>
              <a:rPr sz="850" b="0" i="0">
                <a:solidFill>
                  <a:srgbClr val="475569"/>
                </a:solidFill>
                <a:latin typeface="Calibri"/>
              </a:rPr>
              <a:t>Gas PPM</a:t>
            </a:r>
          </a:p>
        </p:txBody>
      </p:sp>
      <p:sp>
        <p:nvSpPr>
          <p:cNvPr id="22" name="Rounded Rectangle 21"/>
          <p:cNvSpPr/>
          <p:nvPr/>
        </p:nvSpPr>
        <p:spPr>
          <a:xfrm>
            <a:off x="2231135" y="2898648"/>
            <a:ext cx="1362455" cy="868680"/>
          </a:xfrm>
          <a:prstGeom prst="roundRect">
            <a:avLst/>
          </a:prstGeom>
          <a:solidFill>
            <a:srgbClr val="FFFFFF"/>
          </a:solidFill>
          <a:ln w="12700">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2670047" y="2990088"/>
            <a:ext cx="484632" cy="484632"/>
          </a:xfrm>
          <a:prstGeom prst="ellipse">
            <a:avLst/>
          </a:prstGeom>
          <a:solidFill>
            <a:srgbClr val="E7DE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050" b="1">
                <a:solidFill>
                  <a:srgbClr val="8B5CF6"/>
                </a:solidFill>
                <a:latin typeface="Calibri"/>
              </a:rPr>
              <a:t>45cm</a:t>
            </a:r>
          </a:p>
        </p:txBody>
      </p:sp>
      <p:sp>
        <p:nvSpPr>
          <p:cNvPr id="24" name="TextBox 23"/>
          <p:cNvSpPr txBox="1"/>
          <p:nvPr/>
        </p:nvSpPr>
        <p:spPr>
          <a:xfrm>
            <a:off x="2322575" y="3511296"/>
            <a:ext cx="1179575" cy="219456"/>
          </a:xfrm>
          <a:prstGeom prst="rect">
            <a:avLst/>
          </a:prstGeom>
          <a:noFill/>
        </p:spPr>
        <p:txBody>
          <a:bodyPr wrap="square">
            <a:spAutoFit/>
          </a:bodyPr>
          <a:lstStyle/>
          <a:p>
            <a:pPr algn="ctr"/>
            <a:r>
              <a:rPr sz="850" b="0" i="0">
                <a:solidFill>
                  <a:srgbClr val="475569"/>
                </a:solidFill>
                <a:latin typeface="Calibri"/>
              </a:rPr>
              <a:t>Mực nước</a:t>
            </a:r>
          </a:p>
        </p:txBody>
      </p:sp>
      <p:sp>
        <p:nvSpPr>
          <p:cNvPr id="25" name="Rounded Rectangle 24"/>
          <p:cNvSpPr/>
          <p:nvPr/>
        </p:nvSpPr>
        <p:spPr>
          <a:xfrm>
            <a:off x="795527" y="3840480"/>
            <a:ext cx="1362455" cy="868680"/>
          </a:xfrm>
          <a:prstGeom prst="roundRect">
            <a:avLst/>
          </a:prstGeom>
          <a:solidFill>
            <a:srgbClr val="FFFFFF"/>
          </a:solidFill>
          <a:ln w="12700">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357884" y="3968496"/>
            <a:ext cx="237744" cy="237744"/>
          </a:xfrm>
          <a:prstGeom prst="ellipse">
            <a:avLst/>
          </a:prstGeom>
          <a:solidFill>
            <a:srgbClr val="DDE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86967" y="4261103"/>
            <a:ext cx="1179575" cy="237744"/>
          </a:xfrm>
          <a:prstGeom prst="rect">
            <a:avLst/>
          </a:prstGeom>
          <a:noFill/>
        </p:spPr>
        <p:txBody>
          <a:bodyPr wrap="square">
            <a:spAutoFit/>
          </a:bodyPr>
          <a:lstStyle/>
          <a:p>
            <a:pPr algn="ctr"/>
            <a:r>
              <a:rPr sz="900" b="1" i="0">
                <a:solidFill>
                  <a:srgbClr val="94A3B8"/>
                </a:solidFill>
                <a:latin typeface="Calibri"/>
              </a:rPr>
              <a:t>TẮT</a:t>
            </a:r>
          </a:p>
        </p:txBody>
      </p:sp>
      <p:sp>
        <p:nvSpPr>
          <p:cNvPr id="28" name="TextBox 27"/>
          <p:cNvSpPr txBox="1"/>
          <p:nvPr/>
        </p:nvSpPr>
        <p:spPr>
          <a:xfrm>
            <a:off x="886967" y="4471416"/>
            <a:ext cx="1179575" cy="219456"/>
          </a:xfrm>
          <a:prstGeom prst="rect">
            <a:avLst/>
          </a:prstGeom>
          <a:noFill/>
        </p:spPr>
        <p:txBody>
          <a:bodyPr wrap="square">
            <a:spAutoFit/>
          </a:bodyPr>
          <a:lstStyle/>
          <a:p>
            <a:pPr algn="ctr"/>
            <a:r>
              <a:rPr sz="850" b="0" i="0">
                <a:solidFill>
                  <a:srgbClr val="475569"/>
                </a:solidFill>
                <a:latin typeface="Calibri"/>
              </a:rPr>
              <a:t>Cảnh báo tổng hợp</a:t>
            </a:r>
          </a:p>
        </p:txBody>
      </p:sp>
      <p:sp>
        <p:nvSpPr>
          <p:cNvPr id="29" name="Rounded Rectangle 28"/>
          <p:cNvSpPr/>
          <p:nvPr/>
        </p:nvSpPr>
        <p:spPr>
          <a:xfrm>
            <a:off x="2231135" y="3840480"/>
            <a:ext cx="1362455" cy="868680"/>
          </a:xfrm>
          <a:prstGeom prst="roundRect">
            <a:avLst/>
          </a:prstGeom>
          <a:solidFill>
            <a:srgbClr val="FFFFFF"/>
          </a:solidFill>
          <a:ln w="12700">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322575" y="4311396"/>
            <a:ext cx="131063" cy="123443"/>
          </a:xfrm>
          <a:prstGeom prst="rect">
            <a:avLst/>
          </a:prstGeom>
          <a:solidFill>
            <a:srgbClr val="7BD8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532278" y="4229100"/>
            <a:ext cx="131063" cy="205739"/>
          </a:xfrm>
          <a:prstGeom prst="rect">
            <a:avLst/>
          </a:prstGeom>
          <a:solidFill>
            <a:srgbClr val="7BD8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2741980" y="4270248"/>
            <a:ext cx="131063" cy="164592"/>
          </a:xfrm>
          <a:prstGeom prst="rect">
            <a:avLst/>
          </a:prstGeom>
          <a:solidFill>
            <a:srgbClr val="7BD8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2951683" y="4146804"/>
            <a:ext cx="131063" cy="288035"/>
          </a:xfrm>
          <a:prstGeom prst="rect">
            <a:avLst/>
          </a:prstGeom>
          <a:solidFill>
            <a:srgbClr val="7BD8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161385" y="4208526"/>
            <a:ext cx="131063" cy="226314"/>
          </a:xfrm>
          <a:prstGeom prst="rect">
            <a:avLst/>
          </a:prstGeom>
          <a:solidFill>
            <a:srgbClr val="7BD8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371087" y="4105656"/>
            <a:ext cx="131063" cy="329184"/>
          </a:xfrm>
          <a:prstGeom prst="rect">
            <a:avLst/>
          </a:prstGeom>
          <a:solidFill>
            <a:srgbClr val="7BD8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322575" y="4471416"/>
            <a:ext cx="1179575" cy="219456"/>
          </a:xfrm>
          <a:prstGeom prst="rect">
            <a:avLst/>
          </a:prstGeom>
          <a:noFill/>
        </p:spPr>
        <p:txBody>
          <a:bodyPr wrap="square">
            <a:spAutoFit/>
          </a:bodyPr>
          <a:lstStyle/>
          <a:p>
            <a:pPr algn="ctr"/>
            <a:r>
              <a:rPr sz="850" b="0" i="0">
                <a:solidFill>
                  <a:srgbClr val="475569"/>
                </a:solidFill>
                <a:latin typeface="Calibri"/>
              </a:rPr>
              <a:t>Lịch sử tổng hợp</a:t>
            </a:r>
          </a:p>
        </p:txBody>
      </p:sp>
      <p:sp>
        <p:nvSpPr>
          <p:cNvPr id="37" name="TextBox 36"/>
          <p:cNvSpPr txBox="1"/>
          <p:nvPr/>
        </p:nvSpPr>
        <p:spPr>
          <a:xfrm>
            <a:off x="4206240" y="1417320"/>
            <a:ext cx="7223760" cy="320040"/>
          </a:xfrm>
          <a:prstGeom prst="rect">
            <a:avLst/>
          </a:prstGeom>
          <a:noFill/>
        </p:spPr>
        <p:txBody>
          <a:bodyPr wrap="square">
            <a:spAutoFit/>
          </a:bodyPr>
          <a:lstStyle/>
          <a:p>
            <a:pPr algn="l"/>
            <a:r>
              <a:rPr sz="1350" b="1" i="0">
                <a:solidFill>
                  <a:srgbClr val="1E293B"/>
                </a:solidFill>
                <a:latin typeface="Calibri"/>
              </a:rPr>
              <a:t>Danh sách Widget sử dụng:</a:t>
            </a:r>
          </a:p>
        </p:txBody>
      </p:sp>
      <p:sp>
        <p:nvSpPr>
          <p:cNvPr id="38" name="Oval 37"/>
          <p:cNvSpPr/>
          <p:nvPr/>
        </p:nvSpPr>
        <p:spPr>
          <a:xfrm>
            <a:off x="4206240" y="1892807"/>
            <a:ext cx="292608" cy="29260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663440" y="1874519"/>
            <a:ext cx="6766560" cy="475488"/>
          </a:xfrm>
          <a:prstGeom prst="rect">
            <a:avLst/>
          </a:prstGeom>
          <a:noFill/>
        </p:spPr>
        <p:txBody>
          <a:bodyPr wrap="square" anchor="ctr">
            <a:spAutoFit/>
          </a:bodyPr>
          <a:lstStyle/>
          <a:p>
            <a:pPr algn="l"/>
            <a:r>
              <a:rPr sz="1200" b="0" i="0">
                <a:solidFill>
                  <a:srgbClr val="1E293B"/>
                </a:solidFill>
                <a:latin typeface="Calibri"/>
              </a:rPr>
              <a:t>Gauge (đồng hồ đo) — “Nhiệt độ”</a:t>
            </a:r>
          </a:p>
        </p:txBody>
      </p:sp>
      <p:sp>
        <p:nvSpPr>
          <p:cNvPr id="40" name="Oval 39"/>
          <p:cNvSpPr/>
          <p:nvPr/>
        </p:nvSpPr>
        <p:spPr>
          <a:xfrm>
            <a:off x="4206240" y="2368296"/>
            <a:ext cx="292608" cy="292608"/>
          </a:xfrm>
          <a:prstGeom prst="ellipse">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663440" y="2350008"/>
            <a:ext cx="6766560" cy="475488"/>
          </a:xfrm>
          <a:prstGeom prst="rect">
            <a:avLst/>
          </a:prstGeom>
          <a:noFill/>
        </p:spPr>
        <p:txBody>
          <a:bodyPr wrap="square" anchor="ctr">
            <a:spAutoFit/>
          </a:bodyPr>
          <a:lstStyle/>
          <a:p>
            <a:pPr algn="l"/>
            <a:r>
              <a:rPr sz="1200" b="0" i="0">
                <a:solidFill>
                  <a:srgbClr val="1E293B"/>
                </a:solidFill>
                <a:latin typeface="Calibri"/>
              </a:rPr>
              <a:t>Gauge (đồng hồ đo) — “Độ ẩm”</a:t>
            </a:r>
          </a:p>
        </p:txBody>
      </p:sp>
      <p:sp>
        <p:nvSpPr>
          <p:cNvPr id="42" name="Oval 41"/>
          <p:cNvSpPr/>
          <p:nvPr/>
        </p:nvSpPr>
        <p:spPr>
          <a:xfrm>
            <a:off x="4206240" y="2843784"/>
            <a:ext cx="292608" cy="292608"/>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663440" y="2825496"/>
            <a:ext cx="6766560" cy="475488"/>
          </a:xfrm>
          <a:prstGeom prst="rect">
            <a:avLst/>
          </a:prstGeom>
          <a:noFill/>
        </p:spPr>
        <p:txBody>
          <a:bodyPr wrap="square" anchor="ctr">
            <a:spAutoFit/>
          </a:bodyPr>
          <a:lstStyle/>
          <a:p>
            <a:pPr algn="l"/>
            <a:r>
              <a:rPr sz="1200" b="0" i="0">
                <a:solidFill>
                  <a:srgbClr val="1E293B"/>
                </a:solidFill>
                <a:latin typeface="Calibri"/>
              </a:rPr>
              <a:t>Gauge (đồng hồ đo) — “Gas PPM”</a:t>
            </a:r>
          </a:p>
        </p:txBody>
      </p:sp>
      <p:sp>
        <p:nvSpPr>
          <p:cNvPr id="44" name="Oval 43"/>
          <p:cNvSpPr/>
          <p:nvPr/>
        </p:nvSpPr>
        <p:spPr>
          <a:xfrm>
            <a:off x="4206240" y="3319272"/>
            <a:ext cx="292608" cy="292608"/>
          </a:xfrm>
          <a:prstGeom prst="ellipse">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663440" y="3300984"/>
            <a:ext cx="6766560" cy="475488"/>
          </a:xfrm>
          <a:prstGeom prst="rect">
            <a:avLst/>
          </a:prstGeom>
          <a:noFill/>
        </p:spPr>
        <p:txBody>
          <a:bodyPr wrap="square" anchor="ctr">
            <a:spAutoFit/>
          </a:bodyPr>
          <a:lstStyle/>
          <a:p>
            <a:pPr algn="l"/>
            <a:r>
              <a:rPr sz="1200" b="0" i="0">
                <a:solidFill>
                  <a:srgbClr val="1E293B"/>
                </a:solidFill>
                <a:latin typeface="Calibri"/>
              </a:rPr>
              <a:t>Gauge (đồng hồ đo) — “Mực nước”</a:t>
            </a:r>
          </a:p>
        </p:txBody>
      </p:sp>
      <p:sp>
        <p:nvSpPr>
          <p:cNvPr id="46" name="Oval 45"/>
          <p:cNvSpPr/>
          <p:nvPr/>
        </p:nvSpPr>
        <p:spPr>
          <a:xfrm>
            <a:off x="4206240" y="3794759"/>
            <a:ext cx="292608" cy="292608"/>
          </a:xfrm>
          <a:prstGeom prst="ellipse">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663440" y="3776472"/>
            <a:ext cx="6766560" cy="475488"/>
          </a:xfrm>
          <a:prstGeom prst="rect">
            <a:avLst/>
          </a:prstGeom>
          <a:noFill/>
        </p:spPr>
        <p:txBody>
          <a:bodyPr wrap="square" anchor="ctr">
            <a:spAutoFit/>
          </a:bodyPr>
          <a:lstStyle/>
          <a:p>
            <a:pPr algn="l"/>
            <a:r>
              <a:rPr sz="1200" b="0" i="0">
                <a:solidFill>
                  <a:srgbClr val="1E293B"/>
                </a:solidFill>
                <a:latin typeface="Calibri"/>
              </a:rPr>
              <a:t>LED (đèn trạng thái) — “Cảnh báo tổng hợp”</a:t>
            </a:r>
          </a:p>
        </p:txBody>
      </p:sp>
      <p:sp>
        <p:nvSpPr>
          <p:cNvPr id="48" name="Oval 47"/>
          <p:cNvSpPr/>
          <p:nvPr/>
        </p:nvSpPr>
        <p:spPr>
          <a:xfrm>
            <a:off x="4206240" y="4270248"/>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4663440" y="4251960"/>
            <a:ext cx="6766560" cy="475488"/>
          </a:xfrm>
          <a:prstGeom prst="rect">
            <a:avLst/>
          </a:prstGeom>
          <a:noFill/>
        </p:spPr>
        <p:txBody>
          <a:bodyPr wrap="square" anchor="ctr">
            <a:spAutoFit/>
          </a:bodyPr>
          <a:lstStyle/>
          <a:p>
            <a:pPr algn="l"/>
            <a:r>
              <a:rPr sz="1200" b="0" i="0">
                <a:solidFill>
                  <a:srgbClr val="1E293B"/>
                </a:solidFill>
                <a:latin typeface="Calibri"/>
              </a:rPr>
              <a:t>SuperChart (biểu đồ) — “Lịch sử tổng hợp”</a:t>
            </a:r>
          </a:p>
        </p:txBody>
      </p:sp>
      <p:sp>
        <p:nvSpPr>
          <p:cNvPr id="50" name="Rounded Rectangle 49"/>
          <p:cNvSpPr/>
          <p:nvPr/>
        </p:nvSpPr>
        <p:spPr>
          <a:xfrm>
            <a:off x="4206240" y="4864608"/>
            <a:ext cx="7223760" cy="1051560"/>
          </a:xfrm>
          <a:prstGeom prst="roundRect">
            <a:avLst/>
          </a:prstGeom>
          <a:solidFill>
            <a:srgbClr val="FDECF4"/>
          </a:solidFill>
          <a:ln w="13970">
            <a:solidFill>
              <a:srgbClr val="EC48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4434840" y="5001768"/>
            <a:ext cx="6766560" cy="822960"/>
          </a:xfrm>
          <a:prstGeom prst="rect">
            <a:avLst/>
          </a:prstGeom>
          <a:noFill/>
        </p:spPr>
        <p:txBody>
          <a:bodyPr wrap="square">
            <a:spAutoFit/>
          </a:bodyPr>
          <a:lstStyle/>
          <a:p>
            <a:pPr algn="l">
              <a:lnSpc>
                <a:spcPct val="120000"/>
              </a:lnSpc>
            </a:pPr>
            <a:r>
              <a:rPr sz="1150" b="0" i="1">
                <a:solidFill>
                  <a:srgbClr val="1E293B"/>
                </a:solidFill>
                <a:latin typeface="Calibri"/>
              </a:rPr>
              <a:t>Nguyên tắc thiết kế: đặt Widget quan trọng nhất (cảnh báo, trạng thái) ở vị trí dễ thấy nhất trên màn hình, nhóm các Widget cùng loại cảm biến gần nhau, ưu tiên Gauge/LED cho dữ liệu cần đọc nhanh.</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1508760" y="292608"/>
            <a:ext cx="10195560" cy="841248"/>
          </a:xfrm>
          <a:prstGeom prst="roundRect">
            <a:avLst/>
          </a:prstGeom>
          <a:solidFill>
            <a:srgbClr val="ECEC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508760" y="384048"/>
            <a:ext cx="73152" cy="658368"/>
          </a:xfrm>
          <a:prstGeom prst="rect">
            <a:avLst/>
          </a:prstGeom>
          <a:solidFill>
            <a:srgbClr val="636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2920" y="384048"/>
            <a:ext cx="658368" cy="658368"/>
          </a:xfrm>
          <a:prstGeom prst="roundRect">
            <a:avLst/>
          </a:prstGeom>
          <a:solidFill>
            <a:srgbClr val="6366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400" b="1">
                <a:solidFill>
                  <a:srgbClr val="FFFFFF"/>
                </a:solidFill>
                <a:latin typeface="Calibri"/>
              </a:rPr>
              <a:t>IoT</a:t>
            </a:r>
          </a:p>
        </p:txBody>
      </p:sp>
      <p:sp>
        <p:nvSpPr>
          <p:cNvPr id="5" name="TextBox 4"/>
          <p:cNvSpPr txBox="1"/>
          <p:nvPr/>
        </p:nvSpPr>
        <p:spPr>
          <a:xfrm>
            <a:off x="1819656" y="374904"/>
            <a:ext cx="9646920" cy="256032"/>
          </a:xfrm>
          <a:prstGeom prst="rect">
            <a:avLst/>
          </a:prstGeom>
          <a:noFill/>
        </p:spPr>
        <p:txBody>
          <a:bodyPr wrap="square">
            <a:spAutoFit/>
          </a:bodyPr>
          <a:lstStyle/>
          <a:p>
            <a:pPr algn="l"/>
            <a:r>
              <a:rPr sz="1200" b="1" i="0">
                <a:solidFill>
                  <a:srgbClr val="6366F1"/>
                </a:solidFill>
                <a:latin typeface="Calibri"/>
              </a:rPr>
              <a:t>B12 · GIAO DIỆN WEB</a:t>
            </a:r>
          </a:p>
        </p:txBody>
      </p:sp>
      <p:sp>
        <p:nvSpPr>
          <p:cNvPr id="6" name="TextBox 5"/>
          <p:cNvSpPr txBox="1"/>
          <p:nvPr/>
        </p:nvSpPr>
        <p:spPr>
          <a:xfrm>
            <a:off x="1819656" y="630936"/>
            <a:ext cx="9646920" cy="457200"/>
          </a:xfrm>
          <a:prstGeom prst="rect">
            <a:avLst/>
          </a:prstGeom>
          <a:noFill/>
        </p:spPr>
        <p:txBody>
          <a:bodyPr wrap="square">
            <a:spAutoFit/>
          </a:bodyPr>
          <a:lstStyle/>
          <a:p>
            <a:pPr algn="l"/>
            <a:r>
              <a:rPr sz="2100" b="1" i="0">
                <a:solidFill>
                  <a:srgbClr val="1E293B"/>
                </a:solidFill>
                <a:latin typeface="Calibri"/>
              </a:rPr>
              <a:t>Thiết kế Web Dashboard</a:t>
            </a:r>
          </a:p>
        </p:txBody>
      </p:sp>
      <p:cxnSp>
        <p:nvCxnSpPr>
          <p:cNvPr id="7" name="Connector 6"/>
          <p:cNvCxnSpPr/>
          <p:nvPr/>
        </p:nvCxnSpPr>
        <p:spPr>
          <a:xfrm>
            <a:off x="502920" y="6400800"/>
            <a:ext cx="11185855" cy="0"/>
          </a:xfrm>
          <a:prstGeom prst="line">
            <a:avLst/>
          </a:prstGeom>
          <a:ln w="9525">
            <a:solidFill>
              <a:srgbClr val="DDE3E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473952"/>
            <a:ext cx="6858000" cy="274320"/>
          </a:xfrm>
          <a:prstGeom prst="rect">
            <a:avLst/>
          </a:prstGeom>
          <a:noFill/>
        </p:spPr>
        <p:txBody>
          <a:bodyPr wrap="square">
            <a:spAutoFit/>
          </a:bodyPr>
          <a:lstStyle/>
          <a:p>
            <a:pPr algn="l"/>
            <a:r>
              <a:rPr sz="900" b="0" i="0">
                <a:solidFill>
                  <a:srgbClr val="94A3B8"/>
                </a:solidFill>
                <a:latin typeface="Calibri"/>
              </a:rPr>
              <a:t>IOT TRONG KỸ THUẬT MÔI TRƯỜNG  ·  B12</a:t>
            </a:r>
          </a:p>
        </p:txBody>
      </p:sp>
      <p:sp>
        <p:nvSpPr>
          <p:cNvPr id="9" name="TextBox 8"/>
          <p:cNvSpPr txBox="1"/>
          <p:nvPr/>
        </p:nvSpPr>
        <p:spPr>
          <a:xfrm>
            <a:off x="10820095" y="6473952"/>
            <a:ext cx="914400" cy="274320"/>
          </a:xfrm>
          <a:prstGeom prst="rect">
            <a:avLst/>
          </a:prstGeom>
          <a:noFill/>
        </p:spPr>
        <p:txBody>
          <a:bodyPr wrap="square">
            <a:spAutoFit/>
          </a:bodyPr>
          <a:lstStyle/>
          <a:p>
            <a:pPr algn="r"/>
            <a:r>
              <a:rPr sz="900" b="0" i="0">
                <a:solidFill>
                  <a:srgbClr val="94A3B8"/>
                </a:solidFill>
                <a:latin typeface="Calibri"/>
              </a:rPr>
              <a:t>7</a:t>
            </a:r>
          </a:p>
        </p:txBody>
      </p:sp>
      <p:sp>
        <p:nvSpPr>
          <p:cNvPr id="10" name="Rounded Rectangle 9"/>
          <p:cNvSpPr/>
          <p:nvPr/>
        </p:nvSpPr>
        <p:spPr>
          <a:xfrm>
            <a:off x="548640" y="1417320"/>
            <a:ext cx="11064240" cy="3246120"/>
          </a:xfrm>
          <a:prstGeom prst="roundRect">
            <a:avLst/>
          </a:prstGeom>
          <a:solidFill>
            <a:srgbClr val="FFFFFF"/>
          </a:solidFill>
          <a:ln w="15875">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417320"/>
            <a:ext cx="11064240" cy="365760"/>
          </a:xfrm>
          <a:prstGeom prst="rect">
            <a:avLst/>
          </a:prstGeom>
          <a:solidFill>
            <a:srgbClr val="F6F8F9"/>
          </a:solidFill>
          <a:ln w="12700">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85800" y="1545336"/>
            <a:ext cx="109728" cy="109728"/>
          </a:xfrm>
          <a:prstGeom prst="ellipse">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86968" y="1545336"/>
            <a:ext cx="109728" cy="10972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88136" y="1545336"/>
            <a:ext cx="109728" cy="1097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371600" y="1472184"/>
            <a:ext cx="10058400" cy="274320"/>
          </a:xfrm>
          <a:prstGeom prst="rect">
            <a:avLst/>
          </a:prstGeom>
          <a:noFill/>
        </p:spPr>
        <p:txBody>
          <a:bodyPr wrap="square">
            <a:spAutoFit/>
          </a:bodyPr>
          <a:lstStyle/>
          <a:p>
            <a:pPr algn="l"/>
            <a:r>
              <a:rPr sz="1000" b="1" i="0">
                <a:solidFill>
                  <a:srgbClr val="475569"/>
                </a:solidFill>
                <a:latin typeface="Calibri"/>
              </a:rPr>
              <a:t>blynk.cloud — KMT Full Environment Station</a:t>
            </a:r>
          </a:p>
        </p:txBody>
      </p:sp>
      <p:sp>
        <p:nvSpPr>
          <p:cNvPr id="16" name="Rounded Rectangle 15"/>
          <p:cNvSpPr/>
          <p:nvPr/>
        </p:nvSpPr>
        <p:spPr>
          <a:xfrm>
            <a:off x="822960" y="2011680"/>
            <a:ext cx="3413759" cy="1051560"/>
          </a:xfrm>
          <a:prstGeom prst="roundRect">
            <a:avLst/>
          </a:prstGeom>
          <a:solidFill>
            <a:srgbClr val="FFFFFF"/>
          </a:solidFill>
          <a:ln w="12700">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2246376" y="2103120"/>
            <a:ext cx="566928" cy="566928"/>
          </a:xfrm>
          <a:prstGeom prst="ellipse">
            <a:avLst/>
          </a:prstGeom>
          <a:solidFill>
            <a:srgbClr val="FDEBC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050" b="1">
                <a:solidFill>
                  <a:srgbClr val="F59E0B"/>
                </a:solidFill>
                <a:latin typeface="Calibri"/>
              </a:rPr>
              <a:t>28°C</a:t>
            </a:r>
          </a:p>
        </p:txBody>
      </p:sp>
      <p:sp>
        <p:nvSpPr>
          <p:cNvPr id="18" name="TextBox 17"/>
          <p:cNvSpPr txBox="1"/>
          <p:nvPr/>
        </p:nvSpPr>
        <p:spPr>
          <a:xfrm>
            <a:off x="914400" y="2807208"/>
            <a:ext cx="3230879" cy="219456"/>
          </a:xfrm>
          <a:prstGeom prst="rect">
            <a:avLst/>
          </a:prstGeom>
          <a:noFill/>
        </p:spPr>
        <p:txBody>
          <a:bodyPr wrap="square">
            <a:spAutoFit/>
          </a:bodyPr>
          <a:lstStyle/>
          <a:p>
            <a:pPr algn="ctr"/>
            <a:r>
              <a:rPr sz="850" b="0" i="0">
                <a:solidFill>
                  <a:srgbClr val="475569"/>
                </a:solidFill>
                <a:latin typeface="Calibri"/>
              </a:rPr>
              <a:t>Nhiệt độ</a:t>
            </a:r>
          </a:p>
        </p:txBody>
      </p:sp>
      <p:sp>
        <p:nvSpPr>
          <p:cNvPr id="19" name="Rounded Rectangle 18"/>
          <p:cNvSpPr/>
          <p:nvPr/>
        </p:nvSpPr>
        <p:spPr>
          <a:xfrm>
            <a:off x="4373880" y="2011680"/>
            <a:ext cx="3413759" cy="1051560"/>
          </a:xfrm>
          <a:prstGeom prst="roundRect">
            <a:avLst/>
          </a:prstGeom>
          <a:solidFill>
            <a:srgbClr val="FFFFFF"/>
          </a:solidFill>
          <a:ln w="12700">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5797296" y="2103120"/>
            <a:ext cx="566928" cy="566928"/>
          </a:xfrm>
          <a:prstGeom prst="ellipse">
            <a:avLst/>
          </a:prstGeom>
          <a:solidFill>
            <a:srgbClr val="D7E6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050" b="1">
                <a:solidFill>
                  <a:srgbClr val="3B82F6"/>
                </a:solidFill>
                <a:latin typeface="Calibri"/>
              </a:rPr>
              <a:t>62%</a:t>
            </a:r>
          </a:p>
        </p:txBody>
      </p:sp>
      <p:sp>
        <p:nvSpPr>
          <p:cNvPr id="21" name="TextBox 20"/>
          <p:cNvSpPr txBox="1"/>
          <p:nvPr/>
        </p:nvSpPr>
        <p:spPr>
          <a:xfrm>
            <a:off x="4465320" y="2807208"/>
            <a:ext cx="3230879" cy="219456"/>
          </a:xfrm>
          <a:prstGeom prst="rect">
            <a:avLst/>
          </a:prstGeom>
          <a:noFill/>
        </p:spPr>
        <p:txBody>
          <a:bodyPr wrap="square">
            <a:spAutoFit/>
          </a:bodyPr>
          <a:lstStyle/>
          <a:p>
            <a:pPr algn="ctr"/>
            <a:r>
              <a:rPr sz="850" b="0" i="0">
                <a:solidFill>
                  <a:srgbClr val="475569"/>
                </a:solidFill>
                <a:latin typeface="Calibri"/>
              </a:rPr>
              <a:t>Độ ẩm</a:t>
            </a:r>
          </a:p>
        </p:txBody>
      </p:sp>
      <p:sp>
        <p:nvSpPr>
          <p:cNvPr id="22" name="Rounded Rectangle 21"/>
          <p:cNvSpPr/>
          <p:nvPr/>
        </p:nvSpPr>
        <p:spPr>
          <a:xfrm>
            <a:off x="7924799" y="2011680"/>
            <a:ext cx="3413759" cy="1051560"/>
          </a:xfrm>
          <a:prstGeom prst="roundRect">
            <a:avLst/>
          </a:prstGeom>
          <a:solidFill>
            <a:srgbClr val="FFFFFF"/>
          </a:solidFill>
          <a:ln w="12700">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348216" y="2103120"/>
            <a:ext cx="566928" cy="566928"/>
          </a:xfrm>
          <a:prstGeom prst="ellipse">
            <a:avLst/>
          </a:prstGeom>
          <a:solidFill>
            <a:srgbClr val="CDF0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050" b="1">
                <a:solidFill>
                  <a:srgbClr val="06B6D4"/>
                </a:solidFill>
                <a:latin typeface="Calibri"/>
              </a:rPr>
              <a:t>110</a:t>
            </a:r>
          </a:p>
        </p:txBody>
      </p:sp>
      <p:sp>
        <p:nvSpPr>
          <p:cNvPr id="24" name="TextBox 23"/>
          <p:cNvSpPr txBox="1"/>
          <p:nvPr/>
        </p:nvSpPr>
        <p:spPr>
          <a:xfrm>
            <a:off x="8016239" y="2807208"/>
            <a:ext cx="3230879" cy="219456"/>
          </a:xfrm>
          <a:prstGeom prst="rect">
            <a:avLst/>
          </a:prstGeom>
          <a:noFill/>
        </p:spPr>
        <p:txBody>
          <a:bodyPr wrap="square">
            <a:spAutoFit/>
          </a:bodyPr>
          <a:lstStyle/>
          <a:p>
            <a:pPr algn="ctr"/>
            <a:r>
              <a:rPr sz="850" b="0" i="0">
                <a:solidFill>
                  <a:srgbClr val="475569"/>
                </a:solidFill>
                <a:latin typeface="Calibri"/>
              </a:rPr>
              <a:t>Gas PPM</a:t>
            </a:r>
          </a:p>
        </p:txBody>
      </p:sp>
      <p:sp>
        <p:nvSpPr>
          <p:cNvPr id="25" name="Rounded Rectangle 24"/>
          <p:cNvSpPr/>
          <p:nvPr/>
        </p:nvSpPr>
        <p:spPr>
          <a:xfrm>
            <a:off x="822960" y="3200400"/>
            <a:ext cx="3413759" cy="1051560"/>
          </a:xfrm>
          <a:prstGeom prst="roundRect">
            <a:avLst/>
          </a:prstGeom>
          <a:solidFill>
            <a:srgbClr val="FFFFFF"/>
          </a:solidFill>
          <a:ln w="12700">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2246376" y="3291840"/>
            <a:ext cx="566928" cy="566928"/>
          </a:xfrm>
          <a:prstGeom prst="ellipse">
            <a:avLst/>
          </a:prstGeom>
          <a:solidFill>
            <a:srgbClr val="E7DE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050" b="1">
                <a:solidFill>
                  <a:srgbClr val="8B5CF6"/>
                </a:solidFill>
                <a:latin typeface="Calibri"/>
              </a:rPr>
              <a:t>45cm</a:t>
            </a:r>
          </a:p>
        </p:txBody>
      </p:sp>
      <p:sp>
        <p:nvSpPr>
          <p:cNvPr id="27" name="TextBox 26"/>
          <p:cNvSpPr txBox="1"/>
          <p:nvPr/>
        </p:nvSpPr>
        <p:spPr>
          <a:xfrm>
            <a:off x="914400" y="3995928"/>
            <a:ext cx="3230879" cy="219456"/>
          </a:xfrm>
          <a:prstGeom prst="rect">
            <a:avLst/>
          </a:prstGeom>
          <a:noFill/>
        </p:spPr>
        <p:txBody>
          <a:bodyPr wrap="square">
            <a:spAutoFit/>
          </a:bodyPr>
          <a:lstStyle/>
          <a:p>
            <a:pPr algn="ctr"/>
            <a:r>
              <a:rPr sz="850" b="0" i="0">
                <a:solidFill>
                  <a:srgbClr val="475569"/>
                </a:solidFill>
                <a:latin typeface="Calibri"/>
              </a:rPr>
              <a:t>Mực nước</a:t>
            </a:r>
          </a:p>
        </p:txBody>
      </p:sp>
      <p:sp>
        <p:nvSpPr>
          <p:cNvPr id="28" name="Rounded Rectangle 27"/>
          <p:cNvSpPr/>
          <p:nvPr/>
        </p:nvSpPr>
        <p:spPr>
          <a:xfrm>
            <a:off x="4373880" y="3200400"/>
            <a:ext cx="3413759" cy="1051560"/>
          </a:xfrm>
          <a:prstGeom prst="roundRect">
            <a:avLst/>
          </a:prstGeom>
          <a:solidFill>
            <a:srgbClr val="FFFFFF"/>
          </a:solidFill>
          <a:ln w="12700">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5961888" y="3328416"/>
            <a:ext cx="237744" cy="237744"/>
          </a:xfrm>
          <a:prstGeom prst="ellipse">
            <a:avLst/>
          </a:prstGeom>
          <a:solidFill>
            <a:srgbClr val="DDE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465320" y="3621024"/>
            <a:ext cx="3230879" cy="237744"/>
          </a:xfrm>
          <a:prstGeom prst="rect">
            <a:avLst/>
          </a:prstGeom>
          <a:noFill/>
        </p:spPr>
        <p:txBody>
          <a:bodyPr wrap="square">
            <a:spAutoFit/>
          </a:bodyPr>
          <a:lstStyle/>
          <a:p>
            <a:pPr algn="ctr"/>
            <a:r>
              <a:rPr sz="900" b="1" i="0">
                <a:solidFill>
                  <a:srgbClr val="94A3B8"/>
                </a:solidFill>
                <a:latin typeface="Calibri"/>
              </a:rPr>
              <a:t>TẮT</a:t>
            </a:r>
          </a:p>
        </p:txBody>
      </p:sp>
      <p:sp>
        <p:nvSpPr>
          <p:cNvPr id="31" name="TextBox 30"/>
          <p:cNvSpPr txBox="1"/>
          <p:nvPr/>
        </p:nvSpPr>
        <p:spPr>
          <a:xfrm>
            <a:off x="4465320" y="4014216"/>
            <a:ext cx="3230879" cy="219456"/>
          </a:xfrm>
          <a:prstGeom prst="rect">
            <a:avLst/>
          </a:prstGeom>
          <a:noFill/>
        </p:spPr>
        <p:txBody>
          <a:bodyPr wrap="square">
            <a:spAutoFit/>
          </a:bodyPr>
          <a:lstStyle/>
          <a:p>
            <a:pPr algn="ctr"/>
            <a:r>
              <a:rPr sz="850" b="0" i="0">
                <a:solidFill>
                  <a:srgbClr val="475569"/>
                </a:solidFill>
                <a:latin typeface="Calibri"/>
              </a:rPr>
              <a:t>Cảnh báo</a:t>
            </a:r>
          </a:p>
        </p:txBody>
      </p:sp>
      <p:sp>
        <p:nvSpPr>
          <p:cNvPr id="32" name="Rounded Rectangle 31"/>
          <p:cNvSpPr/>
          <p:nvPr/>
        </p:nvSpPr>
        <p:spPr>
          <a:xfrm>
            <a:off x="7924799" y="3200400"/>
            <a:ext cx="3413759" cy="1051560"/>
          </a:xfrm>
          <a:prstGeom prst="roundRect">
            <a:avLst/>
          </a:prstGeom>
          <a:solidFill>
            <a:srgbClr val="FFFFFF"/>
          </a:solidFill>
          <a:ln w="12700">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016239" y="3799332"/>
            <a:ext cx="358986" cy="178307"/>
          </a:xfrm>
          <a:prstGeom prst="rect">
            <a:avLst/>
          </a:prstGeom>
          <a:solidFill>
            <a:srgbClr val="7BD8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590618" y="3680460"/>
            <a:ext cx="358986" cy="297179"/>
          </a:xfrm>
          <a:prstGeom prst="rect">
            <a:avLst/>
          </a:prstGeom>
          <a:solidFill>
            <a:srgbClr val="7BD8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164997" y="3739896"/>
            <a:ext cx="358986" cy="237743"/>
          </a:xfrm>
          <a:prstGeom prst="rect">
            <a:avLst/>
          </a:prstGeom>
          <a:solidFill>
            <a:srgbClr val="7BD8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739375" y="3561588"/>
            <a:ext cx="358986" cy="416051"/>
          </a:xfrm>
          <a:prstGeom prst="rect">
            <a:avLst/>
          </a:prstGeom>
          <a:solidFill>
            <a:srgbClr val="7BD8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10313754" y="3650742"/>
            <a:ext cx="358986" cy="326898"/>
          </a:xfrm>
          <a:prstGeom prst="rect">
            <a:avLst/>
          </a:prstGeom>
          <a:solidFill>
            <a:srgbClr val="7BD8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10888133" y="3502152"/>
            <a:ext cx="358986" cy="475487"/>
          </a:xfrm>
          <a:prstGeom prst="rect">
            <a:avLst/>
          </a:prstGeom>
          <a:solidFill>
            <a:srgbClr val="7BD8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016239" y="4014216"/>
            <a:ext cx="3230879" cy="219456"/>
          </a:xfrm>
          <a:prstGeom prst="rect">
            <a:avLst/>
          </a:prstGeom>
          <a:noFill/>
        </p:spPr>
        <p:txBody>
          <a:bodyPr wrap="square">
            <a:spAutoFit/>
          </a:bodyPr>
          <a:lstStyle/>
          <a:p>
            <a:pPr algn="ctr"/>
            <a:r>
              <a:rPr sz="850" b="0" i="0">
                <a:solidFill>
                  <a:srgbClr val="475569"/>
                </a:solidFill>
                <a:latin typeface="Calibri"/>
              </a:rPr>
              <a:t>Dashboard tổng hợp</a:t>
            </a:r>
          </a:p>
        </p:txBody>
      </p:sp>
      <p:sp>
        <p:nvSpPr>
          <p:cNvPr id="40" name="TextBox 39"/>
          <p:cNvSpPr txBox="1"/>
          <p:nvPr/>
        </p:nvSpPr>
        <p:spPr>
          <a:xfrm>
            <a:off x="548640" y="4892040"/>
            <a:ext cx="11064240" cy="320040"/>
          </a:xfrm>
          <a:prstGeom prst="rect">
            <a:avLst/>
          </a:prstGeom>
          <a:noFill/>
        </p:spPr>
        <p:txBody>
          <a:bodyPr wrap="square">
            <a:spAutoFit/>
          </a:bodyPr>
          <a:lstStyle/>
          <a:p>
            <a:pPr algn="l"/>
            <a:r>
              <a:rPr sz="1350" b="1" i="0">
                <a:solidFill>
                  <a:srgbClr val="1E293B"/>
                </a:solidFill>
                <a:latin typeface="Calibri"/>
              </a:rPr>
              <a:t>Khác biệt so với Mobile App:</a:t>
            </a:r>
          </a:p>
        </p:txBody>
      </p:sp>
      <p:sp>
        <p:nvSpPr>
          <p:cNvPr id="41" name="TextBox 40"/>
          <p:cNvSpPr txBox="1"/>
          <p:nvPr/>
        </p:nvSpPr>
        <p:spPr>
          <a:xfrm>
            <a:off x="548640" y="5257800"/>
            <a:ext cx="11064240" cy="1280160"/>
          </a:xfrm>
          <a:prstGeom prst="rect">
            <a:avLst/>
          </a:prstGeom>
          <a:noFill/>
        </p:spPr>
        <p:txBody>
          <a:bodyPr wrap="square">
            <a:spAutoFit/>
          </a:bodyPr>
          <a:lstStyle/>
          <a:p>
            <a:pPr algn="l">
              <a:spcAft>
                <a:spcPts val="600"/>
              </a:spcAft>
            </a:pPr>
            <a:r>
              <a:rPr sz="1200" b="1">
                <a:solidFill>
                  <a:srgbClr val="6366F1"/>
                </a:solidFill>
                <a:latin typeface="Calibri"/>
              </a:rPr>
              <a:t>●  </a:t>
            </a:r>
            <a:r>
              <a:rPr sz="1200" b="0">
                <a:solidFill>
                  <a:srgbClr val="1E293B"/>
                </a:solidFill>
                <a:latin typeface="Calibri"/>
              </a:rPr>
              <a:t>Web Dashboard phù hợp xem trên màn hình lớn (phòng điều khiển, máy tính bàn) — bố cục nhiều cột hơn App.</a:t>
            </a:r>
          </a:p>
          <a:p>
            <a:pPr algn="l">
              <a:spcAft>
                <a:spcPts val="600"/>
              </a:spcAft>
            </a:pPr>
            <a:r>
              <a:rPr sz="1200" b="1">
                <a:solidFill>
                  <a:srgbClr val="6366F1"/>
                </a:solidFill>
                <a:latin typeface="Calibri"/>
              </a:rPr>
              <a:t>●  </a:t>
            </a:r>
            <a:r>
              <a:rPr sz="1200" b="0">
                <a:solidFill>
                  <a:srgbClr val="1E293B"/>
                </a:solidFill>
                <a:latin typeface="Calibri"/>
              </a:rPr>
              <a:t>Có thể chia sẻ Dashboard cho nhiều người xem (Viewer) mà không cần chia sẻ tài khoản đăng nhập chính.</a:t>
            </a:r>
          </a:p>
          <a:p>
            <a:pPr algn="l">
              <a:spcAft>
                <a:spcPts val="600"/>
              </a:spcAft>
            </a:pPr>
            <a:r>
              <a:rPr sz="1200" b="1">
                <a:solidFill>
                  <a:srgbClr val="6366F1"/>
                </a:solidFill>
                <a:latin typeface="Calibri"/>
              </a:rPr>
              <a:t>●  </a:t>
            </a:r>
            <a:r>
              <a:rPr sz="1200" b="0">
                <a:solidFill>
                  <a:srgbClr val="1E293B"/>
                </a:solidFill>
                <a:latin typeface="Calibri"/>
              </a:rPr>
              <a:t>Truy cập trực tiếp qua trình duyệt tại web.blynk.cloud, không cần cài đặt ứng dụng.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1508760" y="292608"/>
            <a:ext cx="10195560" cy="841248"/>
          </a:xfrm>
          <a:prstGeom prst="roundRect">
            <a:avLst/>
          </a:prstGeom>
          <a:solidFill>
            <a:srgbClr val="E7F0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508760" y="384048"/>
            <a:ext cx="73152" cy="658368"/>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2920" y="384048"/>
            <a:ext cx="658368" cy="658368"/>
          </a:xfrm>
          <a:prstGeom prst="round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400" b="1">
                <a:solidFill>
                  <a:srgbClr val="FFFFFF"/>
                </a:solidFill>
                <a:latin typeface="Calibri"/>
              </a:rPr>
              <a:t>IoT</a:t>
            </a:r>
          </a:p>
        </p:txBody>
      </p:sp>
      <p:sp>
        <p:nvSpPr>
          <p:cNvPr id="5" name="TextBox 4"/>
          <p:cNvSpPr txBox="1"/>
          <p:nvPr/>
        </p:nvSpPr>
        <p:spPr>
          <a:xfrm>
            <a:off x="1819656" y="374904"/>
            <a:ext cx="9646920" cy="256032"/>
          </a:xfrm>
          <a:prstGeom prst="rect">
            <a:avLst/>
          </a:prstGeom>
          <a:noFill/>
        </p:spPr>
        <p:txBody>
          <a:bodyPr wrap="square">
            <a:spAutoFit/>
          </a:bodyPr>
          <a:lstStyle/>
          <a:p>
            <a:pPr algn="l"/>
            <a:r>
              <a:rPr sz="1200" b="1" i="0">
                <a:solidFill>
                  <a:srgbClr val="3B82F6"/>
                </a:solidFill>
                <a:latin typeface="Calibri"/>
              </a:rPr>
              <a:t>B12 · HƯỚNG DẪN CÀI ĐẶT</a:t>
            </a:r>
          </a:p>
        </p:txBody>
      </p:sp>
      <p:sp>
        <p:nvSpPr>
          <p:cNvPr id="6" name="TextBox 5"/>
          <p:cNvSpPr txBox="1"/>
          <p:nvPr/>
        </p:nvSpPr>
        <p:spPr>
          <a:xfrm>
            <a:off x="1819656" y="630936"/>
            <a:ext cx="9646920" cy="457200"/>
          </a:xfrm>
          <a:prstGeom prst="rect">
            <a:avLst/>
          </a:prstGeom>
          <a:noFill/>
        </p:spPr>
        <p:txBody>
          <a:bodyPr wrap="square">
            <a:spAutoFit/>
          </a:bodyPr>
          <a:lstStyle/>
          <a:p>
            <a:pPr algn="l"/>
            <a:r>
              <a:rPr sz="2100" b="1" i="0">
                <a:solidFill>
                  <a:srgbClr val="1E293B"/>
                </a:solidFill>
                <a:latin typeface="Calibri"/>
              </a:rPr>
              <a:t>Quy trình cài đặt gồm 3 giai đoạn</a:t>
            </a:r>
          </a:p>
        </p:txBody>
      </p:sp>
      <p:cxnSp>
        <p:nvCxnSpPr>
          <p:cNvPr id="7" name="Connector 6"/>
          <p:cNvCxnSpPr/>
          <p:nvPr/>
        </p:nvCxnSpPr>
        <p:spPr>
          <a:xfrm>
            <a:off x="502920" y="6400800"/>
            <a:ext cx="11185855" cy="0"/>
          </a:xfrm>
          <a:prstGeom prst="line">
            <a:avLst/>
          </a:prstGeom>
          <a:ln w="9525">
            <a:solidFill>
              <a:srgbClr val="DDE3E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473952"/>
            <a:ext cx="6858000" cy="274320"/>
          </a:xfrm>
          <a:prstGeom prst="rect">
            <a:avLst/>
          </a:prstGeom>
          <a:noFill/>
        </p:spPr>
        <p:txBody>
          <a:bodyPr wrap="square">
            <a:spAutoFit/>
          </a:bodyPr>
          <a:lstStyle/>
          <a:p>
            <a:pPr algn="l"/>
            <a:r>
              <a:rPr sz="900" b="0" i="0">
                <a:solidFill>
                  <a:srgbClr val="94A3B8"/>
                </a:solidFill>
                <a:latin typeface="Calibri"/>
              </a:rPr>
              <a:t>IOT TRONG KỸ THUẬT MÔI TRƯỜNG  ·  B12</a:t>
            </a:r>
          </a:p>
        </p:txBody>
      </p:sp>
      <p:sp>
        <p:nvSpPr>
          <p:cNvPr id="9" name="TextBox 8"/>
          <p:cNvSpPr txBox="1"/>
          <p:nvPr/>
        </p:nvSpPr>
        <p:spPr>
          <a:xfrm>
            <a:off x="10820095" y="6473952"/>
            <a:ext cx="914400" cy="274320"/>
          </a:xfrm>
          <a:prstGeom prst="rect">
            <a:avLst/>
          </a:prstGeom>
          <a:noFill/>
        </p:spPr>
        <p:txBody>
          <a:bodyPr wrap="square">
            <a:spAutoFit/>
          </a:bodyPr>
          <a:lstStyle/>
          <a:p>
            <a:pPr algn="r"/>
            <a:r>
              <a:rPr sz="900" b="0" i="0">
                <a:solidFill>
                  <a:srgbClr val="94A3B8"/>
                </a:solidFill>
                <a:latin typeface="Calibri"/>
              </a:rPr>
              <a:t>8</a:t>
            </a:r>
          </a:p>
        </p:txBody>
      </p:sp>
      <p:sp>
        <p:nvSpPr>
          <p:cNvPr id="10" name="Rounded Rectangle 9"/>
          <p:cNvSpPr/>
          <p:nvPr/>
        </p:nvSpPr>
        <p:spPr>
          <a:xfrm>
            <a:off x="548640" y="1463040"/>
            <a:ext cx="3566160" cy="777240"/>
          </a:xfrm>
          <a:prstGeom prst="round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50" b="1">
                <a:solidFill>
                  <a:srgbClr val="FFFFFF"/>
                </a:solidFill>
                <a:latin typeface="Calibri"/>
              </a:rPr>
              <a:t>GIAI ĐOẠN 1
Thiết lập Cloud (Web)</a:t>
            </a:r>
          </a:p>
        </p:txBody>
      </p:sp>
      <p:sp>
        <p:nvSpPr>
          <p:cNvPr id="11" name="TextBox 10"/>
          <p:cNvSpPr txBox="1"/>
          <p:nvPr/>
        </p:nvSpPr>
        <p:spPr>
          <a:xfrm>
            <a:off x="548640" y="2267712"/>
            <a:ext cx="3566160" cy="274320"/>
          </a:xfrm>
          <a:prstGeom prst="rect">
            <a:avLst/>
          </a:prstGeom>
          <a:noFill/>
        </p:spPr>
        <p:txBody>
          <a:bodyPr wrap="square">
            <a:spAutoFit/>
          </a:bodyPr>
          <a:lstStyle/>
          <a:p>
            <a:pPr algn="ctr"/>
            <a:r>
              <a:rPr sz="1050" b="0" i="1">
                <a:solidFill>
                  <a:srgbClr val="94A3B8"/>
                </a:solidFill>
                <a:latin typeface="Calibri"/>
              </a:rPr>
              <a:t>blynk.cloud</a:t>
            </a:r>
          </a:p>
        </p:txBody>
      </p:sp>
      <p:sp>
        <p:nvSpPr>
          <p:cNvPr id="12" name="Rounded Rectangle 11"/>
          <p:cNvSpPr/>
          <p:nvPr/>
        </p:nvSpPr>
        <p:spPr>
          <a:xfrm>
            <a:off x="548640" y="2606040"/>
            <a:ext cx="3566160" cy="3108960"/>
          </a:xfrm>
          <a:prstGeom prst="roundRect">
            <a:avLst/>
          </a:prstGeom>
          <a:solidFill>
            <a:srgbClr val="FFFFFF"/>
          </a:solidFill>
          <a:ln w="19050">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31520" y="2816351"/>
            <a:ext cx="146304" cy="146304"/>
          </a:xfrm>
          <a:prstGeom prst="ellipse">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87552" y="2715768"/>
            <a:ext cx="2971800" cy="594360"/>
          </a:xfrm>
          <a:prstGeom prst="rect">
            <a:avLst/>
          </a:prstGeom>
          <a:noFill/>
        </p:spPr>
        <p:txBody>
          <a:bodyPr wrap="square">
            <a:spAutoFit/>
          </a:bodyPr>
          <a:lstStyle/>
          <a:p>
            <a:pPr algn="l">
              <a:lnSpc>
                <a:spcPct val="110000"/>
              </a:lnSpc>
            </a:pPr>
            <a:r>
              <a:rPr sz="1050" b="0" i="0">
                <a:solidFill>
                  <a:srgbClr val="1E293B"/>
                </a:solidFill>
                <a:latin typeface="Calibri"/>
              </a:rPr>
              <a:t>Đăng ký tài khoản Blynk</a:t>
            </a:r>
          </a:p>
        </p:txBody>
      </p:sp>
      <p:sp>
        <p:nvSpPr>
          <p:cNvPr id="15" name="Oval 14"/>
          <p:cNvSpPr/>
          <p:nvPr/>
        </p:nvSpPr>
        <p:spPr>
          <a:xfrm>
            <a:off x="731520" y="3474719"/>
            <a:ext cx="146304" cy="146304"/>
          </a:xfrm>
          <a:prstGeom prst="ellipse">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87552" y="3374135"/>
            <a:ext cx="2971800" cy="594360"/>
          </a:xfrm>
          <a:prstGeom prst="rect">
            <a:avLst/>
          </a:prstGeom>
          <a:noFill/>
        </p:spPr>
        <p:txBody>
          <a:bodyPr wrap="square">
            <a:spAutoFit/>
          </a:bodyPr>
          <a:lstStyle/>
          <a:p>
            <a:pPr algn="l">
              <a:lnSpc>
                <a:spcPct val="110000"/>
              </a:lnSpc>
            </a:pPr>
            <a:r>
              <a:rPr sz="1050" b="0" i="0">
                <a:solidFill>
                  <a:srgbClr val="1E293B"/>
                </a:solidFill>
                <a:latin typeface="Calibri"/>
              </a:rPr>
              <a:t>Tạo Template + Datastream</a:t>
            </a:r>
          </a:p>
        </p:txBody>
      </p:sp>
      <p:sp>
        <p:nvSpPr>
          <p:cNvPr id="17" name="Oval 16"/>
          <p:cNvSpPr/>
          <p:nvPr/>
        </p:nvSpPr>
        <p:spPr>
          <a:xfrm>
            <a:off x="731520" y="4133087"/>
            <a:ext cx="146304" cy="146304"/>
          </a:xfrm>
          <a:prstGeom prst="ellipse">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87552" y="4032503"/>
            <a:ext cx="2971800" cy="594360"/>
          </a:xfrm>
          <a:prstGeom prst="rect">
            <a:avLst/>
          </a:prstGeom>
          <a:noFill/>
        </p:spPr>
        <p:txBody>
          <a:bodyPr wrap="square">
            <a:spAutoFit/>
          </a:bodyPr>
          <a:lstStyle/>
          <a:p>
            <a:pPr algn="l">
              <a:lnSpc>
                <a:spcPct val="110000"/>
              </a:lnSpc>
            </a:pPr>
            <a:r>
              <a:rPr sz="1050" b="0" i="0">
                <a:solidFill>
                  <a:srgbClr val="1E293B"/>
                </a:solidFill>
                <a:latin typeface="Calibri"/>
              </a:rPr>
              <a:t>Tạo Device, lấy Auth Token</a:t>
            </a:r>
          </a:p>
        </p:txBody>
      </p:sp>
      <p:sp>
        <p:nvSpPr>
          <p:cNvPr id="19" name="Oval 18"/>
          <p:cNvSpPr/>
          <p:nvPr/>
        </p:nvSpPr>
        <p:spPr>
          <a:xfrm>
            <a:off x="731520" y="4791455"/>
            <a:ext cx="146304" cy="146304"/>
          </a:xfrm>
          <a:prstGeom prst="ellipse">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87552" y="4690871"/>
            <a:ext cx="2971800" cy="594360"/>
          </a:xfrm>
          <a:prstGeom prst="rect">
            <a:avLst/>
          </a:prstGeom>
          <a:noFill/>
        </p:spPr>
        <p:txBody>
          <a:bodyPr wrap="square">
            <a:spAutoFit/>
          </a:bodyPr>
          <a:lstStyle/>
          <a:p>
            <a:pPr algn="l">
              <a:lnSpc>
                <a:spcPct val="110000"/>
              </a:lnSpc>
            </a:pPr>
            <a:r>
              <a:rPr sz="1050" b="0" i="0">
                <a:solidFill>
                  <a:srgbClr val="1E293B"/>
                </a:solidFill>
                <a:latin typeface="Calibri"/>
              </a:rPr>
              <a:t>Dựng Web Dashboard</a:t>
            </a:r>
          </a:p>
        </p:txBody>
      </p:sp>
      <p:sp>
        <p:nvSpPr>
          <p:cNvPr id="21" name="Right Arrow 20"/>
          <p:cNvSpPr/>
          <p:nvPr/>
        </p:nvSpPr>
        <p:spPr>
          <a:xfrm>
            <a:off x="4133087" y="2926080"/>
            <a:ext cx="146304" cy="274320"/>
          </a:xfrm>
          <a:prstGeom prst="rightArrow">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4297679" y="1463040"/>
            <a:ext cx="3566160" cy="777240"/>
          </a:xfrm>
          <a:prstGeom prst="round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50" b="1">
                <a:solidFill>
                  <a:srgbClr val="FFFFFF"/>
                </a:solidFill>
                <a:latin typeface="Calibri"/>
              </a:rPr>
              <a:t>GIAI ĐOẠN 2
Thiết lập App di động</a:t>
            </a:r>
          </a:p>
        </p:txBody>
      </p:sp>
      <p:sp>
        <p:nvSpPr>
          <p:cNvPr id="23" name="TextBox 22"/>
          <p:cNvSpPr txBox="1"/>
          <p:nvPr/>
        </p:nvSpPr>
        <p:spPr>
          <a:xfrm>
            <a:off x="4297679" y="2267712"/>
            <a:ext cx="3566160" cy="274320"/>
          </a:xfrm>
          <a:prstGeom prst="rect">
            <a:avLst/>
          </a:prstGeom>
          <a:noFill/>
        </p:spPr>
        <p:txBody>
          <a:bodyPr wrap="square">
            <a:spAutoFit/>
          </a:bodyPr>
          <a:lstStyle/>
          <a:p>
            <a:pPr algn="ctr"/>
            <a:r>
              <a:rPr sz="1050" b="0" i="1">
                <a:solidFill>
                  <a:srgbClr val="94A3B8"/>
                </a:solidFill>
                <a:latin typeface="Calibri"/>
              </a:rPr>
              <a:t>Blynk IoT App</a:t>
            </a:r>
          </a:p>
        </p:txBody>
      </p:sp>
      <p:sp>
        <p:nvSpPr>
          <p:cNvPr id="24" name="Rounded Rectangle 23"/>
          <p:cNvSpPr/>
          <p:nvPr/>
        </p:nvSpPr>
        <p:spPr>
          <a:xfrm>
            <a:off x="4297679" y="2606040"/>
            <a:ext cx="3566160" cy="3108960"/>
          </a:xfrm>
          <a:prstGeom prst="roundRect">
            <a:avLst/>
          </a:prstGeom>
          <a:solidFill>
            <a:srgbClr val="FFFFFF"/>
          </a:solidFill>
          <a:ln w="1905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4480559" y="2816351"/>
            <a:ext cx="146304" cy="146304"/>
          </a:xfrm>
          <a:prstGeom prst="ellipse">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736592" y="2715768"/>
            <a:ext cx="2971800" cy="594360"/>
          </a:xfrm>
          <a:prstGeom prst="rect">
            <a:avLst/>
          </a:prstGeom>
          <a:noFill/>
        </p:spPr>
        <p:txBody>
          <a:bodyPr wrap="square">
            <a:spAutoFit/>
          </a:bodyPr>
          <a:lstStyle/>
          <a:p>
            <a:pPr algn="l">
              <a:lnSpc>
                <a:spcPct val="110000"/>
              </a:lnSpc>
            </a:pPr>
            <a:r>
              <a:rPr sz="1050" b="0" i="0">
                <a:solidFill>
                  <a:srgbClr val="1E293B"/>
                </a:solidFill>
                <a:latin typeface="Calibri"/>
              </a:rPr>
              <a:t>Cài đặt Blynk IoT (App Store/Google Play)</a:t>
            </a:r>
          </a:p>
        </p:txBody>
      </p:sp>
      <p:sp>
        <p:nvSpPr>
          <p:cNvPr id="27" name="Oval 26"/>
          <p:cNvSpPr/>
          <p:nvPr/>
        </p:nvSpPr>
        <p:spPr>
          <a:xfrm>
            <a:off x="4480559" y="3474719"/>
            <a:ext cx="146304" cy="146304"/>
          </a:xfrm>
          <a:prstGeom prst="ellipse">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736592" y="3374135"/>
            <a:ext cx="2971800" cy="594360"/>
          </a:xfrm>
          <a:prstGeom prst="rect">
            <a:avLst/>
          </a:prstGeom>
          <a:noFill/>
        </p:spPr>
        <p:txBody>
          <a:bodyPr wrap="square">
            <a:spAutoFit/>
          </a:bodyPr>
          <a:lstStyle/>
          <a:p>
            <a:pPr algn="l">
              <a:lnSpc>
                <a:spcPct val="110000"/>
              </a:lnSpc>
            </a:pPr>
            <a:r>
              <a:rPr sz="1050" b="0" i="0">
                <a:solidFill>
                  <a:srgbClr val="1E293B"/>
                </a:solidFill>
                <a:latin typeface="Calibri"/>
              </a:rPr>
              <a:t>Đăng nhập cùng tài khoản Bước 1</a:t>
            </a:r>
          </a:p>
        </p:txBody>
      </p:sp>
      <p:sp>
        <p:nvSpPr>
          <p:cNvPr id="29" name="Oval 28"/>
          <p:cNvSpPr/>
          <p:nvPr/>
        </p:nvSpPr>
        <p:spPr>
          <a:xfrm>
            <a:off x="4480559" y="4133087"/>
            <a:ext cx="146304" cy="146304"/>
          </a:xfrm>
          <a:prstGeom prst="ellipse">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736592" y="4032503"/>
            <a:ext cx="2971800" cy="594360"/>
          </a:xfrm>
          <a:prstGeom prst="rect">
            <a:avLst/>
          </a:prstGeom>
          <a:noFill/>
        </p:spPr>
        <p:txBody>
          <a:bodyPr wrap="square">
            <a:spAutoFit/>
          </a:bodyPr>
          <a:lstStyle/>
          <a:p>
            <a:pPr algn="l">
              <a:lnSpc>
                <a:spcPct val="110000"/>
              </a:lnSpc>
            </a:pPr>
            <a:r>
              <a:rPr sz="1050" b="0" i="0">
                <a:solidFill>
                  <a:srgbClr val="1E293B"/>
                </a:solidFill>
                <a:latin typeface="Calibri"/>
              </a:rPr>
              <a:t>Dựng giao diện Mobile Widget</a:t>
            </a:r>
          </a:p>
        </p:txBody>
      </p:sp>
      <p:sp>
        <p:nvSpPr>
          <p:cNvPr id="31" name="Right Arrow 30"/>
          <p:cNvSpPr/>
          <p:nvPr/>
        </p:nvSpPr>
        <p:spPr>
          <a:xfrm>
            <a:off x="7882127" y="2926080"/>
            <a:ext cx="146304" cy="274320"/>
          </a:xfrm>
          <a:prstGeom prst="rightArrow">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8046719" y="1463040"/>
            <a:ext cx="3566160" cy="777240"/>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50" b="1">
                <a:solidFill>
                  <a:srgbClr val="FFFFFF"/>
                </a:solidFill>
                <a:latin typeface="Calibri"/>
              </a:rPr>
              <a:t>GIAI ĐOẠN 3
Nạp code &amp; Kết nối</a:t>
            </a:r>
          </a:p>
        </p:txBody>
      </p:sp>
      <p:sp>
        <p:nvSpPr>
          <p:cNvPr id="33" name="TextBox 32"/>
          <p:cNvSpPr txBox="1"/>
          <p:nvPr/>
        </p:nvSpPr>
        <p:spPr>
          <a:xfrm>
            <a:off x="8046719" y="2267712"/>
            <a:ext cx="3566160" cy="274320"/>
          </a:xfrm>
          <a:prstGeom prst="rect">
            <a:avLst/>
          </a:prstGeom>
          <a:noFill/>
        </p:spPr>
        <p:txBody>
          <a:bodyPr wrap="square">
            <a:spAutoFit/>
          </a:bodyPr>
          <a:lstStyle/>
          <a:p>
            <a:pPr algn="ctr"/>
            <a:r>
              <a:rPr sz="1050" b="0" i="1">
                <a:solidFill>
                  <a:srgbClr val="94A3B8"/>
                </a:solidFill>
                <a:latin typeface="Calibri"/>
              </a:rPr>
              <a:t>Arduino IDE</a:t>
            </a:r>
          </a:p>
        </p:txBody>
      </p:sp>
      <p:sp>
        <p:nvSpPr>
          <p:cNvPr id="34" name="Rounded Rectangle 33"/>
          <p:cNvSpPr/>
          <p:nvPr/>
        </p:nvSpPr>
        <p:spPr>
          <a:xfrm>
            <a:off x="8046719" y="2606040"/>
            <a:ext cx="3566160" cy="3108960"/>
          </a:xfrm>
          <a:prstGeom prst="roundRect">
            <a:avLst/>
          </a:prstGeom>
          <a:solidFill>
            <a:srgbClr val="FFFFFF"/>
          </a:solidFill>
          <a:ln w="190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8229599" y="2816351"/>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485632" y="2715768"/>
            <a:ext cx="2971800" cy="594360"/>
          </a:xfrm>
          <a:prstGeom prst="rect">
            <a:avLst/>
          </a:prstGeom>
          <a:noFill/>
        </p:spPr>
        <p:txBody>
          <a:bodyPr wrap="square">
            <a:spAutoFit/>
          </a:bodyPr>
          <a:lstStyle/>
          <a:p>
            <a:pPr algn="l">
              <a:lnSpc>
                <a:spcPct val="110000"/>
              </a:lnSpc>
            </a:pPr>
            <a:r>
              <a:rPr sz="1050" b="0" i="0">
                <a:solidFill>
                  <a:srgbClr val="1E293B"/>
                </a:solidFill>
                <a:latin typeface="Calibri"/>
              </a:rPr>
              <a:t>Dán Template ID + Auth Token vào code</a:t>
            </a:r>
          </a:p>
        </p:txBody>
      </p:sp>
      <p:sp>
        <p:nvSpPr>
          <p:cNvPr id="37" name="Oval 36"/>
          <p:cNvSpPr/>
          <p:nvPr/>
        </p:nvSpPr>
        <p:spPr>
          <a:xfrm>
            <a:off x="8229599" y="347471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485632" y="3374135"/>
            <a:ext cx="2971800" cy="594360"/>
          </a:xfrm>
          <a:prstGeom prst="rect">
            <a:avLst/>
          </a:prstGeom>
          <a:noFill/>
        </p:spPr>
        <p:txBody>
          <a:bodyPr wrap="square">
            <a:spAutoFit/>
          </a:bodyPr>
          <a:lstStyle/>
          <a:p>
            <a:pPr algn="l">
              <a:lnSpc>
                <a:spcPct val="110000"/>
              </a:lnSpc>
            </a:pPr>
            <a:r>
              <a:rPr sz="1050" b="0" i="0">
                <a:solidFill>
                  <a:srgbClr val="1E293B"/>
                </a:solidFill>
                <a:latin typeface="Calibri"/>
              </a:rPr>
              <a:t>Nạp code lên board qua Arduino IDE</a:t>
            </a:r>
          </a:p>
        </p:txBody>
      </p:sp>
      <p:sp>
        <p:nvSpPr>
          <p:cNvPr id="39" name="Oval 38"/>
          <p:cNvSpPr/>
          <p:nvPr/>
        </p:nvSpPr>
        <p:spPr>
          <a:xfrm>
            <a:off x="8229599" y="4133087"/>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485632" y="4032503"/>
            <a:ext cx="2971800" cy="594360"/>
          </a:xfrm>
          <a:prstGeom prst="rect">
            <a:avLst/>
          </a:prstGeom>
          <a:noFill/>
        </p:spPr>
        <p:txBody>
          <a:bodyPr wrap="square">
            <a:spAutoFit/>
          </a:bodyPr>
          <a:lstStyle/>
          <a:p>
            <a:pPr algn="l">
              <a:lnSpc>
                <a:spcPct val="110000"/>
              </a:lnSpc>
            </a:pPr>
            <a:r>
              <a:rPr sz="1050" b="0" i="0">
                <a:solidFill>
                  <a:srgbClr val="1E293B"/>
                </a:solidFill>
                <a:latin typeface="Calibri"/>
              </a:rPr>
              <a:t>Kiểm tra trạng thái Online, thử nghiệm</a:t>
            </a:r>
          </a:p>
        </p:txBody>
      </p:sp>
      <p:sp>
        <p:nvSpPr>
          <p:cNvPr id="41" name="TextBox 40"/>
          <p:cNvSpPr txBox="1"/>
          <p:nvPr/>
        </p:nvSpPr>
        <p:spPr>
          <a:xfrm>
            <a:off x="548640" y="5806440"/>
            <a:ext cx="11064240" cy="457200"/>
          </a:xfrm>
          <a:prstGeom prst="rect">
            <a:avLst/>
          </a:prstGeom>
          <a:noFill/>
        </p:spPr>
        <p:txBody>
          <a:bodyPr wrap="square">
            <a:spAutoFit/>
          </a:bodyPr>
          <a:lstStyle/>
          <a:p>
            <a:pPr algn="ctr"/>
            <a:r>
              <a:rPr sz="1150" b="0" i="1">
                <a:solidFill>
                  <a:srgbClr val="475569"/>
                </a:solidFill>
                <a:latin typeface="Calibri"/>
              </a:rPr>
              <a:t>Toàn bộ 3 giai đoạn CHỈ cần làm 1 lần cho mỗi thiết bị — sau khi đã kết nối thành công, dữ liệu tự động cập nhật mỗi khi board bật nguồn.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1508760" y="292608"/>
            <a:ext cx="10195560" cy="841248"/>
          </a:xfrm>
          <a:prstGeom prst="roundRect">
            <a:avLst/>
          </a:prstGeom>
          <a:solidFill>
            <a:srgbClr val="E7F0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508760" y="384048"/>
            <a:ext cx="73152" cy="658368"/>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2920" y="384048"/>
            <a:ext cx="658368" cy="658368"/>
          </a:xfrm>
          <a:prstGeom prst="round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400" b="1">
                <a:solidFill>
                  <a:srgbClr val="FFFFFF"/>
                </a:solidFill>
                <a:latin typeface="Calibri"/>
              </a:rPr>
              <a:t>IoT</a:t>
            </a:r>
          </a:p>
        </p:txBody>
      </p:sp>
      <p:sp>
        <p:nvSpPr>
          <p:cNvPr id="5" name="TextBox 4"/>
          <p:cNvSpPr txBox="1"/>
          <p:nvPr/>
        </p:nvSpPr>
        <p:spPr>
          <a:xfrm>
            <a:off x="1819656" y="374904"/>
            <a:ext cx="9646920" cy="256032"/>
          </a:xfrm>
          <a:prstGeom prst="rect">
            <a:avLst/>
          </a:prstGeom>
          <a:noFill/>
        </p:spPr>
        <p:txBody>
          <a:bodyPr wrap="square">
            <a:spAutoFit/>
          </a:bodyPr>
          <a:lstStyle/>
          <a:p>
            <a:pPr algn="l"/>
            <a:r>
              <a:rPr sz="1200" b="1" i="0">
                <a:solidFill>
                  <a:srgbClr val="3B82F6"/>
                </a:solidFill>
                <a:latin typeface="Calibri"/>
              </a:rPr>
              <a:t>B12 · CÀI ĐẶT WEB · BƯỚC 1-2</a:t>
            </a:r>
          </a:p>
        </p:txBody>
      </p:sp>
      <p:sp>
        <p:nvSpPr>
          <p:cNvPr id="6" name="TextBox 5"/>
          <p:cNvSpPr txBox="1"/>
          <p:nvPr/>
        </p:nvSpPr>
        <p:spPr>
          <a:xfrm>
            <a:off x="1819656" y="630936"/>
            <a:ext cx="9646920" cy="457200"/>
          </a:xfrm>
          <a:prstGeom prst="rect">
            <a:avLst/>
          </a:prstGeom>
          <a:noFill/>
        </p:spPr>
        <p:txBody>
          <a:bodyPr wrap="square">
            <a:spAutoFit/>
          </a:bodyPr>
          <a:lstStyle/>
          <a:p>
            <a:pPr algn="l"/>
            <a:r>
              <a:rPr sz="2100" b="1" i="0">
                <a:solidFill>
                  <a:srgbClr val="1E293B"/>
                </a:solidFill>
                <a:latin typeface="Calibri"/>
              </a:rPr>
              <a:t>Đăng ký tài khoản &amp; Tạo Template (Web)</a:t>
            </a:r>
          </a:p>
        </p:txBody>
      </p:sp>
      <p:cxnSp>
        <p:nvCxnSpPr>
          <p:cNvPr id="7" name="Connector 6"/>
          <p:cNvCxnSpPr/>
          <p:nvPr/>
        </p:nvCxnSpPr>
        <p:spPr>
          <a:xfrm>
            <a:off x="502920" y="6400800"/>
            <a:ext cx="11185855" cy="0"/>
          </a:xfrm>
          <a:prstGeom prst="line">
            <a:avLst/>
          </a:prstGeom>
          <a:ln w="9525">
            <a:solidFill>
              <a:srgbClr val="DDE3E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473952"/>
            <a:ext cx="6858000" cy="274320"/>
          </a:xfrm>
          <a:prstGeom prst="rect">
            <a:avLst/>
          </a:prstGeom>
          <a:noFill/>
        </p:spPr>
        <p:txBody>
          <a:bodyPr wrap="square">
            <a:spAutoFit/>
          </a:bodyPr>
          <a:lstStyle/>
          <a:p>
            <a:pPr algn="l"/>
            <a:r>
              <a:rPr sz="900" b="0" i="0">
                <a:solidFill>
                  <a:srgbClr val="94A3B8"/>
                </a:solidFill>
                <a:latin typeface="Calibri"/>
              </a:rPr>
              <a:t>IOT TRONG KỸ THUẬT MÔI TRƯỜNG  ·  B12</a:t>
            </a:r>
          </a:p>
        </p:txBody>
      </p:sp>
      <p:sp>
        <p:nvSpPr>
          <p:cNvPr id="9" name="TextBox 8"/>
          <p:cNvSpPr txBox="1"/>
          <p:nvPr/>
        </p:nvSpPr>
        <p:spPr>
          <a:xfrm>
            <a:off x="10820095" y="6473952"/>
            <a:ext cx="914400" cy="274320"/>
          </a:xfrm>
          <a:prstGeom prst="rect">
            <a:avLst/>
          </a:prstGeom>
          <a:noFill/>
        </p:spPr>
        <p:txBody>
          <a:bodyPr wrap="square">
            <a:spAutoFit/>
          </a:bodyPr>
          <a:lstStyle/>
          <a:p>
            <a:pPr algn="r"/>
            <a:r>
              <a:rPr sz="900" b="0" i="0">
                <a:solidFill>
                  <a:srgbClr val="94A3B8"/>
                </a:solidFill>
                <a:latin typeface="Calibri"/>
              </a:rPr>
              <a:t>9</a:t>
            </a:r>
          </a:p>
        </p:txBody>
      </p:sp>
      <p:sp>
        <p:nvSpPr>
          <p:cNvPr id="10" name="Oval 9"/>
          <p:cNvSpPr/>
          <p:nvPr/>
        </p:nvSpPr>
        <p:spPr>
          <a:xfrm>
            <a:off x="548640" y="1417320"/>
            <a:ext cx="420624" cy="420624"/>
          </a:xfrm>
          <a:prstGeom prst="ellipse">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350" b="1">
                <a:solidFill>
                  <a:srgbClr val="FFFFFF"/>
                </a:solidFill>
                <a:latin typeface="Calibri"/>
              </a:rPr>
              <a:t>1</a:t>
            </a:r>
          </a:p>
        </p:txBody>
      </p:sp>
      <p:sp>
        <p:nvSpPr>
          <p:cNvPr id="11" name="TextBox 10"/>
          <p:cNvSpPr txBox="1"/>
          <p:nvPr/>
        </p:nvSpPr>
        <p:spPr>
          <a:xfrm>
            <a:off x="1143000" y="1399032"/>
            <a:ext cx="10378440" cy="731520"/>
          </a:xfrm>
          <a:prstGeom prst="rect">
            <a:avLst/>
          </a:prstGeom>
          <a:noFill/>
        </p:spPr>
        <p:txBody>
          <a:bodyPr wrap="square" anchor="ctr">
            <a:spAutoFit/>
          </a:bodyPr>
          <a:lstStyle/>
          <a:p>
            <a:pPr algn="l">
              <a:lnSpc>
                <a:spcPct val="110000"/>
              </a:lnSpc>
            </a:pPr>
            <a:r>
              <a:rPr sz="1250" b="0" i="0">
                <a:solidFill>
                  <a:srgbClr val="1E293B"/>
                </a:solidFill>
                <a:latin typeface="Calibri"/>
              </a:rPr>
              <a:t>Mở trình duyệt, truy cập blynk.cloud, bấm "Sign Up" (hoặc "Create Account") để tạo tài khoản mới.</a:t>
            </a:r>
          </a:p>
        </p:txBody>
      </p:sp>
      <p:sp>
        <p:nvSpPr>
          <p:cNvPr id="12" name="Oval 11"/>
          <p:cNvSpPr/>
          <p:nvPr/>
        </p:nvSpPr>
        <p:spPr>
          <a:xfrm>
            <a:off x="548640" y="2148840"/>
            <a:ext cx="420624" cy="420624"/>
          </a:xfrm>
          <a:prstGeom prst="ellipse">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350" b="1">
                <a:solidFill>
                  <a:srgbClr val="FFFFFF"/>
                </a:solidFill>
                <a:latin typeface="Calibri"/>
              </a:rPr>
              <a:t>2</a:t>
            </a:r>
          </a:p>
        </p:txBody>
      </p:sp>
      <p:sp>
        <p:nvSpPr>
          <p:cNvPr id="13" name="TextBox 12"/>
          <p:cNvSpPr txBox="1"/>
          <p:nvPr/>
        </p:nvSpPr>
        <p:spPr>
          <a:xfrm>
            <a:off x="1143000" y="2130552"/>
            <a:ext cx="10378440" cy="731520"/>
          </a:xfrm>
          <a:prstGeom prst="rect">
            <a:avLst/>
          </a:prstGeom>
          <a:noFill/>
        </p:spPr>
        <p:txBody>
          <a:bodyPr wrap="square" anchor="ctr">
            <a:spAutoFit/>
          </a:bodyPr>
          <a:lstStyle/>
          <a:p>
            <a:pPr algn="l">
              <a:lnSpc>
                <a:spcPct val="110000"/>
              </a:lnSpc>
            </a:pPr>
            <a:r>
              <a:rPr sz="1250" b="0" i="0">
                <a:solidFill>
                  <a:srgbClr val="1E293B"/>
                </a:solidFill>
                <a:latin typeface="Calibri"/>
              </a:rPr>
              <a:t>Nhập Email + Mật khẩu, hoặc chọn "Continue with Google" để đăng ký/đăng nhập nhanh — xác nhận email nếu hệ thống yêu cầu.</a:t>
            </a:r>
          </a:p>
        </p:txBody>
      </p:sp>
      <p:sp>
        <p:nvSpPr>
          <p:cNvPr id="14" name="Oval 13"/>
          <p:cNvSpPr/>
          <p:nvPr/>
        </p:nvSpPr>
        <p:spPr>
          <a:xfrm>
            <a:off x="548640" y="2880360"/>
            <a:ext cx="420624" cy="420624"/>
          </a:xfrm>
          <a:prstGeom prst="ellipse">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350" b="1">
                <a:solidFill>
                  <a:srgbClr val="FFFFFF"/>
                </a:solidFill>
                <a:latin typeface="Calibri"/>
              </a:rPr>
              <a:t>3</a:t>
            </a:r>
          </a:p>
        </p:txBody>
      </p:sp>
      <p:sp>
        <p:nvSpPr>
          <p:cNvPr id="15" name="TextBox 14"/>
          <p:cNvSpPr txBox="1"/>
          <p:nvPr/>
        </p:nvSpPr>
        <p:spPr>
          <a:xfrm>
            <a:off x="1143000" y="2862072"/>
            <a:ext cx="10378440" cy="731520"/>
          </a:xfrm>
          <a:prstGeom prst="rect">
            <a:avLst/>
          </a:prstGeom>
          <a:noFill/>
        </p:spPr>
        <p:txBody>
          <a:bodyPr wrap="square" anchor="ctr">
            <a:spAutoFit/>
          </a:bodyPr>
          <a:lstStyle/>
          <a:p>
            <a:pPr algn="l">
              <a:lnSpc>
                <a:spcPct val="110000"/>
              </a:lnSpc>
            </a:pPr>
            <a:r>
              <a:rPr sz="1250" b="0" i="0">
                <a:solidFill>
                  <a:srgbClr val="1E293B"/>
                </a:solidFill>
                <a:latin typeface="Calibri"/>
              </a:rPr>
              <a:t>Sau khi đăng nhập thành công, vào mục "Templates" ở thanh menu bên trái (khu vực Developer Zone).</a:t>
            </a:r>
          </a:p>
        </p:txBody>
      </p:sp>
      <p:sp>
        <p:nvSpPr>
          <p:cNvPr id="16" name="Oval 15"/>
          <p:cNvSpPr/>
          <p:nvPr/>
        </p:nvSpPr>
        <p:spPr>
          <a:xfrm>
            <a:off x="548640" y="3611880"/>
            <a:ext cx="420624" cy="420624"/>
          </a:xfrm>
          <a:prstGeom prst="ellipse">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350" b="1">
                <a:solidFill>
                  <a:srgbClr val="FFFFFF"/>
                </a:solidFill>
                <a:latin typeface="Calibri"/>
              </a:rPr>
              <a:t>4</a:t>
            </a:r>
          </a:p>
        </p:txBody>
      </p:sp>
      <p:sp>
        <p:nvSpPr>
          <p:cNvPr id="17" name="TextBox 16"/>
          <p:cNvSpPr txBox="1"/>
          <p:nvPr/>
        </p:nvSpPr>
        <p:spPr>
          <a:xfrm>
            <a:off x="1143000" y="3593592"/>
            <a:ext cx="10378440" cy="731520"/>
          </a:xfrm>
          <a:prstGeom prst="rect">
            <a:avLst/>
          </a:prstGeom>
          <a:noFill/>
        </p:spPr>
        <p:txBody>
          <a:bodyPr wrap="square" anchor="ctr">
            <a:spAutoFit/>
          </a:bodyPr>
          <a:lstStyle/>
          <a:p>
            <a:pPr algn="l">
              <a:lnSpc>
                <a:spcPct val="110000"/>
              </a:lnSpc>
            </a:pPr>
            <a:r>
              <a:rPr sz="1250" b="0" i="0">
                <a:solidFill>
                  <a:srgbClr val="1E293B"/>
                </a:solidFill>
                <a:latin typeface="Calibri"/>
              </a:rPr>
              <a:t>Bấm "+ New Template", đặt tên Template là "KMT Full Environment Station" để dễ nhận diện.</a:t>
            </a:r>
          </a:p>
        </p:txBody>
      </p:sp>
      <p:sp>
        <p:nvSpPr>
          <p:cNvPr id="18" name="Oval 17"/>
          <p:cNvSpPr/>
          <p:nvPr/>
        </p:nvSpPr>
        <p:spPr>
          <a:xfrm>
            <a:off x="548640" y="4343400"/>
            <a:ext cx="420624" cy="420624"/>
          </a:xfrm>
          <a:prstGeom prst="ellipse">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350" b="1">
                <a:solidFill>
                  <a:srgbClr val="FFFFFF"/>
                </a:solidFill>
                <a:latin typeface="Calibri"/>
              </a:rPr>
              <a:t>5</a:t>
            </a:r>
          </a:p>
        </p:txBody>
      </p:sp>
      <p:sp>
        <p:nvSpPr>
          <p:cNvPr id="19" name="TextBox 18"/>
          <p:cNvSpPr txBox="1"/>
          <p:nvPr/>
        </p:nvSpPr>
        <p:spPr>
          <a:xfrm>
            <a:off x="1143000" y="4325112"/>
            <a:ext cx="10378440" cy="731520"/>
          </a:xfrm>
          <a:prstGeom prst="rect">
            <a:avLst/>
          </a:prstGeom>
          <a:noFill/>
        </p:spPr>
        <p:txBody>
          <a:bodyPr wrap="square" anchor="ctr">
            <a:spAutoFit/>
          </a:bodyPr>
          <a:lstStyle/>
          <a:p>
            <a:pPr algn="l">
              <a:lnSpc>
                <a:spcPct val="110000"/>
              </a:lnSpc>
            </a:pPr>
            <a:r>
              <a:rPr sz="1250" b="0" i="0">
                <a:solidFill>
                  <a:srgbClr val="1E293B"/>
                </a:solidFill>
                <a:latin typeface="Calibri"/>
              </a:rPr>
              <a:t>Chọn Hardware = "ESP32", Connection Type = "WiFi" (đúng loại board ESP32-S3 đang dùng) &gt; bấm "Done" để hoàn tất tạo Template.</a:t>
            </a:r>
          </a:p>
        </p:txBody>
      </p:sp>
      <p:sp>
        <p:nvSpPr>
          <p:cNvPr id="20" name="Rounded Rectangle 19"/>
          <p:cNvSpPr/>
          <p:nvPr/>
        </p:nvSpPr>
        <p:spPr>
          <a:xfrm>
            <a:off x="548640" y="5148072"/>
            <a:ext cx="11064240" cy="1024128"/>
          </a:xfrm>
          <a:prstGeom prst="roundRect">
            <a:avLst/>
          </a:prstGeom>
          <a:solidFill>
            <a:srgbClr val="FEF5E6"/>
          </a:solidFill>
          <a:ln w="158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240" y="5257800"/>
            <a:ext cx="10607040" cy="804672"/>
          </a:xfrm>
          <a:prstGeom prst="rect">
            <a:avLst/>
          </a:prstGeom>
          <a:noFill/>
        </p:spPr>
        <p:txBody>
          <a:bodyPr wrap="square" anchor="ctr">
            <a:spAutoFit/>
          </a:bodyPr>
          <a:lstStyle/>
          <a:p>
            <a:pPr algn="l">
              <a:lnSpc>
                <a:spcPct val="115000"/>
              </a:lnSpc>
            </a:pPr>
            <a:r>
              <a:rPr sz="1050" b="0" i="1">
                <a:solidFill>
                  <a:srgbClr val="1E293B"/>
                </a:solidFill>
                <a:latin typeface="Calibri"/>
              </a:rPr>
              <a:t>💡 Ghi nhớ chính xác tên Template — sẽ dùng lại khi tạo Device ở bước sau.</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1508760" y="292608"/>
            <a:ext cx="10195560" cy="841248"/>
          </a:xfrm>
          <a:prstGeom prst="roundRect">
            <a:avLst/>
          </a:prstGeom>
          <a:solidFill>
            <a:srgbClr val="E7F0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508760" y="384048"/>
            <a:ext cx="73152" cy="658368"/>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2920" y="384048"/>
            <a:ext cx="658368" cy="658368"/>
          </a:xfrm>
          <a:prstGeom prst="round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400" b="1">
                <a:solidFill>
                  <a:srgbClr val="FFFFFF"/>
                </a:solidFill>
                <a:latin typeface="Calibri"/>
              </a:rPr>
              <a:t>IoT</a:t>
            </a:r>
          </a:p>
        </p:txBody>
      </p:sp>
      <p:sp>
        <p:nvSpPr>
          <p:cNvPr id="5" name="TextBox 4"/>
          <p:cNvSpPr txBox="1"/>
          <p:nvPr/>
        </p:nvSpPr>
        <p:spPr>
          <a:xfrm>
            <a:off x="1819656" y="374904"/>
            <a:ext cx="9646920" cy="256032"/>
          </a:xfrm>
          <a:prstGeom prst="rect">
            <a:avLst/>
          </a:prstGeom>
          <a:noFill/>
        </p:spPr>
        <p:txBody>
          <a:bodyPr wrap="square">
            <a:spAutoFit/>
          </a:bodyPr>
          <a:lstStyle/>
          <a:p>
            <a:pPr algn="l"/>
            <a:r>
              <a:rPr sz="1200" b="1" i="0">
                <a:solidFill>
                  <a:srgbClr val="3B82F6"/>
                </a:solidFill>
                <a:latin typeface="Calibri"/>
              </a:rPr>
              <a:t>B12 · CÀI ĐẶT WEB · BƯỚC 3</a:t>
            </a:r>
          </a:p>
        </p:txBody>
      </p:sp>
      <p:sp>
        <p:nvSpPr>
          <p:cNvPr id="6" name="TextBox 5"/>
          <p:cNvSpPr txBox="1"/>
          <p:nvPr/>
        </p:nvSpPr>
        <p:spPr>
          <a:xfrm>
            <a:off x="1819656" y="630936"/>
            <a:ext cx="9646920" cy="457200"/>
          </a:xfrm>
          <a:prstGeom prst="rect">
            <a:avLst/>
          </a:prstGeom>
          <a:noFill/>
        </p:spPr>
        <p:txBody>
          <a:bodyPr wrap="square">
            <a:spAutoFit/>
          </a:bodyPr>
          <a:lstStyle/>
          <a:p>
            <a:pPr algn="l"/>
            <a:r>
              <a:rPr sz="2100" b="1" i="0">
                <a:solidFill>
                  <a:srgbClr val="1E293B"/>
                </a:solidFill>
                <a:latin typeface="Calibri"/>
              </a:rPr>
              <a:t>Thêm Datastream cho từng cảm biến (Web)</a:t>
            </a:r>
          </a:p>
        </p:txBody>
      </p:sp>
      <p:cxnSp>
        <p:nvCxnSpPr>
          <p:cNvPr id="7" name="Connector 6"/>
          <p:cNvCxnSpPr/>
          <p:nvPr/>
        </p:nvCxnSpPr>
        <p:spPr>
          <a:xfrm>
            <a:off x="502920" y="6400800"/>
            <a:ext cx="11185855" cy="0"/>
          </a:xfrm>
          <a:prstGeom prst="line">
            <a:avLst/>
          </a:prstGeom>
          <a:ln w="9525">
            <a:solidFill>
              <a:srgbClr val="DDE3E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473952"/>
            <a:ext cx="6858000" cy="274320"/>
          </a:xfrm>
          <a:prstGeom prst="rect">
            <a:avLst/>
          </a:prstGeom>
          <a:noFill/>
        </p:spPr>
        <p:txBody>
          <a:bodyPr wrap="square">
            <a:spAutoFit/>
          </a:bodyPr>
          <a:lstStyle/>
          <a:p>
            <a:pPr algn="l"/>
            <a:r>
              <a:rPr sz="900" b="0" i="0">
                <a:solidFill>
                  <a:srgbClr val="94A3B8"/>
                </a:solidFill>
                <a:latin typeface="Calibri"/>
              </a:rPr>
              <a:t>IOT TRONG KỸ THUẬT MÔI TRƯỜNG  ·  B12</a:t>
            </a:r>
          </a:p>
        </p:txBody>
      </p:sp>
      <p:sp>
        <p:nvSpPr>
          <p:cNvPr id="9" name="TextBox 8"/>
          <p:cNvSpPr txBox="1"/>
          <p:nvPr/>
        </p:nvSpPr>
        <p:spPr>
          <a:xfrm>
            <a:off x="10820095" y="6473952"/>
            <a:ext cx="914400" cy="274320"/>
          </a:xfrm>
          <a:prstGeom prst="rect">
            <a:avLst/>
          </a:prstGeom>
          <a:noFill/>
        </p:spPr>
        <p:txBody>
          <a:bodyPr wrap="square">
            <a:spAutoFit/>
          </a:bodyPr>
          <a:lstStyle/>
          <a:p>
            <a:pPr algn="r"/>
            <a:r>
              <a:rPr sz="900" b="0" i="0">
                <a:solidFill>
                  <a:srgbClr val="94A3B8"/>
                </a:solidFill>
                <a:latin typeface="Calibri"/>
              </a:rPr>
              <a:t>10</a:t>
            </a:r>
          </a:p>
        </p:txBody>
      </p:sp>
      <p:sp>
        <p:nvSpPr>
          <p:cNvPr id="10" name="Oval 9"/>
          <p:cNvSpPr/>
          <p:nvPr/>
        </p:nvSpPr>
        <p:spPr>
          <a:xfrm>
            <a:off x="548640" y="1417320"/>
            <a:ext cx="420624" cy="420624"/>
          </a:xfrm>
          <a:prstGeom prst="ellipse">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350" b="1">
                <a:solidFill>
                  <a:srgbClr val="FFFFFF"/>
                </a:solidFill>
                <a:latin typeface="Calibri"/>
              </a:rPr>
              <a:t>1</a:t>
            </a:r>
          </a:p>
        </p:txBody>
      </p:sp>
      <p:sp>
        <p:nvSpPr>
          <p:cNvPr id="11" name="TextBox 10"/>
          <p:cNvSpPr txBox="1"/>
          <p:nvPr/>
        </p:nvSpPr>
        <p:spPr>
          <a:xfrm>
            <a:off x="1143000" y="1399032"/>
            <a:ext cx="10378440" cy="731520"/>
          </a:xfrm>
          <a:prstGeom prst="rect">
            <a:avLst/>
          </a:prstGeom>
          <a:noFill/>
        </p:spPr>
        <p:txBody>
          <a:bodyPr wrap="square" anchor="ctr">
            <a:spAutoFit/>
          </a:bodyPr>
          <a:lstStyle/>
          <a:p>
            <a:pPr algn="l">
              <a:lnSpc>
                <a:spcPct val="110000"/>
              </a:lnSpc>
            </a:pPr>
            <a:r>
              <a:rPr sz="1250" b="0" i="0">
                <a:solidFill>
                  <a:srgbClr val="1E293B"/>
                </a:solidFill>
                <a:latin typeface="Calibri"/>
              </a:rPr>
              <a:t>Trong Template vừa tạo, chuyển sang tab "Datastreams".</a:t>
            </a:r>
          </a:p>
        </p:txBody>
      </p:sp>
      <p:sp>
        <p:nvSpPr>
          <p:cNvPr id="12" name="Oval 11"/>
          <p:cNvSpPr/>
          <p:nvPr/>
        </p:nvSpPr>
        <p:spPr>
          <a:xfrm>
            <a:off x="548640" y="2148840"/>
            <a:ext cx="420624" cy="420624"/>
          </a:xfrm>
          <a:prstGeom prst="ellipse">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350" b="1">
                <a:solidFill>
                  <a:srgbClr val="FFFFFF"/>
                </a:solidFill>
                <a:latin typeface="Calibri"/>
              </a:rPr>
              <a:t>2</a:t>
            </a:r>
          </a:p>
        </p:txBody>
      </p:sp>
      <p:sp>
        <p:nvSpPr>
          <p:cNvPr id="13" name="TextBox 12"/>
          <p:cNvSpPr txBox="1"/>
          <p:nvPr/>
        </p:nvSpPr>
        <p:spPr>
          <a:xfrm>
            <a:off x="1143000" y="2130552"/>
            <a:ext cx="10378440" cy="731520"/>
          </a:xfrm>
          <a:prstGeom prst="rect">
            <a:avLst/>
          </a:prstGeom>
          <a:noFill/>
        </p:spPr>
        <p:txBody>
          <a:bodyPr wrap="square" anchor="ctr">
            <a:spAutoFit/>
          </a:bodyPr>
          <a:lstStyle/>
          <a:p>
            <a:pPr algn="l">
              <a:lnSpc>
                <a:spcPct val="110000"/>
              </a:lnSpc>
            </a:pPr>
            <a:r>
              <a:rPr sz="1250" b="0" i="0">
                <a:solidFill>
                  <a:srgbClr val="1E293B"/>
                </a:solidFill>
                <a:latin typeface="Calibri"/>
              </a:rPr>
              <a:t>Bấm "+ New Datastream" &gt; chọn loại "Virtual Pin".</a:t>
            </a:r>
          </a:p>
        </p:txBody>
      </p:sp>
      <p:sp>
        <p:nvSpPr>
          <p:cNvPr id="14" name="Oval 13"/>
          <p:cNvSpPr/>
          <p:nvPr/>
        </p:nvSpPr>
        <p:spPr>
          <a:xfrm>
            <a:off x="548640" y="2880360"/>
            <a:ext cx="420624" cy="420624"/>
          </a:xfrm>
          <a:prstGeom prst="ellipse">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350" b="1">
                <a:solidFill>
                  <a:srgbClr val="FFFFFF"/>
                </a:solidFill>
                <a:latin typeface="Calibri"/>
              </a:rPr>
              <a:t>3</a:t>
            </a:r>
          </a:p>
        </p:txBody>
      </p:sp>
      <p:sp>
        <p:nvSpPr>
          <p:cNvPr id="15" name="TextBox 14"/>
          <p:cNvSpPr txBox="1"/>
          <p:nvPr/>
        </p:nvSpPr>
        <p:spPr>
          <a:xfrm>
            <a:off x="1143000" y="2862072"/>
            <a:ext cx="10378440" cy="731520"/>
          </a:xfrm>
          <a:prstGeom prst="rect">
            <a:avLst/>
          </a:prstGeom>
          <a:noFill/>
        </p:spPr>
        <p:txBody>
          <a:bodyPr wrap="square" anchor="ctr">
            <a:spAutoFit/>
          </a:bodyPr>
          <a:lstStyle/>
          <a:p>
            <a:pPr algn="l">
              <a:lnSpc>
                <a:spcPct val="110000"/>
              </a:lnSpc>
            </a:pPr>
            <a:r>
              <a:rPr sz="1250" b="0" i="0">
                <a:solidFill>
                  <a:srgbClr val="1E293B"/>
                </a:solidFill>
                <a:latin typeface="Calibri"/>
              </a:rPr>
              <a:t>Điền đầy đủ: Name (tên gợi nhớ), Pin (chọn đúng số V), Data Type (Integer/Double), giá trị Min/Max theo đúng bảng ánh xạ đã thiết kế ở slide trước.</a:t>
            </a:r>
          </a:p>
        </p:txBody>
      </p:sp>
      <p:sp>
        <p:nvSpPr>
          <p:cNvPr id="16" name="Oval 15"/>
          <p:cNvSpPr/>
          <p:nvPr/>
        </p:nvSpPr>
        <p:spPr>
          <a:xfrm>
            <a:off x="548640" y="3611880"/>
            <a:ext cx="420624" cy="420624"/>
          </a:xfrm>
          <a:prstGeom prst="ellipse">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350" b="1">
                <a:solidFill>
                  <a:srgbClr val="FFFFFF"/>
                </a:solidFill>
                <a:latin typeface="Calibri"/>
              </a:rPr>
              <a:t>4</a:t>
            </a:r>
          </a:p>
        </p:txBody>
      </p:sp>
      <p:sp>
        <p:nvSpPr>
          <p:cNvPr id="17" name="TextBox 16"/>
          <p:cNvSpPr txBox="1"/>
          <p:nvPr/>
        </p:nvSpPr>
        <p:spPr>
          <a:xfrm>
            <a:off x="1143000" y="3593592"/>
            <a:ext cx="10378440" cy="731520"/>
          </a:xfrm>
          <a:prstGeom prst="rect">
            <a:avLst/>
          </a:prstGeom>
          <a:noFill/>
        </p:spPr>
        <p:txBody>
          <a:bodyPr wrap="square" anchor="ctr">
            <a:spAutoFit/>
          </a:bodyPr>
          <a:lstStyle/>
          <a:p>
            <a:pPr algn="l">
              <a:lnSpc>
                <a:spcPct val="110000"/>
              </a:lnSpc>
            </a:pPr>
            <a:r>
              <a:rPr sz="1250" b="0" i="0">
                <a:solidFill>
                  <a:srgbClr val="1E293B"/>
                </a:solidFill>
                <a:latin typeface="Calibri"/>
              </a:rPr>
              <a:t>Lặp lại thao tác trên cho đến khi tạo đủ 5 Datastream (V0 → V4) đúng theo bảng.</a:t>
            </a:r>
          </a:p>
        </p:txBody>
      </p:sp>
      <p:sp>
        <p:nvSpPr>
          <p:cNvPr id="18" name="Oval 17"/>
          <p:cNvSpPr/>
          <p:nvPr/>
        </p:nvSpPr>
        <p:spPr>
          <a:xfrm>
            <a:off x="548640" y="4343400"/>
            <a:ext cx="420624" cy="420624"/>
          </a:xfrm>
          <a:prstGeom prst="ellipse">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350" b="1">
                <a:solidFill>
                  <a:srgbClr val="FFFFFF"/>
                </a:solidFill>
                <a:latin typeface="Calibri"/>
              </a:rPr>
              <a:t>5</a:t>
            </a:r>
          </a:p>
        </p:txBody>
      </p:sp>
      <p:sp>
        <p:nvSpPr>
          <p:cNvPr id="19" name="TextBox 18"/>
          <p:cNvSpPr txBox="1"/>
          <p:nvPr/>
        </p:nvSpPr>
        <p:spPr>
          <a:xfrm>
            <a:off x="1143000" y="4325112"/>
            <a:ext cx="10378440" cy="731520"/>
          </a:xfrm>
          <a:prstGeom prst="rect">
            <a:avLst/>
          </a:prstGeom>
          <a:noFill/>
        </p:spPr>
        <p:txBody>
          <a:bodyPr wrap="square" anchor="ctr">
            <a:spAutoFit/>
          </a:bodyPr>
          <a:lstStyle/>
          <a:p>
            <a:pPr algn="l">
              <a:lnSpc>
                <a:spcPct val="110000"/>
              </a:lnSpc>
            </a:pPr>
            <a:r>
              <a:rPr sz="1250" b="0" i="0">
                <a:solidFill>
                  <a:srgbClr val="1E293B"/>
                </a:solidFill>
                <a:latin typeface="Calibri"/>
              </a:rPr>
              <a:t>Bấm "Save" sau mỗi Datastream để lưu lại cấu hình.</a:t>
            </a:r>
          </a:p>
        </p:txBody>
      </p:sp>
      <p:sp>
        <p:nvSpPr>
          <p:cNvPr id="20" name="Rounded Rectangle 19"/>
          <p:cNvSpPr/>
          <p:nvPr/>
        </p:nvSpPr>
        <p:spPr>
          <a:xfrm>
            <a:off x="548640" y="5148072"/>
            <a:ext cx="11064240" cy="1024128"/>
          </a:xfrm>
          <a:prstGeom prst="roundRect">
            <a:avLst/>
          </a:prstGeom>
          <a:solidFill>
            <a:srgbClr val="FEF5E6"/>
          </a:solidFill>
          <a:ln w="158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240" y="5257800"/>
            <a:ext cx="10607040" cy="804672"/>
          </a:xfrm>
          <a:prstGeom prst="rect">
            <a:avLst/>
          </a:prstGeom>
          <a:noFill/>
        </p:spPr>
        <p:txBody>
          <a:bodyPr wrap="square" anchor="ctr">
            <a:spAutoFit/>
          </a:bodyPr>
          <a:lstStyle/>
          <a:p>
            <a:pPr algn="l">
              <a:lnSpc>
                <a:spcPct val="115000"/>
              </a:lnSpc>
            </a:pPr>
            <a:r>
              <a:rPr sz="1050" b="0" i="1">
                <a:solidFill>
                  <a:srgbClr val="1E293B"/>
                </a:solidFill>
                <a:latin typeface="Calibri"/>
              </a:rPr>
              <a:t>💡 Đặt tên Datastream và Virtual Pin phải khớp CHÍNH XÁC với số hiệu V-pin dùng trong code ở các slide sau.</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1508760" y="292608"/>
            <a:ext cx="10195560" cy="841248"/>
          </a:xfrm>
          <a:prstGeom prst="roundRect">
            <a:avLst/>
          </a:prstGeom>
          <a:solidFill>
            <a:srgbClr val="E7F0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508760" y="384048"/>
            <a:ext cx="73152" cy="658368"/>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2920" y="384048"/>
            <a:ext cx="658368" cy="658368"/>
          </a:xfrm>
          <a:prstGeom prst="round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400" b="1">
                <a:solidFill>
                  <a:srgbClr val="FFFFFF"/>
                </a:solidFill>
                <a:latin typeface="Calibri"/>
              </a:rPr>
              <a:t>IoT</a:t>
            </a:r>
          </a:p>
        </p:txBody>
      </p:sp>
      <p:sp>
        <p:nvSpPr>
          <p:cNvPr id="5" name="TextBox 4"/>
          <p:cNvSpPr txBox="1"/>
          <p:nvPr/>
        </p:nvSpPr>
        <p:spPr>
          <a:xfrm>
            <a:off x="1819656" y="374904"/>
            <a:ext cx="9646920" cy="256032"/>
          </a:xfrm>
          <a:prstGeom prst="rect">
            <a:avLst/>
          </a:prstGeom>
          <a:noFill/>
        </p:spPr>
        <p:txBody>
          <a:bodyPr wrap="square">
            <a:spAutoFit/>
          </a:bodyPr>
          <a:lstStyle/>
          <a:p>
            <a:pPr algn="l"/>
            <a:r>
              <a:rPr sz="1200" b="1" i="0">
                <a:solidFill>
                  <a:srgbClr val="3B82F6"/>
                </a:solidFill>
                <a:latin typeface="Calibri"/>
              </a:rPr>
              <a:t>B12 · CÀI ĐẶT WEB · BƯỚC 4</a:t>
            </a:r>
          </a:p>
        </p:txBody>
      </p:sp>
      <p:sp>
        <p:nvSpPr>
          <p:cNvPr id="6" name="TextBox 5"/>
          <p:cNvSpPr txBox="1"/>
          <p:nvPr/>
        </p:nvSpPr>
        <p:spPr>
          <a:xfrm>
            <a:off x="1819656" y="630936"/>
            <a:ext cx="9646920" cy="457200"/>
          </a:xfrm>
          <a:prstGeom prst="rect">
            <a:avLst/>
          </a:prstGeom>
          <a:noFill/>
        </p:spPr>
        <p:txBody>
          <a:bodyPr wrap="square">
            <a:spAutoFit/>
          </a:bodyPr>
          <a:lstStyle/>
          <a:p>
            <a:pPr algn="l"/>
            <a:r>
              <a:rPr sz="2100" b="1" i="0">
                <a:solidFill>
                  <a:srgbClr val="1E293B"/>
                </a:solidFill>
                <a:latin typeface="Calibri"/>
              </a:rPr>
              <a:t>Tạo Device &amp; lấy Auth Token (Web)</a:t>
            </a:r>
          </a:p>
        </p:txBody>
      </p:sp>
      <p:cxnSp>
        <p:nvCxnSpPr>
          <p:cNvPr id="7" name="Connector 6"/>
          <p:cNvCxnSpPr/>
          <p:nvPr/>
        </p:nvCxnSpPr>
        <p:spPr>
          <a:xfrm>
            <a:off x="502920" y="6400800"/>
            <a:ext cx="11185855" cy="0"/>
          </a:xfrm>
          <a:prstGeom prst="line">
            <a:avLst/>
          </a:prstGeom>
          <a:ln w="9525">
            <a:solidFill>
              <a:srgbClr val="DDE3E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473952"/>
            <a:ext cx="6858000" cy="274320"/>
          </a:xfrm>
          <a:prstGeom prst="rect">
            <a:avLst/>
          </a:prstGeom>
          <a:noFill/>
        </p:spPr>
        <p:txBody>
          <a:bodyPr wrap="square">
            <a:spAutoFit/>
          </a:bodyPr>
          <a:lstStyle/>
          <a:p>
            <a:pPr algn="l"/>
            <a:r>
              <a:rPr sz="900" b="0" i="0">
                <a:solidFill>
                  <a:srgbClr val="94A3B8"/>
                </a:solidFill>
                <a:latin typeface="Calibri"/>
              </a:rPr>
              <a:t>IOT TRONG KỸ THUẬT MÔI TRƯỜNG  ·  B12</a:t>
            </a:r>
          </a:p>
        </p:txBody>
      </p:sp>
      <p:sp>
        <p:nvSpPr>
          <p:cNvPr id="9" name="TextBox 8"/>
          <p:cNvSpPr txBox="1"/>
          <p:nvPr/>
        </p:nvSpPr>
        <p:spPr>
          <a:xfrm>
            <a:off x="10820095" y="6473952"/>
            <a:ext cx="914400" cy="274320"/>
          </a:xfrm>
          <a:prstGeom prst="rect">
            <a:avLst/>
          </a:prstGeom>
          <a:noFill/>
        </p:spPr>
        <p:txBody>
          <a:bodyPr wrap="square">
            <a:spAutoFit/>
          </a:bodyPr>
          <a:lstStyle/>
          <a:p>
            <a:pPr algn="r"/>
            <a:r>
              <a:rPr sz="900" b="0" i="0">
                <a:solidFill>
                  <a:srgbClr val="94A3B8"/>
                </a:solidFill>
                <a:latin typeface="Calibri"/>
              </a:rPr>
              <a:t>11</a:t>
            </a:r>
          </a:p>
        </p:txBody>
      </p:sp>
      <p:sp>
        <p:nvSpPr>
          <p:cNvPr id="10" name="Oval 9"/>
          <p:cNvSpPr/>
          <p:nvPr/>
        </p:nvSpPr>
        <p:spPr>
          <a:xfrm>
            <a:off x="548640" y="1417320"/>
            <a:ext cx="420624" cy="420624"/>
          </a:xfrm>
          <a:prstGeom prst="ellipse">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350" b="1">
                <a:solidFill>
                  <a:srgbClr val="FFFFFF"/>
                </a:solidFill>
                <a:latin typeface="Calibri"/>
              </a:rPr>
              <a:t>1</a:t>
            </a:r>
          </a:p>
        </p:txBody>
      </p:sp>
      <p:sp>
        <p:nvSpPr>
          <p:cNvPr id="11" name="TextBox 10"/>
          <p:cNvSpPr txBox="1"/>
          <p:nvPr/>
        </p:nvSpPr>
        <p:spPr>
          <a:xfrm>
            <a:off x="1143000" y="1399032"/>
            <a:ext cx="10378440" cy="731520"/>
          </a:xfrm>
          <a:prstGeom prst="rect">
            <a:avLst/>
          </a:prstGeom>
          <a:noFill/>
        </p:spPr>
        <p:txBody>
          <a:bodyPr wrap="square" anchor="ctr">
            <a:spAutoFit/>
          </a:bodyPr>
          <a:lstStyle/>
          <a:p>
            <a:pPr algn="l">
              <a:lnSpc>
                <a:spcPct val="110000"/>
              </a:lnSpc>
            </a:pPr>
            <a:r>
              <a:rPr sz="1250" b="0" i="0">
                <a:solidFill>
                  <a:srgbClr val="1E293B"/>
                </a:solidFill>
                <a:latin typeface="Calibri"/>
              </a:rPr>
              <a:t>Vào mục "Devices" ở menu bên trái &gt; bấm "+ New Device".</a:t>
            </a:r>
          </a:p>
        </p:txBody>
      </p:sp>
      <p:sp>
        <p:nvSpPr>
          <p:cNvPr id="12" name="Oval 11"/>
          <p:cNvSpPr/>
          <p:nvPr/>
        </p:nvSpPr>
        <p:spPr>
          <a:xfrm>
            <a:off x="548640" y="2148840"/>
            <a:ext cx="420624" cy="420624"/>
          </a:xfrm>
          <a:prstGeom prst="ellipse">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350" b="1">
                <a:solidFill>
                  <a:srgbClr val="FFFFFF"/>
                </a:solidFill>
                <a:latin typeface="Calibri"/>
              </a:rPr>
              <a:t>2</a:t>
            </a:r>
          </a:p>
        </p:txBody>
      </p:sp>
      <p:sp>
        <p:nvSpPr>
          <p:cNvPr id="13" name="TextBox 12"/>
          <p:cNvSpPr txBox="1"/>
          <p:nvPr/>
        </p:nvSpPr>
        <p:spPr>
          <a:xfrm>
            <a:off x="1143000" y="2130552"/>
            <a:ext cx="10378440" cy="731520"/>
          </a:xfrm>
          <a:prstGeom prst="rect">
            <a:avLst/>
          </a:prstGeom>
          <a:noFill/>
        </p:spPr>
        <p:txBody>
          <a:bodyPr wrap="square" anchor="ctr">
            <a:spAutoFit/>
          </a:bodyPr>
          <a:lstStyle/>
          <a:p>
            <a:pPr algn="l">
              <a:lnSpc>
                <a:spcPct val="110000"/>
              </a:lnSpc>
            </a:pPr>
            <a:r>
              <a:rPr sz="1250" b="0" i="0">
                <a:solidFill>
                  <a:srgbClr val="1E293B"/>
                </a:solidFill>
                <a:latin typeface="Calibri"/>
              </a:rPr>
              <a:t>Chọn "From template" &gt; chọn đúng Template "KMT Full Environment Station" vừa cấu hình ở bước trước.</a:t>
            </a:r>
          </a:p>
        </p:txBody>
      </p:sp>
      <p:sp>
        <p:nvSpPr>
          <p:cNvPr id="14" name="Oval 13"/>
          <p:cNvSpPr/>
          <p:nvPr/>
        </p:nvSpPr>
        <p:spPr>
          <a:xfrm>
            <a:off x="548640" y="2880360"/>
            <a:ext cx="420624" cy="420624"/>
          </a:xfrm>
          <a:prstGeom prst="ellipse">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350" b="1">
                <a:solidFill>
                  <a:srgbClr val="FFFFFF"/>
                </a:solidFill>
                <a:latin typeface="Calibri"/>
              </a:rPr>
              <a:t>3</a:t>
            </a:r>
          </a:p>
        </p:txBody>
      </p:sp>
      <p:sp>
        <p:nvSpPr>
          <p:cNvPr id="15" name="TextBox 14"/>
          <p:cNvSpPr txBox="1"/>
          <p:nvPr/>
        </p:nvSpPr>
        <p:spPr>
          <a:xfrm>
            <a:off x="1143000" y="2862072"/>
            <a:ext cx="10378440" cy="731520"/>
          </a:xfrm>
          <a:prstGeom prst="rect">
            <a:avLst/>
          </a:prstGeom>
          <a:noFill/>
        </p:spPr>
        <p:txBody>
          <a:bodyPr wrap="square" anchor="ctr">
            <a:spAutoFit/>
          </a:bodyPr>
          <a:lstStyle/>
          <a:p>
            <a:pPr algn="l">
              <a:lnSpc>
                <a:spcPct val="110000"/>
              </a:lnSpc>
            </a:pPr>
            <a:r>
              <a:rPr sz="1250" b="0" i="0">
                <a:solidFill>
                  <a:srgbClr val="1E293B"/>
                </a:solidFill>
                <a:latin typeface="Calibri"/>
              </a:rPr>
              <a:t>Đặt tên riêng cho thiết bị (ví dụ "Trạm B12 - Phòng Lab") &gt; bấm "Create".</a:t>
            </a:r>
          </a:p>
        </p:txBody>
      </p:sp>
      <p:sp>
        <p:nvSpPr>
          <p:cNvPr id="16" name="Oval 15"/>
          <p:cNvSpPr/>
          <p:nvPr/>
        </p:nvSpPr>
        <p:spPr>
          <a:xfrm>
            <a:off x="548640" y="3611880"/>
            <a:ext cx="420624" cy="420624"/>
          </a:xfrm>
          <a:prstGeom prst="ellipse">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350" b="1">
                <a:solidFill>
                  <a:srgbClr val="FFFFFF"/>
                </a:solidFill>
                <a:latin typeface="Calibri"/>
              </a:rPr>
              <a:t>4</a:t>
            </a:r>
          </a:p>
        </p:txBody>
      </p:sp>
      <p:sp>
        <p:nvSpPr>
          <p:cNvPr id="17" name="TextBox 16"/>
          <p:cNvSpPr txBox="1"/>
          <p:nvPr/>
        </p:nvSpPr>
        <p:spPr>
          <a:xfrm>
            <a:off x="1143000" y="3593592"/>
            <a:ext cx="10378440" cy="731520"/>
          </a:xfrm>
          <a:prstGeom prst="rect">
            <a:avLst/>
          </a:prstGeom>
          <a:noFill/>
        </p:spPr>
        <p:txBody>
          <a:bodyPr wrap="square" anchor="ctr">
            <a:spAutoFit/>
          </a:bodyPr>
          <a:lstStyle/>
          <a:p>
            <a:pPr algn="l">
              <a:lnSpc>
                <a:spcPct val="110000"/>
              </a:lnSpc>
            </a:pPr>
            <a:r>
              <a:rPr sz="1250" b="0" i="0">
                <a:solidFill>
                  <a:srgbClr val="1E293B"/>
                </a:solidFill>
                <a:latin typeface="Calibri"/>
              </a:rPr>
              <a:t>Hệ thống hiển thị Auth Token — đây là "mật khẩu" DUY NHẤT của riêng thiết bị này, bấm biểu tượng copy để sao chép.</a:t>
            </a:r>
          </a:p>
        </p:txBody>
      </p:sp>
      <p:sp>
        <p:nvSpPr>
          <p:cNvPr id="18" name="Oval 17"/>
          <p:cNvSpPr/>
          <p:nvPr/>
        </p:nvSpPr>
        <p:spPr>
          <a:xfrm>
            <a:off x="548640" y="4343400"/>
            <a:ext cx="420624" cy="420624"/>
          </a:xfrm>
          <a:prstGeom prst="ellipse">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350" b="1">
                <a:solidFill>
                  <a:srgbClr val="FFFFFF"/>
                </a:solidFill>
                <a:latin typeface="Calibri"/>
              </a:rPr>
              <a:t>5</a:t>
            </a:r>
          </a:p>
        </p:txBody>
      </p:sp>
      <p:sp>
        <p:nvSpPr>
          <p:cNvPr id="19" name="TextBox 18"/>
          <p:cNvSpPr txBox="1"/>
          <p:nvPr/>
        </p:nvSpPr>
        <p:spPr>
          <a:xfrm>
            <a:off x="1143000" y="4325112"/>
            <a:ext cx="10378440" cy="731520"/>
          </a:xfrm>
          <a:prstGeom prst="rect">
            <a:avLst/>
          </a:prstGeom>
          <a:noFill/>
        </p:spPr>
        <p:txBody>
          <a:bodyPr wrap="square" anchor="ctr">
            <a:spAutoFit/>
          </a:bodyPr>
          <a:lstStyle/>
          <a:p>
            <a:pPr algn="l">
              <a:lnSpc>
                <a:spcPct val="110000"/>
              </a:lnSpc>
            </a:pPr>
            <a:r>
              <a:rPr sz="1250" b="0" i="0">
                <a:solidFill>
                  <a:srgbClr val="1E293B"/>
                </a:solidFill>
                <a:latin typeface="Calibri"/>
              </a:rPr>
              <a:t>Dán chuỗi Auth Token vừa copy vào đúng dòng BLYNK_AUTH_TOKEN trong code Arduino (sẽ dùng ở các slide Mã nguồn tiếp theo).</a:t>
            </a:r>
          </a:p>
        </p:txBody>
      </p:sp>
      <p:sp>
        <p:nvSpPr>
          <p:cNvPr id="20" name="Rounded Rectangle 19"/>
          <p:cNvSpPr/>
          <p:nvPr/>
        </p:nvSpPr>
        <p:spPr>
          <a:xfrm>
            <a:off x="548640" y="5148072"/>
            <a:ext cx="11064240" cy="1024128"/>
          </a:xfrm>
          <a:prstGeom prst="roundRect">
            <a:avLst/>
          </a:prstGeom>
          <a:solidFill>
            <a:srgbClr val="FEF5E6"/>
          </a:solidFill>
          <a:ln w="158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240" y="5257800"/>
            <a:ext cx="10607040" cy="804672"/>
          </a:xfrm>
          <a:prstGeom prst="rect">
            <a:avLst/>
          </a:prstGeom>
          <a:noFill/>
        </p:spPr>
        <p:txBody>
          <a:bodyPr wrap="square" anchor="ctr">
            <a:spAutoFit/>
          </a:bodyPr>
          <a:lstStyle/>
          <a:p>
            <a:pPr algn="l">
              <a:lnSpc>
                <a:spcPct val="115000"/>
              </a:lnSpc>
            </a:pPr>
            <a:r>
              <a:rPr sz="1050" b="0" i="1">
                <a:solidFill>
                  <a:srgbClr val="1E293B"/>
                </a:solidFill>
                <a:latin typeface="Calibri"/>
              </a:rPr>
              <a:t>💡 TUYỆT ĐỐI không chia sẻ Auth Token công khai (vd đăng lên GitHub/Facebook) — ai có Token đều điều khiển được thiết bị.</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1508760" y="292608"/>
            <a:ext cx="10195560" cy="841248"/>
          </a:xfrm>
          <a:prstGeom prst="roundRect">
            <a:avLst/>
          </a:prstGeom>
          <a:solidFill>
            <a:srgbClr val="ECEC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508760" y="384048"/>
            <a:ext cx="73152" cy="658368"/>
          </a:xfrm>
          <a:prstGeom prst="rect">
            <a:avLst/>
          </a:prstGeom>
          <a:solidFill>
            <a:srgbClr val="636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2920" y="384048"/>
            <a:ext cx="658368" cy="658368"/>
          </a:xfrm>
          <a:prstGeom prst="roundRect">
            <a:avLst/>
          </a:prstGeom>
          <a:solidFill>
            <a:srgbClr val="6366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400" b="1">
                <a:solidFill>
                  <a:srgbClr val="FFFFFF"/>
                </a:solidFill>
                <a:latin typeface="Calibri"/>
              </a:rPr>
              <a:t>IoT</a:t>
            </a:r>
          </a:p>
        </p:txBody>
      </p:sp>
      <p:sp>
        <p:nvSpPr>
          <p:cNvPr id="5" name="TextBox 4"/>
          <p:cNvSpPr txBox="1"/>
          <p:nvPr/>
        </p:nvSpPr>
        <p:spPr>
          <a:xfrm>
            <a:off x="1819656" y="374904"/>
            <a:ext cx="9646920" cy="256032"/>
          </a:xfrm>
          <a:prstGeom prst="rect">
            <a:avLst/>
          </a:prstGeom>
          <a:noFill/>
        </p:spPr>
        <p:txBody>
          <a:bodyPr wrap="square">
            <a:spAutoFit/>
          </a:bodyPr>
          <a:lstStyle/>
          <a:p>
            <a:pPr algn="l"/>
            <a:r>
              <a:rPr sz="1200" b="1" i="0">
                <a:solidFill>
                  <a:srgbClr val="6366F1"/>
                </a:solidFill>
                <a:latin typeface="Calibri"/>
              </a:rPr>
              <a:t>B12 · CÀI ĐẶT WEB · BƯỚC 5</a:t>
            </a:r>
          </a:p>
        </p:txBody>
      </p:sp>
      <p:sp>
        <p:nvSpPr>
          <p:cNvPr id="6" name="TextBox 5"/>
          <p:cNvSpPr txBox="1"/>
          <p:nvPr/>
        </p:nvSpPr>
        <p:spPr>
          <a:xfrm>
            <a:off x="1819656" y="630936"/>
            <a:ext cx="9646920" cy="457200"/>
          </a:xfrm>
          <a:prstGeom prst="rect">
            <a:avLst/>
          </a:prstGeom>
          <a:noFill/>
        </p:spPr>
        <p:txBody>
          <a:bodyPr wrap="square">
            <a:spAutoFit/>
          </a:bodyPr>
          <a:lstStyle/>
          <a:p>
            <a:pPr algn="l"/>
            <a:r>
              <a:rPr sz="2100" b="1" i="0">
                <a:solidFill>
                  <a:srgbClr val="1E293B"/>
                </a:solidFill>
                <a:latin typeface="Calibri"/>
              </a:rPr>
              <a:t>Dựng Web Dashboard — kéo thả Widget</a:t>
            </a:r>
          </a:p>
        </p:txBody>
      </p:sp>
      <p:cxnSp>
        <p:nvCxnSpPr>
          <p:cNvPr id="7" name="Connector 6"/>
          <p:cNvCxnSpPr/>
          <p:nvPr/>
        </p:nvCxnSpPr>
        <p:spPr>
          <a:xfrm>
            <a:off x="502920" y="6400800"/>
            <a:ext cx="11185855" cy="0"/>
          </a:xfrm>
          <a:prstGeom prst="line">
            <a:avLst/>
          </a:prstGeom>
          <a:ln w="9525">
            <a:solidFill>
              <a:srgbClr val="DDE3E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473952"/>
            <a:ext cx="6858000" cy="274320"/>
          </a:xfrm>
          <a:prstGeom prst="rect">
            <a:avLst/>
          </a:prstGeom>
          <a:noFill/>
        </p:spPr>
        <p:txBody>
          <a:bodyPr wrap="square">
            <a:spAutoFit/>
          </a:bodyPr>
          <a:lstStyle/>
          <a:p>
            <a:pPr algn="l"/>
            <a:r>
              <a:rPr sz="900" b="0" i="0">
                <a:solidFill>
                  <a:srgbClr val="94A3B8"/>
                </a:solidFill>
                <a:latin typeface="Calibri"/>
              </a:rPr>
              <a:t>IOT TRONG KỸ THUẬT MÔI TRƯỜNG  ·  B12</a:t>
            </a:r>
          </a:p>
        </p:txBody>
      </p:sp>
      <p:sp>
        <p:nvSpPr>
          <p:cNvPr id="9" name="TextBox 8"/>
          <p:cNvSpPr txBox="1"/>
          <p:nvPr/>
        </p:nvSpPr>
        <p:spPr>
          <a:xfrm>
            <a:off x="10820095" y="6473952"/>
            <a:ext cx="914400" cy="274320"/>
          </a:xfrm>
          <a:prstGeom prst="rect">
            <a:avLst/>
          </a:prstGeom>
          <a:noFill/>
        </p:spPr>
        <p:txBody>
          <a:bodyPr wrap="square">
            <a:spAutoFit/>
          </a:bodyPr>
          <a:lstStyle/>
          <a:p>
            <a:pPr algn="r"/>
            <a:r>
              <a:rPr sz="900" b="0" i="0">
                <a:solidFill>
                  <a:srgbClr val="94A3B8"/>
                </a:solidFill>
                <a:latin typeface="Calibri"/>
              </a:rPr>
              <a:t>12</a:t>
            </a:r>
          </a:p>
        </p:txBody>
      </p:sp>
      <p:sp>
        <p:nvSpPr>
          <p:cNvPr id="10" name="Oval 9"/>
          <p:cNvSpPr/>
          <p:nvPr/>
        </p:nvSpPr>
        <p:spPr>
          <a:xfrm>
            <a:off x="548640" y="1417320"/>
            <a:ext cx="420624" cy="420624"/>
          </a:xfrm>
          <a:prstGeom prst="ellipse">
            <a:avLst/>
          </a:prstGeom>
          <a:solidFill>
            <a:srgbClr val="6366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350" b="1">
                <a:solidFill>
                  <a:srgbClr val="FFFFFF"/>
                </a:solidFill>
                <a:latin typeface="Calibri"/>
              </a:rPr>
              <a:t>1</a:t>
            </a:r>
          </a:p>
        </p:txBody>
      </p:sp>
      <p:sp>
        <p:nvSpPr>
          <p:cNvPr id="11" name="TextBox 10"/>
          <p:cNvSpPr txBox="1"/>
          <p:nvPr/>
        </p:nvSpPr>
        <p:spPr>
          <a:xfrm>
            <a:off x="1143000" y="1399032"/>
            <a:ext cx="10378440" cy="841248"/>
          </a:xfrm>
          <a:prstGeom prst="rect">
            <a:avLst/>
          </a:prstGeom>
          <a:noFill/>
        </p:spPr>
        <p:txBody>
          <a:bodyPr wrap="square" anchor="ctr">
            <a:spAutoFit/>
          </a:bodyPr>
          <a:lstStyle/>
          <a:p>
            <a:pPr algn="l">
              <a:lnSpc>
                <a:spcPct val="110000"/>
              </a:lnSpc>
            </a:pPr>
            <a:r>
              <a:rPr sz="1250" b="0" i="0">
                <a:solidFill>
                  <a:srgbClr val="1E293B"/>
                </a:solidFill>
                <a:latin typeface="Calibri"/>
              </a:rPr>
              <a:t>Trong Device vừa tạo, chuyển sang tab "Web Dashboard".</a:t>
            </a:r>
          </a:p>
        </p:txBody>
      </p:sp>
      <p:sp>
        <p:nvSpPr>
          <p:cNvPr id="12" name="Oval 11"/>
          <p:cNvSpPr/>
          <p:nvPr/>
        </p:nvSpPr>
        <p:spPr>
          <a:xfrm>
            <a:off x="548640" y="2258568"/>
            <a:ext cx="420624" cy="420624"/>
          </a:xfrm>
          <a:prstGeom prst="ellipse">
            <a:avLst/>
          </a:prstGeom>
          <a:solidFill>
            <a:srgbClr val="6366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350" b="1">
                <a:solidFill>
                  <a:srgbClr val="FFFFFF"/>
                </a:solidFill>
                <a:latin typeface="Calibri"/>
              </a:rPr>
              <a:t>2</a:t>
            </a:r>
          </a:p>
        </p:txBody>
      </p:sp>
      <p:sp>
        <p:nvSpPr>
          <p:cNvPr id="13" name="TextBox 12"/>
          <p:cNvSpPr txBox="1"/>
          <p:nvPr/>
        </p:nvSpPr>
        <p:spPr>
          <a:xfrm>
            <a:off x="1143000" y="2240280"/>
            <a:ext cx="10378440" cy="841248"/>
          </a:xfrm>
          <a:prstGeom prst="rect">
            <a:avLst/>
          </a:prstGeom>
          <a:noFill/>
        </p:spPr>
        <p:txBody>
          <a:bodyPr wrap="square" anchor="ctr">
            <a:spAutoFit/>
          </a:bodyPr>
          <a:lstStyle/>
          <a:p>
            <a:pPr algn="l">
              <a:lnSpc>
                <a:spcPct val="110000"/>
              </a:lnSpc>
            </a:pPr>
            <a:r>
              <a:rPr sz="1250" b="0" i="0">
                <a:solidFill>
                  <a:srgbClr val="1E293B"/>
                </a:solidFill>
                <a:latin typeface="Calibri"/>
              </a:rPr>
              <a:t>Bấm biểu tượng bút chì "Edit" để vào chế độ chỉnh sửa.</a:t>
            </a:r>
          </a:p>
        </p:txBody>
      </p:sp>
      <p:sp>
        <p:nvSpPr>
          <p:cNvPr id="14" name="Oval 13"/>
          <p:cNvSpPr/>
          <p:nvPr/>
        </p:nvSpPr>
        <p:spPr>
          <a:xfrm>
            <a:off x="548640" y="3099816"/>
            <a:ext cx="420624" cy="420624"/>
          </a:xfrm>
          <a:prstGeom prst="ellipse">
            <a:avLst/>
          </a:prstGeom>
          <a:solidFill>
            <a:srgbClr val="6366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350" b="1">
                <a:solidFill>
                  <a:srgbClr val="FFFFFF"/>
                </a:solidFill>
                <a:latin typeface="Calibri"/>
              </a:rPr>
              <a:t>3</a:t>
            </a:r>
          </a:p>
        </p:txBody>
      </p:sp>
      <p:sp>
        <p:nvSpPr>
          <p:cNvPr id="15" name="TextBox 14"/>
          <p:cNvSpPr txBox="1"/>
          <p:nvPr/>
        </p:nvSpPr>
        <p:spPr>
          <a:xfrm>
            <a:off x="1143000" y="3081528"/>
            <a:ext cx="10378440" cy="841248"/>
          </a:xfrm>
          <a:prstGeom prst="rect">
            <a:avLst/>
          </a:prstGeom>
          <a:noFill/>
        </p:spPr>
        <p:txBody>
          <a:bodyPr wrap="square" anchor="ctr">
            <a:spAutoFit/>
          </a:bodyPr>
          <a:lstStyle/>
          <a:p>
            <a:pPr algn="l">
              <a:lnSpc>
                <a:spcPct val="110000"/>
              </a:lnSpc>
            </a:pPr>
            <a:r>
              <a:rPr sz="1250" b="0" i="0">
                <a:solidFill>
                  <a:srgbClr val="1E293B"/>
                </a:solidFill>
                <a:latin typeface="Calibri"/>
              </a:rPr>
              <a:t>Từ khay Widget bên phải, kéo thả từng Widget (Gauge/LED/Chart...) tương ứng bảng thiết kế đã học vào vùng làm việc.</a:t>
            </a:r>
          </a:p>
        </p:txBody>
      </p:sp>
      <p:sp>
        <p:nvSpPr>
          <p:cNvPr id="16" name="Oval 15"/>
          <p:cNvSpPr/>
          <p:nvPr/>
        </p:nvSpPr>
        <p:spPr>
          <a:xfrm>
            <a:off x="548640" y="3941064"/>
            <a:ext cx="420624" cy="420624"/>
          </a:xfrm>
          <a:prstGeom prst="ellipse">
            <a:avLst/>
          </a:prstGeom>
          <a:solidFill>
            <a:srgbClr val="6366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350" b="1">
                <a:solidFill>
                  <a:srgbClr val="FFFFFF"/>
                </a:solidFill>
                <a:latin typeface="Calibri"/>
              </a:rPr>
              <a:t>4</a:t>
            </a:r>
          </a:p>
        </p:txBody>
      </p:sp>
      <p:sp>
        <p:nvSpPr>
          <p:cNvPr id="17" name="TextBox 16"/>
          <p:cNvSpPr txBox="1"/>
          <p:nvPr/>
        </p:nvSpPr>
        <p:spPr>
          <a:xfrm>
            <a:off x="1143000" y="3922776"/>
            <a:ext cx="10378440" cy="841248"/>
          </a:xfrm>
          <a:prstGeom prst="rect">
            <a:avLst/>
          </a:prstGeom>
          <a:noFill/>
        </p:spPr>
        <p:txBody>
          <a:bodyPr wrap="square" anchor="ctr">
            <a:spAutoFit/>
          </a:bodyPr>
          <a:lstStyle/>
          <a:p>
            <a:pPr algn="l">
              <a:lnSpc>
                <a:spcPct val="110000"/>
              </a:lnSpc>
            </a:pPr>
            <a:r>
              <a:rPr sz="1250" b="0" i="0">
                <a:solidFill>
                  <a:srgbClr val="1E293B"/>
                </a:solidFill>
                <a:latin typeface="Calibri"/>
              </a:rPr>
              <a:t>Bấm vào từng Widget vừa thả &gt; mục DATASTREAM &gt; chọn đúng Virtual Pin tương ứng &gt; đặt tên hiển thị, đơn vị, dải màu cảnh báo.</a:t>
            </a:r>
          </a:p>
        </p:txBody>
      </p:sp>
      <p:sp>
        <p:nvSpPr>
          <p:cNvPr id="18" name="Oval 17"/>
          <p:cNvSpPr/>
          <p:nvPr/>
        </p:nvSpPr>
        <p:spPr>
          <a:xfrm>
            <a:off x="548640" y="4782312"/>
            <a:ext cx="420624" cy="420624"/>
          </a:xfrm>
          <a:prstGeom prst="ellipse">
            <a:avLst/>
          </a:prstGeom>
          <a:solidFill>
            <a:srgbClr val="6366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350" b="1">
                <a:solidFill>
                  <a:srgbClr val="FFFFFF"/>
                </a:solidFill>
                <a:latin typeface="Calibri"/>
              </a:rPr>
              <a:t>5</a:t>
            </a:r>
          </a:p>
        </p:txBody>
      </p:sp>
      <p:sp>
        <p:nvSpPr>
          <p:cNvPr id="19" name="TextBox 18"/>
          <p:cNvSpPr txBox="1"/>
          <p:nvPr/>
        </p:nvSpPr>
        <p:spPr>
          <a:xfrm>
            <a:off x="1143000" y="4764024"/>
            <a:ext cx="10378440" cy="841248"/>
          </a:xfrm>
          <a:prstGeom prst="rect">
            <a:avLst/>
          </a:prstGeom>
          <a:noFill/>
        </p:spPr>
        <p:txBody>
          <a:bodyPr wrap="square" anchor="ctr">
            <a:spAutoFit/>
          </a:bodyPr>
          <a:lstStyle/>
          <a:p>
            <a:pPr algn="l">
              <a:lnSpc>
                <a:spcPct val="110000"/>
              </a:lnSpc>
            </a:pPr>
            <a:r>
              <a:rPr sz="1250" b="0" i="0">
                <a:solidFill>
                  <a:srgbClr val="1E293B"/>
                </a:solidFill>
                <a:latin typeface="Calibri"/>
              </a:rPr>
              <a:t>Sắp xếp lại vị trí/kích thước các Widget cho gọn gàng, dễ nhìn &gt; bấm "Save".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1508760" y="292608"/>
            <a:ext cx="10195560" cy="841248"/>
          </a:xfrm>
          <a:prstGeom prst="roundRect">
            <a:avLst/>
          </a:prstGeom>
          <a:solidFill>
            <a:srgbClr val="F1EB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508760" y="384048"/>
            <a:ext cx="73152" cy="658368"/>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2920" y="384048"/>
            <a:ext cx="658368" cy="658368"/>
          </a:xfrm>
          <a:prstGeom prst="round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400" b="1">
                <a:solidFill>
                  <a:srgbClr val="FFFFFF"/>
                </a:solidFill>
                <a:latin typeface="Calibri"/>
              </a:rPr>
              <a:t>IoT</a:t>
            </a:r>
          </a:p>
        </p:txBody>
      </p:sp>
      <p:sp>
        <p:nvSpPr>
          <p:cNvPr id="5" name="TextBox 4"/>
          <p:cNvSpPr txBox="1"/>
          <p:nvPr/>
        </p:nvSpPr>
        <p:spPr>
          <a:xfrm>
            <a:off x="1819656" y="374904"/>
            <a:ext cx="9646920" cy="256032"/>
          </a:xfrm>
          <a:prstGeom prst="rect">
            <a:avLst/>
          </a:prstGeom>
          <a:noFill/>
        </p:spPr>
        <p:txBody>
          <a:bodyPr wrap="square">
            <a:spAutoFit/>
          </a:bodyPr>
          <a:lstStyle/>
          <a:p>
            <a:pPr algn="l"/>
            <a:r>
              <a:rPr sz="1200" b="1" i="0">
                <a:solidFill>
                  <a:srgbClr val="8B5CF6"/>
                </a:solidFill>
                <a:latin typeface="Calibri"/>
              </a:rPr>
              <a:t>B12 · CÀI ĐẶT APP · BƯỚC 6-7</a:t>
            </a:r>
          </a:p>
        </p:txBody>
      </p:sp>
      <p:sp>
        <p:nvSpPr>
          <p:cNvPr id="6" name="TextBox 5"/>
          <p:cNvSpPr txBox="1"/>
          <p:nvPr/>
        </p:nvSpPr>
        <p:spPr>
          <a:xfrm>
            <a:off x="1819656" y="630936"/>
            <a:ext cx="9646920" cy="457200"/>
          </a:xfrm>
          <a:prstGeom prst="rect">
            <a:avLst/>
          </a:prstGeom>
          <a:noFill/>
        </p:spPr>
        <p:txBody>
          <a:bodyPr wrap="square">
            <a:spAutoFit/>
          </a:bodyPr>
          <a:lstStyle/>
          <a:p>
            <a:pPr algn="l"/>
            <a:r>
              <a:rPr sz="2100" b="1" i="0">
                <a:solidFill>
                  <a:srgbClr val="1E293B"/>
                </a:solidFill>
                <a:latin typeface="Calibri"/>
              </a:rPr>
              <a:t>Cài đặt &amp; Đăng nhập Blynk IoT App</a:t>
            </a:r>
          </a:p>
        </p:txBody>
      </p:sp>
      <p:cxnSp>
        <p:nvCxnSpPr>
          <p:cNvPr id="7" name="Connector 6"/>
          <p:cNvCxnSpPr/>
          <p:nvPr/>
        </p:nvCxnSpPr>
        <p:spPr>
          <a:xfrm>
            <a:off x="502920" y="6400800"/>
            <a:ext cx="11185855" cy="0"/>
          </a:xfrm>
          <a:prstGeom prst="line">
            <a:avLst/>
          </a:prstGeom>
          <a:ln w="9525">
            <a:solidFill>
              <a:srgbClr val="DDE3E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473952"/>
            <a:ext cx="6858000" cy="274320"/>
          </a:xfrm>
          <a:prstGeom prst="rect">
            <a:avLst/>
          </a:prstGeom>
          <a:noFill/>
        </p:spPr>
        <p:txBody>
          <a:bodyPr wrap="square">
            <a:spAutoFit/>
          </a:bodyPr>
          <a:lstStyle/>
          <a:p>
            <a:pPr algn="l"/>
            <a:r>
              <a:rPr sz="900" b="0" i="0">
                <a:solidFill>
                  <a:srgbClr val="94A3B8"/>
                </a:solidFill>
                <a:latin typeface="Calibri"/>
              </a:rPr>
              <a:t>IOT TRONG KỸ THUẬT MÔI TRƯỜNG  ·  B12</a:t>
            </a:r>
          </a:p>
        </p:txBody>
      </p:sp>
      <p:sp>
        <p:nvSpPr>
          <p:cNvPr id="9" name="TextBox 8"/>
          <p:cNvSpPr txBox="1"/>
          <p:nvPr/>
        </p:nvSpPr>
        <p:spPr>
          <a:xfrm>
            <a:off x="10820095" y="6473952"/>
            <a:ext cx="914400" cy="274320"/>
          </a:xfrm>
          <a:prstGeom prst="rect">
            <a:avLst/>
          </a:prstGeom>
          <a:noFill/>
        </p:spPr>
        <p:txBody>
          <a:bodyPr wrap="square">
            <a:spAutoFit/>
          </a:bodyPr>
          <a:lstStyle/>
          <a:p>
            <a:pPr algn="r"/>
            <a:r>
              <a:rPr sz="900" b="0" i="0">
                <a:solidFill>
                  <a:srgbClr val="94A3B8"/>
                </a:solidFill>
                <a:latin typeface="Calibri"/>
              </a:rPr>
              <a:t>13</a:t>
            </a:r>
          </a:p>
        </p:txBody>
      </p:sp>
      <p:sp>
        <p:nvSpPr>
          <p:cNvPr id="10" name="Oval 9"/>
          <p:cNvSpPr/>
          <p:nvPr/>
        </p:nvSpPr>
        <p:spPr>
          <a:xfrm>
            <a:off x="548640" y="1417320"/>
            <a:ext cx="420624" cy="420624"/>
          </a:xfrm>
          <a:prstGeom prst="ellipse">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350" b="1">
                <a:solidFill>
                  <a:srgbClr val="FFFFFF"/>
                </a:solidFill>
                <a:latin typeface="Calibri"/>
              </a:rPr>
              <a:t>1</a:t>
            </a:r>
          </a:p>
        </p:txBody>
      </p:sp>
      <p:sp>
        <p:nvSpPr>
          <p:cNvPr id="11" name="TextBox 10"/>
          <p:cNvSpPr txBox="1"/>
          <p:nvPr/>
        </p:nvSpPr>
        <p:spPr>
          <a:xfrm>
            <a:off x="1143000" y="1399032"/>
            <a:ext cx="10378440" cy="731520"/>
          </a:xfrm>
          <a:prstGeom prst="rect">
            <a:avLst/>
          </a:prstGeom>
          <a:noFill/>
        </p:spPr>
        <p:txBody>
          <a:bodyPr wrap="square" anchor="ctr">
            <a:spAutoFit/>
          </a:bodyPr>
          <a:lstStyle/>
          <a:p>
            <a:pPr algn="l">
              <a:lnSpc>
                <a:spcPct val="110000"/>
              </a:lnSpc>
            </a:pPr>
            <a:r>
              <a:rPr sz="1250" b="0" i="0">
                <a:solidFill>
                  <a:srgbClr val="1E293B"/>
                </a:solidFill>
                <a:latin typeface="Calibri"/>
              </a:rPr>
              <a:t>Mở App Store (iPhone) hoặc Google Play (Android), tìm kiếm chính xác "Blynk IoT".</a:t>
            </a:r>
          </a:p>
        </p:txBody>
      </p:sp>
      <p:sp>
        <p:nvSpPr>
          <p:cNvPr id="12" name="Oval 11"/>
          <p:cNvSpPr/>
          <p:nvPr/>
        </p:nvSpPr>
        <p:spPr>
          <a:xfrm>
            <a:off x="548640" y="2148840"/>
            <a:ext cx="420624" cy="420624"/>
          </a:xfrm>
          <a:prstGeom prst="ellipse">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350" b="1">
                <a:solidFill>
                  <a:srgbClr val="FFFFFF"/>
                </a:solidFill>
                <a:latin typeface="Calibri"/>
              </a:rPr>
              <a:t>2</a:t>
            </a:r>
          </a:p>
        </p:txBody>
      </p:sp>
      <p:sp>
        <p:nvSpPr>
          <p:cNvPr id="13" name="TextBox 12"/>
          <p:cNvSpPr txBox="1"/>
          <p:nvPr/>
        </p:nvSpPr>
        <p:spPr>
          <a:xfrm>
            <a:off x="1143000" y="2130552"/>
            <a:ext cx="10378440" cy="731520"/>
          </a:xfrm>
          <a:prstGeom prst="rect">
            <a:avLst/>
          </a:prstGeom>
          <a:noFill/>
        </p:spPr>
        <p:txBody>
          <a:bodyPr wrap="square" anchor="ctr">
            <a:spAutoFit/>
          </a:bodyPr>
          <a:lstStyle/>
          <a:p>
            <a:pPr algn="l">
              <a:lnSpc>
                <a:spcPct val="110000"/>
              </a:lnSpc>
            </a:pPr>
            <a:r>
              <a:rPr sz="1250" b="0" i="0">
                <a:solidFill>
                  <a:srgbClr val="1E293B"/>
                </a:solidFill>
                <a:latin typeface="Calibri"/>
              </a:rPr>
              <a:t>Cài đặt và mở ứng dụng vừa tải về.</a:t>
            </a:r>
          </a:p>
        </p:txBody>
      </p:sp>
      <p:sp>
        <p:nvSpPr>
          <p:cNvPr id="14" name="Oval 13"/>
          <p:cNvSpPr/>
          <p:nvPr/>
        </p:nvSpPr>
        <p:spPr>
          <a:xfrm>
            <a:off x="548640" y="2880360"/>
            <a:ext cx="420624" cy="420624"/>
          </a:xfrm>
          <a:prstGeom prst="ellipse">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350" b="1">
                <a:solidFill>
                  <a:srgbClr val="FFFFFF"/>
                </a:solidFill>
                <a:latin typeface="Calibri"/>
              </a:rPr>
              <a:t>3</a:t>
            </a:r>
          </a:p>
        </p:txBody>
      </p:sp>
      <p:sp>
        <p:nvSpPr>
          <p:cNvPr id="15" name="TextBox 14"/>
          <p:cNvSpPr txBox="1"/>
          <p:nvPr/>
        </p:nvSpPr>
        <p:spPr>
          <a:xfrm>
            <a:off x="1143000" y="2862072"/>
            <a:ext cx="10378440" cy="731520"/>
          </a:xfrm>
          <a:prstGeom prst="rect">
            <a:avLst/>
          </a:prstGeom>
          <a:noFill/>
        </p:spPr>
        <p:txBody>
          <a:bodyPr wrap="square" anchor="ctr">
            <a:spAutoFit/>
          </a:bodyPr>
          <a:lstStyle/>
          <a:p>
            <a:pPr algn="l">
              <a:lnSpc>
                <a:spcPct val="110000"/>
              </a:lnSpc>
            </a:pPr>
            <a:r>
              <a:rPr sz="1250" b="0" i="0">
                <a:solidFill>
                  <a:srgbClr val="1E293B"/>
                </a:solidFill>
                <a:latin typeface="Calibri"/>
              </a:rPr>
              <a:t>Đăng nhập bằng ĐÚNG tài khoản đã dùng để tạo Template ở Bước 1 (email hoặc Google).</a:t>
            </a:r>
          </a:p>
        </p:txBody>
      </p:sp>
      <p:sp>
        <p:nvSpPr>
          <p:cNvPr id="16" name="Oval 15"/>
          <p:cNvSpPr/>
          <p:nvPr/>
        </p:nvSpPr>
        <p:spPr>
          <a:xfrm>
            <a:off x="548640" y="3611880"/>
            <a:ext cx="420624" cy="420624"/>
          </a:xfrm>
          <a:prstGeom prst="ellipse">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350" b="1">
                <a:solidFill>
                  <a:srgbClr val="FFFFFF"/>
                </a:solidFill>
                <a:latin typeface="Calibri"/>
              </a:rPr>
              <a:t>4</a:t>
            </a:r>
          </a:p>
        </p:txBody>
      </p:sp>
      <p:sp>
        <p:nvSpPr>
          <p:cNvPr id="17" name="TextBox 16"/>
          <p:cNvSpPr txBox="1"/>
          <p:nvPr/>
        </p:nvSpPr>
        <p:spPr>
          <a:xfrm>
            <a:off x="1143000" y="3593592"/>
            <a:ext cx="10378440" cy="731520"/>
          </a:xfrm>
          <a:prstGeom prst="rect">
            <a:avLst/>
          </a:prstGeom>
          <a:noFill/>
        </p:spPr>
        <p:txBody>
          <a:bodyPr wrap="square" anchor="ctr">
            <a:spAutoFit/>
          </a:bodyPr>
          <a:lstStyle/>
          <a:p>
            <a:pPr algn="l">
              <a:lnSpc>
                <a:spcPct val="110000"/>
              </a:lnSpc>
            </a:pPr>
            <a:r>
              <a:rPr sz="1250" b="0" i="0">
                <a:solidFill>
                  <a:srgbClr val="1E293B"/>
                </a:solidFill>
                <a:latin typeface="Calibri"/>
              </a:rPr>
              <a:t>Ứng dụng tự động đồng bộ, hiển thị thiết bị vừa tạo trong danh sách "Devices".</a:t>
            </a:r>
          </a:p>
        </p:txBody>
      </p:sp>
      <p:sp>
        <p:nvSpPr>
          <p:cNvPr id="18" name="Oval 17"/>
          <p:cNvSpPr/>
          <p:nvPr/>
        </p:nvSpPr>
        <p:spPr>
          <a:xfrm>
            <a:off x="548640" y="4343400"/>
            <a:ext cx="420624" cy="420624"/>
          </a:xfrm>
          <a:prstGeom prst="ellipse">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350" b="1">
                <a:solidFill>
                  <a:srgbClr val="FFFFFF"/>
                </a:solidFill>
                <a:latin typeface="Calibri"/>
              </a:rPr>
              <a:t>5</a:t>
            </a:r>
          </a:p>
        </p:txBody>
      </p:sp>
      <p:sp>
        <p:nvSpPr>
          <p:cNvPr id="19" name="TextBox 18"/>
          <p:cNvSpPr txBox="1"/>
          <p:nvPr/>
        </p:nvSpPr>
        <p:spPr>
          <a:xfrm>
            <a:off x="1143000" y="4325112"/>
            <a:ext cx="10378440" cy="731520"/>
          </a:xfrm>
          <a:prstGeom prst="rect">
            <a:avLst/>
          </a:prstGeom>
          <a:noFill/>
        </p:spPr>
        <p:txBody>
          <a:bodyPr wrap="square" anchor="ctr">
            <a:spAutoFit/>
          </a:bodyPr>
          <a:lstStyle/>
          <a:p>
            <a:pPr algn="l">
              <a:lnSpc>
                <a:spcPct val="110000"/>
              </a:lnSpc>
            </a:pPr>
            <a:r>
              <a:rPr sz="1250" b="0" i="0">
                <a:solidFill>
                  <a:srgbClr val="1E293B"/>
                </a:solidFill>
                <a:latin typeface="Calibri"/>
              </a:rPr>
              <a:t>Chạm vào thiết bị để mở — màn hình lúc này còn trống vì chưa có Widget nào được thêm.</a:t>
            </a:r>
          </a:p>
        </p:txBody>
      </p:sp>
      <p:sp>
        <p:nvSpPr>
          <p:cNvPr id="20" name="Rounded Rectangle 19"/>
          <p:cNvSpPr/>
          <p:nvPr/>
        </p:nvSpPr>
        <p:spPr>
          <a:xfrm>
            <a:off x="548640" y="5148072"/>
            <a:ext cx="11064240" cy="1024128"/>
          </a:xfrm>
          <a:prstGeom prst="roundRect">
            <a:avLst/>
          </a:prstGeom>
          <a:solidFill>
            <a:srgbClr val="FEF5E6"/>
          </a:solidFill>
          <a:ln w="158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240" y="5257800"/>
            <a:ext cx="10607040" cy="804672"/>
          </a:xfrm>
          <a:prstGeom prst="rect">
            <a:avLst/>
          </a:prstGeom>
          <a:noFill/>
        </p:spPr>
        <p:txBody>
          <a:bodyPr wrap="square" anchor="ctr">
            <a:spAutoFit/>
          </a:bodyPr>
          <a:lstStyle/>
          <a:p>
            <a:pPr algn="l">
              <a:lnSpc>
                <a:spcPct val="115000"/>
              </a:lnSpc>
            </a:pPr>
            <a:r>
              <a:rPr sz="1050" b="0" i="1">
                <a:solidFill>
                  <a:srgbClr val="1E293B"/>
                </a:solidFill>
                <a:latin typeface="Calibri"/>
              </a:rPr>
              <a:t>💡 Lưu ý phân biệt "Blynk IoT" (app hiện hành) với "Blynk" bản cũ đã ngừng phát triển — cài nhầm sẽ không thấy Template/Device vừa tạo.</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1508760" y="292608"/>
            <a:ext cx="10195560" cy="841248"/>
          </a:xfrm>
          <a:prstGeom prst="roundRect">
            <a:avLst/>
          </a:prstGeom>
          <a:solidFill>
            <a:srgbClr val="F1EB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508760" y="384048"/>
            <a:ext cx="73152" cy="658368"/>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2920" y="384048"/>
            <a:ext cx="658368" cy="658368"/>
          </a:xfrm>
          <a:prstGeom prst="round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400" b="1">
                <a:solidFill>
                  <a:srgbClr val="FFFFFF"/>
                </a:solidFill>
                <a:latin typeface="Calibri"/>
              </a:rPr>
              <a:t>IoT</a:t>
            </a:r>
          </a:p>
        </p:txBody>
      </p:sp>
      <p:sp>
        <p:nvSpPr>
          <p:cNvPr id="5" name="TextBox 4"/>
          <p:cNvSpPr txBox="1"/>
          <p:nvPr/>
        </p:nvSpPr>
        <p:spPr>
          <a:xfrm>
            <a:off x="1819656" y="374904"/>
            <a:ext cx="9646920" cy="256032"/>
          </a:xfrm>
          <a:prstGeom prst="rect">
            <a:avLst/>
          </a:prstGeom>
          <a:noFill/>
        </p:spPr>
        <p:txBody>
          <a:bodyPr wrap="square">
            <a:spAutoFit/>
          </a:bodyPr>
          <a:lstStyle/>
          <a:p>
            <a:pPr algn="l"/>
            <a:r>
              <a:rPr sz="1200" b="1" i="0">
                <a:solidFill>
                  <a:srgbClr val="8B5CF6"/>
                </a:solidFill>
                <a:latin typeface="Calibri"/>
              </a:rPr>
              <a:t>B12 · CÀI ĐẶT APP · BƯỚC 8-9</a:t>
            </a:r>
          </a:p>
        </p:txBody>
      </p:sp>
      <p:sp>
        <p:nvSpPr>
          <p:cNvPr id="6" name="TextBox 5"/>
          <p:cNvSpPr txBox="1"/>
          <p:nvPr/>
        </p:nvSpPr>
        <p:spPr>
          <a:xfrm>
            <a:off x="1819656" y="630936"/>
            <a:ext cx="9646920" cy="457200"/>
          </a:xfrm>
          <a:prstGeom prst="rect">
            <a:avLst/>
          </a:prstGeom>
          <a:noFill/>
        </p:spPr>
        <p:txBody>
          <a:bodyPr wrap="square">
            <a:spAutoFit/>
          </a:bodyPr>
          <a:lstStyle/>
          <a:p>
            <a:pPr algn="l"/>
            <a:r>
              <a:rPr sz="2100" b="1" i="0">
                <a:solidFill>
                  <a:srgbClr val="1E293B"/>
                </a:solidFill>
                <a:latin typeface="Calibri"/>
              </a:rPr>
              <a:t>Dựng giao diện Mobile App — kéo thả Widget</a:t>
            </a:r>
          </a:p>
        </p:txBody>
      </p:sp>
      <p:cxnSp>
        <p:nvCxnSpPr>
          <p:cNvPr id="7" name="Connector 6"/>
          <p:cNvCxnSpPr/>
          <p:nvPr/>
        </p:nvCxnSpPr>
        <p:spPr>
          <a:xfrm>
            <a:off x="502920" y="6400800"/>
            <a:ext cx="11185855" cy="0"/>
          </a:xfrm>
          <a:prstGeom prst="line">
            <a:avLst/>
          </a:prstGeom>
          <a:ln w="9525">
            <a:solidFill>
              <a:srgbClr val="DDE3E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473952"/>
            <a:ext cx="6858000" cy="274320"/>
          </a:xfrm>
          <a:prstGeom prst="rect">
            <a:avLst/>
          </a:prstGeom>
          <a:noFill/>
        </p:spPr>
        <p:txBody>
          <a:bodyPr wrap="square">
            <a:spAutoFit/>
          </a:bodyPr>
          <a:lstStyle/>
          <a:p>
            <a:pPr algn="l"/>
            <a:r>
              <a:rPr sz="900" b="0" i="0">
                <a:solidFill>
                  <a:srgbClr val="94A3B8"/>
                </a:solidFill>
                <a:latin typeface="Calibri"/>
              </a:rPr>
              <a:t>IOT TRONG KỸ THUẬT MÔI TRƯỜNG  ·  B12</a:t>
            </a:r>
          </a:p>
        </p:txBody>
      </p:sp>
      <p:sp>
        <p:nvSpPr>
          <p:cNvPr id="9" name="TextBox 8"/>
          <p:cNvSpPr txBox="1"/>
          <p:nvPr/>
        </p:nvSpPr>
        <p:spPr>
          <a:xfrm>
            <a:off x="10820095" y="6473952"/>
            <a:ext cx="914400" cy="274320"/>
          </a:xfrm>
          <a:prstGeom prst="rect">
            <a:avLst/>
          </a:prstGeom>
          <a:noFill/>
        </p:spPr>
        <p:txBody>
          <a:bodyPr wrap="square">
            <a:spAutoFit/>
          </a:bodyPr>
          <a:lstStyle/>
          <a:p>
            <a:pPr algn="r"/>
            <a:r>
              <a:rPr sz="900" b="0" i="0">
                <a:solidFill>
                  <a:srgbClr val="94A3B8"/>
                </a:solidFill>
                <a:latin typeface="Calibri"/>
              </a:rPr>
              <a:t>14</a:t>
            </a:r>
          </a:p>
        </p:txBody>
      </p:sp>
      <p:sp>
        <p:nvSpPr>
          <p:cNvPr id="10" name="Oval 9"/>
          <p:cNvSpPr/>
          <p:nvPr/>
        </p:nvSpPr>
        <p:spPr>
          <a:xfrm>
            <a:off x="548640" y="1417320"/>
            <a:ext cx="420624" cy="420624"/>
          </a:xfrm>
          <a:prstGeom prst="ellipse">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350" b="1">
                <a:solidFill>
                  <a:srgbClr val="FFFFFF"/>
                </a:solidFill>
                <a:latin typeface="Calibri"/>
              </a:rPr>
              <a:t>1</a:t>
            </a:r>
          </a:p>
        </p:txBody>
      </p:sp>
      <p:sp>
        <p:nvSpPr>
          <p:cNvPr id="11" name="TextBox 10"/>
          <p:cNvSpPr txBox="1"/>
          <p:nvPr/>
        </p:nvSpPr>
        <p:spPr>
          <a:xfrm>
            <a:off x="1143000" y="1399032"/>
            <a:ext cx="10378440" cy="841248"/>
          </a:xfrm>
          <a:prstGeom prst="rect">
            <a:avLst/>
          </a:prstGeom>
          <a:noFill/>
        </p:spPr>
        <p:txBody>
          <a:bodyPr wrap="square" anchor="ctr">
            <a:spAutoFit/>
          </a:bodyPr>
          <a:lstStyle/>
          <a:p>
            <a:pPr algn="l">
              <a:lnSpc>
                <a:spcPct val="110000"/>
              </a:lnSpc>
            </a:pPr>
            <a:r>
              <a:rPr sz="1250" b="0" i="0">
                <a:solidFill>
                  <a:srgbClr val="1E293B"/>
                </a:solidFill>
                <a:latin typeface="Calibri"/>
              </a:rPr>
              <a:t>Chạm biểu tượng bút chì (Edit) ở góc trên bên phải màn hình thiết bị để vào chế độ chỉnh sửa.</a:t>
            </a:r>
          </a:p>
        </p:txBody>
      </p:sp>
      <p:sp>
        <p:nvSpPr>
          <p:cNvPr id="12" name="Oval 11"/>
          <p:cNvSpPr/>
          <p:nvPr/>
        </p:nvSpPr>
        <p:spPr>
          <a:xfrm>
            <a:off x="548640" y="2258568"/>
            <a:ext cx="420624" cy="420624"/>
          </a:xfrm>
          <a:prstGeom prst="ellipse">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350" b="1">
                <a:solidFill>
                  <a:srgbClr val="FFFFFF"/>
                </a:solidFill>
                <a:latin typeface="Calibri"/>
              </a:rPr>
              <a:t>2</a:t>
            </a:r>
          </a:p>
        </p:txBody>
      </p:sp>
      <p:sp>
        <p:nvSpPr>
          <p:cNvPr id="13" name="TextBox 12"/>
          <p:cNvSpPr txBox="1"/>
          <p:nvPr/>
        </p:nvSpPr>
        <p:spPr>
          <a:xfrm>
            <a:off x="1143000" y="2240280"/>
            <a:ext cx="10378440" cy="841248"/>
          </a:xfrm>
          <a:prstGeom prst="rect">
            <a:avLst/>
          </a:prstGeom>
          <a:noFill/>
        </p:spPr>
        <p:txBody>
          <a:bodyPr wrap="square" anchor="ctr">
            <a:spAutoFit/>
          </a:bodyPr>
          <a:lstStyle/>
          <a:p>
            <a:pPr algn="l">
              <a:lnSpc>
                <a:spcPct val="110000"/>
              </a:lnSpc>
            </a:pPr>
            <a:r>
              <a:rPr sz="1250" b="0" i="0">
                <a:solidFill>
                  <a:srgbClr val="1E293B"/>
                </a:solidFill>
                <a:latin typeface="Calibri"/>
              </a:rPr>
              <a:t>Khay Widget trượt lên từ phía dưới màn hình — chọn và kéo thả từng Widget vào vùng làm việc.</a:t>
            </a:r>
          </a:p>
        </p:txBody>
      </p:sp>
      <p:sp>
        <p:nvSpPr>
          <p:cNvPr id="14" name="Oval 13"/>
          <p:cNvSpPr/>
          <p:nvPr/>
        </p:nvSpPr>
        <p:spPr>
          <a:xfrm>
            <a:off x="548640" y="3099816"/>
            <a:ext cx="420624" cy="420624"/>
          </a:xfrm>
          <a:prstGeom prst="ellipse">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350" b="1">
                <a:solidFill>
                  <a:srgbClr val="FFFFFF"/>
                </a:solidFill>
                <a:latin typeface="Calibri"/>
              </a:rPr>
              <a:t>3</a:t>
            </a:r>
          </a:p>
        </p:txBody>
      </p:sp>
      <p:sp>
        <p:nvSpPr>
          <p:cNvPr id="15" name="TextBox 14"/>
          <p:cNvSpPr txBox="1"/>
          <p:nvPr/>
        </p:nvSpPr>
        <p:spPr>
          <a:xfrm>
            <a:off x="1143000" y="3081528"/>
            <a:ext cx="10378440" cy="841248"/>
          </a:xfrm>
          <a:prstGeom prst="rect">
            <a:avLst/>
          </a:prstGeom>
          <a:noFill/>
        </p:spPr>
        <p:txBody>
          <a:bodyPr wrap="square" anchor="ctr">
            <a:spAutoFit/>
          </a:bodyPr>
          <a:lstStyle/>
          <a:p>
            <a:pPr algn="l">
              <a:lnSpc>
                <a:spcPct val="110000"/>
              </a:lnSpc>
            </a:pPr>
            <a:r>
              <a:rPr sz="1250" b="0" i="0">
                <a:solidFill>
                  <a:srgbClr val="1E293B"/>
                </a:solidFill>
                <a:latin typeface="Calibri"/>
              </a:rPr>
              <a:t>Chạm vào Widget vừa thả &gt; mục DATASTREAM &gt; chọn đúng Virtual Pin theo đúng bảng ánh xạ đã thiết kế.</a:t>
            </a:r>
          </a:p>
        </p:txBody>
      </p:sp>
      <p:sp>
        <p:nvSpPr>
          <p:cNvPr id="16" name="Oval 15"/>
          <p:cNvSpPr/>
          <p:nvPr/>
        </p:nvSpPr>
        <p:spPr>
          <a:xfrm>
            <a:off x="548640" y="3941064"/>
            <a:ext cx="420624" cy="420624"/>
          </a:xfrm>
          <a:prstGeom prst="ellipse">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350" b="1">
                <a:solidFill>
                  <a:srgbClr val="FFFFFF"/>
                </a:solidFill>
                <a:latin typeface="Calibri"/>
              </a:rPr>
              <a:t>4</a:t>
            </a:r>
          </a:p>
        </p:txBody>
      </p:sp>
      <p:sp>
        <p:nvSpPr>
          <p:cNvPr id="17" name="TextBox 16"/>
          <p:cNvSpPr txBox="1"/>
          <p:nvPr/>
        </p:nvSpPr>
        <p:spPr>
          <a:xfrm>
            <a:off x="1143000" y="3922776"/>
            <a:ext cx="10378440" cy="841248"/>
          </a:xfrm>
          <a:prstGeom prst="rect">
            <a:avLst/>
          </a:prstGeom>
          <a:noFill/>
        </p:spPr>
        <p:txBody>
          <a:bodyPr wrap="square" anchor="ctr">
            <a:spAutoFit/>
          </a:bodyPr>
          <a:lstStyle/>
          <a:p>
            <a:pPr algn="l">
              <a:lnSpc>
                <a:spcPct val="110000"/>
              </a:lnSpc>
            </a:pPr>
            <a:r>
              <a:rPr sz="1250" b="0" i="0">
                <a:solidFill>
                  <a:srgbClr val="1E293B"/>
                </a:solidFill>
                <a:latin typeface="Calibri"/>
              </a:rPr>
              <a:t>Tuỳ chỉnh tên hiển thị, màu sắc, dải giá trị (min/max) cho từng Widget để dễ đọc.</a:t>
            </a:r>
          </a:p>
        </p:txBody>
      </p:sp>
      <p:sp>
        <p:nvSpPr>
          <p:cNvPr id="18" name="Oval 17"/>
          <p:cNvSpPr/>
          <p:nvPr/>
        </p:nvSpPr>
        <p:spPr>
          <a:xfrm>
            <a:off x="548640" y="4782312"/>
            <a:ext cx="420624" cy="420624"/>
          </a:xfrm>
          <a:prstGeom prst="ellipse">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350" b="1">
                <a:solidFill>
                  <a:srgbClr val="FFFFFF"/>
                </a:solidFill>
                <a:latin typeface="Calibri"/>
              </a:rPr>
              <a:t>5</a:t>
            </a:r>
          </a:p>
        </p:txBody>
      </p:sp>
      <p:sp>
        <p:nvSpPr>
          <p:cNvPr id="19" name="TextBox 18"/>
          <p:cNvSpPr txBox="1"/>
          <p:nvPr/>
        </p:nvSpPr>
        <p:spPr>
          <a:xfrm>
            <a:off x="1143000" y="4764024"/>
            <a:ext cx="10378440" cy="841248"/>
          </a:xfrm>
          <a:prstGeom prst="rect">
            <a:avLst/>
          </a:prstGeom>
          <a:noFill/>
        </p:spPr>
        <p:txBody>
          <a:bodyPr wrap="square" anchor="ctr">
            <a:spAutoFit/>
          </a:bodyPr>
          <a:lstStyle/>
          <a:p>
            <a:pPr algn="l">
              <a:lnSpc>
                <a:spcPct val="110000"/>
              </a:lnSpc>
            </a:pPr>
            <a:r>
              <a:rPr sz="1250" b="0" i="0">
                <a:solidFill>
                  <a:srgbClr val="1E293B"/>
                </a:solidFill>
                <a:latin typeface="Calibri"/>
              </a:rPr>
              <a:t>Kéo-thả sắp xếp lại vị trí các Widget, sau đó chạm dấu ✓ (Save) ở góc trên để lưu và thoát chế độ chỉnh sửa.</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1508760" y="292608"/>
            <a:ext cx="10195560" cy="841248"/>
          </a:xfrm>
          <a:prstGeom prst="roundRect">
            <a:avLst/>
          </a:prstGeom>
          <a:solidFill>
            <a:srgbClr val="E2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508760" y="384048"/>
            <a:ext cx="73152"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2920" y="384048"/>
            <a:ext cx="658368" cy="658368"/>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400" b="1">
                <a:solidFill>
                  <a:srgbClr val="FFFFFF"/>
                </a:solidFill>
                <a:latin typeface="Calibri"/>
              </a:rPr>
              <a:t>IoT</a:t>
            </a:r>
          </a:p>
        </p:txBody>
      </p:sp>
      <p:sp>
        <p:nvSpPr>
          <p:cNvPr id="5" name="TextBox 4"/>
          <p:cNvSpPr txBox="1"/>
          <p:nvPr/>
        </p:nvSpPr>
        <p:spPr>
          <a:xfrm>
            <a:off x="1819656" y="374904"/>
            <a:ext cx="9646920" cy="256032"/>
          </a:xfrm>
          <a:prstGeom prst="rect">
            <a:avLst/>
          </a:prstGeom>
          <a:noFill/>
        </p:spPr>
        <p:txBody>
          <a:bodyPr wrap="square">
            <a:spAutoFit/>
          </a:bodyPr>
          <a:lstStyle/>
          <a:p>
            <a:pPr algn="l"/>
            <a:r>
              <a:rPr sz="1200" b="1" i="0">
                <a:solidFill>
                  <a:srgbClr val="10B981"/>
                </a:solidFill>
                <a:latin typeface="Calibri"/>
              </a:rPr>
              <a:t>B12 · HOÀN TẤT · BƯỚC 10-11</a:t>
            </a:r>
          </a:p>
        </p:txBody>
      </p:sp>
      <p:sp>
        <p:nvSpPr>
          <p:cNvPr id="6" name="TextBox 5"/>
          <p:cNvSpPr txBox="1"/>
          <p:nvPr/>
        </p:nvSpPr>
        <p:spPr>
          <a:xfrm>
            <a:off x="1819656" y="630936"/>
            <a:ext cx="9646920" cy="457200"/>
          </a:xfrm>
          <a:prstGeom prst="rect">
            <a:avLst/>
          </a:prstGeom>
          <a:noFill/>
        </p:spPr>
        <p:txBody>
          <a:bodyPr wrap="square">
            <a:spAutoFit/>
          </a:bodyPr>
          <a:lstStyle/>
          <a:p>
            <a:pPr algn="l"/>
            <a:r>
              <a:rPr sz="2100" b="1" i="0">
                <a:solidFill>
                  <a:srgbClr val="1E293B"/>
                </a:solidFill>
                <a:latin typeface="Calibri"/>
              </a:rPr>
              <a:t>Nạp code &amp; Kiểm tra kết nối thành công</a:t>
            </a:r>
          </a:p>
        </p:txBody>
      </p:sp>
      <p:cxnSp>
        <p:nvCxnSpPr>
          <p:cNvPr id="7" name="Connector 6"/>
          <p:cNvCxnSpPr/>
          <p:nvPr/>
        </p:nvCxnSpPr>
        <p:spPr>
          <a:xfrm>
            <a:off x="502920" y="6400800"/>
            <a:ext cx="11185855" cy="0"/>
          </a:xfrm>
          <a:prstGeom prst="line">
            <a:avLst/>
          </a:prstGeom>
          <a:ln w="9525">
            <a:solidFill>
              <a:srgbClr val="DDE3E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473952"/>
            <a:ext cx="6858000" cy="274320"/>
          </a:xfrm>
          <a:prstGeom prst="rect">
            <a:avLst/>
          </a:prstGeom>
          <a:noFill/>
        </p:spPr>
        <p:txBody>
          <a:bodyPr wrap="square">
            <a:spAutoFit/>
          </a:bodyPr>
          <a:lstStyle/>
          <a:p>
            <a:pPr algn="l"/>
            <a:r>
              <a:rPr sz="900" b="0" i="0">
                <a:solidFill>
                  <a:srgbClr val="94A3B8"/>
                </a:solidFill>
                <a:latin typeface="Calibri"/>
              </a:rPr>
              <a:t>IOT TRONG KỸ THUẬT MÔI TRƯỜNG  ·  B12</a:t>
            </a:r>
          </a:p>
        </p:txBody>
      </p:sp>
      <p:sp>
        <p:nvSpPr>
          <p:cNvPr id="9" name="TextBox 8"/>
          <p:cNvSpPr txBox="1"/>
          <p:nvPr/>
        </p:nvSpPr>
        <p:spPr>
          <a:xfrm>
            <a:off x="10820095" y="6473952"/>
            <a:ext cx="914400" cy="274320"/>
          </a:xfrm>
          <a:prstGeom prst="rect">
            <a:avLst/>
          </a:prstGeom>
          <a:noFill/>
        </p:spPr>
        <p:txBody>
          <a:bodyPr wrap="square">
            <a:spAutoFit/>
          </a:bodyPr>
          <a:lstStyle/>
          <a:p>
            <a:pPr algn="r"/>
            <a:r>
              <a:rPr sz="900" b="0" i="0">
                <a:solidFill>
                  <a:srgbClr val="94A3B8"/>
                </a:solidFill>
                <a:latin typeface="Calibri"/>
              </a:rPr>
              <a:t>15</a:t>
            </a:r>
          </a:p>
        </p:txBody>
      </p:sp>
      <p:sp>
        <p:nvSpPr>
          <p:cNvPr id="10" name="Oval 9"/>
          <p:cNvSpPr/>
          <p:nvPr/>
        </p:nvSpPr>
        <p:spPr>
          <a:xfrm>
            <a:off x="548640" y="1417320"/>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350" b="1">
                <a:solidFill>
                  <a:srgbClr val="FFFFFF"/>
                </a:solidFill>
                <a:latin typeface="Calibri"/>
              </a:rPr>
              <a:t>1</a:t>
            </a:r>
          </a:p>
        </p:txBody>
      </p:sp>
      <p:sp>
        <p:nvSpPr>
          <p:cNvPr id="11" name="TextBox 10"/>
          <p:cNvSpPr txBox="1"/>
          <p:nvPr/>
        </p:nvSpPr>
        <p:spPr>
          <a:xfrm>
            <a:off x="1143000" y="1399032"/>
            <a:ext cx="10378440" cy="822960"/>
          </a:xfrm>
          <a:prstGeom prst="rect">
            <a:avLst/>
          </a:prstGeom>
          <a:noFill/>
        </p:spPr>
        <p:txBody>
          <a:bodyPr wrap="square" anchor="ctr">
            <a:spAutoFit/>
          </a:bodyPr>
          <a:lstStyle/>
          <a:p>
            <a:pPr algn="l">
              <a:lnSpc>
                <a:spcPct val="110000"/>
              </a:lnSpc>
            </a:pPr>
            <a:r>
              <a:rPr sz="1250" b="0" i="0">
                <a:solidFill>
                  <a:srgbClr val="1E293B"/>
                </a:solidFill>
                <a:latin typeface="Calibri"/>
              </a:rPr>
              <a:t>Mở Arduino IDE trên máy tính, cài thư viện "Blynk" (Sketch &gt; Include Library &gt; Manage Libraries &gt; tìm "Blynk").</a:t>
            </a:r>
          </a:p>
        </p:txBody>
      </p:sp>
      <p:sp>
        <p:nvSpPr>
          <p:cNvPr id="12" name="Oval 11"/>
          <p:cNvSpPr/>
          <p:nvPr/>
        </p:nvSpPr>
        <p:spPr>
          <a:xfrm>
            <a:off x="548640" y="2240280"/>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350" b="1">
                <a:solidFill>
                  <a:srgbClr val="FFFFFF"/>
                </a:solidFill>
                <a:latin typeface="Calibri"/>
              </a:rPr>
              <a:t>2</a:t>
            </a:r>
          </a:p>
        </p:txBody>
      </p:sp>
      <p:sp>
        <p:nvSpPr>
          <p:cNvPr id="13" name="TextBox 12"/>
          <p:cNvSpPr txBox="1"/>
          <p:nvPr/>
        </p:nvSpPr>
        <p:spPr>
          <a:xfrm>
            <a:off x="1143000" y="2221992"/>
            <a:ext cx="10378440" cy="822960"/>
          </a:xfrm>
          <a:prstGeom prst="rect">
            <a:avLst/>
          </a:prstGeom>
          <a:noFill/>
        </p:spPr>
        <p:txBody>
          <a:bodyPr wrap="square" anchor="ctr">
            <a:spAutoFit/>
          </a:bodyPr>
          <a:lstStyle/>
          <a:p>
            <a:pPr algn="l">
              <a:lnSpc>
                <a:spcPct val="110000"/>
              </a:lnSpc>
            </a:pPr>
            <a:r>
              <a:rPr sz="1250" b="0" i="0">
                <a:solidFill>
                  <a:srgbClr val="1E293B"/>
                </a:solidFill>
                <a:latin typeface="Calibri"/>
              </a:rPr>
              <a:t>Dán đầy đủ đoạn code ở 2 slide "Mã nguồn mở rộng" tiếp theo vào 1 file .ino.</a:t>
            </a:r>
          </a:p>
        </p:txBody>
      </p:sp>
      <p:sp>
        <p:nvSpPr>
          <p:cNvPr id="14" name="Oval 13"/>
          <p:cNvSpPr/>
          <p:nvPr/>
        </p:nvSpPr>
        <p:spPr>
          <a:xfrm>
            <a:off x="548640" y="3063240"/>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350" b="1">
                <a:solidFill>
                  <a:srgbClr val="FFFFFF"/>
                </a:solidFill>
                <a:latin typeface="Calibri"/>
              </a:rPr>
              <a:t>3</a:t>
            </a:r>
          </a:p>
        </p:txBody>
      </p:sp>
      <p:sp>
        <p:nvSpPr>
          <p:cNvPr id="15" name="TextBox 14"/>
          <p:cNvSpPr txBox="1"/>
          <p:nvPr/>
        </p:nvSpPr>
        <p:spPr>
          <a:xfrm>
            <a:off x="1143000" y="3044952"/>
            <a:ext cx="10378440" cy="822960"/>
          </a:xfrm>
          <a:prstGeom prst="rect">
            <a:avLst/>
          </a:prstGeom>
          <a:noFill/>
        </p:spPr>
        <p:txBody>
          <a:bodyPr wrap="square" anchor="ctr">
            <a:spAutoFit/>
          </a:bodyPr>
          <a:lstStyle/>
          <a:p>
            <a:pPr algn="l">
              <a:lnSpc>
                <a:spcPct val="110000"/>
              </a:lnSpc>
            </a:pPr>
            <a:r>
              <a:rPr sz="1250" b="0" i="0">
                <a:solidFill>
                  <a:srgbClr val="1E293B"/>
                </a:solidFill>
                <a:latin typeface="Calibri"/>
              </a:rPr>
              <a:t>Kiểm tra lại đã điền đúng: BLYNK_AUTH_TOKEN (lấy ở Bước 4), tên WiFi (ssid) và mật khẩu WiFi (pass).</a:t>
            </a:r>
          </a:p>
        </p:txBody>
      </p:sp>
      <p:sp>
        <p:nvSpPr>
          <p:cNvPr id="16" name="Oval 15"/>
          <p:cNvSpPr/>
          <p:nvPr/>
        </p:nvSpPr>
        <p:spPr>
          <a:xfrm>
            <a:off x="548640" y="3886200"/>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350" b="1">
                <a:solidFill>
                  <a:srgbClr val="FFFFFF"/>
                </a:solidFill>
                <a:latin typeface="Calibri"/>
              </a:rPr>
              <a:t>4</a:t>
            </a:r>
          </a:p>
        </p:txBody>
      </p:sp>
      <p:sp>
        <p:nvSpPr>
          <p:cNvPr id="17" name="TextBox 16"/>
          <p:cNvSpPr txBox="1"/>
          <p:nvPr/>
        </p:nvSpPr>
        <p:spPr>
          <a:xfrm>
            <a:off x="1143000" y="3867912"/>
            <a:ext cx="10378440" cy="822960"/>
          </a:xfrm>
          <a:prstGeom prst="rect">
            <a:avLst/>
          </a:prstGeom>
          <a:noFill/>
        </p:spPr>
        <p:txBody>
          <a:bodyPr wrap="square" anchor="ctr">
            <a:spAutoFit/>
          </a:bodyPr>
          <a:lstStyle/>
          <a:p>
            <a:pPr algn="l">
              <a:lnSpc>
                <a:spcPct val="110000"/>
              </a:lnSpc>
            </a:pPr>
            <a:r>
              <a:rPr sz="1250" b="0" i="0">
                <a:solidFill>
                  <a:srgbClr val="1E293B"/>
                </a:solidFill>
                <a:latin typeface="Calibri"/>
              </a:rPr>
              <a:t>Chọn đúng Board "ESP32S3 Dev Module" và cổng COM tương ứng trong Arduino IDE &gt; bấm Upload.</a:t>
            </a:r>
          </a:p>
        </p:txBody>
      </p:sp>
      <p:sp>
        <p:nvSpPr>
          <p:cNvPr id="18" name="Oval 17"/>
          <p:cNvSpPr/>
          <p:nvPr/>
        </p:nvSpPr>
        <p:spPr>
          <a:xfrm>
            <a:off x="548640" y="4709160"/>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350" b="1">
                <a:solidFill>
                  <a:srgbClr val="FFFFFF"/>
                </a:solidFill>
                <a:latin typeface="Calibri"/>
              </a:rPr>
              <a:t>5</a:t>
            </a:r>
          </a:p>
        </p:txBody>
      </p:sp>
      <p:sp>
        <p:nvSpPr>
          <p:cNvPr id="19" name="TextBox 18"/>
          <p:cNvSpPr txBox="1"/>
          <p:nvPr/>
        </p:nvSpPr>
        <p:spPr>
          <a:xfrm>
            <a:off x="1143000" y="4690872"/>
            <a:ext cx="10378440" cy="822960"/>
          </a:xfrm>
          <a:prstGeom prst="rect">
            <a:avLst/>
          </a:prstGeom>
          <a:noFill/>
        </p:spPr>
        <p:txBody>
          <a:bodyPr wrap="square" anchor="ctr">
            <a:spAutoFit/>
          </a:bodyPr>
          <a:lstStyle/>
          <a:p>
            <a:pPr algn="l">
              <a:lnSpc>
                <a:spcPct val="110000"/>
              </a:lnSpc>
            </a:pPr>
            <a:r>
              <a:rPr sz="1250" b="0" i="0">
                <a:solidFill>
                  <a:srgbClr val="1E293B"/>
                </a:solidFill>
                <a:latin typeface="Calibri"/>
              </a:rPr>
              <a:t>Mở Serial Monitor (baud rate 115200) — quan sát dòng chữ xác nhận kết nối WiFi và Blynk thành công.</a:t>
            </a:r>
          </a:p>
        </p:txBody>
      </p:sp>
      <p:sp>
        <p:nvSpPr>
          <p:cNvPr id="20" name="Oval 19"/>
          <p:cNvSpPr/>
          <p:nvPr/>
        </p:nvSpPr>
        <p:spPr>
          <a:xfrm>
            <a:off x="548640" y="5532120"/>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350" b="1">
                <a:solidFill>
                  <a:srgbClr val="FFFFFF"/>
                </a:solidFill>
                <a:latin typeface="Calibri"/>
              </a:rPr>
              <a:t>6</a:t>
            </a:r>
          </a:p>
        </p:txBody>
      </p:sp>
      <p:sp>
        <p:nvSpPr>
          <p:cNvPr id="21" name="TextBox 20"/>
          <p:cNvSpPr txBox="1"/>
          <p:nvPr/>
        </p:nvSpPr>
        <p:spPr>
          <a:xfrm>
            <a:off x="1143000" y="5513832"/>
            <a:ext cx="10378440" cy="822960"/>
          </a:xfrm>
          <a:prstGeom prst="rect">
            <a:avLst/>
          </a:prstGeom>
          <a:noFill/>
        </p:spPr>
        <p:txBody>
          <a:bodyPr wrap="square" anchor="ctr">
            <a:spAutoFit/>
          </a:bodyPr>
          <a:lstStyle/>
          <a:p>
            <a:pPr algn="l">
              <a:lnSpc>
                <a:spcPct val="110000"/>
              </a:lnSpc>
            </a:pPr>
            <a:r>
              <a:rPr sz="1250" b="0" i="0">
                <a:solidFill>
                  <a:srgbClr val="1E293B"/>
                </a:solidFill>
                <a:latin typeface="Calibri"/>
              </a:rPr>
              <a:t>Quay lại App/Web: chấm tròn trạng thái thiết bị chuyển từ xám "Offline" sang xanh lá "Online", số liệu bắt đầu cập nhật realtime trên các Widget.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1508760" y="292608"/>
            <a:ext cx="10195560" cy="841248"/>
          </a:xfrm>
          <a:prstGeom prst="roundRect">
            <a:avLst/>
          </a:prstGeom>
          <a:solidFill>
            <a:srgbClr val="FD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508760" y="384048"/>
            <a:ext cx="73152" cy="658368"/>
          </a:xfrm>
          <a:prstGeom prst="rect">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2920" y="384048"/>
            <a:ext cx="658368" cy="658368"/>
          </a:xfrm>
          <a:prstGeom prst="roundRect">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400" b="1">
                <a:solidFill>
                  <a:srgbClr val="FFFFFF"/>
                </a:solidFill>
                <a:latin typeface="Calibri"/>
              </a:rPr>
              <a:t>IoT</a:t>
            </a:r>
          </a:p>
        </p:txBody>
      </p:sp>
      <p:sp>
        <p:nvSpPr>
          <p:cNvPr id="5" name="TextBox 4"/>
          <p:cNvSpPr txBox="1"/>
          <p:nvPr/>
        </p:nvSpPr>
        <p:spPr>
          <a:xfrm>
            <a:off x="1819656" y="374904"/>
            <a:ext cx="9646920" cy="256032"/>
          </a:xfrm>
          <a:prstGeom prst="rect">
            <a:avLst/>
          </a:prstGeom>
          <a:noFill/>
        </p:spPr>
        <p:txBody>
          <a:bodyPr wrap="square">
            <a:spAutoFit/>
          </a:bodyPr>
          <a:lstStyle/>
          <a:p>
            <a:pPr algn="l"/>
            <a:r>
              <a:rPr sz="1200" b="1" i="0">
                <a:solidFill>
                  <a:srgbClr val="EF4444"/>
                </a:solidFill>
                <a:latin typeface="Calibri"/>
              </a:rPr>
              <a:t>B12 · XỬ LÝ SỰ CỐ</a:t>
            </a:r>
          </a:p>
        </p:txBody>
      </p:sp>
      <p:sp>
        <p:nvSpPr>
          <p:cNvPr id="6" name="TextBox 5"/>
          <p:cNvSpPr txBox="1"/>
          <p:nvPr/>
        </p:nvSpPr>
        <p:spPr>
          <a:xfrm>
            <a:off x="1819656" y="630936"/>
            <a:ext cx="9646920" cy="457200"/>
          </a:xfrm>
          <a:prstGeom prst="rect">
            <a:avLst/>
          </a:prstGeom>
          <a:noFill/>
        </p:spPr>
        <p:txBody>
          <a:bodyPr wrap="square">
            <a:spAutoFit/>
          </a:bodyPr>
          <a:lstStyle/>
          <a:p>
            <a:pPr algn="l"/>
            <a:r>
              <a:rPr sz="2100" b="1" i="0">
                <a:solidFill>
                  <a:srgbClr val="1E293B"/>
                </a:solidFill>
                <a:latin typeface="Calibri"/>
              </a:rPr>
              <a:t>Các lỗi thường gặp khi cài đặt</a:t>
            </a:r>
          </a:p>
        </p:txBody>
      </p:sp>
      <p:cxnSp>
        <p:nvCxnSpPr>
          <p:cNvPr id="7" name="Connector 6"/>
          <p:cNvCxnSpPr/>
          <p:nvPr/>
        </p:nvCxnSpPr>
        <p:spPr>
          <a:xfrm>
            <a:off x="502920" y="6400800"/>
            <a:ext cx="11185855" cy="0"/>
          </a:xfrm>
          <a:prstGeom prst="line">
            <a:avLst/>
          </a:prstGeom>
          <a:ln w="9525">
            <a:solidFill>
              <a:srgbClr val="DDE3E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473952"/>
            <a:ext cx="6858000" cy="274320"/>
          </a:xfrm>
          <a:prstGeom prst="rect">
            <a:avLst/>
          </a:prstGeom>
          <a:noFill/>
        </p:spPr>
        <p:txBody>
          <a:bodyPr wrap="square">
            <a:spAutoFit/>
          </a:bodyPr>
          <a:lstStyle/>
          <a:p>
            <a:pPr algn="l"/>
            <a:r>
              <a:rPr sz="900" b="0" i="0">
                <a:solidFill>
                  <a:srgbClr val="94A3B8"/>
                </a:solidFill>
                <a:latin typeface="Calibri"/>
              </a:rPr>
              <a:t>IOT TRONG KỸ THUẬT MÔI TRƯỜNG  ·  B12</a:t>
            </a:r>
          </a:p>
        </p:txBody>
      </p:sp>
      <p:sp>
        <p:nvSpPr>
          <p:cNvPr id="9" name="TextBox 8"/>
          <p:cNvSpPr txBox="1"/>
          <p:nvPr/>
        </p:nvSpPr>
        <p:spPr>
          <a:xfrm>
            <a:off x="10820095" y="6473952"/>
            <a:ext cx="914400" cy="274320"/>
          </a:xfrm>
          <a:prstGeom prst="rect">
            <a:avLst/>
          </a:prstGeom>
          <a:noFill/>
        </p:spPr>
        <p:txBody>
          <a:bodyPr wrap="square">
            <a:spAutoFit/>
          </a:bodyPr>
          <a:lstStyle/>
          <a:p>
            <a:pPr algn="r"/>
            <a:r>
              <a:rPr sz="900" b="0" i="0">
                <a:solidFill>
                  <a:srgbClr val="94A3B8"/>
                </a:solidFill>
                <a:latin typeface="Calibri"/>
              </a:rPr>
              <a:t>16</a:t>
            </a:r>
          </a:p>
        </p:txBody>
      </p:sp>
      <p:graphicFrame>
        <p:nvGraphicFramePr>
          <p:cNvPr id="10" name="Table 9"/>
          <p:cNvGraphicFramePr>
            <a:graphicFrameLocks noGrp="1"/>
          </p:cNvGraphicFramePr>
          <p:nvPr/>
        </p:nvGraphicFramePr>
        <p:xfrm>
          <a:off x="548640" y="1417320"/>
          <a:ext cx="11064240" cy="3749039"/>
        </p:xfrm>
        <a:graphic>
          <a:graphicData uri="http://schemas.openxmlformats.org/drawingml/2006/table">
            <a:tbl>
              <a:tblPr>
                <a:tableStyleId>{5C22544A-7EE6-4342-B048-85BDC9FD1C3A}</a:tableStyleId>
              </a:tblPr>
              <a:tblGrid>
                <a:gridCol w="3108960"/>
                <a:gridCol w="3657600"/>
                <a:gridCol w="4297680"/>
              </a:tblGrid>
              <a:tr h="535577">
                <a:tc>
                  <a:txBody>
                    <a:bodyPr wrap="square"/>
                    <a:lstStyle/>
                    <a:p>
                      <a:pPr algn="ctr"/>
                      <a:r>
                        <a:rPr sz="1050" b="1">
                          <a:solidFill>
                            <a:srgbClr val="FFFFFF"/>
                          </a:solidFill>
                          <a:latin typeface="Calibri"/>
                        </a:rPr>
                        <a:t>Triệu chứng</a:t>
                      </a:r>
                    </a:p>
                  </a:txBody>
                  <a:tcPr marL="73152" marR="73152" marT="36576" marB="36576" anchor="ctr">
                    <a:solidFill>
                      <a:srgbClr val="EF4444"/>
                    </a:solidFill>
                  </a:tcPr>
                </a:tc>
                <a:tc>
                  <a:txBody>
                    <a:bodyPr wrap="square"/>
                    <a:lstStyle/>
                    <a:p>
                      <a:pPr algn="ctr"/>
                      <a:r>
                        <a:rPr sz="1050" b="1">
                          <a:solidFill>
                            <a:srgbClr val="FFFFFF"/>
                          </a:solidFill>
                          <a:latin typeface="Calibri"/>
                        </a:rPr>
                        <a:t>Nguyên nhân thường gặp</a:t>
                      </a:r>
                    </a:p>
                  </a:txBody>
                  <a:tcPr marL="73152" marR="73152" marT="36576" marB="36576" anchor="ctr">
                    <a:solidFill>
                      <a:srgbClr val="EF4444"/>
                    </a:solidFill>
                  </a:tcPr>
                </a:tc>
                <a:tc>
                  <a:txBody>
                    <a:bodyPr wrap="square"/>
                    <a:lstStyle/>
                    <a:p>
                      <a:pPr algn="ctr"/>
                      <a:r>
                        <a:rPr sz="1050" b="1">
                          <a:solidFill>
                            <a:srgbClr val="FFFFFF"/>
                          </a:solidFill>
                          <a:latin typeface="Calibri"/>
                        </a:rPr>
                        <a:t>Cách khắc phục</a:t>
                      </a:r>
                    </a:p>
                  </a:txBody>
                  <a:tcPr marL="73152" marR="73152" marT="36576" marB="36576" anchor="ctr">
                    <a:solidFill>
                      <a:srgbClr val="EF4444"/>
                    </a:solidFill>
                  </a:tcPr>
                </a:tc>
              </a:tr>
              <a:tr h="535577">
                <a:tc>
                  <a:txBody>
                    <a:bodyPr wrap="square"/>
                    <a:lstStyle/>
                    <a:p>
                      <a:pPr algn="l"/>
                      <a:r>
                        <a:rPr sz="950" b="0">
                          <a:solidFill>
                            <a:srgbClr val="1E293B"/>
                          </a:solidFill>
                          <a:latin typeface="Calibri"/>
                        </a:rPr>
                        <a:t>Thiết bị luôn hiện "Offline"</a:t>
                      </a:r>
                    </a:p>
                  </a:txBody>
                  <a:tcPr marL="73152" marR="73152" marT="36576" marB="36576" anchor="ctr">
                    <a:solidFill>
                      <a:srgbClr val="FFFFFF"/>
                    </a:solidFill>
                  </a:tcPr>
                </a:tc>
                <a:tc>
                  <a:txBody>
                    <a:bodyPr wrap="square"/>
                    <a:lstStyle/>
                    <a:p>
                      <a:pPr algn="l"/>
                      <a:r>
                        <a:rPr sz="950" b="0">
                          <a:solidFill>
                            <a:srgbClr val="1E293B"/>
                          </a:solidFill>
                          <a:latin typeface="Calibri"/>
                        </a:rPr>
                        <a:t>Sai Auth Token, hoặc sai tên/mật khẩu WiFi trong code</a:t>
                      </a:r>
                    </a:p>
                  </a:txBody>
                  <a:tcPr marL="73152" marR="73152" marT="36576" marB="36576" anchor="ctr">
                    <a:solidFill>
                      <a:srgbClr val="FFFFFF"/>
                    </a:solidFill>
                  </a:tcPr>
                </a:tc>
                <a:tc>
                  <a:txBody>
                    <a:bodyPr wrap="square"/>
                    <a:lstStyle/>
                    <a:p>
                      <a:pPr algn="l"/>
                      <a:r>
                        <a:rPr sz="950" b="0">
                          <a:solidFill>
                            <a:srgbClr val="1E293B"/>
                          </a:solidFill>
                          <a:latin typeface="Calibri"/>
                        </a:rPr>
                        <a:t>Kiểm tra lại BLYNK_AUTH_TOKEN dán đúng; xem Serial Monitor để xác nhận board đã kết nối được WiFi</a:t>
                      </a:r>
                    </a:p>
                  </a:txBody>
                  <a:tcPr marL="73152" marR="73152" marT="36576" marB="36576" anchor="ctr">
                    <a:solidFill>
                      <a:srgbClr val="FFFFFF"/>
                    </a:solidFill>
                  </a:tcPr>
                </a:tc>
              </a:tr>
              <a:tr h="535577">
                <a:tc>
                  <a:txBody>
                    <a:bodyPr wrap="square"/>
                    <a:lstStyle/>
                    <a:p>
                      <a:pPr algn="l"/>
                      <a:r>
                        <a:rPr sz="950" b="0">
                          <a:solidFill>
                            <a:srgbClr val="1E293B"/>
                          </a:solidFill>
                          <a:latin typeface="Calibri"/>
                        </a:rPr>
                        <a:t>Widget không hiển thị số liệu (mãi 0 hoặc trống)</a:t>
                      </a:r>
                    </a:p>
                  </a:txBody>
                  <a:tcPr marL="73152" marR="73152" marT="36576" marB="36576" anchor="ctr">
                    <a:solidFill>
                      <a:srgbClr val="F6F8F9"/>
                    </a:solidFill>
                  </a:tcPr>
                </a:tc>
                <a:tc>
                  <a:txBody>
                    <a:bodyPr wrap="square"/>
                    <a:lstStyle/>
                    <a:p>
                      <a:pPr algn="l"/>
                      <a:r>
                        <a:rPr sz="950" b="0">
                          <a:solidFill>
                            <a:srgbClr val="1E293B"/>
                          </a:solidFill>
                          <a:latin typeface="Calibri"/>
                        </a:rPr>
                        <a:t>Widget gán sai Virtual Pin, hoặc code chưa gọi đúng Blynk.virtualWrite()</a:t>
                      </a:r>
                    </a:p>
                  </a:txBody>
                  <a:tcPr marL="73152" marR="73152" marT="36576" marB="36576" anchor="ctr">
                    <a:solidFill>
                      <a:srgbClr val="F6F8F9"/>
                    </a:solidFill>
                  </a:tcPr>
                </a:tc>
                <a:tc>
                  <a:txBody>
                    <a:bodyPr wrap="square"/>
                    <a:lstStyle/>
                    <a:p>
                      <a:pPr algn="l"/>
                      <a:r>
                        <a:rPr sz="950" b="0">
                          <a:solidFill>
                            <a:srgbClr val="1E293B"/>
                          </a:solidFill>
                          <a:latin typeface="Calibri"/>
                        </a:rPr>
                        <a:t>Vào chỉnh sửa Widget &gt; kiểm tra mục DATASTREAM đã chọn đúng V-pin theo bảng ánh xạ chưa</a:t>
                      </a:r>
                    </a:p>
                  </a:txBody>
                  <a:tcPr marL="73152" marR="73152" marT="36576" marB="36576" anchor="ctr">
                    <a:solidFill>
                      <a:srgbClr val="F6F8F9"/>
                    </a:solidFill>
                  </a:tcPr>
                </a:tc>
              </a:tr>
              <a:tr h="535577">
                <a:tc>
                  <a:txBody>
                    <a:bodyPr wrap="square"/>
                    <a:lstStyle/>
                    <a:p>
                      <a:pPr algn="l"/>
                      <a:r>
                        <a:rPr sz="950" b="0">
                          <a:solidFill>
                            <a:srgbClr val="1E293B"/>
                          </a:solidFill>
                          <a:latin typeface="Calibri"/>
                        </a:rPr>
                        <a:t>App điện thoại không thấy Device/Template mới</a:t>
                      </a:r>
                    </a:p>
                  </a:txBody>
                  <a:tcPr marL="73152" marR="73152" marT="36576" marB="36576" anchor="ctr">
                    <a:solidFill>
                      <a:srgbClr val="FFFFFF"/>
                    </a:solidFill>
                  </a:tcPr>
                </a:tc>
                <a:tc>
                  <a:txBody>
                    <a:bodyPr wrap="square"/>
                    <a:lstStyle/>
                    <a:p>
                      <a:pPr algn="l"/>
                      <a:r>
                        <a:rPr sz="950" b="0">
                          <a:solidFill>
                            <a:srgbClr val="1E293B"/>
                          </a:solidFill>
                          <a:latin typeface="Calibri"/>
                        </a:rPr>
                        <a:t>Đăng nhập App bằng tài khoản khác với tài khoản tạo Template trên Web</a:t>
                      </a:r>
                    </a:p>
                  </a:txBody>
                  <a:tcPr marL="73152" marR="73152" marT="36576" marB="36576" anchor="ctr">
                    <a:solidFill>
                      <a:srgbClr val="FFFFFF"/>
                    </a:solidFill>
                  </a:tcPr>
                </a:tc>
                <a:tc>
                  <a:txBody>
                    <a:bodyPr wrap="square"/>
                    <a:lstStyle/>
                    <a:p>
                      <a:pPr algn="l"/>
                      <a:r>
                        <a:rPr sz="950" b="0">
                          <a:solidFill>
                            <a:srgbClr val="1E293B"/>
                          </a:solidFill>
                          <a:latin typeface="Calibri"/>
                        </a:rPr>
                        <a:t>Đăng xuất, đăng nhập lại đúng email đã dùng trên Blynk.Console; kéo màn hình để làm mới</a:t>
                      </a:r>
                    </a:p>
                  </a:txBody>
                  <a:tcPr marL="73152" marR="73152" marT="36576" marB="36576" anchor="ctr">
                    <a:solidFill>
                      <a:srgbClr val="FFFFFF"/>
                    </a:solidFill>
                  </a:tcPr>
                </a:tc>
              </a:tr>
              <a:tr h="535577">
                <a:tc>
                  <a:txBody>
                    <a:bodyPr wrap="square"/>
                    <a:lstStyle/>
                    <a:p>
                      <a:pPr algn="l"/>
                      <a:r>
                        <a:rPr sz="950" b="0">
                          <a:solidFill>
                            <a:srgbClr val="1E293B"/>
                          </a:solidFill>
                          <a:latin typeface="Calibri"/>
                        </a:rPr>
                        <a:t>Gạt Switch trên App nhưng thiết bị không phản ứng</a:t>
                      </a:r>
                    </a:p>
                  </a:txBody>
                  <a:tcPr marL="73152" marR="73152" marT="36576" marB="36576" anchor="ctr">
                    <a:solidFill>
                      <a:srgbClr val="F6F8F9"/>
                    </a:solidFill>
                  </a:tcPr>
                </a:tc>
                <a:tc>
                  <a:txBody>
                    <a:bodyPr wrap="square"/>
                    <a:lstStyle/>
                    <a:p>
                      <a:pPr algn="l"/>
                      <a:r>
                        <a:rPr sz="950" b="0">
                          <a:solidFill>
                            <a:srgbClr val="1E293B"/>
                          </a:solidFill>
                          <a:latin typeface="Calibri"/>
                        </a:rPr>
                        <a:t>Thiếu hàm BLYNK_WRITE(V_pin) tương ứng trong code, hoặc thiết bị đang mất kết nối</a:t>
                      </a:r>
                    </a:p>
                  </a:txBody>
                  <a:tcPr marL="73152" marR="73152" marT="36576" marB="36576" anchor="ctr">
                    <a:solidFill>
                      <a:srgbClr val="F6F8F9"/>
                    </a:solidFill>
                  </a:tcPr>
                </a:tc>
                <a:tc>
                  <a:txBody>
                    <a:bodyPr wrap="square"/>
                    <a:lstStyle/>
                    <a:p>
                      <a:pPr algn="l"/>
                      <a:r>
                        <a:rPr sz="950" b="0">
                          <a:solidFill>
                            <a:srgbClr val="1E293B"/>
                          </a:solidFill>
                          <a:latin typeface="Calibri"/>
                        </a:rPr>
                        <a:t>Kiểm tra code có định nghĩa đúng BLYNK_WRITE() cho đúng V-pin; kiểm tra trạng thái Online</a:t>
                      </a:r>
                    </a:p>
                  </a:txBody>
                  <a:tcPr marL="73152" marR="73152" marT="36576" marB="36576" anchor="ctr">
                    <a:solidFill>
                      <a:srgbClr val="F6F8F9"/>
                    </a:solidFill>
                  </a:tcPr>
                </a:tc>
              </a:tr>
              <a:tr h="535577">
                <a:tc>
                  <a:txBody>
                    <a:bodyPr wrap="square"/>
                    <a:lstStyle/>
                    <a:p>
                      <a:pPr algn="l"/>
                      <a:r>
                        <a:rPr sz="950" b="0">
                          <a:solidFill>
                            <a:srgbClr val="1E293B"/>
                          </a:solidFill>
                          <a:latin typeface="Calibri"/>
                        </a:rPr>
                        <a:t>Không nhận được thông báo dù đã vượt ngưỡng</a:t>
                      </a:r>
                    </a:p>
                  </a:txBody>
                  <a:tcPr marL="73152" marR="73152" marT="36576" marB="36576" anchor="ctr">
                    <a:solidFill>
                      <a:srgbClr val="FFFFFF"/>
                    </a:solidFill>
                  </a:tcPr>
                </a:tc>
                <a:tc>
                  <a:txBody>
                    <a:bodyPr wrap="square"/>
                    <a:lstStyle/>
                    <a:p>
                      <a:pPr algn="l"/>
                      <a:r>
                        <a:rPr sz="950" b="0">
                          <a:solidFill>
                            <a:srgbClr val="1E293B"/>
                          </a:solidFill>
                          <a:latin typeface="Calibri"/>
                        </a:rPr>
                        <a:t>Automation chưa được Bật (Enable), hoặc App bị chặn quyền thông báo</a:t>
                      </a:r>
                    </a:p>
                  </a:txBody>
                  <a:tcPr marL="73152" marR="73152" marT="36576" marB="36576" anchor="ctr">
                    <a:solidFill>
                      <a:srgbClr val="FFFFFF"/>
                    </a:solidFill>
                  </a:tcPr>
                </a:tc>
                <a:tc>
                  <a:txBody>
                    <a:bodyPr wrap="square"/>
                    <a:lstStyle/>
                    <a:p>
                      <a:pPr algn="l"/>
                      <a:r>
                        <a:rPr sz="950" b="0">
                          <a:solidFill>
                            <a:srgbClr val="1E293B"/>
                          </a:solidFill>
                          <a:latin typeface="Calibri"/>
                        </a:rPr>
                        <a:t>Kiểm tra trạng thái Enable trong tab Automations; vào Cài đặt điện thoại &gt; Thông báo &gt; cho phép Blynk IoT gửi</a:t>
                      </a:r>
                    </a:p>
                  </a:txBody>
                  <a:tcPr marL="73152" marR="73152" marT="36576" marB="36576" anchor="ctr">
                    <a:solidFill>
                      <a:srgbClr val="FFFFFF"/>
                    </a:solidFill>
                  </a:tcPr>
                </a:tc>
              </a:tr>
              <a:tr h="535577">
                <a:tc>
                  <a:txBody>
                    <a:bodyPr wrap="square"/>
                    <a:lstStyle/>
                    <a:p>
                      <a:pPr algn="l"/>
                      <a:r>
                        <a:rPr sz="950" b="0">
                          <a:solidFill>
                            <a:srgbClr val="1E293B"/>
                          </a:solidFill>
                          <a:latin typeface="Calibri"/>
                        </a:rPr>
                        <a:t>Cài nhầm app "Blynk" bản cũ thay vì "Blynk IoT"</a:t>
                      </a:r>
                    </a:p>
                  </a:txBody>
                  <a:tcPr marL="73152" marR="73152" marT="36576" marB="36576" anchor="ctr">
                    <a:solidFill>
                      <a:srgbClr val="F6F8F9"/>
                    </a:solidFill>
                  </a:tcPr>
                </a:tc>
                <a:tc>
                  <a:txBody>
                    <a:bodyPr wrap="square"/>
                    <a:lstStyle/>
                    <a:p>
                      <a:pPr algn="l"/>
                      <a:r>
                        <a:rPr sz="950" b="0">
                          <a:solidFill>
                            <a:srgbClr val="1E293B"/>
                          </a:solidFill>
                          <a:latin typeface="Calibri"/>
                        </a:rPr>
                        <a:t>Không để ý tên ứng dụng chính xác khi tìm trên App Store/Google Play</a:t>
                      </a:r>
                    </a:p>
                  </a:txBody>
                  <a:tcPr marL="73152" marR="73152" marT="36576" marB="36576" anchor="ctr">
                    <a:solidFill>
                      <a:srgbClr val="F6F8F9"/>
                    </a:solidFill>
                  </a:tcPr>
                </a:tc>
                <a:tc>
                  <a:txBody>
                    <a:bodyPr wrap="square"/>
                    <a:lstStyle/>
                    <a:p>
                      <a:pPr algn="l"/>
                      <a:r>
                        <a:rPr sz="950" b="0">
                          <a:solidFill>
                            <a:srgbClr val="1E293B"/>
                          </a:solidFill>
                          <a:latin typeface="Calibri"/>
                        </a:rPr>
                        <a:t>Gỡ bản cũ, tìm chính xác "Blynk IoT" (icon chữ B nền xanh lá mới) để cài lại</a:t>
                      </a:r>
                    </a:p>
                  </a:txBody>
                  <a:tcPr marL="73152" marR="73152" marT="36576" marB="36576" anchor="ctr">
                    <a:solidFill>
                      <a:srgbClr val="F6F8F9"/>
                    </a:solidFill>
                  </a:tcPr>
                </a:tc>
              </a:tr>
            </a:tbl>
          </a:graphicData>
        </a:graphic>
      </p:graphicFrame>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1508760" y="292608"/>
            <a:ext cx="10195560" cy="841248"/>
          </a:xfrm>
          <a:prstGeom prst="roundRect">
            <a:avLst/>
          </a:prstGeom>
          <a:solidFill>
            <a:srgbClr val="E2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508760" y="384048"/>
            <a:ext cx="73152"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2920" y="384048"/>
            <a:ext cx="658368" cy="658368"/>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400" b="1">
                <a:solidFill>
                  <a:srgbClr val="FFFFFF"/>
                </a:solidFill>
                <a:latin typeface="Calibri"/>
              </a:rPr>
              <a:t>IoT</a:t>
            </a:r>
          </a:p>
        </p:txBody>
      </p:sp>
      <p:sp>
        <p:nvSpPr>
          <p:cNvPr id="5" name="TextBox 4"/>
          <p:cNvSpPr txBox="1"/>
          <p:nvPr/>
        </p:nvSpPr>
        <p:spPr>
          <a:xfrm>
            <a:off x="1819656" y="374904"/>
            <a:ext cx="9646920" cy="256032"/>
          </a:xfrm>
          <a:prstGeom prst="rect">
            <a:avLst/>
          </a:prstGeom>
          <a:noFill/>
        </p:spPr>
        <p:txBody>
          <a:bodyPr wrap="square">
            <a:spAutoFit/>
          </a:bodyPr>
          <a:lstStyle/>
          <a:p>
            <a:pPr algn="l"/>
            <a:r>
              <a:rPr sz="1200" b="1" i="0">
                <a:solidFill>
                  <a:srgbClr val="10B981"/>
                </a:solidFill>
                <a:latin typeface="Calibri"/>
              </a:rPr>
              <a:t>B12 · MÃ NGUỒN MỞ RỘNG</a:t>
            </a:r>
          </a:p>
        </p:txBody>
      </p:sp>
      <p:sp>
        <p:nvSpPr>
          <p:cNvPr id="6" name="TextBox 5"/>
          <p:cNvSpPr txBox="1"/>
          <p:nvPr/>
        </p:nvSpPr>
        <p:spPr>
          <a:xfrm>
            <a:off x="1819656" y="630936"/>
            <a:ext cx="9646920" cy="457200"/>
          </a:xfrm>
          <a:prstGeom prst="rect">
            <a:avLst/>
          </a:prstGeom>
          <a:noFill/>
        </p:spPr>
        <p:txBody>
          <a:bodyPr wrap="square">
            <a:spAutoFit/>
          </a:bodyPr>
          <a:lstStyle/>
          <a:p>
            <a:pPr algn="l"/>
            <a:r>
              <a:rPr sz="2100" b="1" i="0">
                <a:solidFill>
                  <a:srgbClr val="1E293B"/>
                </a:solidFill>
                <a:latin typeface="Calibri"/>
              </a:rPr>
              <a:t>Kết nối WiFi &amp; Blynk Cloud</a:t>
            </a:r>
          </a:p>
        </p:txBody>
      </p:sp>
      <p:cxnSp>
        <p:nvCxnSpPr>
          <p:cNvPr id="7" name="Connector 6"/>
          <p:cNvCxnSpPr/>
          <p:nvPr/>
        </p:nvCxnSpPr>
        <p:spPr>
          <a:xfrm>
            <a:off x="502920" y="6400800"/>
            <a:ext cx="11185855" cy="0"/>
          </a:xfrm>
          <a:prstGeom prst="line">
            <a:avLst/>
          </a:prstGeom>
          <a:ln w="9525">
            <a:solidFill>
              <a:srgbClr val="DDE3E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473952"/>
            <a:ext cx="6858000" cy="274320"/>
          </a:xfrm>
          <a:prstGeom prst="rect">
            <a:avLst/>
          </a:prstGeom>
          <a:noFill/>
        </p:spPr>
        <p:txBody>
          <a:bodyPr wrap="square">
            <a:spAutoFit/>
          </a:bodyPr>
          <a:lstStyle/>
          <a:p>
            <a:pPr algn="l"/>
            <a:r>
              <a:rPr sz="900" b="0" i="0">
                <a:solidFill>
                  <a:srgbClr val="94A3B8"/>
                </a:solidFill>
                <a:latin typeface="Calibri"/>
              </a:rPr>
              <a:t>IOT TRONG KỸ THUẬT MÔI TRƯỜNG  ·  B12</a:t>
            </a:r>
          </a:p>
        </p:txBody>
      </p:sp>
      <p:sp>
        <p:nvSpPr>
          <p:cNvPr id="9" name="TextBox 8"/>
          <p:cNvSpPr txBox="1"/>
          <p:nvPr/>
        </p:nvSpPr>
        <p:spPr>
          <a:xfrm>
            <a:off x="10820095" y="6473952"/>
            <a:ext cx="914400" cy="274320"/>
          </a:xfrm>
          <a:prstGeom prst="rect">
            <a:avLst/>
          </a:prstGeom>
          <a:noFill/>
        </p:spPr>
        <p:txBody>
          <a:bodyPr wrap="square">
            <a:spAutoFit/>
          </a:bodyPr>
          <a:lstStyle/>
          <a:p>
            <a:pPr algn="r"/>
            <a:r>
              <a:rPr sz="900" b="0" i="0">
                <a:solidFill>
                  <a:srgbClr val="94A3B8"/>
                </a:solidFill>
                <a:latin typeface="Calibri"/>
              </a:rPr>
              <a:t>17</a:t>
            </a:r>
          </a:p>
        </p:txBody>
      </p:sp>
      <p:sp>
        <p:nvSpPr>
          <p:cNvPr id="10" name="Rounded Rectangle 9"/>
          <p:cNvSpPr/>
          <p:nvPr/>
        </p:nvSpPr>
        <p:spPr>
          <a:xfrm>
            <a:off x="502920" y="1371600"/>
            <a:ext cx="11155680" cy="5029200"/>
          </a:xfrm>
          <a:prstGeom prst="round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508760"/>
            <a:ext cx="10607040" cy="4754880"/>
          </a:xfrm>
          <a:prstGeom prst="rect">
            <a:avLst/>
          </a:prstGeom>
          <a:noFill/>
        </p:spPr>
        <p:txBody>
          <a:bodyPr wrap="square">
            <a:spAutoFit/>
          </a:bodyPr>
          <a:lstStyle/>
          <a:p>
            <a:pPr>
              <a:spcAft>
                <a:spcPts val="100"/>
              </a:spcAft>
            </a:pPr>
            <a:r>
              <a:rPr sz="1250">
                <a:solidFill>
                  <a:srgbClr val="7DE6A8"/>
                </a:solidFill>
                <a:latin typeface="Consolas"/>
              </a:rPr>
              <a:t>#include &lt;WiFi.h&gt;</a:t>
            </a:r>
          </a:p>
          <a:p>
            <a:pPr>
              <a:spcAft>
                <a:spcPts val="100"/>
              </a:spcAft>
            </a:pPr>
            <a:r>
              <a:rPr sz="1250">
                <a:solidFill>
                  <a:srgbClr val="7DE6A8"/>
                </a:solidFill>
                <a:latin typeface="Consolas"/>
              </a:rPr>
              <a:t>#define BLYNK_TEMPLATE_ID   "TMPLxxxxxx"</a:t>
            </a:r>
          </a:p>
          <a:p>
            <a:pPr>
              <a:spcAft>
                <a:spcPts val="100"/>
              </a:spcAft>
            </a:pPr>
            <a:r>
              <a:rPr sz="1250">
                <a:solidFill>
                  <a:srgbClr val="7DE6A8"/>
                </a:solidFill>
                <a:latin typeface="Consolas"/>
              </a:rPr>
              <a:t>#define BLYNK_TEMPLATE_NAME "{tmpl_name}"</a:t>
            </a:r>
          </a:p>
          <a:p>
            <a:pPr>
              <a:spcAft>
                <a:spcPts val="100"/>
              </a:spcAft>
            </a:pPr>
            <a:r>
              <a:rPr sz="1250">
                <a:solidFill>
                  <a:srgbClr val="7DE6A8"/>
                </a:solidFill>
                <a:latin typeface="Consolas"/>
              </a:rPr>
              <a:t>#define BLYNK_AUTH_TOKEN    "xxxxxxxxxxxxxxxxxxxxxxxxxxxxxxxx"</a:t>
            </a:r>
          </a:p>
          <a:p>
            <a:pPr>
              <a:spcAft>
                <a:spcPts val="100"/>
              </a:spcAft>
            </a:pPr>
            <a:r>
              <a:rPr sz="1250">
                <a:solidFill>
                  <a:srgbClr val="7DE6A8"/>
                </a:solidFill>
                <a:latin typeface="Consolas"/>
              </a:rPr>
              <a:t>#include &lt;BlynkSimpleEsp32.h&gt;</a:t>
            </a:r>
          </a:p>
          <a:p>
            <a:pPr>
              <a:spcAft>
                <a:spcPts val="100"/>
              </a:spcAft>
            </a:pPr>
            <a:r>
              <a:rPr sz="1250">
                <a:solidFill>
                  <a:srgbClr val="7DE6A8"/>
                </a:solidFill>
                <a:latin typeface="Consolas"/>
              </a:rPr>
              <a:t> </a:t>
            </a:r>
          </a:p>
          <a:p>
            <a:pPr>
              <a:spcAft>
                <a:spcPts val="100"/>
              </a:spcAft>
            </a:pPr>
            <a:r>
              <a:rPr sz="1250">
                <a:solidFill>
                  <a:srgbClr val="7DE6A8"/>
                </a:solidFill>
                <a:latin typeface="Consolas"/>
              </a:rPr>
              <a:t>char ssid[] = "TEN_WIFI_CUA_BAN";</a:t>
            </a:r>
          </a:p>
          <a:p>
            <a:pPr>
              <a:spcAft>
                <a:spcPts val="100"/>
              </a:spcAft>
            </a:pPr>
            <a:r>
              <a:rPr sz="1250">
                <a:solidFill>
                  <a:srgbClr val="7DE6A8"/>
                </a:solidFill>
                <a:latin typeface="Consolas"/>
              </a:rPr>
              <a:t>char pass[] = "MAT_KHAU_WIFI";</a:t>
            </a:r>
          </a:p>
          <a:p>
            <a:pPr>
              <a:spcAft>
                <a:spcPts val="100"/>
              </a:spcAft>
            </a:pPr>
            <a:r>
              <a:rPr sz="1250">
                <a:solidFill>
                  <a:srgbClr val="7DE6A8"/>
                </a:solidFill>
                <a:latin typeface="Consolas"/>
              </a:rPr>
              <a:t>BlynkTimer timer;</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1508760" y="292608"/>
            <a:ext cx="10195560" cy="841248"/>
          </a:xfrm>
          <a:prstGeom prst="roundRect">
            <a:avLst/>
          </a:prstGeom>
          <a:solidFill>
            <a:srgbClr val="E2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508760" y="384048"/>
            <a:ext cx="73152"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2920" y="384048"/>
            <a:ext cx="658368" cy="658368"/>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400" b="1">
                <a:solidFill>
                  <a:srgbClr val="FFFFFF"/>
                </a:solidFill>
                <a:latin typeface="Calibri"/>
              </a:rPr>
              <a:t>IoT</a:t>
            </a:r>
          </a:p>
        </p:txBody>
      </p:sp>
      <p:sp>
        <p:nvSpPr>
          <p:cNvPr id="5" name="TextBox 4"/>
          <p:cNvSpPr txBox="1"/>
          <p:nvPr/>
        </p:nvSpPr>
        <p:spPr>
          <a:xfrm>
            <a:off x="1819656" y="374904"/>
            <a:ext cx="9646920" cy="256032"/>
          </a:xfrm>
          <a:prstGeom prst="rect">
            <a:avLst/>
          </a:prstGeom>
          <a:noFill/>
        </p:spPr>
        <p:txBody>
          <a:bodyPr wrap="square">
            <a:spAutoFit/>
          </a:bodyPr>
          <a:lstStyle/>
          <a:p>
            <a:pPr algn="l"/>
            <a:r>
              <a:rPr sz="1200" b="1" i="0">
                <a:solidFill>
                  <a:srgbClr val="10B981"/>
                </a:solidFill>
                <a:latin typeface="Calibri"/>
              </a:rPr>
              <a:t>B12 · MÃ NGUỒN MỞ RỘNG</a:t>
            </a:r>
          </a:p>
        </p:txBody>
      </p:sp>
      <p:sp>
        <p:nvSpPr>
          <p:cNvPr id="6" name="TextBox 5"/>
          <p:cNvSpPr txBox="1"/>
          <p:nvPr/>
        </p:nvSpPr>
        <p:spPr>
          <a:xfrm>
            <a:off x="1819656" y="630936"/>
            <a:ext cx="9646920" cy="457200"/>
          </a:xfrm>
          <a:prstGeom prst="rect">
            <a:avLst/>
          </a:prstGeom>
          <a:noFill/>
        </p:spPr>
        <p:txBody>
          <a:bodyPr wrap="square">
            <a:spAutoFit/>
          </a:bodyPr>
          <a:lstStyle/>
          <a:p>
            <a:pPr algn="l"/>
            <a:r>
              <a:rPr sz="2100" b="1" i="0">
                <a:solidFill>
                  <a:srgbClr val="1E293B"/>
                </a:solidFill>
                <a:latin typeface="Calibri"/>
              </a:rPr>
              <a:t>Xử lý logic &amp; Gửi dữ liệu lên Cloud</a:t>
            </a:r>
          </a:p>
        </p:txBody>
      </p:sp>
      <p:cxnSp>
        <p:nvCxnSpPr>
          <p:cNvPr id="7" name="Connector 6"/>
          <p:cNvCxnSpPr/>
          <p:nvPr/>
        </p:nvCxnSpPr>
        <p:spPr>
          <a:xfrm>
            <a:off x="502920" y="6400800"/>
            <a:ext cx="11185855" cy="0"/>
          </a:xfrm>
          <a:prstGeom prst="line">
            <a:avLst/>
          </a:prstGeom>
          <a:ln w="9525">
            <a:solidFill>
              <a:srgbClr val="DDE3E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473952"/>
            <a:ext cx="6858000" cy="274320"/>
          </a:xfrm>
          <a:prstGeom prst="rect">
            <a:avLst/>
          </a:prstGeom>
          <a:noFill/>
        </p:spPr>
        <p:txBody>
          <a:bodyPr wrap="square">
            <a:spAutoFit/>
          </a:bodyPr>
          <a:lstStyle/>
          <a:p>
            <a:pPr algn="l"/>
            <a:r>
              <a:rPr sz="900" b="0" i="0">
                <a:solidFill>
                  <a:srgbClr val="94A3B8"/>
                </a:solidFill>
                <a:latin typeface="Calibri"/>
              </a:rPr>
              <a:t>IOT TRONG KỸ THUẬT MÔI TRƯỜNG  ·  B12</a:t>
            </a:r>
          </a:p>
        </p:txBody>
      </p:sp>
      <p:sp>
        <p:nvSpPr>
          <p:cNvPr id="9" name="TextBox 8"/>
          <p:cNvSpPr txBox="1"/>
          <p:nvPr/>
        </p:nvSpPr>
        <p:spPr>
          <a:xfrm>
            <a:off x="10820095" y="6473952"/>
            <a:ext cx="914400" cy="274320"/>
          </a:xfrm>
          <a:prstGeom prst="rect">
            <a:avLst/>
          </a:prstGeom>
          <a:noFill/>
        </p:spPr>
        <p:txBody>
          <a:bodyPr wrap="square">
            <a:spAutoFit/>
          </a:bodyPr>
          <a:lstStyle/>
          <a:p>
            <a:pPr algn="r"/>
            <a:r>
              <a:rPr sz="900" b="0" i="0">
                <a:solidFill>
                  <a:srgbClr val="94A3B8"/>
                </a:solidFill>
                <a:latin typeface="Calibri"/>
              </a:rPr>
              <a:t>18</a:t>
            </a:r>
          </a:p>
        </p:txBody>
      </p:sp>
      <p:sp>
        <p:nvSpPr>
          <p:cNvPr id="10" name="Rounded Rectangle 9"/>
          <p:cNvSpPr/>
          <p:nvPr/>
        </p:nvSpPr>
        <p:spPr>
          <a:xfrm>
            <a:off x="502920" y="1371600"/>
            <a:ext cx="11155680" cy="5029200"/>
          </a:xfrm>
          <a:prstGeom prst="round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508760"/>
            <a:ext cx="10607040" cy="4754880"/>
          </a:xfrm>
          <a:prstGeom prst="rect">
            <a:avLst/>
          </a:prstGeom>
          <a:noFill/>
        </p:spPr>
        <p:txBody>
          <a:bodyPr wrap="square">
            <a:spAutoFit/>
          </a:bodyPr>
          <a:lstStyle/>
          <a:p>
            <a:pPr>
              <a:spcAft>
                <a:spcPts val="100"/>
              </a:spcAft>
            </a:pPr>
            <a:r>
              <a:rPr sz="1150">
                <a:solidFill>
                  <a:srgbClr val="7DE6A8"/>
                </a:solidFill>
                <a:latin typeface="Consolas"/>
              </a:rPr>
              <a:t>void sendTelemetry() {</a:t>
            </a:r>
          </a:p>
          <a:p>
            <a:pPr>
              <a:spcAft>
                <a:spcPts val="100"/>
              </a:spcAft>
            </a:pPr>
            <a:r>
              <a:rPr sz="1150">
                <a:solidFill>
                  <a:srgbClr val="7DE6A8"/>
                </a:solidFill>
                <a:latin typeface="Consolas"/>
              </a:rPr>
              <a:t>  int temp = analogRead(DHT_PIN);</a:t>
            </a:r>
          </a:p>
          <a:p>
            <a:pPr>
              <a:spcAft>
                <a:spcPts val="100"/>
              </a:spcAft>
            </a:pPr>
            <a:r>
              <a:rPr sz="1150">
                <a:solidFill>
                  <a:srgbClr val="7DE6A8"/>
                </a:solidFill>
                <a:latin typeface="Consolas"/>
              </a:rPr>
              <a:t>  int humi = dhtReadHumidity(DHT_PIN);</a:t>
            </a:r>
          </a:p>
          <a:p>
            <a:pPr>
              <a:spcAft>
                <a:spcPts val="100"/>
              </a:spcAft>
            </a:pPr>
            <a:r>
              <a:rPr sz="1150">
                <a:solidFill>
                  <a:srgbClr val="7DE6A8"/>
                </a:solidFill>
                <a:latin typeface="Consolas"/>
              </a:rPr>
              <a:t>  int gasPpm = analogRead(GAS_PIN);</a:t>
            </a:r>
          </a:p>
          <a:p>
            <a:pPr>
              <a:spcAft>
                <a:spcPts val="100"/>
              </a:spcAft>
            </a:pPr>
            <a:r>
              <a:rPr sz="1150">
                <a:solidFill>
                  <a:srgbClr val="7DE6A8"/>
                </a:solidFill>
                <a:latin typeface="Consolas"/>
              </a:rPr>
              <a:t> </a:t>
            </a:r>
          </a:p>
          <a:p>
            <a:pPr>
              <a:spcAft>
                <a:spcPts val="100"/>
              </a:spcAft>
            </a:pPr>
            <a:r>
              <a:rPr sz="1150">
                <a:solidFill>
                  <a:srgbClr val="7DE6A8"/>
                </a:solidFill>
                <a:latin typeface="Consolas"/>
              </a:rPr>
              <a:t>  digitalWrite(TRIG_PIN, LOW); delayMicroseconds(2);</a:t>
            </a:r>
          </a:p>
          <a:p>
            <a:pPr>
              <a:spcAft>
                <a:spcPts val="100"/>
              </a:spcAft>
            </a:pPr>
            <a:r>
              <a:rPr sz="1150">
                <a:solidFill>
                  <a:srgbClr val="7DE6A8"/>
                </a:solidFill>
                <a:latin typeface="Consolas"/>
              </a:rPr>
              <a:t>  digitalWrite(TRIG_PIN, HIGH); delayMicroseconds(10);</a:t>
            </a:r>
          </a:p>
          <a:p>
            <a:pPr>
              <a:spcAft>
                <a:spcPts val="100"/>
              </a:spcAft>
            </a:pPr>
            <a:r>
              <a:rPr sz="1150">
                <a:solidFill>
                  <a:srgbClr val="7DE6A8"/>
                </a:solidFill>
                <a:latin typeface="Consolas"/>
              </a:rPr>
              <a:t>  digitalWrite(TRIG_PIN, LOW);</a:t>
            </a:r>
          </a:p>
          <a:p>
            <a:pPr>
              <a:spcAft>
                <a:spcPts val="100"/>
              </a:spcAft>
            </a:pPr>
            <a:r>
              <a:rPr sz="1150">
                <a:solidFill>
                  <a:srgbClr val="7DE6A8"/>
                </a:solidFill>
                <a:latin typeface="Consolas"/>
              </a:rPr>
              <a:t>  long duration = pulseIn(ECHO_PIN, HIGH);</a:t>
            </a:r>
          </a:p>
          <a:p>
            <a:pPr>
              <a:spcAft>
                <a:spcPts val="100"/>
              </a:spcAft>
            </a:pPr>
            <a:r>
              <a:rPr sz="1150">
                <a:solidFill>
                  <a:srgbClr val="7DE6A8"/>
                </a:solidFill>
                <a:latin typeface="Consolas"/>
              </a:rPr>
              <a:t>  int waterLevel = duration * 0.034 / 2;</a:t>
            </a:r>
          </a:p>
          <a:p>
            <a:pPr>
              <a:spcAft>
                <a:spcPts val="100"/>
              </a:spcAft>
            </a:pPr>
            <a:r>
              <a:rPr sz="1150">
                <a:solidFill>
                  <a:srgbClr val="7DE6A8"/>
                </a:solidFill>
                <a:latin typeface="Consolas"/>
              </a:rPr>
              <a:t> </a:t>
            </a:r>
          </a:p>
          <a:p>
            <a:pPr>
              <a:spcAft>
                <a:spcPts val="100"/>
              </a:spcAft>
            </a:pPr>
            <a:r>
              <a:rPr sz="1150">
                <a:solidFill>
                  <a:srgbClr val="64748B"/>
                </a:solidFill>
                <a:latin typeface="Consolas"/>
              </a:rPr>
              <a:t>  // Day chinh la 4 truong du lieu tung duoc in ra Serial dang JSON o Buoi 6 -</a:t>
            </a:r>
          </a:p>
          <a:p>
            <a:pPr>
              <a:spcAft>
                <a:spcPts val="100"/>
              </a:spcAft>
            </a:pPr>
            <a:r>
              <a:rPr sz="1150">
                <a:solidFill>
                  <a:srgbClr val="64748B"/>
                </a:solidFill>
                <a:latin typeface="Consolas"/>
              </a:rPr>
              <a:t>  // nay gui THAT len Blynk Cloud thay vi chi minh hoa cau truc</a:t>
            </a:r>
          </a:p>
          <a:p>
            <a:pPr>
              <a:spcAft>
                <a:spcPts val="100"/>
              </a:spcAft>
            </a:pPr>
            <a:r>
              <a:rPr sz="1150">
                <a:solidFill>
                  <a:srgbClr val="7DE6A8"/>
                </a:solidFill>
                <a:latin typeface="Consolas"/>
              </a:rPr>
              <a:t>  Blynk.virtualWrite(V0, temp);</a:t>
            </a:r>
          </a:p>
          <a:p>
            <a:pPr>
              <a:spcAft>
                <a:spcPts val="100"/>
              </a:spcAft>
            </a:pPr>
            <a:r>
              <a:rPr sz="1150">
                <a:solidFill>
                  <a:srgbClr val="7DE6A8"/>
                </a:solidFill>
                <a:latin typeface="Consolas"/>
              </a:rPr>
              <a:t>  Blynk.virtualWrite(V1, humi);</a:t>
            </a:r>
          </a:p>
          <a:p>
            <a:pPr>
              <a:spcAft>
                <a:spcPts val="100"/>
              </a:spcAft>
            </a:pPr>
            <a:r>
              <a:rPr sz="1150">
                <a:solidFill>
                  <a:srgbClr val="7DE6A8"/>
                </a:solidFill>
                <a:latin typeface="Consolas"/>
              </a:rPr>
              <a:t>  Blynk.virtualWrite(V2, gasPpm);</a:t>
            </a:r>
          </a:p>
          <a:p>
            <a:pPr>
              <a:spcAft>
                <a:spcPts val="100"/>
              </a:spcAft>
            </a:pPr>
            <a:r>
              <a:rPr sz="1150">
                <a:solidFill>
                  <a:srgbClr val="7DE6A8"/>
                </a:solidFill>
                <a:latin typeface="Consolas"/>
              </a:rPr>
              <a:t>  Blynk.virtualWrite(V3, waterLevel);</a:t>
            </a:r>
          </a:p>
          <a:p>
            <a:pPr>
              <a:spcAft>
                <a:spcPts val="100"/>
              </a:spcAft>
            </a:pPr>
            <a:r>
              <a:rPr sz="1150">
                <a:solidFill>
                  <a:srgbClr val="7DE6A8"/>
                </a:solidFill>
                <a:latin typeface="Consolas"/>
              </a:rPr>
              <a:t> </a:t>
            </a:r>
          </a:p>
          <a:p>
            <a:pPr>
              <a:spcAft>
                <a:spcPts val="100"/>
              </a:spcAft>
            </a:pPr>
            <a:r>
              <a:rPr sz="1150">
                <a:solidFill>
                  <a:srgbClr val="7DE6A8"/>
                </a:solidFill>
                <a:latin typeface="Consolas"/>
              </a:rPr>
              <a:t>  bool alertOn = (gasPpm &gt; 300 || waterLevel &lt; 15);   // Dung logic OR nhu Buoi 6</a:t>
            </a:r>
          </a:p>
          <a:p>
            <a:pPr>
              <a:spcAft>
                <a:spcPts val="100"/>
              </a:spcAft>
            </a:pPr>
            <a:r>
              <a:rPr sz="1150">
                <a:solidFill>
                  <a:srgbClr val="7DE6A8"/>
                </a:solidFill>
                <a:latin typeface="Consolas"/>
              </a:rPr>
              <a:t>  digitalWrite(LED_PIN, alertOn ? HIGH : LOW);</a:t>
            </a:r>
          </a:p>
          <a:p>
            <a:pPr>
              <a:spcAft>
                <a:spcPts val="100"/>
              </a:spcAft>
            </a:pPr>
            <a:r>
              <a:rPr sz="1150">
                <a:solidFill>
                  <a:srgbClr val="7DE6A8"/>
                </a:solidFill>
                <a:latin typeface="Consolas"/>
              </a:rPr>
              <a:t>  Blynk.virtualWrite(V4, alertOn ? 1 : 0);</a:t>
            </a:r>
          </a:p>
          <a:p>
            <a:pPr>
              <a:spcAft>
                <a:spcPts val="100"/>
              </a:spcAft>
            </a:pPr>
            <a:r>
              <a:rPr sz="1150">
                <a:solidFill>
                  <a:srgbClr val="7DE6A8"/>
                </a:solidFill>
                <a:latin typeface="Consolas"/>
              </a:rPr>
              <a:t> </a:t>
            </a:r>
          </a:p>
          <a:p>
            <a:pPr>
              <a:spcAft>
                <a:spcPts val="100"/>
              </a:spcAft>
            </a:pPr>
            <a:r>
              <a:rPr sz="1150">
                <a:solidFill>
                  <a:srgbClr val="7DE6A8"/>
                </a:solidFill>
                <a:latin typeface="Consolas"/>
              </a:rPr>
              <a:t>  if (alertOn) {</a:t>
            </a:r>
          </a:p>
          <a:p>
            <a:pPr>
              <a:spcAft>
                <a:spcPts val="100"/>
              </a:spcAft>
            </a:pPr>
            <a:r>
              <a:rPr sz="1150">
                <a:solidFill>
                  <a:srgbClr val="7DE6A8"/>
                </a:solidFill>
                <a:latin typeface="Consolas"/>
              </a:rPr>
              <a:t>    Blynk.logEvent("env_alert", "Phat hien nguy co: Gas cao hoac muc nuoc dang ngap!");</a:t>
            </a:r>
          </a:p>
          <a:p>
            <a:pPr>
              <a:spcAft>
                <a:spcPts val="100"/>
              </a:spcAft>
            </a:pPr>
            <a:r>
              <a:rPr sz="1150">
                <a:solidFill>
                  <a:srgbClr val="7DE6A8"/>
                </a:solidFill>
                <a:latin typeface="Consolas"/>
              </a:rPr>
              <a:t>  }</a:t>
            </a:r>
          </a:p>
          <a:p>
            <a:pPr>
              <a:spcAft>
                <a:spcPts val="100"/>
              </a:spcAft>
            </a:pPr>
            <a:r>
              <a:rPr sz="1150">
                <a:solidFill>
                  <a:srgbClr val="7DE6A8"/>
                </a:solidFill>
                <a:latin typeface="Consolas"/>
              </a:rPr>
              <a: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1508760" y="292608"/>
            <a:ext cx="10195560" cy="841248"/>
          </a:xfrm>
          <a:prstGeom prst="roundRect">
            <a:avLst/>
          </a:prstGeom>
          <a:solidFill>
            <a:srgbClr val="E2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508760" y="384048"/>
            <a:ext cx="73152"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2920" y="384048"/>
            <a:ext cx="658368" cy="658368"/>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400" b="1">
                <a:solidFill>
                  <a:srgbClr val="FFFFFF"/>
                </a:solidFill>
                <a:latin typeface="Calibri"/>
              </a:rPr>
              <a:t>IoT</a:t>
            </a:r>
          </a:p>
        </p:txBody>
      </p:sp>
      <p:sp>
        <p:nvSpPr>
          <p:cNvPr id="5" name="TextBox 4"/>
          <p:cNvSpPr txBox="1"/>
          <p:nvPr/>
        </p:nvSpPr>
        <p:spPr>
          <a:xfrm>
            <a:off x="1819656" y="374904"/>
            <a:ext cx="9646920" cy="256032"/>
          </a:xfrm>
          <a:prstGeom prst="rect">
            <a:avLst/>
          </a:prstGeom>
          <a:noFill/>
        </p:spPr>
        <p:txBody>
          <a:bodyPr wrap="square">
            <a:spAutoFit/>
          </a:bodyPr>
          <a:lstStyle/>
          <a:p>
            <a:pPr algn="l"/>
            <a:r>
              <a:rPr sz="1200" b="1" i="0">
                <a:solidFill>
                  <a:srgbClr val="10B981"/>
                </a:solidFill>
                <a:latin typeface="Calibri"/>
              </a:rPr>
              <a:t>B12 · MÃ NGUỒN MỞ RỘNG</a:t>
            </a:r>
          </a:p>
        </p:txBody>
      </p:sp>
      <p:sp>
        <p:nvSpPr>
          <p:cNvPr id="6" name="TextBox 5"/>
          <p:cNvSpPr txBox="1"/>
          <p:nvPr/>
        </p:nvSpPr>
        <p:spPr>
          <a:xfrm>
            <a:off x="1819656" y="630936"/>
            <a:ext cx="9646920" cy="457200"/>
          </a:xfrm>
          <a:prstGeom prst="rect">
            <a:avLst/>
          </a:prstGeom>
          <a:noFill/>
        </p:spPr>
        <p:txBody>
          <a:bodyPr wrap="square">
            <a:spAutoFit/>
          </a:bodyPr>
          <a:lstStyle/>
          <a:p>
            <a:pPr algn="l"/>
            <a:r>
              <a:rPr sz="2100" b="1" i="0">
                <a:solidFill>
                  <a:srgbClr val="1E293B"/>
                </a:solidFill>
                <a:latin typeface="Calibri"/>
              </a:rPr>
              <a:t>Khởi tạo &amp; Vòng lặp chính</a:t>
            </a:r>
          </a:p>
        </p:txBody>
      </p:sp>
      <p:cxnSp>
        <p:nvCxnSpPr>
          <p:cNvPr id="7" name="Connector 6"/>
          <p:cNvCxnSpPr/>
          <p:nvPr/>
        </p:nvCxnSpPr>
        <p:spPr>
          <a:xfrm>
            <a:off x="502920" y="6400800"/>
            <a:ext cx="11185855" cy="0"/>
          </a:xfrm>
          <a:prstGeom prst="line">
            <a:avLst/>
          </a:prstGeom>
          <a:ln w="9525">
            <a:solidFill>
              <a:srgbClr val="DDE3E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473952"/>
            <a:ext cx="6858000" cy="274320"/>
          </a:xfrm>
          <a:prstGeom prst="rect">
            <a:avLst/>
          </a:prstGeom>
          <a:noFill/>
        </p:spPr>
        <p:txBody>
          <a:bodyPr wrap="square">
            <a:spAutoFit/>
          </a:bodyPr>
          <a:lstStyle/>
          <a:p>
            <a:pPr algn="l"/>
            <a:r>
              <a:rPr sz="900" b="0" i="0">
                <a:solidFill>
                  <a:srgbClr val="94A3B8"/>
                </a:solidFill>
                <a:latin typeface="Calibri"/>
              </a:rPr>
              <a:t>IOT TRONG KỸ THUẬT MÔI TRƯỜNG  ·  B12</a:t>
            </a:r>
          </a:p>
        </p:txBody>
      </p:sp>
      <p:sp>
        <p:nvSpPr>
          <p:cNvPr id="9" name="TextBox 8"/>
          <p:cNvSpPr txBox="1"/>
          <p:nvPr/>
        </p:nvSpPr>
        <p:spPr>
          <a:xfrm>
            <a:off x="10820095" y="6473952"/>
            <a:ext cx="914400" cy="274320"/>
          </a:xfrm>
          <a:prstGeom prst="rect">
            <a:avLst/>
          </a:prstGeom>
          <a:noFill/>
        </p:spPr>
        <p:txBody>
          <a:bodyPr wrap="square">
            <a:spAutoFit/>
          </a:bodyPr>
          <a:lstStyle/>
          <a:p>
            <a:pPr algn="r"/>
            <a:r>
              <a:rPr sz="900" b="0" i="0">
                <a:solidFill>
                  <a:srgbClr val="94A3B8"/>
                </a:solidFill>
                <a:latin typeface="Calibri"/>
              </a:rPr>
              <a:t>19</a:t>
            </a:r>
          </a:p>
        </p:txBody>
      </p:sp>
      <p:sp>
        <p:nvSpPr>
          <p:cNvPr id="10" name="Rounded Rectangle 9"/>
          <p:cNvSpPr/>
          <p:nvPr/>
        </p:nvSpPr>
        <p:spPr>
          <a:xfrm>
            <a:off x="502920" y="1371600"/>
            <a:ext cx="11155680" cy="5029200"/>
          </a:xfrm>
          <a:prstGeom prst="round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508760"/>
            <a:ext cx="10607040" cy="4754880"/>
          </a:xfrm>
          <a:prstGeom prst="rect">
            <a:avLst/>
          </a:prstGeom>
          <a:noFill/>
        </p:spPr>
        <p:txBody>
          <a:bodyPr wrap="square">
            <a:spAutoFit/>
          </a:bodyPr>
          <a:lstStyle/>
          <a:p>
            <a:pPr>
              <a:spcAft>
                <a:spcPts val="100"/>
              </a:spcAft>
            </a:pPr>
            <a:r>
              <a:rPr sz="1250">
                <a:solidFill>
                  <a:srgbClr val="7DE6A8"/>
                </a:solidFill>
                <a:latin typeface="Consolas"/>
              </a:rPr>
              <a:t>void setup() {</a:t>
            </a:r>
          </a:p>
          <a:p>
            <a:pPr>
              <a:spcAft>
                <a:spcPts val="100"/>
              </a:spcAft>
            </a:pPr>
            <a:r>
              <a:rPr sz="1250">
                <a:solidFill>
                  <a:srgbClr val="7DE6A8"/>
                </a:solidFill>
                <a:latin typeface="Consolas"/>
              </a:rPr>
              <a:t>  Serial.begin(115200);</a:t>
            </a:r>
          </a:p>
          <a:p>
            <a:pPr>
              <a:spcAft>
                <a:spcPts val="100"/>
              </a:spcAft>
            </a:pPr>
            <a:r>
              <a:rPr sz="1250">
                <a:solidFill>
                  <a:srgbClr val="7DE6A8"/>
                </a:solidFill>
                <a:latin typeface="Consolas"/>
              </a:rPr>
              <a:t>  pinMode(TRIG_PIN, OUTPUT);</a:t>
            </a:r>
          </a:p>
          <a:p>
            <a:pPr>
              <a:spcAft>
                <a:spcPts val="100"/>
              </a:spcAft>
            </a:pPr>
            <a:r>
              <a:rPr sz="1250">
                <a:solidFill>
                  <a:srgbClr val="7DE6A8"/>
                </a:solidFill>
                <a:latin typeface="Consolas"/>
              </a:rPr>
              <a:t>  pinMode(ECHO_PIN, INPUT);</a:t>
            </a:r>
          </a:p>
          <a:p>
            <a:pPr>
              <a:spcAft>
                <a:spcPts val="100"/>
              </a:spcAft>
            </a:pPr>
            <a:r>
              <a:rPr sz="1250">
                <a:solidFill>
                  <a:srgbClr val="7DE6A8"/>
                </a:solidFill>
                <a:latin typeface="Consolas"/>
              </a:rPr>
              <a:t>  pinMode(LED_PIN, OUTPUT);</a:t>
            </a:r>
          </a:p>
          <a:p>
            <a:pPr>
              <a:spcAft>
                <a:spcPts val="100"/>
              </a:spcAft>
            </a:pPr>
            <a:r>
              <a:rPr sz="1250">
                <a:solidFill>
                  <a:srgbClr val="7DE6A8"/>
                </a:solidFill>
                <a:latin typeface="Consolas"/>
              </a:rPr>
              <a:t>  Blynk.begin(BLYNK_AUTH_TOKEN, ssid, pass);</a:t>
            </a:r>
          </a:p>
          <a:p>
            <a:pPr>
              <a:spcAft>
                <a:spcPts val="100"/>
              </a:spcAft>
            </a:pPr>
            <a:r>
              <a:rPr sz="1250">
                <a:solidFill>
                  <a:srgbClr val="7DE6A8"/>
                </a:solidFill>
                <a:latin typeface="Consolas"/>
              </a:rPr>
              <a:t>  timer.setInterval(2000L, sendTelemetry);</a:t>
            </a:r>
          </a:p>
          <a:p>
            <a:pPr>
              <a:spcAft>
                <a:spcPts val="100"/>
              </a:spcAft>
            </a:pPr>
            <a:r>
              <a:rPr sz="1250">
                <a:solidFill>
                  <a:srgbClr val="7DE6A8"/>
                </a:solidFill>
                <a:latin typeface="Consolas"/>
              </a:rPr>
              <a:t>}</a:t>
            </a:r>
          </a:p>
          <a:p>
            <a:pPr>
              <a:spcAft>
                <a:spcPts val="100"/>
              </a:spcAft>
            </a:pPr>
            <a:r>
              <a:rPr sz="1250">
                <a:solidFill>
                  <a:srgbClr val="7DE6A8"/>
                </a:solidFill>
                <a:latin typeface="Consolas"/>
              </a:rPr>
              <a:t> </a:t>
            </a:r>
          </a:p>
          <a:p>
            <a:pPr>
              <a:spcAft>
                <a:spcPts val="100"/>
              </a:spcAft>
            </a:pPr>
            <a:r>
              <a:rPr sz="1250">
                <a:solidFill>
                  <a:srgbClr val="7DE6A8"/>
                </a:solidFill>
                <a:latin typeface="Consolas"/>
              </a:rPr>
              <a:t>void loop() {</a:t>
            </a:r>
          </a:p>
          <a:p>
            <a:pPr>
              <a:spcAft>
                <a:spcPts val="100"/>
              </a:spcAft>
            </a:pPr>
            <a:r>
              <a:rPr sz="1250">
                <a:solidFill>
                  <a:srgbClr val="7DE6A8"/>
                </a:solidFill>
                <a:latin typeface="Consolas"/>
              </a:rPr>
              <a:t>  Blynk.run();</a:t>
            </a:r>
          </a:p>
          <a:p>
            <a:pPr>
              <a:spcAft>
                <a:spcPts val="100"/>
              </a:spcAft>
            </a:pPr>
            <a:r>
              <a:rPr sz="1250">
                <a:solidFill>
                  <a:srgbClr val="7DE6A8"/>
                </a:solidFill>
                <a:latin typeface="Consolas"/>
              </a:rPr>
              <a:t>  timer.run();</a:t>
            </a:r>
          </a:p>
          <a:p>
            <a:pPr>
              <a:spcAft>
                <a:spcPts val="100"/>
              </a:spcAft>
            </a:pPr>
            <a:r>
              <a:rPr sz="1250">
                <a:solidFill>
                  <a:srgbClr val="7DE6A8"/>
                </a:solidFill>
                <a:latin typeface="Consolas"/>
              </a:rPr>
              <a: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1508760" y="292608"/>
            <a:ext cx="10195560" cy="841248"/>
          </a:xfrm>
          <a:prstGeom prst="roundRect">
            <a:avLst/>
          </a:prstGeom>
          <a:solidFill>
            <a:srgbClr val="FD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508760" y="384048"/>
            <a:ext cx="73152" cy="658368"/>
          </a:xfrm>
          <a:prstGeom prst="rect">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2920" y="384048"/>
            <a:ext cx="658368" cy="658368"/>
          </a:xfrm>
          <a:prstGeom prst="roundRect">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400" b="1">
                <a:solidFill>
                  <a:srgbClr val="FFFFFF"/>
                </a:solidFill>
                <a:latin typeface="Calibri"/>
              </a:rPr>
              <a:t>IoT</a:t>
            </a:r>
          </a:p>
        </p:txBody>
      </p:sp>
      <p:sp>
        <p:nvSpPr>
          <p:cNvPr id="5" name="TextBox 4"/>
          <p:cNvSpPr txBox="1"/>
          <p:nvPr/>
        </p:nvSpPr>
        <p:spPr>
          <a:xfrm>
            <a:off x="1819656" y="374904"/>
            <a:ext cx="9646920" cy="256032"/>
          </a:xfrm>
          <a:prstGeom prst="rect">
            <a:avLst/>
          </a:prstGeom>
          <a:noFill/>
        </p:spPr>
        <p:txBody>
          <a:bodyPr wrap="square">
            <a:spAutoFit/>
          </a:bodyPr>
          <a:lstStyle/>
          <a:p>
            <a:pPr algn="l"/>
            <a:r>
              <a:rPr sz="1200" b="1" i="0">
                <a:solidFill>
                  <a:srgbClr val="EF4444"/>
                </a:solidFill>
                <a:latin typeface="Calibri"/>
              </a:rPr>
              <a:t>B12 · TỰ ĐỘNG HOÁ</a:t>
            </a:r>
          </a:p>
        </p:txBody>
      </p:sp>
      <p:sp>
        <p:nvSpPr>
          <p:cNvPr id="6" name="TextBox 5"/>
          <p:cNvSpPr txBox="1"/>
          <p:nvPr/>
        </p:nvSpPr>
        <p:spPr>
          <a:xfrm>
            <a:off x="1819656" y="630936"/>
            <a:ext cx="9646920" cy="457200"/>
          </a:xfrm>
          <a:prstGeom prst="rect">
            <a:avLst/>
          </a:prstGeom>
          <a:noFill/>
        </p:spPr>
        <p:txBody>
          <a:bodyPr wrap="square">
            <a:spAutoFit/>
          </a:bodyPr>
          <a:lstStyle/>
          <a:p>
            <a:pPr algn="l"/>
            <a:r>
              <a:rPr sz="2100" b="1" i="0">
                <a:solidFill>
                  <a:srgbClr val="1E293B"/>
                </a:solidFill>
                <a:latin typeface="Calibri"/>
              </a:rPr>
              <a:t>Cảnh báo &amp; Automation trên Cloud</a:t>
            </a:r>
          </a:p>
        </p:txBody>
      </p:sp>
      <p:cxnSp>
        <p:nvCxnSpPr>
          <p:cNvPr id="7" name="Connector 6"/>
          <p:cNvCxnSpPr/>
          <p:nvPr/>
        </p:nvCxnSpPr>
        <p:spPr>
          <a:xfrm>
            <a:off x="502920" y="6400800"/>
            <a:ext cx="11185855" cy="0"/>
          </a:xfrm>
          <a:prstGeom prst="line">
            <a:avLst/>
          </a:prstGeom>
          <a:ln w="9525">
            <a:solidFill>
              <a:srgbClr val="DDE3E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473952"/>
            <a:ext cx="6858000" cy="274320"/>
          </a:xfrm>
          <a:prstGeom prst="rect">
            <a:avLst/>
          </a:prstGeom>
          <a:noFill/>
        </p:spPr>
        <p:txBody>
          <a:bodyPr wrap="square">
            <a:spAutoFit/>
          </a:bodyPr>
          <a:lstStyle/>
          <a:p>
            <a:pPr algn="l"/>
            <a:r>
              <a:rPr sz="900" b="0" i="0">
                <a:solidFill>
                  <a:srgbClr val="94A3B8"/>
                </a:solidFill>
                <a:latin typeface="Calibri"/>
              </a:rPr>
              <a:t>IOT TRONG KỸ THUẬT MÔI TRƯỜNG  ·  B12</a:t>
            </a:r>
          </a:p>
        </p:txBody>
      </p:sp>
      <p:sp>
        <p:nvSpPr>
          <p:cNvPr id="9" name="TextBox 8"/>
          <p:cNvSpPr txBox="1"/>
          <p:nvPr/>
        </p:nvSpPr>
        <p:spPr>
          <a:xfrm>
            <a:off x="10820095" y="6473952"/>
            <a:ext cx="914400" cy="274320"/>
          </a:xfrm>
          <a:prstGeom prst="rect">
            <a:avLst/>
          </a:prstGeom>
          <a:noFill/>
        </p:spPr>
        <p:txBody>
          <a:bodyPr wrap="square">
            <a:spAutoFit/>
          </a:bodyPr>
          <a:lstStyle/>
          <a:p>
            <a:pPr algn="r"/>
            <a:r>
              <a:rPr sz="900" b="0" i="0">
                <a:solidFill>
                  <a:srgbClr val="94A3B8"/>
                </a:solidFill>
                <a:latin typeface="Calibri"/>
              </a:rPr>
              <a:t>20</a:t>
            </a:r>
          </a:p>
        </p:txBody>
      </p:sp>
      <p:sp>
        <p:nvSpPr>
          <p:cNvPr id="10" name="Rounded Rectangle 9"/>
          <p:cNvSpPr/>
          <p:nvPr/>
        </p:nvSpPr>
        <p:spPr>
          <a:xfrm>
            <a:off x="548640" y="1417320"/>
            <a:ext cx="11064240" cy="1554480"/>
          </a:xfrm>
          <a:prstGeom prst="roundRect">
            <a:avLst/>
          </a:prstGeom>
          <a:solidFill>
            <a:srgbClr val="FDECEC"/>
          </a:solidFill>
          <a:ln w="19050">
            <a:solidFill>
              <a:srgbClr val="EF44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1554480"/>
            <a:ext cx="10515600" cy="320040"/>
          </a:xfrm>
          <a:prstGeom prst="rect">
            <a:avLst/>
          </a:prstGeom>
          <a:noFill/>
        </p:spPr>
        <p:txBody>
          <a:bodyPr wrap="square">
            <a:spAutoFit/>
          </a:bodyPr>
          <a:lstStyle/>
          <a:p>
            <a:pPr algn="l"/>
            <a:r>
              <a:rPr sz="1250" b="1" i="0">
                <a:solidFill>
                  <a:srgbClr val="EF4444"/>
                </a:solidFill>
                <a:latin typeface="Calibri"/>
              </a:rPr>
              <a:t>QUY TẮC AUTOMATION CHO BÀI B12</a:t>
            </a:r>
          </a:p>
        </p:txBody>
      </p:sp>
      <p:sp>
        <p:nvSpPr>
          <p:cNvPr id="12" name="TextBox 11"/>
          <p:cNvSpPr txBox="1"/>
          <p:nvPr/>
        </p:nvSpPr>
        <p:spPr>
          <a:xfrm>
            <a:off x="822960" y="1901952"/>
            <a:ext cx="10515600" cy="1005840"/>
          </a:xfrm>
          <a:prstGeom prst="rect">
            <a:avLst/>
          </a:prstGeom>
          <a:noFill/>
        </p:spPr>
        <p:txBody>
          <a:bodyPr wrap="square">
            <a:spAutoFit/>
          </a:bodyPr>
          <a:lstStyle/>
          <a:p>
            <a:pPr algn="l">
              <a:lnSpc>
                <a:spcPct val="125000"/>
              </a:lnSpc>
            </a:pPr>
            <a:r>
              <a:rPr sz="1200" b="0" i="0">
                <a:solidFill>
                  <a:srgbClr val="1E293B"/>
                </a:solidFill>
                <a:latin typeface="Calibri"/>
              </a:rPr>
              <a:t>Automation đa điều kiện trong Blynk.Console: (Gas PPM &gt; 300) HOẶC (Mực nước &lt; 15cm) → gửi thông báo đẩy + email + tự động bật 1 Widget "Trạng thái khẩn cấp" màu đỏ trên Web Dashboard — cấu hình trực quan bằng giao diện kéo-thả, không cần sửa thêm code.</a:t>
            </a:r>
          </a:p>
        </p:txBody>
      </p:sp>
      <p:sp>
        <p:nvSpPr>
          <p:cNvPr id="13" name="TextBox 12"/>
          <p:cNvSpPr txBox="1"/>
          <p:nvPr/>
        </p:nvSpPr>
        <p:spPr>
          <a:xfrm>
            <a:off x="548640" y="3127248"/>
            <a:ext cx="11064240" cy="320040"/>
          </a:xfrm>
          <a:prstGeom prst="rect">
            <a:avLst/>
          </a:prstGeom>
          <a:noFill/>
        </p:spPr>
        <p:txBody>
          <a:bodyPr wrap="square">
            <a:spAutoFit/>
          </a:bodyPr>
          <a:lstStyle/>
          <a:p>
            <a:pPr algn="l"/>
            <a:r>
              <a:rPr sz="1350" b="1" i="0">
                <a:solidFill>
                  <a:srgbClr val="1E293B"/>
                </a:solidFill>
                <a:latin typeface="Calibri"/>
              </a:rPr>
              <a:t>Các bước cấu hình trên Blynk.Console (Web):</a:t>
            </a:r>
          </a:p>
        </p:txBody>
      </p:sp>
      <p:sp>
        <p:nvSpPr>
          <p:cNvPr id="14" name="Oval 13"/>
          <p:cNvSpPr/>
          <p:nvPr/>
        </p:nvSpPr>
        <p:spPr>
          <a:xfrm>
            <a:off x="548640" y="3520440"/>
            <a:ext cx="384048" cy="384048"/>
          </a:xfrm>
          <a:prstGeom prst="ellipse">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a:solidFill>
                  <a:srgbClr val="FFFFFF"/>
                </a:solidFill>
                <a:latin typeface="Calibri"/>
              </a:rPr>
              <a:t>1</a:t>
            </a:r>
          </a:p>
        </p:txBody>
      </p:sp>
      <p:sp>
        <p:nvSpPr>
          <p:cNvPr id="15" name="TextBox 14"/>
          <p:cNvSpPr txBox="1"/>
          <p:nvPr/>
        </p:nvSpPr>
        <p:spPr>
          <a:xfrm>
            <a:off x="1051560" y="3502152"/>
            <a:ext cx="10515600" cy="566928"/>
          </a:xfrm>
          <a:prstGeom prst="rect">
            <a:avLst/>
          </a:prstGeom>
          <a:noFill/>
        </p:spPr>
        <p:txBody>
          <a:bodyPr wrap="square" anchor="ctr">
            <a:spAutoFit/>
          </a:bodyPr>
          <a:lstStyle/>
          <a:p>
            <a:pPr algn="l">
              <a:lnSpc>
                <a:spcPct val="110000"/>
              </a:lnSpc>
            </a:pPr>
            <a:r>
              <a:rPr sz="1150" b="0" i="0">
                <a:solidFill>
                  <a:srgbClr val="1E293B"/>
                </a:solidFill>
                <a:latin typeface="Calibri"/>
              </a:rPr>
              <a:t>Mở thiết bị trên Blynk.Console &gt; chuyển sang tab "Automations" &gt; bấm "+ Create Automation".</a:t>
            </a:r>
          </a:p>
        </p:txBody>
      </p:sp>
      <p:sp>
        <p:nvSpPr>
          <p:cNvPr id="16" name="Oval 15"/>
          <p:cNvSpPr/>
          <p:nvPr/>
        </p:nvSpPr>
        <p:spPr>
          <a:xfrm>
            <a:off x="548640" y="4142232"/>
            <a:ext cx="384048" cy="384048"/>
          </a:xfrm>
          <a:prstGeom prst="ellipse">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a:solidFill>
                  <a:srgbClr val="FFFFFF"/>
                </a:solidFill>
                <a:latin typeface="Calibri"/>
              </a:rPr>
              <a:t>2</a:t>
            </a:r>
          </a:p>
        </p:txBody>
      </p:sp>
      <p:sp>
        <p:nvSpPr>
          <p:cNvPr id="17" name="TextBox 16"/>
          <p:cNvSpPr txBox="1"/>
          <p:nvPr/>
        </p:nvSpPr>
        <p:spPr>
          <a:xfrm>
            <a:off x="1051560" y="4123944"/>
            <a:ext cx="10515600" cy="566928"/>
          </a:xfrm>
          <a:prstGeom prst="rect">
            <a:avLst/>
          </a:prstGeom>
          <a:noFill/>
        </p:spPr>
        <p:txBody>
          <a:bodyPr wrap="square" anchor="ctr">
            <a:spAutoFit/>
          </a:bodyPr>
          <a:lstStyle/>
          <a:p>
            <a:pPr algn="l">
              <a:lnSpc>
                <a:spcPct val="110000"/>
              </a:lnSpc>
            </a:pPr>
            <a:r>
              <a:rPr sz="1150" b="0" i="0">
                <a:solidFill>
                  <a:srgbClr val="1E293B"/>
                </a:solidFill>
                <a:latin typeface="Calibri"/>
              </a:rPr>
              <a:t>Đặt tên quy tắc dễ nhớ &gt; phần "IF" chọn đúng Datastream cần theo dõi &gt; chọn phép so sánh (&gt;, &lt;, =) &gt; nhập giá trị ngưỡng.</a:t>
            </a:r>
          </a:p>
        </p:txBody>
      </p:sp>
      <p:sp>
        <p:nvSpPr>
          <p:cNvPr id="18" name="Oval 17"/>
          <p:cNvSpPr/>
          <p:nvPr/>
        </p:nvSpPr>
        <p:spPr>
          <a:xfrm>
            <a:off x="548640" y="4764024"/>
            <a:ext cx="384048" cy="384048"/>
          </a:xfrm>
          <a:prstGeom prst="ellipse">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a:solidFill>
                  <a:srgbClr val="FFFFFF"/>
                </a:solidFill>
                <a:latin typeface="Calibri"/>
              </a:rPr>
              <a:t>3</a:t>
            </a:r>
          </a:p>
        </p:txBody>
      </p:sp>
      <p:sp>
        <p:nvSpPr>
          <p:cNvPr id="19" name="TextBox 18"/>
          <p:cNvSpPr txBox="1"/>
          <p:nvPr/>
        </p:nvSpPr>
        <p:spPr>
          <a:xfrm>
            <a:off x="1051560" y="4745736"/>
            <a:ext cx="10515600" cy="566928"/>
          </a:xfrm>
          <a:prstGeom prst="rect">
            <a:avLst/>
          </a:prstGeom>
          <a:noFill/>
        </p:spPr>
        <p:txBody>
          <a:bodyPr wrap="square" anchor="ctr">
            <a:spAutoFit/>
          </a:bodyPr>
          <a:lstStyle/>
          <a:p>
            <a:pPr algn="l">
              <a:lnSpc>
                <a:spcPct val="110000"/>
              </a:lnSpc>
            </a:pPr>
            <a:r>
              <a:rPr sz="1150" b="0" i="0">
                <a:solidFill>
                  <a:srgbClr val="1E293B"/>
                </a:solidFill>
                <a:latin typeface="Calibri"/>
              </a:rPr>
              <a:t>Phần "THEN" chọn hành động "Send Notification" (thông báo đẩy) và/hoặc "Send Email" &gt; soạn nội dung cảnh báo.</a:t>
            </a:r>
          </a:p>
        </p:txBody>
      </p:sp>
      <p:sp>
        <p:nvSpPr>
          <p:cNvPr id="20" name="Oval 19"/>
          <p:cNvSpPr/>
          <p:nvPr/>
        </p:nvSpPr>
        <p:spPr>
          <a:xfrm>
            <a:off x="548640" y="5385816"/>
            <a:ext cx="384048" cy="384048"/>
          </a:xfrm>
          <a:prstGeom prst="ellipse">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a:solidFill>
                  <a:srgbClr val="FFFFFF"/>
                </a:solidFill>
                <a:latin typeface="Calibri"/>
              </a:rPr>
              <a:t>4</a:t>
            </a:r>
          </a:p>
        </p:txBody>
      </p:sp>
      <p:sp>
        <p:nvSpPr>
          <p:cNvPr id="21" name="TextBox 20"/>
          <p:cNvSpPr txBox="1"/>
          <p:nvPr/>
        </p:nvSpPr>
        <p:spPr>
          <a:xfrm>
            <a:off x="1051560" y="5367528"/>
            <a:ext cx="10515600" cy="566928"/>
          </a:xfrm>
          <a:prstGeom prst="rect">
            <a:avLst/>
          </a:prstGeom>
          <a:noFill/>
        </p:spPr>
        <p:txBody>
          <a:bodyPr wrap="square" anchor="ctr">
            <a:spAutoFit/>
          </a:bodyPr>
          <a:lstStyle/>
          <a:p>
            <a:pPr algn="l">
              <a:lnSpc>
                <a:spcPct val="110000"/>
              </a:lnSpc>
            </a:pPr>
            <a:r>
              <a:rPr sz="1150" b="0" i="0">
                <a:solidFill>
                  <a:srgbClr val="1E293B"/>
                </a:solidFill>
                <a:latin typeface="Calibri"/>
              </a:rPr>
              <a:t>Bấm "Save" rồi gạt công tắc "Enable" ở đầu quy tắc để chính thức kích hoạt — có thể Tắt/Bật lại bất cứ lúc nào mà không cần sửa code.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1508760" y="292608"/>
            <a:ext cx="10195560" cy="841248"/>
          </a:xfrm>
          <a:prstGeom prst="roundRect">
            <a:avLst/>
          </a:prstGeom>
          <a:solidFill>
            <a:srgbClr val="E2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508760" y="384048"/>
            <a:ext cx="73152"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2920" y="384048"/>
            <a:ext cx="658368" cy="658368"/>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400" b="1">
                <a:solidFill>
                  <a:srgbClr val="FFFFFF"/>
                </a:solidFill>
                <a:latin typeface="Calibri"/>
              </a:rPr>
              <a:t>IoT</a:t>
            </a:r>
          </a:p>
        </p:txBody>
      </p:sp>
      <p:sp>
        <p:nvSpPr>
          <p:cNvPr id="5" name="TextBox 4"/>
          <p:cNvSpPr txBox="1"/>
          <p:nvPr/>
        </p:nvSpPr>
        <p:spPr>
          <a:xfrm>
            <a:off x="1819656" y="374904"/>
            <a:ext cx="9646920" cy="256032"/>
          </a:xfrm>
          <a:prstGeom prst="rect">
            <a:avLst/>
          </a:prstGeom>
          <a:noFill/>
        </p:spPr>
        <p:txBody>
          <a:bodyPr wrap="square">
            <a:spAutoFit/>
          </a:bodyPr>
          <a:lstStyle/>
          <a:p>
            <a:pPr algn="l"/>
            <a:r>
              <a:rPr sz="1200" b="1" i="0">
                <a:solidFill>
                  <a:srgbClr val="10B981"/>
                </a:solidFill>
                <a:latin typeface="Calibri"/>
              </a:rPr>
              <a:t>B12 · ỨNG DỤNG THỰC TIỄN</a:t>
            </a:r>
          </a:p>
        </p:txBody>
      </p:sp>
      <p:sp>
        <p:nvSpPr>
          <p:cNvPr id="6" name="TextBox 5"/>
          <p:cNvSpPr txBox="1"/>
          <p:nvPr/>
        </p:nvSpPr>
        <p:spPr>
          <a:xfrm>
            <a:off x="1819656" y="630936"/>
            <a:ext cx="9646920" cy="457200"/>
          </a:xfrm>
          <a:prstGeom prst="rect">
            <a:avLst/>
          </a:prstGeom>
          <a:noFill/>
        </p:spPr>
        <p:txBody>
          <a:bodyPr wrap="square">
            <a:spAutoFit/>
          </a:bodyPr>
          <a:lstStyle/>
          <a:p>
            <a:pPr algn="l"/>
            <a:r>
              <a:rPr sz="2100" b="1" i="0">
                <a:solidFill>
                  <a:srgbClr val="1E293B"/>
                </a:solidFill>
                <a:latin typeface="Calibri"/>
              </a:rPr>
              <a:t>Giá trị thực tế khi có App/Web</a:t>
            </a:r>
          </a:p>
        </p:txBody>
      </p:sp>
      <p:cxnSp>
        <p:nvCxnSpPr>
          <p:cNvPr id="7" name="Connector 6"/>
          <p:cNvCxnSpPr/>
          <p:nvPr/>
        </p:nvCxnSpPr>
        <p:spPr>
          <a:xfrm>
            <a:off x="502920" y="6400800"/>
            <a:ext cx="11185855" cy="0"/>
          </a:xfrm>
          <a:prstGeom prst="line">
            <a:avLst/>
          </a:prstGeom>
          <a:ln w="9525">
            <a:solidFill>
              <a:srgbClr val="DDE3E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473952"/>
            <a:ext cx="6858000" cy="274320"/>
          </a:xfrm>
          <a:prstGeom prst="rect">
            <a:avLst/>
          </a:prstGeom>
          <a:noFill/>
        </p:spPr>
        <p:txBody>
          <a:bodyPr wrap="square">
            <a:spAutoFit/>
          </a:bodyPr>
          <a:lstStyle/>
          <a:p>
            <a:pPr algn="l"/>
            <a:r>
              <a:rPr sz="900" b="0" i="0">
                <a:solidFill>
                  <a:srgbClr val="94A3B8"/>
                </a:solidFill>
                <a:latin typeface="Calibri"/>
              </a:rPr>
              <a:t>IOT TRONG KỸ THUẬT MÔI TRƯỜNG  ·  B12</a:t>
            </a:r>
          </a:p>
        </p:txBody>
      </p:sp>
      <p:sp>
        <p:nvSpPr>
          <p:cNvPr id="9" name="TextBox 8"/>
          <p:cNvSpPr txBox="1"/>
          <p:nvPr/>
        </p:nvSpPr>
        <p:spPr>
          <a:xfrm>
            <a:off x="10820095" y="6473952"/>
            <a:ext cx="914400" cy="274320"/>
          </a:xfrm>
          <a:prstGeom prst="rect">
            <a:avLst/>
          </a:prstGeom>
          <a:noFill/>
        </p:spPr>
        <p:txBody>
          <a:bodyPr wrap="square">
            <a:spAutoFit/>
          </a:bodyPr>
          <a:lstStyle/>
          <a:p>
            <a:pPr algn="r"/>
            <a:r>
              <a:rPr sz="900" b="0" i="0">
                <a:solidFill>
                  <a:srgbClr val="94A3B8"/>
                </a:solidFill>
                <a:latin typeface="Calibri"/>
              </a:rPr>
              <a:t>21</a:t>
            </a:r>
          </a:p>
        </p:txBody>
      </p:sp>
      <p:sp>
        <p:nvSpPr>
          <p:cNvPr id="10" name="Rounded Rectangle 9"/>
          <p:cNvSpPr/>
          <p:nvPr/>
        </p:nvSpPr>
        <p:spPr>
          <a:xfrm>
            <a:off x="548640" y="1417320"/>
            <a:ext cx="5349240" cy="1965960"/>
          </a:xfrm>
          <a:prstGeom prst="roundRect">
            <a:avLst/>
          </a:prstGeom>
          <a:solidFill>
            <a:srgbClr val="FFFFFF"/>
          </a:solidFill>
          <a:ln w="19050">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417320"/>
            <a:ext cx="109728" cy="1965960"/>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1581912"/>
            <a:ext cx="4800600" cy="457200"/>
          </a:xfrm>
          <a:prstGeom prst="rect">
            <a:avLst/>
          </a:prstGeom>
          <a:noFill/>
        </p:spPr>
        <p:txBody>
          <a:bodyPr wrap="square">
            <a:spAutoFit/>
          </a:bodyPr>
          <a:lstStyle/>
          <a:p>
            <a:pPr algn="l"/>
            <a:r>
              <a:rPr sz="1500" b="1" i="0">
                <a:solidFill>
                  <a:srgbClr val="1E293B"/>
                </a:solidFill>
                <a:latin typeface="Calibri"/>
              </a:rPr>
              <a:t>Nền tảng giám sát môi trường hoàn chỉnh</a:t>
            </a:r>
          </a:p>
        </p:txBody>
      </p:sp>
      <p:sp>
        <p:nvSpPr>
          <p:cNvPr id="13" name="TextBox 12"/>
          <p:cNvSpPr txBox="1"/>
          <p:nvPr/>
        </p:nvSpPr>
        <p:spPr>
          <a:xfrm>
            <a:off x="868680" y="2075688"/>
            <a:ext cx="4800600" cy="1143000"/>
          </a:xfrm>
          <a:prstGeom prst="rect">
            <a:avLst/>
          </a:prstGeom>
          <a:noFill/>
        </p:spPr>
        <p:txBody>
          <a:bodyPr wrap="square">
            <a:spAutoFit/>
          </a:bodyPr>
          <a:lstStyle/>
          <a:p>
            <a:pPr algn="l">
              <a:lnSpc>
                <a:spcPct val="120000"/>
              </a:lnSpc>
            </a:pPr>
            <a:r>
              <a:rPr sz="1200" b="0" i="0">
                <a:solidFill>
                  <a:srgbClr val="475569"/>
                </a:solidFill>
                <a:latin typeface="Calibri"/>
              </a:rPr>
              <a:t>Tích hợp đầy đủ 4 nhóm dữ liệu môi trường (khí hậu, khí thải, nước) trên 1 nền tảng Cloud duy nhất — mô hình thu nhỏ của trạm quan trắc thật.</a:t>
            </a:r>
          </a:p>
        </p:txBody>
      </p:sp>
      <p:sp>
        <p:nvSpPr>
          <p:cNvPr id="14" name="Rounded Rectangle 13"/>
          <p:cNvSpPr/>
          <p:nvPr/>
        </p:nvSpPr>
        <p:spPr>
          <a:xfrm>
            <a:off x="6263640" y="1417320"/>
            <a:ext cx="5349240" cy="1965960"/>
          </a:xfrm>
          <a:prstGeom prst="roundRect">
            <a:avLst/>
          </a:prstGeom>
          <a:solidFill>
            <a:srgbClr val="FFFFFF"/>
          </a:solidFill>
          <a:ln w="190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63640" y="1417320"/>
            <a:ext cx="109728" cy="19659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79" y="1581912"/>
            <a:ext cx="4800600" cy="457200"/>
          </a:xfrm>
          <a:prstGeom prst="rect">
            <a:avLst/>
          </a:prstGeom>
          <a:noFill/>
        </p:spPr>
        <p:txBody>
          <a:bodyPr wrap="square">
            <a:spAutoFit/>
          </a:bodyPr>
          <a:lstStyle/>
          <a:p>
            <a:pPr algn="l"/>
            <a:r>
              <a:rPr sz="1500" b="1" i="0">
                <a:solidFill>
                  <a:srgbClr val="1E293B"/>
                </a:solidFill>
                <a:latin typeface="Calibri"/>
              </a:rPr>
              <a:t>Kết nối hệ sinh thái ứng dụng bên thứ ba</a:t>
            </a:r>
          </a:p>
        </p:txBody>
      </p:sp>
      <p:sp>
        <p:nvSpPr>
          <p:cNvPr id="17" name="TextBox 16"/>
          <p:cNvSpPr txBox="1"/>
          <p:nvPr/>
        </p:nvSpPr>
        <p:spPr>
          <a:xfrm>
            <a:off x="6583679" y="2075688"/>
            <a:ext cx="4800600" cy="1143000"/>
          </a:xfrm>
          <a:prstGeom prst="rect">
            <a:avLst/>
          </a:prstGeom>
          <a:noFill/>
        </p:spPr>
        <p:txBody>
          <a:bodyPr wrap="square">
            <a:spAutoFit/>
          </a:bodyPr>
          <a:lstStyle/>
          <a:p>
            <a:pPr algn="l">
              <a:lnSpc>
                <a:spcPct val="120000"/>
              </a:lnSpc>
            </a:pPr>
            <a:r>
              <a:rPr sz="1200" b="0" i="0">
                <a:solidFill>
                  <a:srgbClr val="475569"/>
                </a:solidFill>
                <a:latin typeface="Calibri"/>
              </a:rPr>
              <a:t>Dữ liệu trên Blynk Cloud có thể xuất qua API sang các nền tảng phân tích khác (Excel, Power BI, Google Sheets) để báo cáo chuyên sâu hơn.</a:t>
            </a:r>
          </a:p>
        </p:txBody>
      </p:sp>
      <p:sp>
        <p:nvSpPr>
          <p:cNvPr id="18" name="Rounded Rectangle 17"/>
          <p:cNvSpPr/>
          <p:nvPr/>
        </p:nvSpPr>
        <p:spPr>
          <a:xfrm>
            <a:off x="548640" y="3703320"/>
            <a:ext cx="5349240" cy="1965960"/>
          </a:xfrm>
          <a:prstGeom prst="roundRect">
            <a:avLst/>
          </a:prstGeom>
          <a:solidFill>
            <a:srgbClr val="FFFFFF"/>
          </a:solidFill>
          <a:ln w="1905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703320"/>
            <a:ext cx="109728" cy="19659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680" y="3867911"/>
            <a:ext cx="4800600" cy="457200"/>
          </a:xfrm>
          <a:prstGeom prst="rect">
            <a:avLst/>
          </a:prstGeom>
          <a:noFill/>
        </p:spPr>
        <p:txBody>
          <a:bodyPr wrap="square">
            <a:spAutoFit/>
          </a:bodyPr>
          <a:lstStyle/>
          <a:p>
            <a:pPr algn="l"/>
            <a:r>
              <a:rPr sz="1500" b="1" i="0">
                <a:solidFill>
                  <a:srgbClr val="1E293B"/>
                </a:solidFill>
                <a:latin typeface="Calibri"/>
              </a:rPr>
              <a:t>Mô hình triển khai thực tế nhiều trạm</a:t>
            </a:r>
          </a:p>
        </p:txBody>
      </p:sp>
      <p:sp>
        <p:nvSpPr>
          <p:cNvPr id="21" name="TextBox 20"/>
          <p:cNvSpPr txBox="1"/>
          <p:nvPr/>
        </p:nvSpPr>
        <p:spPr>
          <a:xfrm>
            <a:off x="868680" y="4361688"/>
            <a:ext cx="4800600" cy="1143000"/>
          </a:xfrm>
          <a:prstGeom prst="rect">
            <a:avLst/>
          </a:prstGeom>
          <a:noFill/>
        </p:spPr>
        <p:txBody>
          <a:bodyPr wrap="square">
            <a:spAutoFit/>
          </a:bodyPr>
          <a:lstStyle/>
          <a:p>
            <a:pPr algn="l">
              <a:lnSpc>
                <a:spcPct val="120000"/>
              </a:lnSpc>
            </a:pPr>
            <a:r>
              <a:rPr sz="1200" b="0" i="0">
                <a:solidFill>
                  <a:srgbClr val="475569"/>
                </a:solidFill>
                <a:latin typeface="Calibri"/>
              </a:rPr>
              <a:t>Mỗi Template có thể nhân bản (clone) Auth Token riêng cho từng trạm đặt tại nhiều địa điểm, quản lý tập trung trên 1 Dashboard.</a:t>
            </a:r>
          </a:p>
        </p:txBody>
      </p:sp>
      <p:sp>
        <p:nvSpPr>
          <p:cNvPr id="22" name="Rounded Rectangle 21"/>
          <p:cNvSpPr/>
          <p:nvPr/>
        </p:nvSpPr>
        <p:spPr>
          <a:xfrm>
            <a:off x="6263640" y="3703320"/>
            <a:ext cx="5349240" cy="1965960"/>
          </a:xfrm>
          <a:prstGeom prst="roundRect">
            <a:avLst/>
          </a:prstGeom>
          <a:solidFill>
            <a:srgbClr val="FFFFFF"/>
          </a:solidFill>
          <a:ln w="19050">
            <a:solidFill>
              <a:srgbClr val="EC48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63640" y="3703320"/>
            <a:ext cx="109728" cy="1965960"/>
          </a:xfrm>
          <a:prstGeom prst="rect">
            <a:avLst/>
          </a:prstGeom>
          <a:solidFill>
            <a:srgbClr val="EC48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83679" y="3867911"/>
            <a:ext cx="4800600" cy="457200"/>
          </a:xfrm>
          <a:prstGeom prst="rect">
            <a:avLst/>
          </a:prstGeom>
          <a:noFill/>
        </p:spPr>
        <p:txBody>
          <a:bodyPr wrap="square">
            <a:spAutoFit/>
          </a:bodyPr>
          <a:lstStyle/>
          <a:p>
            <a:pPr algn="l"/>
            <a:r>
              <a:rPr sz="1500" b="1" i="0">
                <a:solidFill>
                  <a:srgbClr val="1E293B"/>
                </a:solidFill>
                <a:latin typeface="Calibri"/>
              </a:rPr>
              <a:t>Nền tảng cho đồ án tốt nghiệp / nghiên cứu</a:t>
            </a:r>
          </a:p>
        </p:txBody>
      </p:sp>
      <p:sp>
        <p:nvSpPr>
          <p:cNvPr id="25" name="TextBox 24"/>
          <p:cNvSpPr txBox="1"/>
          <p:nvPr/>
        </p:nvSpPr>
        <p:spPr>
          <a:xfrm>
            <a:off x="6583679" y="4361688"/>
            <a:ext cx="4800600" cy="1143000"/>
          </a:xfrm>
          <a:prstGeom prst="rect">
            <a:avLst/>
          </a:prstGeom>
          <a:noFill/>
        </p:spPr>
        <p:txBody>
          <a:bodyPr wrap="square">
            <a:spAutoFit/>
          </a:bodyPr>
          <a:lstStyle/>
          <a:p>
            <a:pPr algn="l">
              <a:lnSpc>
                <a:spcPct val="120000"/>
              </a:lnSpc>
            </a:pPr>
            <a:r>
              <a:rPr sz="1200" b="0" i="0">
                <a:solidFill>
                  <a:srgbClr val="475569"/>
                </a:solidFill>
                <a:latin typeface="Calibri"/>
              </a:rPr>
              <a:t>Toàn bộ kiến trúc B7-B12 là khung sườn đầy đủ để sinh viên phát triển thành đồ án IoT môi trường hoàn chỉnh.</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1508760" y="292608"/>
            <a:ext cx="10195560" cy="841248"/>
          </a:xfrm>
          <a:prstGeom prst="roundRect">
            <a:avLst/>
          </a:prstGeom>
          <a:solidFill>
            <a:srgbClr val="FD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508760" y="384048"/>
            <a:ext cx="73152" cy="658368"/>
          </a:xfrm>
          <a:prstGeom prst="rect">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2920" y="384048"/>
            <a:ext cx="658368" cy="658368"/>
          </a:xfrm>
          <a:prstGeom prst="roundRect">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400" b="1">
                <a:solidFill>
                  <a:srgbClr val="FFFFFF"/>
                </a:solidFill>
                <a:latin typeface="Calibri"/>
              </a:rPr>
              <a:t>IoT</a:t>
            </a:r>
          </a:p>
        </p:txBody>
      </p:sp>
      <p:sp>
        <p:nvSpPr>
          <p:cNvPr id="5" name="TextBox 4"/>
          <p:cNvSpPr txBox="1"/>
          <p:nvPr/>
        </p:nvSpPr>
        <p:spPr>
          <a:xfrm>
            <a:off x="1819656" y="374904"/>
            <a:ext cx="9646920" cy="256032"/>
          </a:xfrm>
          <a:prstGeom prst="rect">
            <a:avLst/>
          </a:prstGeom>
          <a:noFill/>
        </p:spPr>
        <p:txBody>
          <a:bodyPr wrap="square">
            <a:spAutoFit/>
          </a:bodyPr>
          <a:lstStyle/>
          <a:p>
            <a:pPr algn="l"/>
            <a:r>
              <a:rPr sz="1200" b="1" i="0">
                <a:solidFill>
                  <a:srgbClr val="EF4444"/>
                </a:solidFill>
                <a:latin typeface="Calibri"/>
              </a:rPr>
              <a:t>B12 · LƯU Ý TRIỂN KHAI</a:t>
            </a:r>
          </a:p>
        </p:txBody>
      </p:sp>
      <p:sp>
        <p:nvSpPr>
          <p:cNvPr id="6" name="TextBox 5"/>
          <p:cNvSpPr txBox="1"/>
          <p:nvPr/>
        </p:nvSpPr>
        <p:spPr>
          <a:xfrm>
            <a:off x="1819656" y="630936"/>
            <a:ext cx="9646920" cy="457200"/>
          </a:xfrm>
          <a:prstGeom prst="rect">
            <a:avLst/>
          </a:prstGeom>
          <a:noFill/>
        </p:spPr>
        <p:txBody>
          <a:bodyPr wrap="square">
            <a:spAutoFit/>
          </a:bodyPr>
          <a:lstStyle/>
          <a:p>
            <a:pPr algn="l"/>
            <a:r>
              <a:rPr sz="2100" b="1" i="0">
                <a:solidFill>
                  <a:srgbClr val="1E293B"/>
                </a:solidFill>
                <a:latin typeface="Calibri"/>
              </a:rPr>
              <a:t>Lưu ý khi triển khai thực tế</a:t>
            </a:r>
          </a:p>
        </p:txBody>
      </p:sp>
      <p:cxnSp>
        <p:nvCxnSpPr>
          <p:cNvPr id="7" name="Connector 6"/>
          <p:cNvCxnSpPr/>
          <p:nvPr/>
        </p:nvCxnSpPr>
        <p:spPr>
          <a:xfrm>
            <a:off x="502920" y="6400800"/>
            <a:ext cx="11185855" cy="0"/>
          </a:xfrm>
          <a:prstGeom prst="line">
            <a:avLst/>
          </a:prstGeom>
          <a:ln w="9525">
            <a:solidFill>
              <a:srgbClr val="DDE3E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473952"/>
            <a:ext cx="6858000" cy="274320"/>
          </a:xfrm>
          <a:prstGeom prst="rect">
            <a:avLst/>
          </a:prstGeom>
          <a:noFill/>
        </p:spPr>
        <p:txBody>
          <a:bodyPr wrap="square">
            <a:spAutoFit/>
          </a:bodyPr>
          <a:lstStyle/>
          <a:p>
            <a:pPr algn="l"/>
            <a:r>
              <a:rPr sz="900" b="0" i="0">
                <a:solidFill>
                  <a:srgbClr val="94A3B8"/>
                </a:solidFill>
                <a:latin typeface="Calibri"/>
              </a:rPr>
              <a:t>IOT TRONG KỸ THUẬT MÔI TRƯỜNG  ·  B12</a:t>
            </a:r>
          </a:p>
        </p:txBody>
      </p:sp>
      <p:sp>
        <p:nvSpPr>
          <p:cNvPr id="9" name="TextBox 8"/>
          <p:cNvSpPr txBox="1"/>
          <p:nvPr/>
        </p:nvSpPr>
        <p:spPr>
          <a:xfrm>
            <a:off x="10820095" y="6473952"/>
            <a:ext cx="914400" cy="274320"/>
          </a:xfrm>
          <a:prstGeom prst="rect">
            <a:avLst/>
          </a:prstGeom>
          <a:noFill/>
        </p:spPr>
        <p:txBody>
          <a:bodyPr wrap="square">
            <a:spAutoFit/>
          </a:bodyPr>
          <a:lstStyle/>
          <a:p>
            <a:pPr algn="r"/>
            <a:r>
              <a:rPr sz="900" b="0" i="0">
                <a:solidFill>
                  <a:srgbClr val="94A3B8"/>
                </a:solidFill>
                <a:latin typeface="Calibri"/>
              </a:rPr>
              <a:t>22</a:t>
            </a:r>
          </a:p>
        </p:txBody>
      </p:sp>
      <p:sp>
        <p:nvSpPr>
          <p:cNvPr id="10" name="Oval 9"/>
          <p:cNvSpPr/>
          <p:nvPr/>
        </p:nvSpPr>
        <p:spPr>
          <a:xfrm>
            <a:off x="548640" y="1444752"/>
            <a:ext cx="457200" cy="457200"/>
          </a:xfrm>
          <a:prstGeom prst="ellipse">
            <a:avLst/>
          </a:prstGeom>
          <a:solidFill>
            <a:srgbClr val="FCE2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800" b="1">
                <a:solidFill>
                  <a:srgbClr val="EF4444"/>
                </a:solidFill>
                <a:latin typeface="Calibri"/>
              </a:rPr>
              <a:t>!</a:t>
            </a:r>
          </a:p>
        </p:txBody>
      </p:sp>
      <p:sp>
        <p:nvSpPr>
          <p:cNvPr id="11" name="TextBox 10"/>
          <p:cNvSpPr txBox="1"/>
          <p:nvPr/>
        </p:nvSpPr>
        <p:spPr>
          <a:xfrm>
            <a:off x="1188720" y="1417320"/>
            <a:ext cx="10241280" cy="822960"/>
          </a:xfrm>
          <a:prstGeom prst="rect">
            <a:avLst/>
          </a:prstGeom>
          <a:noFill/>
        </p:spPr>
        <p:txBody>
          <a:bodyPr wrap="square" anchor="ctr">
            <a:spAutoFit/>
          </a:bodyPr>
          <a:lstStyle/>
          <a:p>
            <a:pPr algn="l">
              <a:lnSpc>
                <a:spcPct val="115000"/>
              </a:lnSpc>
            </a:pPr>
            <a:r>
              <a:rPr sz="1300" b="0" i="0">
                <a:solidFill>
                  <a:srgbClr val="1E293B"/>
                </a:solidFill>
                <a:latin typeface="Calibri"/>
              </a:rPr>
              <a:t>Đây là hệ thống có NHIỀU Datastream + Event nhất trong toàn chuỗi bài — cần kiểm tra kỹ hạn mức (quota) gói dịch vụ Blynk trước khi mở rộng thêm.</a:t>
            </a:r>
          </a:p>
        </p:txBody>
      </p:sp>
      <p:sp>
        <p:nvSpPr>
          <p:cNvPr id="12" name="Oval 11"/>
          <p:cNvSpPr/>
          <p:nvPr/>
        </p:nvSpPr>
        <p:spPr>
          <a:xfrm>
            <a:off x="548640" y="2340864"/>
            <a:ext cx="457200" cy="457200"/>
          </a:xfrm>
          <a:prstGeom prst="ellipse">
            <a:avLst/>
          </a:prstGeom>
          <a:solidFill>
            <a:srgbClr val="FCE2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800" b="1">
                <a:solidFill>
                  <a:srgbClr val="EF4444"/>
                </a:solidFill>
                <a:latin typeface="Calibri"/>
              </a:rPr>
              <a:t>!</a:t>
            </a:r>
          </a:p>
        </p:txBody>
      </p:sp>
      <p:sp>
        <p:nvSpPr>
          <p:cNvPr id="13" name="TextBox 12"/>
          <p:cNvSpPr txBox="1"/>
          <p:nvPr/>
        </p:nvSpPr>
        <p:spPr>
          <a:xfrm>
            <a:off x="1188720" y="2313432"/>
            <a:ext cx="10241280" cy="822960"/>
          </a:xfrm>
          <a:prstGeom prst="rect">
            <a:avLst/>
          </a:prstGeom>
          <a:noFill/>
        </p:spPr>
        <p:txBody>
          <a:bodyPr wrap="square" anchor="ctr">
            <a:spAutoFit/>
          </a:bodyPr>
          <a:lstStyle/>
          <a:p>
            <a:pPr algn="l">
              <a:lnSpc>
                <a:spcPct val="115000"/>
              </a:lnSpc>
            </a:pPr>
            <a:r>
              <a:rPr sz="1300" b="0" i="0">
                <a:solidFill>
                  <a:srgbClr val="1E293B"/>
                </a:solidFill>
                <a:latin typeface="Calibri"/>
              </a:rPr>
              <a:t>Automation đa điều kiện (OR) trên Cloud cần được kiểm thử kỹ với TỪNG điều kiện riêng lẻ (chỉ Gas cao, chỉ nước dâng, cả hai cùng lúc) để đảm bảo không bỏ sót trường hợp.</a:t>
            </a:r>
          </a:p>
        </p:txBody>
      </p:sp>
      <p:sp>
        <p:nvSpPr>
          <p:cNvPr id="14" name="Oval 13"/>
          <p:cNvSpPr/>
          <p:nvPr/>
        </p:nvSpPr>
        <p:spPr>
          <a:xfrm>
            <a:off x="548640" y="3236976"/>
            <a:ext cx="457200" cy="457200"/>
          </a:xfrm>
          <a:prstGeom prst="ellipse">
            <a:avLst/>
          </a:prstGeom>
          <a:solidFill>
            <a:srgbClr val="FCE2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800" b="1">
                <a:solidFill>
                  <a:srgbClr val="EF4444"/>
                </a:solidFill>
                <a:latin typeface="Calibri"/>
              </a:rPr>
              <a:t>!</a:t>
            </a:r>
          </a:p>
        </p:txBody>
      </p:sp>
      <p:sp>
        <p:nvSpPr>
          <p:cNvPr id="15" name="TextBox 14"/>
          <p:cNvSpPr txBox="1"/>
          <p:nvPr/>
        </p:nvSpPr>
        <p:spPr>
          <a:xfrm>
            <a:off x="1188720" y="3209544"/>
            <a:ext cx="10241280" cy="822960"/>
          </a:xfrm>
          <a:prstGeom prst="rect">
            <a:avLst/>
          </a:prstGeom>
          <a:noFill/>
        </p:spPr>
        <p:txBody>
          <a:bodyPr wrap="square" anchor="ctr">
            <a:spAutoFit/>
          </a:bodyPr>
          <a:lstStyle/>
          <a:p>
            <a:pPr algn="l">
              <a:lnSpc>
                <a:spcPct val="115000"/>
              </a:lnSpc>
            </a:pPr>
            <a:r>
              <a:rPr sz="1300" b="0" i="0">
                <a:solidFill>
                  <a:srgbClr val="1E293B"/>
                </a:solidFill>
                <a:latin typeface="Calibri"/>
              </a:rPr>
              <a:t>Với hệ thống nhiều cảm biến, 1 cảm biến bị lỗi/ngắt kết nối có thể làm sai lệch toàn bộ logic OR — nên bổ sung kiểm tra giá trị hợp lệ (range check) trước khi đưa vào điều kiện cảnh báo.</a:t>
            </a:r>
          </a:p>
        </p:txBody>
      </p:sp>
      <p:sp>
        <p:nvSpPr>
          <p:cNvPr id="16" name="Oval 15"/>
          <p:cNvSpPr/>
          <p:nvPr/>
        </p:nvSpPr>
        <p:spPr>
          <a:xfrm>
            <a:off x="548640" y="4133088"/>
            <a:ext cx="457200" cy="457200"/>
          </a:xfrm>
          <a:prstGeom prst="ellipse">
            <a:avLst/>
          </a:prstGeom>
          <a:solidFill>
            <a:srgbClr val="FCE2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800" b="1">
                <a:solidFill>
                  <a:srgbClr val="EF4444"/>
                </a:solidFill>
                <a:latin typeface="Calibri"/>
              </a:rPr>
              <a:t>!</a:t>
            </a:r>
          </a:p>
        </p:txBody>
      </p:sp>
      <p:sp>
        <p:nvSpPr>
          <p:cNvPr id="17" name="TextBox 16"/>
          <p:cNvSpPr txBox="1"/>
          <p:nvPr/>
        </p:nvSpPr>
        <p:spPr>
          <a:xfrm>
            <a:off x="1188720" y="4105656"/>
            <a:ext cx="10241280" cy="822960"/>
          </a:xfrm>
          <a:prstGeom prst="rect">
            <a:avLst/>
          </a:prstGeom>
          <a:noFill/>
        </p:spPr>
        <p:txBody>
          <a:bodyPr wrap="square" anchor="ctr">
            <a:spAutoFit/>
          </a:bodyPr>
          <a:lstStyle/>
          <a:p>
            <a:pPr algn="l">
              <a:lnSpc>
                <a:spcPct val="115000"/>
              </a:lnSpc>
            </a:pPr>
            <a:r>
              <a:rPr sz="1300" b="0" i="0">
                <a:solidFill>
                  <a:srgbClr val="1E293B"/>
                </a:solidFill>
                <a:latin typeface="Calibri"/>
              </a:rPr>
              <a:t>Đây là bài học kết thúc chuỗi mô phỏng — trước khi lắp đặt thật, cần kiểm tra lại toàn bộ phần cứng theo đúng lưu ý an toàn đã nêu ở từng Buổi 1-6 gốc.</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1508760" y="292608"/>
            <a:ext cx="10195560" cy="841248"/>
          </a:xfrm>
          <a:prstGeom prst="roundRect">
            <a:avLst/>
          </a:prstGeom>
          <a:solidFill>
            <a:srgbClr val="F1EB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508760" y="384048"/>
            <a:ext cx="73152" cy="658368"/>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2920" y="384048"/>
            <a:ext cx="658368" cy="658368"/>
          </a:xfrm>
          <a:prstGeom prst="round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400" b="1">
                <a:solidFill>
                  <a:srgbClr val="FFFFFF"/>
                </a:solidFill>
                <a:latin typeface="Calibri"/>
              </a:rPr>
              <a:t>IoT</a:t>
            </a:r>
          </a:p>
        </p:txBody>
      </p:sp>
      <p:sp>
        <p:nvSpPr>
          <p:cNvPr id="5" name="TextBox 4"/>
          <p:cNvSpPr txBox="1"/>
          <p:nvPr/>
        </p:nvSpPr>
        <p:spPr>
          <a:xfrm>
            <a:off x="1819656" y="374904"/>
            <a:ext cx="9646920" cy="256032"/>
          </a:xfrm>
          <a:prstGeom prst="rect">
            <a:avLst/>
          </a:prstGeom>
          <a:noFill/>
        </p:spPr>
        <p:txBody>
          <a:bodyPr wrap="square">
            <a:spAutoFit/>
          </a:bodyPr>
          <a:lstStyle/>
          <a:p>
            <a:pPr algn="l"/>
            <a:r>
              <a:rPr sz="1200" b="1" i="0">
                <a:solidFill>
                  <a:srgbClr val="8B5CF6"/>
                </a:solidFill>
                <a:latin typeface="Calibri"/>
              </a:rPr>
              <a:t>B12 · ÔN TẬP</a:t>
            </a:r>
          </a:p>
        </p:txBody>
      </p:sp>
      <p:sp>
        <p:nvSpPr>
          <p:cNvPr id="6" name="TextBox 5"/>
          <p:cNvSpPr txBox="1"/>
          <p:nvPr/>
        </p:nvSpPr>
        <p:spPr>
          <a:xfrm>
            <a:off x="1819656" y="630936"/>
            <a:ext cx="9646920" cy="457200"/>
          </a:xfrm>
          <a:prstGeom prst="rect">
            <a:avLst/>
          </a:prstGeom>
          <a:noFill/>
        </p:spPr>
        <p:txBody>
          <a:bodyPr wrap="square">
            <a:spAutoFit/>
          </a:bodyPr>
          <a:lstStyle/>
          <a:p>
            <a:pPr algn="l"/>
            <a:r>
              <a:rPr sz="2100" b="1" i="0">
                <a:solidFill>
                  <a:srgbClr val="1E293B"/>
                </a:solidFill>
                <a:latin typeface="Calibri"/>
              </a:rPr>
              <a:t>Câu hỏi thảo luận cuối buổi</a:t>
            </a:r>
          </a:p>
        </p:txBody>
      </p:sp>
      <p:cxnSp>
        <p:nvCxnSpPr>
          <p:cNvPr id="7" name="Connector 6"/>
          <p:cNvCxnSpPr/>
          <p:nvPr/>
        </p:nvCxnSpPr>
        <p:spPr>
          <a:xfrm>
            <a:off x="502920" y="6400800"/>
            <a:ext cx="11185855" cy="0"/>
          </a:xfrm>
          <a:prstGeom prst="line">
            <a:avLst/>
          </a:prstGeom>
          <a:ln w="9525">
            <a:solidFill>
              <a:srgbClr val="DDE3E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473952"/>
            <a:ext cx="6858000" cy="274320"/>
          </a:xfrm>
          <a:prstGeom prst="rect">
            <a:avLst/>
          </a:prstGeom>
          <a:noFill/>
        </p:spPr>
        <p:txBody>
          <a:bodyPr wrap="square">
            <a:spAutoFit/>
          </a:bodyPr>
          <a:lstStyle/>
          <a:p>
            <a:pPr algn="l"/>
            <a:r>
              <a:rPr sz="900" b="0" i="0">
                <a:solidFill>
                  <a:srgbClr val="94A3B8"/>
                </a:solidFill>
                <a:latin typeface="Calibri"/>
              </a:rPr>
              <a:t>IOT TRONG KỸ THUẬT MÔI TRƯỜNG  ·  B12</a:t>
            </a:r>
          </a:p>
        </p:txBody>
      </p:sp>
      <p:sp>
        <p:nvSpPr>
          <p:cNvPr id="9" name="TextBox 8"/>
          <p:cNvSpPr txBox="1"/>
          <p:nvPr/>
        </p:nvSpPr>
        <p:spPr>
          <a:xfrm>
            <a:off x="10820095" y="6473952"/>
            <a:ext cx="914400" cy="274320"/>
          </a:xfrm>
          <a:prstGeom prst="rect">
            <a:avLst/>
          </a:prstGeom>
          <a:noFill/>
        </p:spPr>
        <p:txBody>
          <a:bodyPr wrap="square">
            <a:spAutoFit/>
          </a:bodyPr>
          <a:lstStyle/>
          <a:p>
            <a:pPr algn="r"/>
            <a:r>
              <a:rPr sz="900" b="0" i="0">
                <a:solidFill>
                  <a:srgbClr val="94A3B8"/>
                </a:solidFill>
                <a:latin typeface="Calibri"/>
              </a:rPr>
              <a:t>23</a:t>
            </a:r>
          </a:p>
        </p:txBody>
      </p:sp>
      <p:sp>
        <p:nvSpPr>
          <p:cNvPr id="10" name="Rounded Rectangle 9"/>
          <p:cNvSpPr/>
          <p:nvPr/>
        </p:nvSpPr>
        <p:spPr>
          <a:xfrm>
            <a:off x="548640" y="1463040"/>
            <a:ext cx="502920" cy="502920"/>
          </a:xfrm>
          <a:prstGeom prst="round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300" b="1">
                <a:solidFill>
                  <a:srgbClr val="FFFFFF"/>
                </a:solidFill>
                <a:latin typeface="Calibri"/>
              </a:rPr>
              <a:t>Q1</a:t>
            </a:r>
          </a:p>
        </p:txBody>
      </p:sp>
      <p:sp>
        <p:nvSpPr>
          <p:cNvPr id="11" name="TextBox 10"/>
          <p:cNvSpPr txBox="1"/>
          <p:nvPr/>
        </p:nvSpPr>
        <p:spPr>
          <a:xfrm>
            <a:off x="1234440" y="1444752"/>
            <a:ext cx="10241280" cy="777240"/>
          </a:xfrm>
          <a:prstGeom prst="rect">
            <a:avLst/>
          </a:prstGeom>
          <a:noFill/>
        </p:spPr>
        <p:txBody>
          <a:bodyPr wrap="square" anchor="ctr">
            <a:spAutoFit/>
          </a:bodyPr>
          <a:lstStyle/>
          <a:p>
            <a:pPr algn="l">
              <a:lnSpc>
                <a:spcPct val="115000"/>
              </a:lnSpc>
            </a:pPr>
            <a:r>
              <a:rPr sz="1350" b="0" i="0">
                <a:solidFill>
                  <a:srgbClr val="1E293B"/>
                </a:solidFill>
                <a:latin typeface="Calibri"/>
              </a:rPr>
              <a:t>So sánh cách "gửi Cloud" ở Buổi 6 (in JSON ra Serial) và Buổi 12 (Blynk.virtualWrite thật) — điểm giống và khác nhau là gì?</a:t>
            </a:r>
          </a:p>
        </p:txBody>
      </p:sp>
      <p:sp>
        <p:nvSpPr>
          <p:cNvPr id="12" name="Rounded Rectangle 11"/>
          <p:cNvSpPr/>
          <p:nvPr/>
        </p:nvSpPr>
        <p:spPr>
          <a:xfrm>
            <a:off x="548640" y="2359152"/>
            <a:ext cx="502920" cy="502920"/>
          </a:xfrm>
          <a:prstGeom prst="round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300" b="1">
                <a:solidFill>
                  <a:srgbClr val="FFFFFF"/>
                </a:solidFill>
                <a:latin typeface="Calibri"/>
              </a:rPr>
              <a:t>Q2</a:t>
            </a:r>
          </a:p>
        </p:txBody>
      </p:sp>
      <p:sp>
        <p:nvSpPr>
          <p:cNvPr id="13" name="TextBox 12"/>
          <p:cNvSpPr txBox="1"/>
          <p:nvPr/>
        </p:nvSpPr>
        <p:spPr>
          <a:xfrm>
            <a:off x="1234440" y="2340864"/>
            <a:ext cx="10241280" cy="777240"/>
          </a:xfrm>
          <a:prstGeom prst="rect">
            <a:avLst/>
          </a:prstGeom>
          <a:noFill/>
        </p:spPr>
        <p:txBody>
          <a:bodyPr wrap="square" anchor="ctr">
            <a:spAutoFit/>
          </a:bodyPr>
          <a:lstStyle/>
          <a:p>
            <a:pPr algn="l">
              <a:lnSpc>
                <a:spcPct val="115000"/>
              </a:lnSpc>
            </a:pPr>
            <a:r>
              <a:rPr sz="1350" b="0" i="0">
                <a:solidFill>
                  <a:srgbClr val="1E293B"/>
                </a:solidFill>
                <a:latin typeface="Calibri"/>
              </a:rPr>
              <a:t>Vì sao Automation đa điều kiện OR cần được kiểm thử riêng từng điều kiện thay vì chỉ test khi cả 2 cùng xảy ra?</a:t>
            </a:r>
          </a:p>
        </p:txBody>
      </p:sp>
      <p:sp>
        <p:nvSpPr>
          <p:cNvPr id="14" name="Rounded Rectangle 13"/>
          <p:cNvSpPr/>
          <p:nvPr/>
        </p:nvSpPr>
        <p:spPr>
          <a:xfrm>
            <a:off x="548640" y="3255264"/>
            <a:ext cx="502920" cy="502920"/>
          </a:xfrm>
          <a:prstGeom prst="round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300" b="1">
                <a:solidFill>
                  <a:srgbClr val="FFFFFF"/>
                </a:solidFill>
                <a:latin typeface="Calibri"/>
              </a:rPr>
              <a:t>Q3</a:t>
            </a:r>
          </a:p>
        </p:txBody>
      </p:sp>
      <p:sp>
        <p:nvSpPr>
          <p:cNvPr id="15" name="TextBox 14"/>
          <p:cNvSpPr txBox="1"/>
          <p:nvPr/>
        </p:nvSpPr>
        <p:spPr>
          <a:xfrm>
            <a:off x="1234440" y="3236976"/>
            <a:ext cx="10241280" cy="777240"/>
          </a:xfrm>
          <a:prstGeom prst="rect">
            <a:avLst/>
          </a:prstGeom>
          <a:noFill/>
        </p:spPr>
        <p:txBody>
          <a:bodyPr wrap="square" anchor="ctr">
            <a:spAutoFit/>
          </a:bodyPr>
          <a:lstStyle/>
          <a:p>
            <a:pPr algn="l">
              <a:lnSpc>
                <a:spcPct val="115000"/>
              </a:lnSpc>
            </a:pPr>
            <a:r>
              <a:rPr sz="1350" b="0" i="0">
                <a:solidFill>
                  <a:srgbClr val="1E293B"/>
                </a:solidFill>
                <a:latin typeface="Calibri"/>
              </a:rPr>
              <a:t>Nếu HC-SR04 bị hỏng và luôn trả về giá trị 0, hệ thống hiện tại sẽ phản ứng thế nào với điều kiện waterLevel &lt; 15? Đề xuất cách khắc phục.</a:t>
            </a:r>
          </a:p>
        </p:txBody>
      </p:sp>
      <p:sp>
        <p:nvSpPr>
          <p:cNvPr id="16" name="Rounded Rectangle 15"/>
          <p:cNvSpPr/>
          <p:nvPr/>
        </p:nvSpPr>
        <p:spPr>
          <a:xfrm>
            <a:off x="548640" y="4151376"/>
            <a:ext cx="502920" cy="502920"/>
          </a:xfrm>
          <a:prstGeom prst="round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300" b="1">
                <a:solidFill>
                  <a:srgbClr val="FFFFFF"/>
                </a:solidFill>
                <a:latin typeface="Calibri"/>
              </a:rPr>
              <a:t>Q4</a:t>
            </a:r>
          </a:p>
        </p:txBody>
      </p:sp>
      <p:sp>
        <p:nvSpPr>
          <p:cNvPr id="17" name="TextBox 16"/>
          <p:cNvSpPr txBox="1"/>
          <p:nvPr/>
        </p:nvSpPr>
        <p:spPr>
          <a:xfrm>
            <a:off x="1234440" y="4133088"/>
            <a:ext cx="10241280" cy="777240"/>
          </a:xfrm>
          <a:prstGeom prst="rect">
            <a:avLst/>
          </a:prstGeom>
          <a:noFill/>
        </p:spPr>
        <p:txBody>
          <a:bodyPr wrap="square" anchor="ctr">
            <a:spAutoFit/>
          </a:bodyPr>
          <a:lstStyle/>
          <a:p>
            <a:pPr algn="l">
              <a:lnSpc>
                <a:spcPct val="115000"/>
              </a:lnSpc>
            </a:pPr>
            <a:r>
              <a:rPr sz="1350" b="0" i="0">
                <a:solidFill>
                  <a:srgbClr val="1E293B"/>
                </a:solidFill>
                <a:latin typeface="Calibri"/>
              </a:rPr>
              <a:t>Từ toàn bộ kiến thức B0-B12, hãy phác thảo 1 ý tưởng đồ án cá nhân mở rộng — nêu rõ cảm biến, logic điều khiển và thiết kế Dashboard mong muốn.</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1508760" y="292608"/>
            <a:ext cx="10195560" cy="841248"/>
          </a:xfrm>
          <a:prstGeom prst="roundRect">
            <a:avLst/>
          </a:prstGeom>
          <a:solidFill>
            <a:srgbClr val="E2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508760" y="384048"/>
            <a:ext cx="73152"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2920" y="384048"/>
            <a:ext cx="658368" cy="658368"/>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400" b="1">
                <a:solidFill>
                  <a:srgbClr val="FFFFFF"/>
                </a:solidFill>
                <a:latin typeface="Calibri"/>
              </a:rPr>
              <a:t>IoT</a:t>
            </a:r>
          </a:p>
        </p:txBody>
      </p:sp>
      <p:sp>
        <p:nvSpPr>
          <p:cNvPr id="5" name="TextBox 4"/>
          <p:cNvSpPr txBox="1"/>
          <p:nvPr/>
        </p:nvSpPr>
        <p:spPr>
          <a:xfrm>
            <a:off x="1819656" y="374904"/>
            <a:ext cx="9646920" cy="256032"/>
          </a:xfrm>
          <a:prstGeom prst="rect">
            <a:avLst/>
          </a:prstGeom>
          <a:noFill/>
        </p:spPr>
        <p:txBody>
          <a:bodyPr wrap="square">
            <a:spAutoFit/>
          </a:bodyPr>
          <a:lstStyle/>
          <a:p>
            <a:pPr algn="l"/>
            <a:r>
              <a:rPr sz="1200" b="1" i="0">
                <a:solidFill>
                  <a:srgbClr val="10B981"/>
                </a:solidFill>
                <a:latin typeface="Calibri"/>
              </a:rPr>
              <a:t>B12 · TỔNG KẾT</a:t>
            </a:r>
          </a:p>
        </p:txBody>
      </p:sp>
      <p:sp>
        <p:nvSpPr>
          <p:cNvPr id="6" name="TextBox 5"/>
          <p:cNvSpPr txBox="1"/>
          <p:nvPr/>
        </p:nvSpPr>
        <p:spPr>
          <a:xfrm>
            <a:off x="1819656" y="630936"/>
            <a:ext cx="9646920" cy="457200"/>
          </a:xfrm>
          <a:prstGeom prst="rect">
            <a:avLst/>
          </a:prstGeom>
          <a:noFill/>
        </p:spPr>
        <p:txBody>
          <a:bodyPr wrap="square">
            <a:spAutoFit/>
          </a:bodyPr>
          <a:lstStyle/>
          <a:p>
            <a:pPr algn="l"/>
            <a:r>
              <a:rPr sz="2100" b="1" i="0">
                <a:solidFill>
                  <a:srgbClr val="1E293B"/>
                </a:solidFill>
                <a:latin typeface="Calibri"/>
              </a:rPr>
              <a:t>Tổng kết buổi học</a:t>
            </a:r>
          </a:p>
        </p:txBody>
      </p:sp>
      <p:cxnSp>
        <p:nvCxnSpPr>
          <p:cNvPr id="7" name="Connector 6"/>
          <p:cNvCxnSpPr/>
          <p:nvPr/>
        </p:nvCxnSpPr>
        <p:spPr>
          <a:xfrm>
            <a:off x="502920" y="6400800"/>
            <a:ext cx="11185855" cy="0"/>
          </a:xfrm>
          <a:prstGeom prst="line">
            <a:avLst/>
          </a:prstGeom>
          <a:ln w="9525">
            <a:solidFill>
              <a:srgbClr val="DDE3E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473952"/>
            <a:ext cx="6858000" cy="274320"/>
          </a:xfrm>
          <a:prstGeom prst="rect">
            <a:avLst/>
          </a:prstGeom>
          <a:noFill/>
        </p:spPr>
        <p:txBody>
          <a:bodyPr wrap="square">
            <a:spAutoFit/>
          </a:bodyPr>
          <a:lstStyle/>
          <a:p>
            <a:pPr algn="l"/>
            <a:r>
              <a:rPr sz="900" b="0" i="0">
                <a:solidFill>
                  <a:srgbClr val="94A3B8"/>
                </a:solidFill>
                <a:latin typeface="Calibri"/>
              </a:rPr>
              <a:t>IOT TRONG KỸ THUẬT MÔI TRƯỜNG  ·  B12</a:t>
            </a:r>
          </a:p>
        </p:txBody>
      </p:sp>
      <p:sp>
        <p:nvSpPr>
          <p:cNvPr id="9" name="TextBox 8"/>
          <p:cNvSpPr txBox="1"/>
          <p:nvPr/>
        </p:nvSpPr>
        <p:spPr>
          <a:xfrm>
            <a:off x="10820095" y="6473952"/>
            <a:ext cx="914400" cy="274320"/>
          </a:xfrm>
          <a:prstGeom prst="rect">
            <a:avLst/>
          </a:prstGeom>
          <a:noFill/>
        </p:spPr>
        <p:txBody>
          <a:bodyPr wrap="square">
            <a:spAutoFit/>
          </a:bodyPr>
          <a:lstStyle/>
          <a:p>
            <a:pPr algn="r"/>
            <a:r>
              <a:rPr sz="900" b="0" i="0">
                <a:solidFill>
                  <a:srgbClr val="94A3B8"/>
                </a:solidFill>
                <a:latin typeface="Calibri"/>
              </a:rPr>
              <a:t>24</a:t>
            </a:r>
          </a:p>
        </p:txBody>
      </p:sp>
      <p:sp>
        <p:nvSpPr>
          <p:cNvPr id="10" name="TextBox 9"/>
          <p:cNvSpPr txBox="1"/>
          <p:nvPr/>
        </p:nvSpPr>
        <p:spPr>
          <a:xfrm>
            <a:off x="548640" y="1371600"/>
            <a:ext cx="10881360" cy="365760"/>
          </a:xfrm>
          <a:prstGeom prst="rect">
            <a:avLst/>
          </a:prstGeom>
          <a:noFill/>
        </p:spPr>
        <p:txBody>
          <a:bodyPr wrap="square">
            <a:spAutoFit/>
          </a:bodyPr>
          <a:lstStyle/>
          <a:p>
            <a:pPr algn="l"/>
            <a:r>
              <a:rPr sz="1500" b="1" i="0">
                <a:solidFill>
                  <a:srgbClr val="1E293B"/>
                </a:solidFill>
                <a:latin typeface="Calibri"/>
              </a:rPr>
              <a:t>Những điều đã đạt được:</a:t>
            </a:r>
          </a:p>
        </p:txBody>
      </p:sp>
      <p:sp>
        <p:nvSpPr>
          <p:cNvPr id="11" name="TextBox 10"/>
          <p:cNvSpPr txBox="1"/>
          <p:nvPr/>
        </p:nvSpPr>
        <p:spPr>
          <a:xfrm>
            <a:off x="548640" y="1783080"/>
            <a:ext cx="10881360" cy="2377440"/>
          </a:xfrm>
          <a:prstGeom prst="rect">
            <a:avLst/>
          </a:prstGeom>
          <a:noFill/>
        </p:spPr>
        <p:txBody>
          <a:bodyPr wrap="square">
            <a:spAutoFit/>
          </a:bodyPr>
          <a:lstStyle/>
          <a:p>
            <a:pPr algn="l">
              <a:spcAft>
                <a:spcPts val="1000"/>
              </a:spcAft>
            </a:pPr>
            <a:r>
              <a:rPr sz="1400" b="1">
                <a:solidFill>
                  <a:srgbClr val="10B981"/>
                </a:solidFill>
                <a:latin typeface="Calibri"/>
              </a:rPr>
              <a:t>●  </a:t>
            </a:r>
            <a:r>
              <a:rPr sz="1400" b="0">
                <a:solidFill>
                  <a:srgbClr val="1E293B"/>
                </a:solidFill>
                <a:latin typeface="Calibri"/>
              </a:rPr>
              <a:t>Đã hoàn thiện toàn bộ vòng đời dữ liệu IoT: Cảm biến vật lý → Vi điều khiển xử lý → Cloud lưu trữ → App/Web hiển thị → Automation cảnh báo → Con người ra quyết định.</a:t>
            </a:r>
          </a:p>
          <a:p>
            <a:pPr algn="l">
              <a:spcAft>
                <a:spcPts val="1000"/>
              </a:spcAft>
            </a:pPr>
            <a:r>
              <a:rPr sz="1400" b="1">
                <a:solidFill>
                  <a:srgbClr val="10B981"/>
                </a:solidFill>
                <a:latin typeface="Calibri"/>
              </a:rPr>
              <a:t>●  </a:t>
            </a:r>
            <a:r>
              <a:rPr sz="1400" b="0">
                <a:solidFill>
                  <a:srgbClr val="1E293B"/>
                </a:solidFill>
                <a:latin typeface="Calibri"/>
              </a:rPr>
              <a:t>Tổng hợp thành thạo toàn bộ kỹ thuật Blynk đã học qua B7-B11: virtualWrite, BLYNK_WRITE, logEvent, đa Widget, phân quyền, Automation đa điều kiện.</a:t>
            </a:r>
          </a:p>
          <a:p>
            <a:pPr algn="l">
              <a:spcAft>
                <a:spcPts val="1000"/>
              </a:spcAft>
            </a:pPr>
            <a:r>
              <a:rPr sz="1400" b="1">
                <a:solidFill>
                  <a:srgbClr val="10B981"/>
                </a:solidFill>
                <a:latin typeface="Calibri"/>
              </a:rPr>
              <a:t>●  </a:t>
            </a:r>
            <a:r>
              <a:rPr sz="1400" b="0">
                <a:solidFill>
                  <a:srgbClr val="1E293B"/>
                </a:solidFill>
                <a:latin typeface="Calibri"/>
              </a:rPr>
              <a:t>Sẵn sàng vận dụng toàn bộ kiến trúc 12 buổi học để tự thiết kế một hệ thống IoT môi trường hoàn chỉnh của riêng mình.</a:t>
            </a:r>
          </a:p>
        </p:txBody>
      </p:sp>
      <p:sp>
        <p:nvSpPr>
          <p:cNvPr id="12" name="Rounded Rectangle 11"/>
          <p:cNvSpPr/>
          <p:nvPr/>
        </p:nvSpPr>
        <p:spPr>
          <a:xfrm>
            <a:off x="548640" y="4343400"/>
            <a:ext cx="10881360" cy="1600200"/>
          </a:xfrm>
          <a:prstGeom prst="roundRect">
            <a:avLst/>
          </a:prstGeom>
          <a:solidFill>
            <a:srgbClr val="0F4C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4526280"/>
            <a:ext cx="10332720" cy="365760"/>
          </a:xfrm>
          <a:prstGeom prst="rect">
            <a:avLst/>
          </a:prstGeom>
          <a:noFill/>
        </p:spPr>
        <p:txBody>
          <a:bodyPr wrap="square">
            <a:spAutoFit/>
          </a:bodyPr>
          <a:lstStyle/>
          <a:p>
            <a:pPr algn="l"/>
            <a:r>
              <a:rPr sz="1300" b="1" i="0">
                <a:solidFill>
                  <a:srgbClr val="10B981"/>
                </a:solidFill>
                <a:latin typeface="Calibri"/>
              </a:rPr>
              <a:t>CHUẨN BỊ CHO BUỔI TIẾP THEO</a:t>
            </a:r>
          </a:p>
        </p:txBody>
      </p:sp>
      <p:sp>
        <p:nvSpPr>
          <p:cNvPr id="14" name="TextBox 13"/>
          <p:cNvSpPr txBox="1"/>
          <p:nvPr/>
        </p:nvSpPr>
        <p:spPr>
          <a:xfrm>
            <a:off x="822960" y="4892040"/>
            <a:ext cx="10332720" cy="960120"/>
          </a:xfrm>
          <a:prstGeom prst="rect">
            <a:avLst/>
          </a:prstGeom>
          <a:noFill/>
        </p:spPr>
        <p:txBody>
          <a:bodyPr wrap="square">
            <a:spAutoFit/>
          </a:bodyPr>
          <a:lstStyle/>
          <a:p>
            <a:pPr algn="l">
              <a:lnSpc>
                <a:spcPct val="120000"/>
              </a:lnSpc>
            </a:pPr>
            <a:r>
              <a:rPr sz="1350" b="0" i="0">
                <a:solidFill>
                  <a:srgbClr val="FFFFFF"/>
                </a:solidFill>
                <a:latin typeface="Calibri"/>
              </a:rPr>
              <a:t>Đây là bài học cuối của chuỗi 12 buổi (B0-B12). Sinh viên được khuyến khích chọn 1 bài toán môi trường quan tâm để phát triển thành đồ án cá nhân, vận dụng toàn bộ kiến trúc phần cứng (B1-B6) và phần mềm Cloud (B7-B12) đã học.</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6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457200"/>
            <a:ext cx="11277295" cy="5943600"/>
          </a:xfrm>
          <a:prstGeom prst="roundRect">
            <a:avLst/>
          </a:prstGeom>
          <a:solidFill>
            <a:srgbClr val="FFFFFF"/>
          </a:solidFill>
          <a:ln w="12700">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766663" y="914400"/>
            <a:ext cx="658368" cy="658368"/>
          </a:xfrm>
          <a:prstGeom prst="roundRect">
            <a:avLst/>
          </a:prstGeom>
          <a:solidFill>
            <a:srgbClr val="0F4C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400" b="1">
                <a:solidFill>
                  <a:srgbClr val="FFFFFF"/>
                </a:solidFill>
                <a:latin typeface="Calibri"/>
              </a:rPr>
              <a:t>IoT</a:t>
            </a:r>
          </a:p>
        </p:txBody>
      </p:sp>
      <p:sp>
        <p:nvSpPr>
          <p:cNvPr id="5" name="TextBox 4"/>
          <p:cNvSpPr txBox="1"/>
          <p:nvPr/>
        </p:nvSpPr>
        <p:spPr>
          <a:xfrm>
            <a:off x="822960" y="1828800"/>
            <a:ext cx="10545775" cy="914400"/>
          </a:xfrm>
          <a:prstGeom prst="rect">
            <a:avLst/>
          </a:prstGeom>
          <a:noFill/>
        </p:spPr>
        <p:txBody>
          <a:bodyPr wrap="square">
            <a:spAutoFit/>
          </a:bodyPr>
          <a:lstStyle/>
          <a:p>
            <a:pPr algn="ctr"/>
            <a:r>
              <a:rPr sz="3000" b="1" i="0">
                <a:solidFill>
                  <a:srgbClr val="1E293B"/>
                </a:solidFill>
                <a:latin typeface="Calibri"/>
              </a:rPr>
              <a:t>CẢM ƠN CÁC BẠN ĐÃ THEO DÕI</a:t>
            </a:r>
          </a:p>
        </p:txBody>
      </p:sp>
      <p:sp>
        <p:nvSpPr>
          <p:cNvPr id="6" name="TextBox 5"/>
          <p:cNvSpPr txBox="1"/>
          <p:nvPr/>
        </p:nvSpPr>
        <p:spPr>
          <a:xfrm>
            <a:off x="822960" y="2651760"/>
            <a:ext cx="10545775" cy="548640"/>
          </a:xfrm>
          <a:prstGeom prst="rect">
            <a:avLst/>
          </a:prstGeom>
          <a:noFill/>
        </p:spPr>
        <p:txBody>
          <a:bodyPr wrap="square">
            <a:spAutoFit/>
          </a:bodyPr>
          <a:lstStyle/>
          <a:p>
            <a:pPr algn="ctr"/>
            <a:r>
              <a:rPr sz="1400" b="0" i="0">
                <a:solidFill>
                  <a:srgbClr val="8B5CF6"/>
                </a:solidFill>
                <a:latin typeface="Calibri"/>
              </a:rPr>
              <a:t>B12: Nền tảng IoT Đa thông số Hoàn chỉnh</a:t>
            </a:r>
          </a:p>
        </p:txBody>
      </p:sp>
      <p:sp>
        <p:nvSpPr>
          <p:cNvPr id="7" name="Rounded Rectangle 6"/>
          <p:cNvSpPr/>
          <p:nvPr/>
        </p:nvSpPr>
        <p:spPr>
          <a:xfrm>
            <a:off x="3078327" y="3429000"/>
            <a:ext cx="2377440" cy="3017520"/>
          </a:xfrm>
          <a:prstGeom prst="round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160623" y="3575304"/>
            <a:ext cx="2212848" cy="2724912"/>
          </a:xfrm>
          <a:prstGeom prst="rect">
            <a:avLst/>
          </a:prstGeom>
          <a:solidFill>
            <a:srgbClr val="F6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160623" y="3575304"/>
            <a:ext cx="2212848" cy="365760"/>
          </a:xfrm>
          <a:prstGeom prst="rect">
            <a:avLst/>
          </a:prstGeom>
          <a:solidFill>
            <a:srgbClr val="0F4C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000" b="1">
                <a:solidFill>
                  <a:srgbClr val="FFFFFF"/>
                </a:solidFill>
                <a:latin typeface="Calibri"/>
              </a:rPr>
              <a:t>B12 App</a:t>
            </a:r>
          </a:p>
        </p:txBody>
      </p:sp>
      <p:sp>
        <p:nvSpPr>
          <p:cNvPr id="10" name="Rounded Rectangle 9"/>
          <p:cNvSpPr/>
          <p:nvPr/>
        </p:nvSpPr>
        <p:spPr>
          <a:xfrm>
            <a:off x="3233775" y="4014216"/>
            <a:ext cx="996695" cy="868680"/>
          </a:xfrm>
          <a:prstGeom prst="roundRect">
            <a:avLst/>
          </a:prstGeom>
          <a:solidFill>
            <a:srgbClr val="FFFFFF"/>
          </a:solidFill>
          <a:ln w="12700">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3489807" y="4105656"/>
            <a:ext cx="484632" cy="484632"/>
          </a:xfrm>
          <a:prstGeom prst="ellipse">
            <a:avLst/>
          </a:prstGeom>
          <a:solidFill>
            <a:srgbClr val="FDEBC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050" b="1">
                <a:solidFill>
                  <a:srgbClr val="F59E0B"/>
                </a:solidFill>
                <a:latin typeface="Calibri"/>
              </a:rPr>
              <a:t>28°C</a:t>
            </a:r>
          </a:p>
        </p:txBody>
      </p:sp>
      <p:sp>
        <p:nvSpPr>
          <p:cNvPr id="12" name="TextBox 11"/>
          <p:cNvSpPr txBox="1"/>
          <p:nvPr/>
        </p:nvSpPr>
        <p:spPr>
          <a:xfrm>
            <a:off x="3325215" y="4626864"/>
            <a:ext cx="813815" cy="219456"/>
          </a:xfrm>
          <a:prstGeom prst="rect">
            <a:avLst/>
          </a:prstGeom>
          <a:noFill/>
        </p:spPr>
        <p:txBody>
          <a:bodyPr wrap="square">
            <a:spAutoFit/>
          </a:bodyPr>
          <a:lstStyle/>
          <a:p>
            <a:pPr algn="ctr"/>
            <a:r>
              <a:rPr sz="850" b="0" i="0">
                <a:solidFill>
                  <a:srgbClr val="475569"/>
                </a:solidFill>
                <a:latin typeface="Calibri"/>
              </a:rPr>
              <a:t>Nhiệt độ</a:t>
            </a:r>
          </a:p>
        </p:txBody>
      </p:sp>
      <p:sp>
        <p:nvSpPr>
          <p:cNvPr id="13" name="Rounded Rectangle 12"/>
          <p:cNvSpPr/>
          <p:nvPr/>
        </p:nvSpPr>
        <p:spPr>
          <a:xfrm>
            <a:off x="4303623" y="4014216"/>
            <a:ext cx="996695" cy="868680"/>
          </a:xfrm>
          <a:prstGeom prst="roundRect">
            <a:avLst/>
          </a:prstGeom>
          <a:solidFill>
            <a:srgbClr val="FFFFFF"/>
          </a:solidFill>
          <a:ln w="12700">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559655" y="4105656"/>
            <a:ext cx="484632" cy="484632"/>
          </a:xfrm>
          <a:prstGeom prst="ellipse">
            <a:avLst/>
          </a:prstGeom>
          <a:solidFill>
            <a:srgbClr val="D7E6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050" b="1">
                <a:solidFill>
                  <a:srgbClr val="3B82F6"/>
                </a:solidFill>
                <a:latin typeface="Calibri"/>
              </a:rPr>
              <a:t>62%</a:t>
            </a:r>
          </a:p>
        </p:txBody>
      </p:sp>
      <p:sp>
        <p:nvSpPr>
          <p:cNvPr id="15" name="TextBox 14"/>
          <p:cNvSpPr txBox="1"/>
          <p:nvPr/>
        </p:nvSpPr>
        <p:spPr>
          <a:xfrm>
            <a:off x="4395063" y="4626864"/>
            <a:ext cx="813815" cy="219456"/>
          </a:xfrm>
          <a:prstGeom prst="rect">
            <a:avLst/>
          </a:prstGeom>
          <a:noFill/>
        </p:spPr>
        <p:txBody>
          <a:bodyPr wrap="square">
            <a:spAutoFit/>
          </a:bodyPr>
          <a:lstStyle/>
          <a:p>
            <a:pPr algn="ctr"/>
            <a:r>
              <a:rPr sz="850" b="0" i="0">
                <a:solidFill>
                  <a:srgbClr val="475569"/>
                </a:solidFill>
                <a:latin typeface="Calibri"/>
              </a:rPr>
              <a:t>Độ ẩm</a:t>
            </a:r>
          </a:p>
        </p:txBody>
      </p:sp>
      <p:sp>
        <p:nvSpPr>
          <p:cNvPr id="16" name="Rounded Rectangle 15"/>
          <p:cNvSpPr/>
          <p:nvPr/>
        </p:nvSpPr>
        <p:spPr>
          <a:xfrm>
            <a:off x="3233775" y="4956048"/>
            <a:ext cx="996695" cy="868680"/>
          </a:xfrm>
          <a:prstGeom prst="roundRect">
            <a:avLst/>
          </a:prstGeom>
          <a:solidFill>
            <a:srgbClr val="FFFFFF"/>
          </a:solidFill>
          <a:ln w="12700">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3489807" y="5047488"/>
            <a:ext cx="484632" cy="484632"/>
          </a:xfrm>
          <a:prstGeom prst="ellipse">
            <a:avLst/>
          </a:prstGeom>
          <a:solidFill>
            <a:srgbClr val="CDF0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050" b="1">
                <a:solidFill>
                  <a:srgbClr val="06B6D4"/>
                </a:solidFill>
                <a:latin typeface="Calibri"/>
              </a:rPr>
              <a:t>110</a:t>
            </a:r>
          </a:p>
        </p:txBody>
      </p:sp>
      <p:sp>
        <p:nvSpPr>
          <p:cNvPr id="18" name="TextBox 17"/>
          <p:cNvSpPr txBox="1"/>
          <p:nvPr/>
        </p:nvSpPr>
        <p:spPr>
          <a:xfrm>
            <a:off x="3325215" y="5568696"/>
            <a:ext cx="813815" cy="219456"/>
          </a:xfrm>
          <a:prstGeom prst="rect">
            <a:avLst/>
          </a:prstGeom>
          <a:noFill/>
        </p:spPr>
        <p:txBody>
          <a:bodyPr wrap="square">
            <a:spAutoFit/>
          </a:bodyPr>
          <a:lstStyle/>
          <a:p>
            <a:pPr algn="ctr"/>
            <a:r>
              <a:rPr sz="850" b="0" i="0">
                <a:solidFill>
                  <a:srgbClr val="475569"/>
                </a:solidFill>
                <a:latin typeface="Calibri"/>
              </a:rPr>
              <a:t>Gas PPM</a:t>
            </a:r>
          </a:p>
        </p:txBody>
      </p:sp>
      <p:sp>
        <p:nvSpPr>
          <p:cNvPr id="19" name="Rounded Rectangle 18"/>
          <p:cNvSpPr/>
          <p:nvPr/>
        </p:nvSpPr>
        <p:spPr>
          <a:xfrm>
            <a:off x="4303623" y="4956048"/>
            <a:ext cx="996695" cy="868680"/>
          </a:xfrm>
          <a:prstGeom prst="roundRect">
            <a:avLst/>
          </a:prstGeom>
          <a:solidFill>
            <a:srgbClr val="FFFFFF"/>
          </a:solidFill>
          <a:ln w="12700">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4559655" y="5047488"/>
            <a:ext cx="484632" cy="484632"/>
          </a:xfrm>
          <a:prstGeom prst="ellipse">
            <a:avLst/>
          </a:prstGeom>
          <a:solidFill>
            <a:srgbClr val="E7DE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050" b="1">
                <a:solidFill>
                  <a:srgbClr val="8B5CF6"/>
                </a:solidFill>
                <a:latin typeface="Calibri"/>
              </a:rPr>
              <a:t>45cm</a:t>
            </a:r>
          </a:p>
        </p:txBody>
      </p:sp>
      <p:sp>
        <p:nvSpPr>
          <p:cNvPr id="21" name="TextBox 20"/>
          <p:cNvSpPr txBox="1"/>
          <p:nvPr/>
        </p:nvSpPr>
        <p:spPr>
          <a:xfrm>
            <a:off x="4395063" y="5568696"/>
            <a:ext cx="813815" cy="219456"/>
          </a:xfrm>
          <a:prstGeom prst="rect">
            <a:avLst/>
          </a:prstGeom>
          <a:noFill/>
        </p:spPr>
        <p:txBody>
          <a:bodyPr wrap="square">
            <a:spAutoFit/>
          </a:bodyPr>
          <a:lstStyle/>
          <a:p>
            <a:pPr algn="ctr"/>
            <a:r>
              <a:rPr sz="850" b="0" i="0">
                <a:solidFill>
                  <a:srgbClr val="475569"/>
                </a:solidFill>
                <a:latin typeface="Calibri"/>
              </a:rPr>
              <a:t>Mực nước</a:t>
            </a:r>
          </a:p>
        </p:txBody>
      </p:sp>
      <p:sp>
        <p:nvSpPr>
          <p:cNvPr id="22" name="Rounded Rectangle 21"/>
          <p:cNvSpPr/>
          <p:nvPr/>
        </p:nvSpPr>
        <p:spPr>
          <a:xfrm>
            <a:off x="6370167" y="3977639"/>
            <a:ext cx="3108960" cy="1920240"/>
          </a:xfrm>
          <a:prstGeom prst="roundRect">
            <a:avLst/>
          </a:prstGeom>
          <a:solidFill>
            <a:srgbClr val="FFFFFF"/>
          </a:solidFill>
          <a:ln w="15875">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370167" y="3977639"/>
            <a:ext cx="3108960" cy="365760"/>
          </a:xfrm>
          <a:prstGeom prst="rect">
            <a:avLst/>
          </a:prstGeom>
          <a:solidFill>
            <a:srgbClr val="F6F8F9"/>
          </a:solidFill>
          <a:ln w="12700">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507327" y="4105655"/>
            <a:ext cx="109728" cy="109728"/>
          </a:xfrm>
          <a:prstGeom prst="ellipse">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708495" y="4105655"/>
            <a:ext cx="109728" cy="10972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909663" y="4105655"/>
            <a:ext cx="109728" cy="1097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193127" y="4032503"/>
            <a:ext cx="2103120" cy="274320"/>
          </a:xfrm>
          <a:prstGeom prst="rect">
            <a:avLst/>
          </a:prstGeom>
          <a:noFill/>
        </p:spPr>
        <p:txBody>
          <a:bodyPr wrap="square">
            <a:spAutoFit/>
          </a:bodyPr>
          <a:lstStyle/>
          <a:p>
            <a:pPr algn="l"/>
            <a:r>
              <a:rPr sz="1000" b="1" i="0">
                <a:solidFill>
                  <a:srgbClr val="475569"/>
                </a:solidFill>
                <a:latin typeface="Calibri"/>
              </a:rPr>
              <a:t>Web Dashboard</a:t>
            </a:r>
          </a:p>
        </p:txBody>
      </p:sp>
      <p:sp>
        <p:nvSpPr>
          <p:cNvPr id="28" name="Rounded Rectangle 27"/>
          <p:cNvSpPr/>
          <p:nvPr/>
        </p:nvSpPr>
        <p:spPr>
          <a:xfrm>
            <a:off x="6644487" y="4572000"/>
            <a:ext cx="2560320" cy="1051560"/>
          </a:xfrm>
          <a:prstGeom prst="roundRect">
            <a:avLst/>
          </a:prstGeom>
          <a:solidFill>
            <a:srgbClr val="FFFFFF"/>
          </a:solidFill>
          <a:ln w="12700">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641183" y="4663440"/>
            <a:ext cx="566928" cy="566928"/>
          </a:xfrm>
          <a:prstGeom prst="ellipse">
            <a:avLst/>
          </a:prstGeom>
          <a:solidFill>
            <a:srgbClr val="FDEBC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050" b="1">
                <a:solidFill>
                  <a:srgbClr val="F59E0B"/>
                </a:solidFill>
                <a:latin typeface="Calibri"/>
              </a:rPr>
              <a:t>28°C</a:t>
            </a:r>
          </a:p>
        </p:txBody>
      </p:sp>
      <p:sp>
        <p:nvSpPr>
          <p:cNvPr id="30" name="TextBox 29"/>
          <p:cNvSpPr txBox="1"/>
          <p:nvPr/>
        </p:nvSpPr>
        <p:spPr>
          <a:xfrm>
            <a:off x="6735927" y="5367528"/>
            <a:ext cx="2377440" cy="219456"/>
          </a:xfrm>
          <a:prstGeom prst="rect">
            <a:avLst/>
          </a:prstGeom>
          <a:noFill/>
        </p:spPr>
        <p:txBody>
          <a:bodyPr wrap="square">
            <a:spAutoFit/>
          </a:bodyPr>
          <a:lstStyle/>
          <a:p>
            <a:pPr algn="ctr"/>
            <a:r>
              <a:rPr sz="850" b="0" i="0">
                <a:solidFill>
                  <a:srgbClr val="475569"/>
                </a:solidFill>
                <a:latin typeface="Calibri"/>
              </a:rPr>
              <a:t>Nhiệt độ</a:t>
            </a:r>
          </a:p>
        </p:txBody>
      </p:sp>
      <p:sp>
        <p:nvSpPr>
          <p:cNvPr id="31" name="Rounded Rectangle 30"/>
          <p:cNvSpPr/>
          <p:nvPr/>
        </p:nvSpPr>
        <p:spPr>
          <a:xfrm>
            <a:off x="6644487" y="5760720"/>
            <a:ext cx="2560320" cy="1051560"/>
          </a:xfrm>
          <a:prstGeom prst="roundRect">
            <a:avLst/>
          </a:prstGeom>
          <a:solidFill>
            <a:srgbClr val="FFFFFF"/>
          </a:solidFill>
          <a:ln w="12700">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7641183" y="5852159"/>
            <a:ext cx="566928" cy="566928"/>
          </a:xfrm>
          <a:prstGeom prst="ellipse">
            <a:avLst/>
          </a:prstGeom>
          <a:solidFill>
            <a:srgbClr val="D7E6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050" b="1">
                <a:solidFill>
                  <a:srgbClr val="3B82F6"/>
                </a:solidFill>
                <a:latin typeface="Calibri"/>
              </a:rPr>
              <a:t>62%</a:t>
            </a:r>
          </a:p>
        </p:txBody>
      </p:sp>
      <p:sp>
        <p:nvSpPr>
          <p:cNvPr id="33" name="TextBox 32"/>
          <p:cNvSpPr txBox="1"/>
          <p:nvPr/>
        </p:nvSpPr>
        <p:spPr>
          <a:xfrm>
            <a:off x="6735927" y="6556247"/>
            <a:ext cx="2377440" cy="219456"/>
          </a:xfrm>
          <a:prstGeom prst="rect">
            <a:avLst/>
          </a:prstGeom>
          <a:noFill/>
        </p:spPr>
        <p:txBody>
          <a:bodyPr wrap="square">
            <a:spAutoFit/>
          </a:bodyPr>
          <a:lstStyle/>
          <a:p>
            <a:pPr algn="ctr"/>
            <a:r>
              <a:rPr sz="850" b="0" i="0">
                <a:solidFill>
                  <a:srgbClr val="475569"/>
                </a:solidFill>
                <a:latin typeface="Calibri"/>
              </a:rPr>
              <a:t>Độ ẩm</a:t>
            </a:r>
          </a:p>
        </p:txBody>
      </p:sp>
      <p:sp>
        <p:nvSpPr>
          <p:cNvPr id="34" name="Rounded Rectangle 33"/>
          <p:cNvSpPr/>
          <p:nvPr/>
        </p:nvSpPr>
        <p:spPr>
          <a:xfrm>
            <a:off x="6644487" y="6949440"/>
            <a:ext cx="2560320" cy="1051560"/>
          </a:xfrm>
          <a:prstGeom prst="roundRect">
            <a:avLst/>
          </a:prstGeom>
          <a:solidFill>
            <a:srgbClr val="FFFFFF"/>
          </a:solidFill>
          <a:ln w="12700">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7641183" y="7040880"/>
            <a:ext cx="566928" cy="566928"/>
          </a:xfrm>
          <a:prstGeom prst="ellipse">
            <a:avLst/>
          </a:prstGeom>
          <a:solidFill>
            <a:srgbClr val="CDF0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050" b="1">
                <a:solidFill>
                  <a:srgbClr val="06B6D4"/>
                </a:solidFill>
                <a:latin typeface="Calibri"/>
              </a:rPr>
              <a:t>110</a:t>
            </a:r>
          </a:p>
        </p:txBody>
      </p:sp>
      <p:sp>
        <p:nvSpPr>
          <p:cNvPr id="36" name="TextBox 35"/>
          <p:cNvSpPr txBox="1"/>
          <p:nvPr/>
        </p:nvSpPr>
        <p:spPr>
          <a:xfrm>
            <a:off x="6735927" y="7744968"/>
            <a:ext cx="2377440" cy="219456"/>
          </a:xfrm>
          <a:prstGeom prst="rect">
            <a:avLst/>
          </a:prstGeom>
          <a:noFill/>
        </p:spPr>
        <p:txBody>
          <a:bodyPr wrap="square">
            <a:spAutoFit/>
          </a:bodyPr>
          <a:lstStyle/>
          <a:p>
            <a:pPr algn="ctr"/>
            <a:r>
              <a:rPr sz="850" b="0" i="0">
                <a:solidFill>
                  <a:srgbClr val="475569"/>
                </a:solidFill>
                <a:latin typeface="Calibri"/>
              </a:rPr>
              <a:t>Gas PPM</a:t>
            </a:r>
          </a:p>
        </p:txBody>
      </p:sp>
      <p:sp>
        <p:nvSpPr>
          <p:cNvPr id="37" name="TextBox 36"/>
          <p:cNvSpPr txBox="1"/>
          <p:nvPr/>
        </p:nvSpPr>
        <p:spPr>
          <a:xfrm>
            <a:off x="822960" y="6446520"/>
            <a:ext cx="10545775" cy="365760"/>
          </a:xfrm>
          <a:prstGeom prst="rect">
            <a:avLst/>
          </a:prstGeom>
          <a:noFill/>
        </p:spPr>
        <p:txBody>
          <a:bodyPr wrap="square">
            <a:spAutoFit/>
          </a:bodyPr>
          <a:lstStyle/>
          <a:p>
            <a:pPr algn="ctr"/>
            <a:r>
              <a:rPr sz="1100" b="0" i="0">
                <a:solidFill>
                  <a:srgbClr val="475569"/>
                </a:solidFill>
                <a:latin typeface="Calibri"/>
              </a:rPr>
              <a:t>Giảng viên hướng dẫn: Nguyễn Lê Tấn Đạt  ·  datnlt@tdmu.edu.vn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