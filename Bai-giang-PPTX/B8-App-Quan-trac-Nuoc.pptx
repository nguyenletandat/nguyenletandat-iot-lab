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6364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658368" cy="658368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48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ĐẠI HỌC THỦ DẦU MỘT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046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IOT TRONG KỸ THUẬT MÔI TRƯỜNG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BUỔI 8/12 · NỐI TIẾP B2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532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E293B"/>
                </a:solidFill>
                <a:latin typeface="Calibri"/>
              </a:rPr>
              <a:t>B8: Web App &amp; Mobile App — Cảnh báo Ngập lụt từ 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Mở rộng hệ thống HC-SR04 + DS18B20 của Buổi 2 thành ứng dụng cảnh báo ngập tức thời qua điện thoại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5349240"/>
            <a:ext cx="4480560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5504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alibri"/>
              </a:rPr>
              <a:t>Giảng viên hướng dẫn: Nguyễn Lê Tấn Đạt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972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Nền tảng: Blynk IoT (App di động + Web Dashboard)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685800"/>
            <a:ext cx="24688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03136" y="832104"/>
            <a:ext cx="2304288" cy="473659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03136" y="832104"/>
            <a:ext cx="230428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B8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1271016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55180" y="1362456"/>
            <a:ext cx="484632" cy="484632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12cm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7" y="1883663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Mực nước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271016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1362456"/>
            <a:ext cx="859536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6B6D4"/>
                </a:solidFill>
                <a:latin typeface="Calibri"/>
              </a:rPr>
              <a:t>26°C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1883663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 nước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76288" y="2212848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78624" y="2340864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7" y="2633472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7" y="2843784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Cảnh báo ngập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2212848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3296" y="2683764"/>
            <a:ext cx="95504" cy="123443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36102" y="2601468"/>
            <a:ext cx="95504" cy="205739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8908" y="2642616"/>
            <a:ext cx="95504" cy="164592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1715" y="2519172"/>
            <a:ext cx="95504" cy="288035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94521" y="2580894"/>
            <a:ext cx="95504" cy="226314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47328" y="2478024"/>
            <a:ext cx="95504" cy="329184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83296" y="2843784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Lịch sử mực nước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1280160"/>
            <a:ext cx="2331720" cy="2926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72600" y="1280160"/>
            <a:ext cx="233172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09760" y="140817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10928" y="14081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912096" y="14081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1335024"/>
            <a:ext cx="1325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Web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20" y="187451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54996" y="1965960"/>
            <a:ext cx="566928" cy="566928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12cm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267004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Mực nước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46920" y="306323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19588" y="3191256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3483864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3877056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6920" y="425195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38360" y="4850891"/>
            <a:ext cx="177800" cy="178307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22840" y="4732019"/>
            <a:ext cx="177800" cy="297179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07320" y="4791455"/>
            <a:ext cx="177800" cy="237743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591800" y="4613147"/>
            <a:ext cx="177800" cy="416051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76280" y="4702301"/>
            <a:ext cx="177800" cy="326898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160760" y="4553712"/>
            <a:ext cx="177800" cy="475487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38360" y="5065775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Xu hướng mực nước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72600" y="4343400"/>
            <a:ext cx="2331720" cy="1371600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</a:rPr>
              <a:t>B8
↔ B2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64739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94A3B8"/>
                </a:solidFill>
                <a:latin typeface="Calibri"/>
              </a:rPr>
              <a:t>Minh hoạ bố cục giao diện App/Web — thiết kế thực tế tuỳ chỉnh trong Blynk.Console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B8 · MỤC TIÊU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Mục tiêu bài học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3560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Vận dụng lại kiến trúc Blynk đã học ở Buổi 7 cho một hệ thống cảm biến khác (siêu âm + nhiệt độ nước).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76856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Thiết kế Datastream/Widget phù hợp cho bài toán CẢNH BÁO (khác bài toán CHỈ HIỂN THỊ ở Buổi 7).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18104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Cấu hình thông báo đẩy (push notification) tự động khi phát hiện nguy cơ ngập.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5935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Hiểu sự khác biệt giữa hiển thị số liệu thường xuyên và cảnh báo sự kiện khẩn cấp trong thiết kế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B8 · ÔN LẠI KIẾN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Nhắc lại hệ thống phần cứng B2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Buổi 2 đã xây dựng: HC-SR04 đo khoảng cách (mực nước), DS18B20 đo nhiệt độ nước, LCD hiện "CẢNH BÁO: NGẬP!" khi khoảng cách &lt; 15cm.</a:t>
            </a:r>
          </a:p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Hạn chế: nếu không có ai đứng gần LCD lúc xảy ra ngập, cảnh báo "vô nghĩa" vì không ai biết để xử lý kịp thời.</a:t>
            </a:r>
          </a:p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Buổi 8 bổ sung: đẩy cảnh báo NGAY LẬP TỨC đến điện thoại người phụ trách, bất kể họ đang ở đâu.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11064240" cy="1691640"/>
          </a:xfrm>
          <a:prstGeom prst="roundRect">
            <a:avLst/>
          </a:prstGeom>
          <a:solidFill>
            <a:srgbClr val="F3EEFE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4515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BÀI B8 SẼ MỞ RỘNG PHẦN NÀO?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92624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Chỉ bổ sung PHẦN MỀM (thư viện Blynk + WiFi) — toàn bộ sơ đồ đấu dây và logic cảm biến/thiết bị chấp hành đã học ở B2 được giữ nguyên 100%, không cần lắp lại mạch.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B8 · NỀN TẢNG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Blynk IoT là gì?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Blynk IoT là nền tảng đám mây (Cloud) chuyên dụng cho thiết bị nhúng — cho phép thiết bị như ESP32-S3 gửi dữ liệu lên và nhận lệnh điều khiển xuống, hiển thị qua ứng dụng di động (iOS/Android) và Web Dashboard mà không cần tự xây server riêng.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Mỗi loại thiết bị được định nghĩa bằng 1 "Template" — gồm Template ID, danh sách Datastream (dữ liệu trao đổi) và cấu hình Widget mặc định.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Datastream (còn gọi là Virtual Pin, ký hiệu V0, V1, V2...) là các "kênh dữ liệu ảo" độc lập với chân GPIO vật lý — dùng để trao đổi bất kỳ loại dữ liệu nào (số, chuỗi, trạng thái) giữa firmware và Cloud.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Mỗi thiết bị vật lý có 1 Auth Token duy nhất — đóng vai trò như "mật khẩu riêng" xác thực thiết bị đó với đúng tài khoản Cloud của người dùng.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Firmware giao tiếp với Cloud qua 2 chiều: Blynk.virtualWrite(V_pin, value) để GỬI dữ liệu lên App/Web; hàm BLYNK_WRITE(V_pin) để NHẬN lệnh điều khiển từ App/Web gửi xuống.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1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B8 · KIẾN TRÚC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Kiến trúc kết nối Board — Cloud — App/Web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ESP32-S3
(B2)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24231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040380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Kết nối WiFi
(Internet)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645920"/>
            <a:ext cx="2423160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20740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Blynk Cloud
(Datastream)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645920"/>
            <a:ext cx="24231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801099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19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App di động &amp;
Web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19" y="1645920"/>
            <a:ext cx="242316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Dữ liệu đi 2 CHIỀU qua Blynk Cloud: (1) Cảm biến → Board → Cloud → App/Web (giám sát), và (2) App/Web → Cloud → Board → Thiết bị chấp hành (điều khiển ngược lại, nếu bài có Switch/Slider).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39"/>
            <a:ext cx="11064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33087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Vận dụng cụ thể cho bài B8: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98848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Mực nước (khoảng cách đo được)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Nhiệt độ nước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Trạng thái cảnh báo ngập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B8 · CẤU HÌNH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Bảng ánh xạ Datastream (Virtual Pin)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63040"/>
          <a:ext cx="11064238" cy="23408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9372"/>
                <a:gridCol w="3656009"/>
                <a:gridCol w="3367377"/>
                <a:gridCol w="2501480"/>
              </a:tblGrid>
              <a:tr h="585215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Virtual Pin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Ý nghĩa dữ liệu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Kiểu dữ liệu / Đơn vị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Widget đề xuất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</a:tr>
              <a:tr h="5852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Mực nước (khoảng cách đo được)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Double, cm (0-400)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Gauge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52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Nhiệt độ nước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Double, °C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Value Display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8521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Trạng thái cảnh báo ngập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Integer, 0 = an toàn / 1 = ngập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LED + Event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07822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Datastream được khai báo 1 lần trong Blynk.Console (Template → Datastreams), sau đó firmware chỉ cần gọi đúng số hiệu Virtual Pin (V0, V1...) tương ứng — không cần khai báo lại trong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C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B8 · GIAO DIỆN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Thiết kế giao diện Mobile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3108960" cy="5074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5" y="1517904"/>
            <a:ext cx="2944368" cy="478231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5" y="1517904"/>
            <a:ext cx="294436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B8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" y="1956816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39" y="2048256"/>
            <a:ext cx="484632" cy="484632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12cm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7" y="2569463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Mực nước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1135" y="1956816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2575" y="2048256"/>
            <a:ext cx="1179575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6B6D4"/>
                </a:solidFill>
                <a:latin typeface="Calibri"/>
              </a:rPr>
              <a:t>26°C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5" y="2569463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 nước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" y="2898648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7884" y="3026664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7" y="3319272"/>
            <a:ext cx="117957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7" y="3529584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Cảnh báo ngập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135" y="2898648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22575" y="3369564"/>
            <a:ext cx="131063" cy="123443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32278" y="3287268"/>
            <a:ext cx="131063" cy="205739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1980" y="3328416"/>
            <a:ext cx="131063" cy="164592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51683" y="3204972"/>
            <a:ext cx="131063" cy="288035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61385" y="3266694"/>
            <a:ext cx="131063" cy="226314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71087" y="3163824"/>
            <a:ext cx="131063" cy="329184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2575" y="3529584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Lịch sử mực nước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14173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Danh sách Widget sử dụng:</a:t>
            </a:r>
          </a:p>
        </p:txBody>
      </p:sp>
      <p:sp>
        <p:nvSpPr>
          <p:cNvPr id="32" name="Oval 31"/>
          <p:cNvSpPr/>
          <p:nvPr/>
        </p:nvSpPr>
        <p:spPr>
          <a:xfrm>
            <a:off x="4206240" y="1892807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1874519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Gauge (đồng hồ đo) — “Mực nước”</a:t>
            </a:r>
          </a:p>
        </p:txBody>
      </p:sp>
      <p:sp>
        <p:nvSpPr>
          <p:cNvPr id="34" name="Oval 33"/>
          <p:cNvSpPr/>
          <p:nvPr/>
        </p:nvSpPr>
        <p:spPr>
          <a:xfrm>
            <a:off x="4206240" y="2459736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2441448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Value Display (số liệu) — “Nhiệt độ nước”</a:t>
            </a:r>
          </a:p>
        </p:txBody>
      </p:sp>
      <p:sp>
        <p:nvSpPr>
          <p:cNvPr id="36" name="Oval 35"/>
          <p:cNvSpPr/>
          <p:nvPr/>
        </p:nvSpPr>
        <p:spPr>
          <a:xfrm>
            <a:off x="4206240" y="3026664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3008376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LED (đèn trạng thái) — “Cảnh báo ngập”</a:t>
            </a:r>
          </a:p>
        </p:txBody>
      </p:sp>
      <p:sp>
        <p:nvSpPr>
          <p:cNvPr id="38" name="Oval 37"/>
          <p:cNvSpPr/>
          <p:nvPr/>
        </p:nvSpPr>
        <p:spPr>
          <a:xfrm>
            <a:off x="4206240" y="3593592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575304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SuperChart (biểu đồ) — “Lịch sử mực nước”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06240" y="4279392"/>
            <a:ext cx="7223760" cy="1051560"/>
          </a:xfrm>
          <a:prstGeom prst="roundRect">
            <a:avLst/>
          </a:prstGeom>
          <a:solidFill>
            <a:srgbClr val="FDECF4"/>
          </a:solidFill>
          <a:ln w="1397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4416552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1E293B"/>
                </a:solidFill>
                <a:latin typeface="Calibri"/>
              </a:rPr>
              <a:t>Nguyên tắc thiết kế: đặt Widget quan trọng nhất (cảnh báo, trạng thái) ở vị trí dễ thấy nhất trên màn hình, nhóm các Widget cùng loại cảm biến gần nhau, ưu tiên Gauge/LED cho dữ liệu cần đọc nhanh.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B8 · GIAO DIỆN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Thiết kế Web Dashboard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64240" cy="3246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54533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54533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54533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1472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blynk.cloud — KMT Water 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46376" y="2103120"/>
            <a:ext cx="566928" cy="566928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12cm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07208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Mực nước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3880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61888" y="2139696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5320" y="2432304"/>
            <a:ext cx="3230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2825496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4799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16239" y="2610612"/>
            <a:ext cx="358986" cy="178307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0618" y="2491740"/>
            <a:ext cx="358986" cy="297179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64997" y="2551176"/>
            <a:ext cx="358986" cy="237743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9375" y="2372868"/>
            <a:ext cx="358986" cy="416051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313754" y="2462022"/>
            <a:ext cx="358986" cy="326898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88133" y="2313432"/>
            <a:ext cx="358986" cy="475487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6239" y="2825496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Xu hướng mực nước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Khác biệt so với Mobile App: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57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Web Dashboard phù hợp xem trên màn hình lớn (phòng điều khiển, máy tính bàn) — bố cục nhiều cột hơn App.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Có thể chia sẻ Dashboard cho nhiều người xem (Viewer) mà không cần chia sẻ tài khoản đăng nhập chính.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Truy cập trực tiếp qua trình duyệt tại web.blynk.cloud, không cần cài đặt ứng dụng.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B8 · HƯỚNG DẪN CÀI ĐẶT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Quy trình cài đặt gồm 3 giai đoạn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66160" cy="7772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1
Thiết lập Cloud (Web)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blynk.cloud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816351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Đăng ký tài khoản Blynk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74719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Tạo Template + Datastream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33087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Tạo Device, lấy Auth Token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791455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690871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Dựng Web Dashboard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133087" y="2926080"/>
            <a:ext cx="146304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79" y="1463040"/>
            <a:ext cx="3566160" cy="7772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2
Thiết lập App di động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Blynk IoT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59" y="2816351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Cài đặt Blynk IoT (App Store/Google Play)</a:t>
            </a:r>
          </a:p>
        </p:txBody>
      </p:sp>
      <p:sp>
        <p:nvSpPr>
          <p:cNvPr id="27" name="Oval 26"/>
          <p:cNvSpPr/>
          <p:nvPr/>
        </p:nvSpPr>
        <p:spPr>
          <a:xfrm>
            <a:off x="4480559" y="3474719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Đăng nhập cùng tài khoản Bước 1</a:t>
            </a:r>
          </a:p>
        </p:txBody>
      </p:sp>
      <p:sp>
        <p:nvSpPr>
          <p:cNvPr id="29" name="Oval 28"/>
          <p:cNvSpPr/>
          <p:nvPr/>
        </p:nvSpPr>
        <p:spPr>
          <a:xfrm>
            <a:off x="4480559" y="4133087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Dựng giao diện Mobile Widget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82127" y="2926080"/>
            <a:ext cx="146304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19" y="1463040"/>
            <a:ext cx="356616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3
Nạp code &amp; Kết nối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Arduino 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2816351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563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Dán Template ID + Auth Token vào code</a:t>
            </a:r>
          </a:p>
        </p:txBody>
      </p:sp>
      <p:sp>
        <p:nvSpPr>
          <p:cNvPr id="37" name="Oval 36"/>
          <p:cNvSpPr/>
          <p:nvPr/>
        </p:nvSpPr>
        <p:spPr>
          <a:xfrm>
            <a:off x="8229599" y="3474719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563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Nạp code lên board qua Arduino IDE</a:t>
            </a:r>
          </a:p>
        </p:txBody>
      </p:sp>
      <p:sp>
        <p:nvSpPr>
          <p:cNvPr id="39" name="Oval 38"/>
          <p:cNvSpPr/>
          <p:nvPr/>
        </p:nvSpPr>
        <p:spPr>
          <a:xfrm>
            <a:off x="8229599" y="4133087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Kiểm tra trạng thái Online, thử nghiệm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475569"/>
                </a:solidFill>
                <a:latin typeface="Calibri"/>
              </a:rPr>
              <a:t>Toàn bộ 3 giai đoạn CHỈ cần làm 1 lần cho mỗi thiết bị — sau khi đã kết nối thành công, dữ liệu tự động cập nhật mỗi khi board bật nguồn.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B8 · CÀI ĐẶT WEB · BƯỚC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Đăng ký tài khoản &amp; Tạo Template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trình duyệt, truy cập blynk.cloud, bấm "Sign Up" (hoặc "Create Account") để tạo tài khoản mới.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Nhập Email + Mật khẩu, hoặc chọn "Continue with Google" để đăng ký/đăng nhập nhanh — xác nhận email nếu hệ thống yêu cầu.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Sau khi đăng nhập thành công, vào mục "Templates" ở thanh menu bên trái (khu vực Developer Zone).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"+ New Template", đặt tên Template là "KMT Water Monitor" để dễ nhận diện.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Hardware = "ESP32", Connection Type = "WiFi" (đúng loại board ESP32-S3 đang dùng) &gt; bấm "Done" để hoàn tất tạo Template.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Ghi nhớ chính xác tên Template — sẽ dùng lại khi tạo Device ở bước sau.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B8 · CÀI ĐẶT WEB · BƯỚC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Thêm Datastream cho từng cảm biến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Trong Template vừa tạo, chuyển sang tab "Datastreams".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"+ New Datastream" &gt; chọn loại "Virtual Pin".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Điền đầy đủ: Name (tên gợi nhớ), Pin (chọn đúng số V), Data Type (Integer/Double), giá trị Min/Max theo đúng bảng ánh xạ đã thiết kế ở slide trước.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Lặp lại thao tác trên cho đến khi tạo đủ 3 Datastream (V0 → V2) đúng theo bảng.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"Save" sau mỗi Datastream để lưu lại cấu hình.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Đặt tên Datastream và Virtual Pin phải khớp CHÍNH XÁC với số hiệu V-pin dùng trong code ở các slide sau.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B8 · CÀI ĐẶT WEB · BƯỚC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Tạo Device &amp; lấy Auth Token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Vào mục "Devices" ở menu bên trái &gt; bấm "+ New Device".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"From template" &gt; chọn đúng Template "KMT Water Monitor" vừa cấu hình ở bước trước.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Đặt tên riêng cho thiết bị (ví dụ "Trạm B8 - Phòng Lab") &gt; bấm "Create".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Hệ thống hiển thị Auth Token — đây là "mật khẩu" DUY NHẤT của riêng thiết bị này, bấm biểu tượng copy để sao chép.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Dán chuỗi Auth Token vừa copy vào đúng dòng BLYNK_AUTH_TOKEN trong code Arduino (sẽ dùng ở các slide Mã nguồn tiếp theo).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TUYỆT ĐỐI không chia sẻ Auth Token công khai (vd đăng lên GitHub/Facebook) — ai có Token đều điều khiển được thiết bị.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B8 · CÀI ĐẶT WEB · BƯỚC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Dựng Web Dashboard — kéo thả Widget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Trong Device vừa tạo, chuyển sang tab "Web Dashboard".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biểu tượng bút chì "Edit" để vào chế độ chỉnh sửa.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Từ khay Widget bên phải, kéo thả từng Widget (Gauge/LED/Chart...) tương ứng bảng thiết kế đã học vào vùng làm việc.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22776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vào từng Widget vừa thả &gt; mục DATASTREAM &gt; chọn đúng Virtual Pin tương ứng &gt; đặt tên hiển thị, đơn vị, dải màu cảnh báo.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82312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64024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Sắp xếp lại vị trí/kích thước các Widget cho gọn gàng, dễ nhìn &gt; bấm "Save".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B8 · CÀI ĐẶT APP · BƯỚC 6-7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Cài đặt &amp; Đăng nhập Blynk IoT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App Store (iPhone) hoặc Google Play (Android), tìm kiếm chính xác "Blynk IoT".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Cài đặt và mở ứng dụng vừa tải về.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Đăng nhập bằng ĐÚNG tài khoản đã dùng để tạo Template ở Bước 1 (email hoặc Google).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Ứng dụng tự động đồng bộ, hiển thị thiết bị vừa tạo trong danh sách "Devices".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vào thiết bị để mở — màn hình lúc này còn trống vì chưa có Widget nào được thêm.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Lưu ý phân biệt "Blynk IoT" (app hiện hành) với "Blynk" bản cũ đã ngừng phát triển — cài nhầm sẽ không thấy Template/Device vừa tạo.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B8 · CÀI ĐẶT APP · BƯỚC 8-9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Dựng giao diện Mobile App — kéo thả Widget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biểu tượng bút chì (Edit) ở góc trên bên phải màn hình thiết bị để vào chế độ chỉnh sửa.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Khay Widget trượt lên từ phía dưới màn hình — chọn và kéo thả từng Widget vào vùng làm việc.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vào Widget vừa thả &gt; mục DATASTREAM &gt; chọn đúng Virtual Pin theo đúng bảng ánh xạ đã thiết kế.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22776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Tuỳ chỉnh tên hiển thị, màu sắc, dải giá trị (min/max) cho từng Widget để dễ đọc.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82312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64024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Kéo-thả sắp xếp lại vị trí các Widget, sau đó chạm dấu ✓ (Save) ở góc trên để lưu và thoát chế độ chỉnh sửa.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B8 · HOÀN TẤT · BƯỚC 10-11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Nạp code &amp; Kiểm tra kết nối thành công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Arduino IDE trên máy tính, cài thư viện "Blynk" (Sketch &gt; Include Library &gt; Manage Libraries &gt; tìm "Blynk").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402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2199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Dán đầy đủ đoạn code ở 2 slide "Mã nguồn mở rộng" tiếp theo vào 1 file .ino.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Kiểm tra lại đã điền đúng: BLYNK_AUTH_TOKEN (lấy ở Bước 4), tên WiFi (ssid) và mật khẩu WiFi (pass).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6791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đúng Board "ESP32S3 Dev Module" và cổng COM tương ứng trong Arduino IDE &gt; bấm Upload.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091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9087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Serial Monitor (baud rate 115200) — quan sát dòng chữ xác nhận kết nối WiFi và Blynk thành công.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532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1383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Quay lại App/Web: chấm tròn trạng thái thiết bị chuyển từ xám "Offline" sang xanh lá "Online", số liệu bắt đầu cập nhật realtime trên các Widget.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B8 · XỬ LÝ SỰ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Các lỗi thường gặp khi cài đặt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064240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657600"/>
                <a:gridCol w="4297680"/>
              </a:tblGrid>
              <a:tr h="535577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Triệu chứng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Nguyên nhân thường gặp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Cách khắc phục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Thiết bị luôn hiện "Offline"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Sai Auth Token, hoặc sai tên/mật khẩu WiFi trong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lại BLYNK_AUTH_TOKEN dán đúng; xem Serial Monitor để xác nhận board đã kết nối được WiFi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Widget không hiển thị số liệu (mãi 0 hoặc trống)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Widget gán sai Virtual Pin, hoặc code chưa gọi đúng Blynk.virtualWrite()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Vào chỉnh sửa Widget &gt; kiểm tra mục DATASTREAM đã chọn đúng V-pin theo bảng ánh xạ chưa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App điện thoại không thấy Device/Template mới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Đăng nhập App bằng tài khoản khác với tài khoản tạo Template trên Web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Đăng xuất, đăng nhập lại đúng email đã dùng trên Blynk.Console; kéo màn hình để làm mới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Gạt Switch trên App nhưng thiết bị không phản ứng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Thiếu hàm BLYNK_WRITE(V_pin) tương ứng trong code, hoặc thiết bị đang mất kết nối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code có định nghĩa đúng BLYNK_WRITE() cho đúng V-pin; kiểm tra trạng thái Online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Không nhận được thông báo dù đã vượt ngưỡng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Automation chưa được Bật (Enable), hoặc App bị chặn quyền thông báo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trạng thái Enable trong tab Automations; vào Cài đặt điện thoại &gt; Thông báo &gt; cho phép Blynk IoT gửi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Cài nhầm app "Blynk" bản cũ thay vì "Blynk IoT"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Không để ý tên ứng dụng chính xác khi tìm trên App Store/Google Play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Gỡ bản cũ, tìm chính xác "Blynk IoT" (icon chữ B nền xanh lá mới) để cài lại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B8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Kết nối WiFi &amp; Blynk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#include &lt;WiFi.h&gt;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BLYNK_TEMPLATE_ID   "TMPLxxxxxx"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BLYNK_TEMPLATE_NAME "{tmpl_name}"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BLYNK_AUTH_TOKEN    "xxxxxxxxxxxxxxxxxxxxxxxxxxxxxxxx"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#include &lt;BlynkSimpleEsp32.h&gt;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char ssid[] = "TEN_WIFI_CUA_BAN";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char pass[] = "MAT_KHAU_WIFI";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BlynkTimer timer;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B8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Xử lý logic &amp; Gửi dữ liệu lên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void sendSensorData()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digitalWrite(TRIG_PIN, LOW); delayMicroseconds(2);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digitalWrite(TRIG_PIN, HIGH); delayMicroseconds(10);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digitalWrite(TRIG_PIN, LOW);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long duration = pulseIn(ECHO_PIN, HIGH);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int distanceCm = duration * 0.034 / 2;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int waterTemp = analogRead(TEMP_PIN);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Blynk.virtualWrite(V0, distanceCm);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Blynk.virtualWrite(V1, waterTemp);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if (distanceCm &lt; 15)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  Blynk.virtualWrite(V2, 1);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64748B"/>
                </a:solidFill>
                <a:latin typeface="Consolas"/>
              </a:rPr>
              <a:t>    // Kich hoat Event da khai bao san trong Blynk.Console -&gt; tu dong gui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64748B"/>
                </a:solidFill>
                <a:latin typeface="Consolas"/>
              </a:rPr>
              <a:t>    // thong bao day + email den nguoi phu trach, KHONG can code them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  Blynk.logEvent("flood_alert", "Canh bao: muc nuoc dang dang cao!");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} else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  Blynk.virtualWrite(V2, 0);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B8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Khởi tạo &amp; Vòng lặp chính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void setup()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Serial.begin(115200);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pinMode(TRIG_PIN, OUTPUT);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pinMode(ECHO_PIN, INPUT);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Blynk.begin(BLYNK_AUTH_TOKEN, ssid, pass);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timer.setInterval(2000L, sendSensorData);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void loop()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Blynk.run();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timer.run();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B8 · TỰ ĐỘNG HOÁ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Cảnh báo &amp; Automation trên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64240" cy="15544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QUY TẮC AUTOMATION CHO BÀI B8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0195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Sự kiện "flood_alert" được khai báo trước trong tab Events &amp; Notifications của Blynk.Console — mỗi lần Blynk.logEvent() được gọi từ firmware, Cloud tự gửi thông báo đẩy + (tuỳ chọn) email, có giới hạn tần suất để tránh spam liên tục.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Các bước cấu hình trên Blynk.Console (Web):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0215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Mở thiết bị trên Blynk.Console &gt; chuyển sang tab "Automations" &gt; bấm "+ Create Automation".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23944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Đặt tên quy tắc dễ nhớ &gt; phần "IF" chọn đúng Datastream cần theo dõi &gt; chọn phép so sánh (&gt;, &lt;, =) &gt; nhập giá trị ngưỡng.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64024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45736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Phần "THEN" chọn hành động "Send Notification" (thông báo đẩy) và/hoặc "Send Email" &gt; soạn nội dung cảnh báo.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385816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67528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Bấm "Save" rồi gạt công tắc "Enable" ở đầu quy tắc để chính thức kích hoạt — có thể Tắt/Bật lại bất cứ lúc nào mà không cần sửa code.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B8 · ỨNG DỤNG THỰC TIỄN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Giá trị thực tế khi có App/Web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" cy="1965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8191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Cảnh báo ngập đô thị thời gian thực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75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Đội ứng phó thiên tai nhận cảnh báo ngay khi mực nước cống/kênh vượt ngưỡng, không cần trực ca thủ công 24/7.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58191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Giám sát từ xa nhiều điểm đo cùng lúc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075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Một Web Dashboard duy nhất tổng hợp nhiều trạm đo đặt tại các vị trí khác nhau trong thành phố.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109728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Lịch sử phục vụ quy hoạch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1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Dữ liệu mực nước/nhiệt độ theo thời gian giúp phân tích xu hướng, phục vụ quy hoạch hệ thống thoát nước.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03320"/>
            <a:ext cx="109728" cy="19659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386791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Tích hợp cảnh báo đa kênh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361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Có thể mở rộng gửi cảnh báo qua Zalo/Telegram Bot song song với thông báo đẩy Blynk cho phạm vi tiếp cận rộng hơn.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B8 · LƯU Ý TRIỂN KHAI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Lưu ý khi triển khai thực tế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44752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173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Blynk.logEvent() cần được cấu hình "Event Code" (vd "flood_alert") sẵn trong Blynk.Console trước — gọi tên sai sẽ không có tác dụng.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40864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1343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Cần thiết lập giới hạn tần suất Event (rate limit) để tránh bị "bão thông báo" nếu mực nước dao động liên tục quanh ngưỡng.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954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Web/Mobile App chỉ cảnh báo được khi thiết bị CÒN kết nối Internet — cân nhắc thêm còi/đèn cảnh báo tại chỗ làm phương án dự phòng khi mất mạng.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05656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HC-SR04 vẫn giữ nguyên hạn chế phần cứng đã học ở Buổi 2 (nhạy với mặt nước gợn sóng) — thêm lớp App không khắc phục được sai số cảm biến gốc.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B8 ·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Câu hỏi thảo luận cuối buổi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4475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Sự khác biệt giữa Blynk.virtualWrite() và Blynk.logEvent() là gì? Khi nào dùng cái nào?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4086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Vì sao hệ thống cảnh báo ngập cần có giới hạn tần suất gửi thông báo thay vì gửi liên tục mỗi lần đọc cảm biến?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55264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36976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Nếu mất kết nối WiFi đúng lúc xảy ra ngập, hệ thống hiện tại có còn cảnh báo được tại chỗ không? Vì sao?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51376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33088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Đề xuất 1 Datastream/Widget bổ sung để người dùng App biết THỜI ĐIỂM chính xác lúc bắt đầu ngập.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B8 · TỔNG KẾT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Tổng kết buổi học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Những điều đã đạt được: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Đã bổ sung thành công lớp cảnh báo tức thời (Event/Notification) — nâng cấp so với việc chỉ hiển thị dữ liệu như Buổi 7.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Phân biệt rõ 2 loại dữ liệu gửi lên Cloud: dữ liệu định kỳ (virtualWrite) và sự kiện khẩn cấp (logEvent).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Có khả năng tự thiết kế hệ thống cảnh báo từ xa cho bất kỳ ngưỡng nguy hiểm nào trong thực tế.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10881360" cy="1600200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CHUẨN BỊ CHO BUỔI TIẾP THEO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Buổi 9: Mở rộng hệ thống tưới cây Buổi 3 — không chỉ giám sát mà còn ĐIỀU KHIỂN bơm nước từ xa qua điện thoại.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6663" y="914400"/>
            <a:ext cx="658368" cy="658368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293B"/>
                </a:solidFill>
                <a:latin typeface="Calibri"/>
              </a:rPr>
              <a:t>CẢM ƠN CÁC BẠN ĐÃ THEO DÕI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5CF6"/>
                </a:solidFill>
                <a:latin typeface="Calibri"/>
              </a:rPr>
              <a:t>B8: Cảnh báo Ngập lụt từ xa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8327" y="3429000"/>
            <a:ext cx="2377440" cy="3017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60623" y="3575304"/>
            <a:ext cx="2212848" cy="272491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0623" y="3575304"/>
            <a:ext cx="221284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B8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3775" y="4014216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9807" y="4105656"/>
            <a:ext cx="484632" cy="484632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12cm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5215" y="462686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Mực nước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3623" y="4014216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5063" y="4105656"/>
            <a:ext cx="813815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6B6D4"/>
                </a:solidFill>
                <a:latin typeface="Calibri"/>
              </a:rPr>
              <a:t>26°C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5063" y="462686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 nước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3775" y="4956048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13251" y="5084064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5215" y="5376672"/>
            <a:ext cx="813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5215" y="558698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Cảnh báo ngập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3623" y="4956048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95063" y="5426964"/>
            <a:ext cx="90423" cy="123443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39742" y="5344668"/>
            <a:ext cx="90423" cy="205739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84420" y="5385816"/>
            <a:ext cx="90423" cy="164592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29098" y="5262372"/>
            <a:ext cx="90423" cy="288035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73777" y="5324094"/>
            <a:ext cx="90423" cy="226314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18455" y="5221224"/>
            <a:ext cx="90423" cy="329184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95063" y="558698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Lịch sử mực nước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0167" y="3977639"/>
            <a:ext cx="31089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0167" y="3977639"/>
            <a:ext cx="310896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07327" y="4105655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08495" y="4105655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09663" y="4105655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93127" y="403250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Web Dashboard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44487" y="45720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41183" y="4663440"/>
            <a:ext cx="566928" cy="566928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12cm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5927" y="53675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Mực nước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44487" y="576072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05775" y="5888736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5927" y="6181343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BẬT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5927" y="657453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44487" y="694944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35927" y="7548371"/>
            <a:ext cx="264160" cy="178307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58583" y="7429500"/>
            <a:ext cx="264160" cy="297179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81239" y="7488936"/>
            <a:ext cx="264160" cy="237743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3895" y="7310627"/>
            <a:ext cx="264160" cy="416051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26551" y="7399781"/>
            <a:ext cx="264160" cy="326898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49207" y="7251192"/>
            <a:ext cx="264160" cy="475487"/>
          </a:xfrm>
          <a:prstGeom prst="rect">
            <a:avLst/>
          </a:prstGeom>
          <a:solidFill>
            <a:srgbClr val="93B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35927" y="776325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Xu hướng mực nước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4465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Giảng viên hướng dẫn: Nguyễn Lê Tấn Đạt  ·  datnlt@tdmu.edu.vn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