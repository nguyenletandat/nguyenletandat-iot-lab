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Nồng độ Gas (PPM)</c:v>
                </c:pt>
              </c:strCache>
            </c:strRef>
          </c:tx>
          <c:spPr>
            <a:ln w="31750">
              <a:solidFill>
                <a:srgbClr val="3B82F6"/>
              </a:solidFill>
            </a:ln>
          </c:spPr>
          <c:cat>
            <c:strRef>
              <c:f>Sheet1!$A$2:$A$9</c:f>
              <c:strCache>
                <c:ptCount val="8"/>
                <c:pt idx="0">
                  <c:v>0s</c:v>
                </c:pt>
                <c:pt idx="1">
                  <c:v>3s</c:v>
                </c:pt>
                <c:pt idx="2">
                  <c:v>6s</c:v>
                </c:pt>
                <c:pt idx="3">
                  <c:v>9s</c:v>
                </c:pt>
                <c:pt idx="4">
                  <c:v>12s</c:v>
                </c:pt>
                <c:pt idx="5">
                  <c:v>15s</c:v>
                </c:pt>
                <c:pt idx="6">
                  <c:v>18s</c:v>
                </c:pt>
                <c:pt idx="7">
                  <c:v>21s</c:v>
                </c:pt>
              </c:strCache>
            </c:strRef>
          </c:cat>
          <c:val>
            <c:numRef>
              <c:f>Sheet1!$B$2:$B$9</c:f>
              <c:numCache>
                <c:formatCode>General</c:formatCode>
                <c:ptCount val="8"/>
                <c:pt idx="0">
                  <c:v>90</c:v>
                </c:pt>
                <c:pt idx="1">
                  <c:v>140</c:v>
                </c:pt>
                <c:pt idx="2">
                  <c:v>180</c:v>
                </c:pt>
                <c:pt idx="3">
                  <c:v>220</c:v>
                </c:pt>
                <c:pt idx="4">
                  <c:v>260</c:v>
                </c:pt>
                <c:pt idx="5">
                  <c:v>310</c:v>
                </c:pt>
                <c:pt idx="6">
                  <c:v>350</c:v>
                </c:pt>
                <c:pt idx="7">
                  <c:v>300</c:v>
                </c:pt>
              </c:numCache>
            </c:numRef>
          </c:val>
          <c:smooth val="0"/>
        </c:ser>
        <c:ser>
          <c:idx val="1"/>
          <c:order val="1"/>
          <c:tx>
            <c:strRef>
              <c:f>Sheet1!$C$1</c:f>
              <c:strCache>
                <c:ptCount val="1"/>
                <c:pt idx="0">
                  <c:v>Ngưỡng cảnh báo (PPM)</c:v>
                </c:pt>
              </c:strCache>
            </c:strRef>
          </c:tx>
          <c:spPr>
            <a:ln w="31750">
              <a:solidFill>
                <a:srgbClr val="EF4444"/>
              </a:solidFill>
            </a:ln>
          </c:spPr>
          <c:cat>
            <c:strRef>
              <c:f>Sheet1!$A$2:$A$9</c:f>
              <c:strCache>
                <c:ptCount val="8"/>
                <c:pt idx="0">
                  <c:v>0s</c:v>
                </c:pt>
                <c:pt idx="1">
                  <c:v>3s</c:v>
                </c:pt>
                <c:pt idx="2">
                  <c:v>6s</c:v>
                </c:pt>
                <c:pt idx="3">
                  <c:v>9s</c:v>
                </c:pt>
                <c:pt idx="4">
                  <c:v>12s</c:v>
                </c:pt>
                <c:pt idx="5">
                  <c:v>15s</c:v>
                </c:pt>
                <c:pt idx="6">
                  <c:v>18s</c:v>
                </c:pt>
                <c:pt idx="7">
                  <c:v>21s</c:v>
                </c:pt>
              </c:strCache>
            </c:strRef>
          </c:cat>
          <c:val>
            <c:numRef>
              <c:f>Sheet1!$C$2:$C$9</c:f>
              <c:numCache>
                <c:formatCode>General</c:formatCode>
                <c:ptCount val="8"/>
                <c:pt idx="0">
                  <c:v>300</c:v>
                </c:pt>
                <c:pt idx="1">
                  <c:v>300</c:v>
                </c:pt>
                <c:pt idx="2">
                  <c:v>300</c:v>
                </c:pt>
                <c:pt idx="3">
                  <c:v>300</c:v>
                </c:pt>
                <c:pt idx="4">
                  <c:v>300</c:v>
                </c:pt>
                <c:pt idx="5">
                  <c:v>300</c:v>
                </c:pt>
                <c:pt idx="6">
                  <c:v>300</c:v>
                </c:pt>
                <c:pt idx="7">
                  <c:v>300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1100"/>
            </a:pPr>
          </a:p>
        </c:txPr>
        <c:crossAx val="2118791784"/>
        <c:crosses val="autoZero"/>
      </c:valAx>
    </c:plotArea>
    <c:legend>
      <c:legendPos val="b"/>
      <c:layout/>
      <c:overlay val="0"/>
      <c:txPr>
        <a:bodyPr/>
        <a:lstStyle/>
        <a:p>
          <a:pPr>
            <a:defRPr sz="1200"/>
          </a:pPr>
        </a:p>
      </c:txPr>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30936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63640" y="0"/>
            <a:ext cx="54864"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502920"/>
            <a:ext cx="658368" cy="658368"/>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500" b="1">
                <a:solidFill>
                  <a:srgbClr val="FFFFFF"/>
                </a:solidFill>
                <a:latin typeface="Calibri"/>
              </a:rPr>
              <a:t>IoT</a:t>
            </a:r>
          </a:p>
        </p:txBody>
      </p:sp>
      <p:sp>
        <p:nvSpPr>
          <p:cNvPr id="6" name="TextBox 5"/>
          <p:cNvSpPr txBox="1"/>
          <p:nvPr/>
        </p:nvSpPr>
        <p:spPr>
          <a:xfrm>
            <a:off x="1463040" y="548640"/>
            <a:ext cx="4663440" cy="274320"/>
          </a:xfrm>
          <a:prstGeom prst="rect">
            <a:avLst/>
          </a:prstGeom>
          <a:noFill/>
        </p:spPr>
        <p:txBody>
          <a:bodyPr wrap="square">
            <a:spAutoFit/>
          </a:bodyPr>
          <a:lstStyle/>
          <a:p>
            <a:pPr algn="l"/>
            <a:r>
              <a:rPr sz="1200" b="1" i="0">
                <a:solidFill>
                  <a:srgbClr val="94A3B8"/>
                </a:solidFill>
                <a:latin typeface="Calibri"/>
              </a:rPr>
              <a:t>ĐẠI HỌC THỦ DẦU MỘT</a:t>
            </a:r>
          </a:p>
        </p:txBody>
      </p:sp>
      <p:sp>
        <p:nvSpPr>
          <p:cNvPr id="7" name="TextBox 6"/>
          <p:cNvSpPr txBox="1"/>
          <p:nvPr/>
        </p:nvSpPr>
        <p:spPr>
          <a:xfrm>
            <a:off x="1463040" y="804672"/>
            <a:ext cx="4663440" cy="320040"/>
          </a:xfrm>
          <a:prstGeom prst="rect">
            <a:avLst/>
          </a:prstGeom>
          <a:noFill/>
        </p:spPr>
        <p:txBody>
          <a:bodyPr wrap="square">
            <a:spAutoFit/>
          </a:bodyPr>
          <a:lstStyle/>
          <a:p>
            <a:pPr algn="l"/>
            <a:r>
              <a:rPr sz="1300" b="1" i="0">
                <a:solidFill>
                  <a:srgbClr val="10B981"/>
                </a:solidFill>
                <a:latin typeface="Calibri"/>
              </a:rPr>
              <a:t>IOT TRONG KỸ THUẬT MÔI TRƯỜNG</a:t>
            </a:r>
          </a:p>
        </p:txBody>
      </p:sp>
      <p:sp>
        <p:nvSpPr>
          <p:cNvPr id="8" name="TextBox 7"/>
          <p:cNvSpPr txBox="1"/>
          <p:nvPr/>
        </p:nvSpPr>
        <p:spPr>
          <a:xfrm>
            <a:off x="640080" y="1600200"/>
            <a:ext cx="5486400" cy="365760"/>
          </a:xfrm>
          <a:prstGeom prst="rect">
            <a:avLst/>
          </a:prstGeom>
          <a:noFill/>
        </p:spPr>
        <p:txBody>
          <a:bodyPr wrap="square">
            <a:spAutoFit/>
          </a:bodyPr>
          <a:lstStyle/>
          <a:p>
            <a:pPr algn="l"/>
            <a:r>
              <a:rPr sz="1400" b="1" i="0">
                <a:solidFill>
                  <a:srgbClr val="F59E0B"/>
                </a:solidFill>
                <a:latin typeface="Calibri"/>
              </a:rPr>
              <a:t>BUỔI 5/6</a:t>
            </a:r>
          </a:p>
        </p:txBody>
      </p:sp>
      <p:sp>
        <p:nvSpPr>
          <p:cNvPr id="9" name="TextBox 8"/>
          <p:cNvSpPr txBox="1"/>
          <p:nvPr/>
        </p:nvSpPr>
        <p:spPr>
          <a:xfrm>
            <a:off x="640080" y="1965960"/>
            <a:ext cx="5532120" cy="1737360"/>
          </a:xfrm>
          <a:prstGeom prst="rect">
            <a:avLst/>
          </a:prstGeom>
          <a:noFill/>
        </p:spPr>
        <p:txBody>
          <a:bodyPr wrap="square">
            <a:spAutoFit/>
          </a:bodyPr>
          <a:lstStyle/>
          <a:p>
            <a:pPr algn="l">
              <a:lnSpc>
                <a:spcPct val="108000"/>
              </a:lnSpc>
            </a:pPr>
            <a:r>
              <a:rPr sz="3000" b="1" i="0">
                <a:solidFill>
                  <a:srgbClr val="1E293B"/>
                </a:solidFill>
                <a:latin typeface="Calibri"/>
              </a:rPr>
              <a:t>B5: Trạm HMI Môi trường (LCD + DHT11 + MQ-2 + LED)</a:t>
            </a:r>
          </a:p>
        </p:txBody>
      </p:sp>
      <p:sp>
        <p:nvSpPr>
          <p:cNvPr id="10" name="TextBox 9"/>
          <p:cNvSpPr txBox="1"/>
          <p:nvPr/>
        </p:nvSpPr>
        <p:spPr>
          <a:xfrm>
            <a:off x="640080" y="3657600"/>
            <a:ext cx="5394960" cy="1371600"/>
          </a:xfrm>
          <a:prstGeom prst="rect">
            <a:avLst/>
          </a:prstGeom>
          <a:noFill/>
        </p:spPr>
        <p:txBody>
          <a:bodyPr wrap="square">
            <a:spAutoFit/>
          </a:bodyPr>
          <a:lstStyle/>
          <a:p>
            <a:pPr algn="l">
              <a:lnSpc>
                <a:spcPct val="125000"/>
              </a:lnSpc>
            </a:pPr>
            <a:r>
              <a:rPr sz="1350" b="0" i="0">
                <a:solidFill>
                  <a:srgbClr val="475569"/>
                </a:solidFill>
                <a:latin typeface="Calibri"/>
              </a:rPr>
              <a:t>Xây dựng giao diện hiển thị tại chỗ (HMI) tổng hợp nhiều cảm biến, có đèn LED cảnh báo trực quan</a:t>
            </a:r>
          </a:p>
        </p:txBody>
      </p:sp>
      <p:cxnSp>
        <p:nvCxnSpPr>
          <p:cNvPr id="11" name="Connector 10"/>
          <p:cNvCxnSpPr/>
          <p:nvPr/>
        </p:nvCxnSpPr>
        <p:spPr>
          <a:xfrm>
            <a:off x="640080" y="5257800"/>
            <a:ext cx="4480560" cy="0"/>
          </a:xfrm>
          <a:prstGeom prst="line">
            <a:avLst/>
          </a:prstGeom>
          <a:ln w="12700">
            <a:solidFill>
              <a:srgbClr val="DDE3E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5413248"/>
            <a:ext cx="5394960" cy="320040"/>
          </a:xfrm>
          <a:prstGeom prst="rect">
            <a:avLst/>
          </a:prstGeom>
          <a:noFill/>
        </p:spPr>
        <p:txBody>
          <a:bodyPr wrap="square">
            <a:spAutoFit/>
          </a:bodyPr>
          <a:lstStyle/>
          <a:p>
            <a:pPr algn="l"/>
            <a:r>
              <a:rPr sz="1150" b="1" i="0">
                <a:solidFill>
                  <a:srgbClr val="1E293B"/>
                </a:solidFill>
                <a:latin typeface="Calibri"/>
              </a:rPr>
              <a:t>Giảng viên hướng dẫn: Nguyễn Lê Tấn Đạt</a:t>
            </a:r>
          </a:p>
        </p:txBody>
      </p:sp>
      <p:sp>
        <p:nvSpPr>
          <p:cNvPr id="13" name="TextBox 12"/>
          <p:cNvSpPr txBox="1"/>
          <p:nvPr/>
        </p:nvSpPr>
        <p:spPr>
          <a:xfrm>
            <a:off x="640080" y="5705856"/>
            <a:ext cx="5394960" cy="274320"/>
          </a:xfrm>
          <a:prstGeom prst="rect">
            <a:avLst/>
          </a:prstGeom>
          <a:noFill/>
        </p:spPr>
        <p:txBody>
          <a:bodyPr wrap="square">
            <a:spAutoFit/>
          </a:bodyPr>
          <a:lstStyle/>
          <a:p>
            <a:pPr algn="l"/>
            <a:r>
              <a:rPr sz="1050" b="0" i="0">
                <a:solidFill>
                  <a:srgbClr val="475569"/>
                </a:solidFill>
                <a:latin typeface="Calibri"/>
              </a:rPr>
              <a:t>Board sử dụng: ESP32-S3-DevKitC-1</a:t>
            </a:r>
          </a:p>
        </p:txBody>
      </p:sp>
      <p:sp>
        <p:nvSpPr>
          <p:cNvPr id="14" name="TextBox 13"/>
          <p:cNvSpPr txBox="1"/>
          <p:nvPr/>
        </p:nvSpPr>
        <p:spPr>
          <a:xfrm>
            <a:off x="640080" y="5961888"/>
            <a:ext cx="5394960" cy="274320"/>
          </a:xfrm>
          <a:prstGeom prst="rect">
            <a:avLst/>
          </a:prstGeom>
          <a:noFill/>
        </p:spPr>
        <p:txBody>
          <a:bodyPr wrap="square">
            <a:spAutoFit/>
          </a:bodyPr>
          <a:lstStyle/>
          <a:p>
            <a:pPr algn="l"/>
            <a:r>
              <a:rPr sz="1050" b="0" i="0">
                <a:solidFill>
                  <a:srgbClr val="475569"/>
                </a:solidFill>
                <a:latin typeface="Calibri"/>
              </a:rPr>
              <a:t>datnlt@tdmu.edu.vn</a:t>
            </a:r>
          </a:p>
        </p:txBody>
      </p:sp>
      <p:sp>
        <p:nvSpPr>
          <p:cNvPr id="15" name="Rounded Rectangle 14"/>
          <p:cNvSpPr/>
          <p:nvPr/>
        </p:nvSpPr>
        <p:spPr>
          <a:xfrm>
            <a:off x="6720840" y="640080"/>
            <a:ext cx="2743200" cy="306324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esp32s3.jpg"/>
          <p:cNvPicPr>
            <a:picLocks noChangeAspect="1"/>
          </p:cNvPicPr>
          <p:nvPr/>
        </p:nvPicPr>
        <p:blipFill>
          <a:blip r:embed="rId2"/>
          <a:stretch>
            <a:fillRect/>
          </a:stretch>
        </p:blipFill>
        <p:spPr>
          <a:xfrm>
            <a:off x="6812279" y="1189817"/>
            <a:ext cx="2560320" cy="1963765"/>
          </a:xfrm>
          <a:prstGeom prst="rect">
            <a:avLst/>
          </a:prstGeom>
        </p:spPr>
      </p:pic>
      <p:sp>
        <p:nvSpPr>
          <p:cNvPr id="17" name="Rounded Rectangle 16"/>
          <p:cNvSpPr/>
          <p:nvPr/>
        </p:nvSpPr>
        <p:spPr>
          <a:xfrm>
            <a:off x="9281160" y="2148840"/>
            <a:ext cx="2423160" cy="27432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cd1602.jpg"/>
          <p:cNvPicPr>
            <a:picLocks noChangeAspect="1"/>
          </p:cNvPicPr>
          <p:nvPr/>
        </p:nvPicPr>
        <p:blipFill>
          <a:blip r:embed="rId3"/>
          <a:stretch>
            <a:fillRect/>
          </a:stretch>
        </p:blipFill>
        <p:spPr>
          <a:xfrm>
            <a:off x="9372600" y="2774426"/>
            <a:ext cx="2240279" cy="1492026"/>
          </a:xfrm>
          <a:prstGeom prst="rect">
            <a:avLst/>
          </a:prstGeom>
        </p:spPr>
      </p:pic>
      <p:sp>
        <p:nvSpPr>
          <p:cNvPr id="19" name="Rounded Rectangle 18"/>
          <p:cNvSpPr/>
          <p:nvPr/>
        </p:nvSpPr>
        <p:spPr>
          <a:xfrm>
            <a:off x="7635240" y="3977639"/>
            <a:ext cx="3291840" cy="233172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esp32s3.jpg"/>
          <p:cNvPicPr>
            <a:picLocks noChangeAspect="1"/>
          </p:cNvPicPr>
          <p:nvPr/>
        </p:nvPicPr>
        <p:blipFill>
          <a:blip r:embed="rId2"/>
          <a:stretch>
            <a:fillRect/>
          </a:stretch>
        </p:blipFill>
        <p:spPr>
          <a:xfrm>
            <a:off x="7880351" y="4069079"/>
            <a:ext cx="2801616" cy="2148839"/>
          </a:xfrm>
          <a:prstGeom prst="rect">
            <a:avLst/>
          </a:prstGeom>
        </p:spPr>
      </p:pic>
      <p:sp>
        <p:nvSpPr>
          <p:cNvPr id="21" name="TextBox 20"/>
          <p:cNvSpPr txBox="1"/>
          <p:nvPr/>
        </p:nvSpPr>
        <p:spPr>
          <a:xfrm>
            <a:off x="6720840" y="6473952"/>
            <a:ext cx="4937760" cy="274320"/>
          </a:xfrm>
          <a:prstGeom prst="rect">
            <a:avLst/>
          </a:prstGeom>
          <a:noFill/>
        </p:spPr>
        <p:txBody>
          <a:bodyPr wrap="square">
            <a:spAutoFit/>
          </a:bodyPr>
          <a:lstStyle/>
          <a:p>
            <a:pPr algn="r"/>
            <a:r>
              <a:rPr sz="850" b="0" i="1">
                <a:solidFill>
                  <a:srgbClr val="94A3B8"/>
                </a:solidFill>
                <a:latin typeface="Calibri"/>
              </a:rPr>
              <a:t>Ảnh minh hoạ thiết bị thực tế sử dụng trong bài học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B5 · MỞ ĐẦU</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Mục tiêu bài học</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B5</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a:t>
            </a:r>
          </a:p>
        </p:txBody>
      </p:sp>
      <p:sp>
        <p:nvSpPr>
          <p:cNvPr id="10" name="Oval 9"/>
          <p:cNvSpPr/>
          <p:nvPr/>
        </p:nvSpPr>
        <p:spPr>
          <a:xfrm>
            <a:off x="548640" y="1417320"/>
            <a:ext cx="566928" cy="566928"/>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1</a:t>
            </a:r>
          </a:p>
        </p:txBody>
      </p:sp>
      <p:sp>
        <p:nvSpPr>
          <p:cNvPr id="11" name="TextBox 10"/>
          <p:cNvSpPr txBox="1"/>
          <p:nvPr/>
        </p:nvSpPr>
        <p:spPr>
          <a:xfrm>
            <a:off x="1325880" y="1444752"/>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Hiểu khái niệm HMI (Human-Machine Interface) trong hệ thống nhúng/IoT.</a:t>
            </a:r>
          </a:p>
        </p:txBody>
      </p:sp>
      <p:sp>
        <p:nvSpPr>
          <p:cNvPr id="12" name="Oval 11"/>
          <p:cNvSpPr/>
          <p:nvPr/>
        </p:nvSpPr>
        <p:spPr>
          <a:xfrm>
            <a:off x="548640" y="2350008"/>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2</a:t>
            </a:r>
          </a:p>
        </p:txBody>
      </p:sp>
      <p:sp>
        <p:nvSpPr>
          <p:cNvPr id="13" name="TextBox 12"/>
          <p:cNvSpPr txBox="1"/>
          <p:nvPr/>
        </p:nvSpPr>
        <p:spPr>
          <a:xfrm>
            <a:off x="1325880" y="2377440"/>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Tổng hợp và hiển thị đồng thời dữ liệu từ nhiều cảm biến khác nhau trên cùng 1 màn hình.</a:t>
            </a:r>
          </a:p>
        </p:txBody>
      </p:sp>
      <p:sp>
        <p:nvSpPr>
          <p:cNvPr id="14" name="Oval 13"/>
          <p:cNvSpPr/>
          <p:nvPr/>
        </p:nvSpPr>
        <p:spPr>
          <a:xfrm>
            <a:off x="548640" y="328269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3</a:t>
            </a:r>
          </a:p>
        </p:txBody>
      </p:sp>
      <p:sp>
        <p:nvSpPr>
          <p:cNvPr id="15" name="TextBox 14"/>
          <p:cNvSpPr txBox="1"/>
          <p:nvPr/>
        </p:nvSpPr>
        <p:spPr>
          <a:xfrm>
            <a:off x="1325880" y="3310128"/>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Thiết kế giao diện hiển thị cô đọng, dễ đọc trên màn hình LCD nhỏ (16x2 ký tự).</a:t>
            </a:r>
          </a:p>
        </p:txBody>
      </p:sp>
      <p:sp>
        <p:nvSpPr>
          <p:cNvPr id="16" name="Oval 15"/>
          <p:cNvSpPr/>
          <p:nvPr/>
        </p:nvSpPr>
        <p:spPr>
          <a:xfrm>
            <a:off x="548640" y="4215384"/>
            <a:ext cx="566928" cy="566928"/>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4</a:t>
            </a:r>
          </a:p>
        </p:txBody>
      </p:sp>
      <p:sp>
        <p:nvSpPr>
          <p:cNvPr id="17" name="TextBox 16"/>
          <p:cNvSpPr txBox="1"/>
          <p:nvPr/>
        </p:nvSpPr>
        <p:spPr>
          <a:xfrm>
            <a:off x="1325880" y="4242816"/>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Bổ sung tín hiệu cảnh báo trực quan (LED) song song với dữ liệu hiển thị dạng số.</a:t>
            </a:r>
          </a:p>
        </p:txBody>
      </p:sp>
      <p:sp>
        <p:nvSpPr>
          <p:cNvPr id="18" name="Rectangle 17"/>
          <p:cNvSpPr/>
          <p:nvPr/>
        </p:nvSpPr>
        <p:spPr>
          <a:xfrm>
            <a:off x="548640" y="5193792"/>
            <a:ext cx="10881360" cy="18288"/>
          </a:xfrm>
          <a:prstGeom prst="rect">
            <a:avLst/>
          </a:prstGeom>
          <a:solidFill>
            <a:srgbClr val="DD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330952"/>
            <a:ext cx="10881360" cy="457200"/>
          </a:xfrm>
          <a:prstGeom prst="rect">
            <a:avLst/>
          </a:prstGeom>
          <a:noFill/>
        </p:spPr>
        <p:txBody>
          <a:bodyPr wrap="square">
            <a:spAutoFit/>
          </a:bodyPr>
          <a:lstStyle/>
          <a:p>
            <a:pPr algn="l"/>
            <a:r>
              <a:rPr sz="1250" b="1" i="0">
                <a:solidFill>
                  <a:srgbClr val="475569"/>
                </a:solidFill>
                <a:latin typeface="Calibri"/>
              </a:rPr>
              <a:t>Board sử dụng: ESP32-S3-DevKitC-1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7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3B82F6"/>
                </a:solidFill>
                <a:latin typeface="Calibri"/>
              </a:rPr>
              <a:t>B5 · LÝ THUYẾT NỀN</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Khái niệm HMI &amp; nguyên tắc thiết kế giao diện hiển thị nhúng</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B5</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2</a:t>
            </a:r>
          </a:p>
        </p:txBody>
      </p:sp>
      <p:sp>
        <p:nvSpPr>
          <p:cNvPr id="10" name="TextBox 9"/>
          <p:cNvSpPr txBox="1"/>
          <p:nvPr/>
        </p:nvSpPr>
        <p:spPr>
          <a:xfrm>
            <a:off x="548640" y="1417320"/>
            <a:ext cx="11064240" cy="4846320"/>
          </a:xfrm>
          <a:prstGeom prst="rect">
            <a:avLst/>
          </a:prstGeom>
          <a:noFill/>
        </p:spPr>
        <p:txBody>
          <a:bodyPr wrap="square">
            <a:spAutoFit/>
          </a:bodyPr>
          <a:lstStyle/>
          <a:p>
            <a:pPr algn="l">
              <a:spcAft>
                <a:spcPts val="1400"/>
              </a:spcAft>
            </a:pPr>
            <a:r>
              <a:rPr sz="1550" b="1">
                <a:solidFill>
                  <a:srgbClr val="3B82F6"/>
                </a:solidFill>
                <a:latin typeface="Calibri"/>
              </a:rPr>
              <a:t>●  </a:t>
            </a:r>
            <a:r>
              <a:rPr sz="1550" b="0">
                <a:solidFill>
                  <a:srgbClr val="1E293B"/>
                </a:solidFill>
                <a:latin typeface="Calibri"/>
              </a:rPr>
              <a:t>HMI (Human-Machine Interface) là giao diện cho phép con người quan sát và tương tác trực tiếp với hệ thống tại hiện trường, không cần qua máy tính/điện thoại.</a:t>
            </a:r>
          </a:p>
          <a:p>
            <a:pPr algn="l">
              <a:spcAft>
                <a:spcPts val="1400"/>
              </a:spcAft>
            </a:pPr>
            <a:r>
              <a:rPr sz="1550" b="1">
                <a:solidFill>
                  <a:srgbClr val="3B82F6"/>
                </a:solidFill>
                <a:latin typeface="Calibri"/>
              </a:rPr>
              <a:t>●  </a:t>
            </a:r>
            <a:r>
              <a:rPr sz="1550" b="0">
                <a:solidFill>
                  <a:srgbClr val="1E293B"/>
                </a:solidFill>
                <a:latin typeface="Calibri"/>
              </a:rPr>
              <a:t>Với màn hình LCD1602 chỉ có 16 ký tự × 2 dòng, cần thiết kế cô đọng: rút gọn nhãn (T thay Temp, H thay Humi...) và bố trí hợp lý để hiển thị đủ thông tin quan trọng nhất.</a:t>
            </a:r>
          </a:p>
          <a:p>
            <a:pPr algn="l">
              <a:spcAft>
                <a:spcPts val="1400"/>
              </a:spcAft>
            </a:pPr>
            <a:r>
              <a:rPr sz="1550" b="1">
                <a:solidFill>
                  <a:srgbClr val="3B82F6"/>
                </a:solidFill>
                <a:latin typeface="Calibri"/>
              </a:rPr>
              <a:t>●  </a:t>
            </a:r>
            <a:r>
              <a:rPr sz="1550" b="0">
                <a:solidFill>
                  <a:srgbClr val="1E293B"/>
                </a:solidFill>
                <a:latin typeface="Calibri"/>
              </a:rPr>
              <a:t>Kết hợp tín hiệu số (trên LCD) với tín hiệu trực quan tức thời (đèn LED) giúp người vận hành nhận biết cảnh báo ngay cả khi không nhìn kỹ màn hình hoặc đứng từ xa.</a:t>
            </a:r>
          </a:p>
          <a:p>
            <a:pPr algn="l">
              <a:spcAft>
                <a:spcPts val="1400"/>
              </a:spcAft>
            </a:pPr>
            <a:r>
              <a:rPr sz="1550" b="1">
                <a:solidFill>
                  <a:srgbClr val="3B82F6"/>
                </a:solidFill>
                <a:latin typeface="Calibri"/>
              </a:rPr>
              <a:t>●  </a:t>
            </a:r>
            <a:r>
              <a:rPr sz="1550" b="0">
                <a:solidFill>
                  <a:srgbClr val="1E293B"/>
                </a:solidFill>
                <a:latin typeface="Calibri"/>
              </a:rPr>
              <a:t>Đây là bước đệm quan trọng trước khi mở rộng sang giao diện giám sát từ xa (Buổi 6) — nguyên tắc tổng hợp đa cảm biến vẫn giữ nguyên, chỉ thay đổi NƠI hiển thị (tại chỗ → từ xa qua Cloud).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F59E0B"/>
                </a:solidFill>
                <a:latin typeface="Calibri"/>
              </a:rPr>
              <a:t>B5 · PHẦN CỨNG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Danh sách linh kiện sử dụng</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B5</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3</a:t>
            </a:r>
          </a:p>
        </p:txBody>
      </p:sp>
      <p:graphicFrame>
        <p:nvGraphicFramePr>
          <p:cNvPr id="10" name="Table 9"/>
          <p:cNvGraphicFramePr>
            <a:graphicFrameLocks noGrp="1"/>
          </p:cNvGraphicFramePr>
          <p:nvPr/>
        </p:nvGraphicFramePr>
        <p:xfrm>
          <a:off x="548640" y="1417320"/>
          <a:ext cx="11064240" cy="4526280"/>
        </p:xfrm>
        <a:graphic>
          <a:graphicData uri="http://schemas.openxmlformats.org/drawingml/2006/table">
            <a:tbl>
              <a:tblPr>
                <a:tableStyleId>{5C22544A-7EE6-4342-B048-85BDC9FD1C3A}</a:tableStyleId>
              </a:tblPr>
              <a:tblGrid>
                <a:gridCol w="2766060"/>
                <a:gridCol w="5532120"/>
                <a:gridCol w="2766060"/>
              </a:tblGrid>
              <a:tr h="754380">
                <a:tc>
                  <a:txBody>
                    <a:bodyPr wrap="square"/>
                    <a:lstStyle/>
                    <a:p>
                      <a:pPr algn="ctr"/>
                      <a:r>
                        <a:rPr sz="1400" b="1">
                          <a:solidFill>
                            <a:srgbClr val="FFFFFF"/>
                          </a:solidFill>
                          <a:latin typeface="Calibri"/>
                        </a:rPr>
                        <a:t>Linh kiện</a:t>
                      </a:r>
                    </a:p>
                  </a:txBody>
                  <a:tcPr marL="73152" marR="73152" marT="36576" marB="36576" anchor="ctr">
                    <a:solidFill>
                      <a:srgbClr val="F59E0B"/>
                    </a:solidFill>
                  </a:tcPr>
                </a:tc>
                <a:tc>
                  <a:txBody>
                    <a:bodyPr wrap="square"/>
                    <a:lstStyle/>
                    <a:p>
                      <a:pPr algn="ctr"/>
                      <a:r>
                        <a:rPr sz="1400" b="1">
                          <a:solidFill>
                            <a:srgbClr val="FFFFFF"/>
                          </a:solidFill>
                          <a:latin typeface="Calibri"/>
                        </a:rPr>
                        <a:t>Chức năng</a:t>
                      </a:r>
                    </a:p>
                  </a:txBody>
                  <a:tcPr marL="73152" marR="73152" marT="36576" marB="36576" anchor="ctr">
                    <a:solidFill>
                      <a:srgbClr val="F59E0B"/>
                    </a:solidFill>
                  </a:tcPr>
                </a:tc>
                <a:tc>
                  <a:txBody>
                    <a:bodyPr wrap="square"/>
                    <a:lstStyle/>
                    <a:p>
                      <a:pPr algn="ctr"/>
                      <a:r>
                        <a:rPr sz="1400" b="1">
                          <a:solidFill>
                            <a:srgbClr val="FFFFFF"/>
                          </a:solidFill>
                          <a:latin typeface="Calibri"/>
                        </a:rPr>
                        <a:t>Chân kết nối</a:t>
                      </a:r>
                    </a:p>
                  </a:txBody>
                  <a:tcPr marL="73152" marR="73152" marT="36576" marB="36576" anchor="ctr">
                    <a:solidFill>
                      <a:srgbClr val="F59E0B"/>
                    </a:solidFill>
                  </a:tcPr>
                </a:tc>
              </a:tr>
              <a:tr h="754380">
                <a:tc>
                  <a:txBody>
                    <a:bodyPr wrap="square"/>
                    <a:lstStyle/>
                    <a:p>
                      <a:pPr algn="l"/>
                      <a:r>
                        <a:rPr sz="1300" b="0">
                          <a:solidFill>
                            <a:srgbClr val="1E293B"/>
                          </a:solidFill>
                          <a:latin typeface="Calibri"/>
                        </a:rPr>
                        <a:t>ESP32-S3-DevKitC-1</a:t>
                      </a:r>
                    </a:p>
                  </a:txBody>
                  <a:tcPr marL="73152" marR="73152" marT="36576" marB="36576" anchor="ctr">
                    <a:solidFill>
                      <a:srgbClr val="FFFFFF"/>
                    </a:solidFill>
                  </a:tcPr>
                </a:tc>
                <a:tc>
                  <a:txBody>
                    <a:bodyPr wrap="square"/>
                    <a:lstStyle/>
                    <a:p>
                      <a:pPr algn="l"/>
                      <a:r>
                        <a:rPr sz="1300" b="0">
                          <a:solidFill>
                            <a:srgbClr val="475569"/>
                          </a:solidFill>
                          <a:latin typeface="Calibri"/>
                        </a:rPr>
                        <a:t>Vi điều khiển trung tâm</a:t>
                      </a:r>
                    </a:p>
                  </a:txBody>
                  <a:tcPr marL="73152" marR="73152" marT="36576" marB="36576" anchor="ctr">
                    <a:solidFill>
                      <a:srgbClr val="FFFFFF"/>
                    </a:solidFill>
                  </a:tcPr>
                </a:tc>
                <a:tc>
                  <a:txBody>
                    <a:bodyPr wrap="square"/>
                    <a:lstStyle/>
                    <a:p>
                      <a:pPr algn="ctr"/>
                      <a:r>
                        <a:rPr sz="1300" b="0">
                          <a:solidFill>
                            <a:srgbClr val="3B82F6"/>
                          </a:solidFill>
                          <a:latin typeface="Calibri"/>
                        </a:rPr>
                        <a:t>—</a:t>
                      </a:r>
                    </a:p>
                  </a:txBody>
                  <a:tcPr marL="73152" marR="73152" marT="36576" marB="36576" anchor="ctr">
                    <a:solidFill>
                      <a:srgbClr val="FFFFFF"/>
                    </a:solidFill>
                  </a:tcPr>
                </a:tc>
              </a:tr>
              <a:tr h="754380">
                <a:tc>
                  <a:txBody>
                    <a:bodyPr wrap="square"/>
                    <a:lstStyle/>
                    <a:p>
                      <a:pPr algn="l"/>
                      <a:r>
                        <a:rPr sz="1300" b="0">
                          <a:solidFill>
                            <a:srgbClr val="1E293B"/>
                          </a:solidFill>
                          <a:latin typeface="Calibri"/>
                        </a:rPr>
                        <a:t>LCD1602 (I2C)</a:t>
                      </a:r>
                    </a:p>
                  </a:txBody>
                  <a:tcPr marL="73152" marR="73152" marT="36576" marB="36576" anchor="ctr">
                    <a:solidFill>
                      <a:srgbClr val="FFFFFF"/>
                    </a:solidFill>
                  </a:tcPr>
                </a:tc>
                <a:tc>
                  <a:txBody>
                    <a:bodyPr wrap="square"/>
                    <a:lstStyle/>
                    <a:p>
                      <a:pPr algn="l"/>
                      <a:r>
                        <a:rPr sz="1300" b="0">
                          <a:solidFill>
                            <a:srgbClr val="475569"/>
                          </a:solidFill>
                          <a:latin typeface="Calibri"/>
                        </a:rPr>
                        <a:t>Màn hình HMI trung tâm</a:t>
                      </a:r>
                    </a:p>
                  </a:txBody>
                  <a:tcPr marL="73152" marR="73152" marT="36576" marB="36576" anchor="ctr">
                    <a:solidFill>
                      <a:srgbClr val="FFFFFF"/>
                    </a:solidFill>
                  </a:tcPr>
                </a:tc>
                <a:tc>
                  <a:txBody>
                    <a:bodyPr wrap="square"/>
                    <a:lstStyle/>
                    <a:p>
                      <a:pPr algn="ctr"/>
                      <a:r>
                        <a:rPr sz="1300" b="0">
                          <a:solidFill>
                            <a:srgbClr val="10B981"/>
                          </a:solidFill>
                          <a:latin typeface="Calibri"/>
                        </a:rPr>
                        <a:t>SCL: GPIO9 · SDA: GPIO8</a:t>
                      </a:r>
                    </a:p>
                  </a:txBody>
                  <a:tcPr marL="73152" marR="73152" marT="36576" marB="36576" anchor="ctr">
                    <a:solidFill>
                      <a:srgbClr val="FFFFFF"/>
                    </a:solidFill>
                  </a:tcPr>
                </a:tc>
              </a:tr>
              <a:tr h="754380">
                <a:tc>
                  <a:txBody>
                    <a:bodyPr wrap="square"/>
                    <a:lstStyle/>
                    <a:p>
                      <a:pPr algn="l"/>
                      <a:r>
                        <a:rPr sz="1300" b="0">
                          <a:solidFill>
                            <a:srgbClr val="1E293B"/>
                          </a:solidFill>
                          <a:latin typeface="Calibri"/>
                        </a:rPr>
                        <a:t>DHT11</a:t>
                      </a:r>
                    </a:p>
                  </a:txBody>
                  <a:tcPr marL="73152" marR="73152" marT="36576" marB="36576" anchor="ctr">
                    <a:solidFill>
                      <a:srgbClr val="FFFFFF"/>
                    </a:solidFill>
                  </a:tcPr>
                </a:tc>
                <a:tc>
                  <a:txBody>
                    <a:bodyPr wrap="square"/>
                    <a:lstStyle/>
                    <a:p>
                      <a:pPr algn="l"/>
                      <a:r>
                        <a:rPr sz="1300" b="0">
                          <a:solidFill>
                            <a:srgbClr val="475569"/>
                          </a:solidFill>
                          <a:latin typeface="Calibri"/>
                        </a:rPr>
                        <a:t>Cảm biến nhiệt độ &amp; độ ẩm không khí</a:t>
                      </a:r>
                    </a:p>
                  </a:txBody>
                  <a:tcPr marL="73152" marR="73152" marT="36576" marB="36576" anchor="ctr">
                    <a:solidFill>
                      <a:srgbClr val="FFFFFF"/>
                    </a:solidFill>
                  </a:tcPr>
                </a:tc>
                <a:tc>
                  <a:txBody>
                    <a:bodyPr wrap="square"/>
                    <a:lstStyle/>
                    <a:p>
                      <a:pPr algn="ctr"/>
                      <a:r>
                        <a:rPr sz="1300" b="0">
                          <a:solidFill>
                            <a:srgbClr val="F59E0B"/>
                          </a:solidFill>
                          <a:latin typeface="Calibri"/>
                        </a:rPr>
                        <a:t>GPIO15</a:t>
                      </a:r>
                    </a:p>
                  </a:txBody>
                  <a:tcPr marL="73152" marR="73152" marT="36576" marB="36576" anchor="ctr">
                    <a:solidFill>
                      <a:srgbClr val="FFFFFF"/>
                    </a:solidFill>
                  </a:tcPr>
                </a:tc>
              </a:tr>
              <a:tr h="754380">
                <a:tc>
                  <a:txBody>
                    <a:bodyPr wrap="square"/>
                    <a:lstStyle/>
                    <a:p>
                      <a:pPr algn="l"/>
                      <a:r>
                        <a:rPr sz="1300" b="0">
                          <a:solidFill>
                            <a:srgbClr val="1E293B"/>
                          </a:solidFill>
                          <a:latin typeface="Calibri"/>
                        </a:rPr>
                        <a:t>MQ-2</a:t>
                      </a:r>
                    </a:p>
                  </a:txBody>
                  <a:tcPr marL="73152" marR="73152" marT="36576" marB="36576" anchor="ctr">
                    <a:solidFill>
                      <a:srgbClr val="FFFFFF"/>
                    </a:solidFill>
                  </a:tcPr>
                </a:tc>
                <a:tc>
                  <a:txBody>
                    <a:bodyPr wrap="square"/>
                    <a:lstStyle/>
                    <a:p>
                      <a:pPr algn="l"/>
                      <a:r>
                        <a:rPr sz="1300" b="0">
                          <a:solidFill>
                            <a:srgbClr val="475569"/>
                          </a:solidFill>
                          <a:latin typeface="Calibri"/>
                        </a:rPr>
                        <a:t>Cảm biến khí gas</a:t>
                      </a:r>
                    </a:p>
                  </a:txBody>
                  <a:tcPr marL="73152" marR="73152" marT="36576" marB="36576" anchor="ctr">
                    <a:solidFill>
                      <a:srgbClr val="FFFFFF"/>
                    </a:solidFill>
                  </a:tcPr>
                </a:tc>
                <a:tc>
                  <a:txBody>
                    <a:bodyPr wrap="square"/>
                    <a:lstStyle/>
                    <a:p>
                      <a:pPr algn="ctr"/>
                      <a:r>
                        <a:rPr sz="1300" b="0">
                          <a:solidFill>
                            <a:srgbClr val="8B5CF6"/>
                          </a:solidFill>
                          <a:latin typeface="Calibri"/>
                        </a:rPr>
                        <a:t>GPIO11</a:t>
                      </a:r>
                    </a:p>
                  </a:txBody>
                  <a:tcPr marL="73152" marR="73152" marT="36576" marB="36576" anchor="ctr">
                    <a:solidFill>
                      <a:srgbClr val="FFFFFF"/>
                    </a:solidFill>
                  </a:tcPr>
                </a:tc>
              </a:tr>
              <a:tr h="754380">
                <a:tc>
                  <a:txBody>
                    <a:bodyPr wrap="square"/>
                    <a:lstStyle/>
                    <a:p>
                      <a:pPr algn="l"/>
                      <a:r>
                        <a:rPr sz="1300" b="0">
                          <a:solidFill>
                            <a:srgbClr val="1E293B"/>
                          </a:solidFill>
                          <a:latin typeface="Calibri"/>
                        </a:rPr>
                        <a:t>Điện trở + LED</a:t>
                      </a:r>
                    </a:p>
                  </a:txBody>
                  <a:tcPr marL="73152" marR="73152" marT="36576" marB="36576" anchor="ctr">
                    <a:solidFill>
                      <a:srgbClr val="FFFFFF"/>
                    </a:solidFill>
                  </a:tcPr>
                </a:tc>
                <a:tc>
                  <a:txBody>
                    <a:bodyPr wrap="square"/>
                    <a:lstStyle/>
                    <a:p>
                      <a:pPr algn="l"/>
                      <a:r>
                        <a:rPr sz="1300" b="0">
                          <a:solidFill>
                            <a:srgbClr val="475569"/>
                          </a:solidFill>
                          <a:latin typeface="Calibri"/>
                        </a:rPr>
                        <a:t>Đèn cảnh báo trực quan tại chỗ</a:t>
                      </a:r>
                    </a:p>
                  </a:txBody>
                  <a:tcPr marL="73152" marR="73152" marT="36576" marB="36576" anchor="ctr">
                    <a:solidFill>
                      <a:srgbClr val="FFFFFF"/>
                    </a:solidFill>
                  </a:tcPr>
                </a:tc>
                <a:tc>
                  <a:txBody>
                    <a:bodyPr wrap="square"/>
                    <a:lstStyle/>
                    <a:p>
                      <a:pPr algn="ctr"/>
                      <a:r>
                        <a:rPr sz="1300" b="0">
                          <a:solidFill>
                            <a:srgbClr val="06B6D4"/>
                          </a:solidFill>
                          <a:latin typeface="Calibri"/>
                        </a:rPr>
                        <a:t>GPIO16</a:t>
                      </a:r>
                    </a:p>
                  </a:txBody>
                  <a:tcPr marL="73152" marR="73152" marT="36576" marB="36576"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C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C4899"/>
                </a:solidFill>
                <a:latin typeface="Calibri"/>
              </a:rPr>
              <a:t>B5 · HÌNH ẢNH THIẾT BỊ THỰC TẾ</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Nhận diện linh kiện phần cứng</a:t>
            </a:r>
          </a:p>
        </p:txBody>
      </p:sp>
      <p:sp>
        <p:nvSpPr>
          <p:cNvPr id="7" name="TextBox 6"/>
          <p:cNvSpPr txBox="1"/>
          <p:nvPr/>
        </p:nvSpPr>
        <p:spPr>
          <a:xfrm>
            <a:off x="502920" y="6236208"/>
            <a:ext cx="11185855" cy="237744"/>
          </a:xfrm>
          <a:prstGeom prst="rect">
            <a:avLst/>
          </a:prstGeom>
          <a:noFill/>
        </p:spPr>
        <p:txBody>
          <a:bodyPr wrap="square">
            <a:spAutoFit/>
          </a:bodyPr>
          <a:lstStyle/>
          <a:p>
            <a:pPr algn="r"/>
            <a:r>
              <a:rPr sz="800" b="0" i="1">
                <a:solidFill>
                  <a:srgbClr val="94A3B8"/>
                </a:solidFill>
                <a:latin typeface="Calibri"/>
              </a:rPr>
              <a:t>Nguồn ảnh: xem slide Nguồn tham khảo cuối bài B0</a:t>
            </a:r>
          </a:p>
        </p:txBody>
      </p:sp>
      <p:cxnSp>
        <p:nvCxnSpPr>
          <p:cNvPr id="8" name="Connector 7"/>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B5</a:t>
            </a:r>
          </a:p>
        </p:txBody>
      </p:sp>
      <p:sp>
        <p:nvSpPr>
          <p:cNvPr id="10" name="TextBox 9"/>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4</a:t>
            </a:r>
          </a:p>
        </p:txBody>
      </p:sp>
      <p:sp>
        <p:nvSpPr>
          <p:cNvPr id="11" name="Rounded Rectangle 10"/>
          <p:cNvSpPr/>
          <p:nvPr/>
        </p:nvSpPr>
        <p:spPr>
          <a:xfrm>
            <a:off x="548640" y="1417320"/>
            <a:ext cx="2008022" cy="1764792"/>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esp32s3.jpg"/>
          <p:cNvPicPr>
            <a:picLocks noChangeAspect="1"/>
          </p:cNvPicPr>
          <p:nvPr/>
        </p:nvPicPr>
        <p:blipFill>
          <a:blip r:embed="rId2"/>
          <a:stretch>
            <a:fillRect/>
          </a:stretch>
        </p:blipFill>
        <p:spPr>
          <a:xfrm>
            <a:off x="640080" y="1599773"/>
            <a:ext cx="1825142" cy="1399884"/>
          </a:xfrm>
          <a:prstGeom prst="rect">
            <a:avLst/>
          </a:prstGeom>
        </p:spPr>
      </p:pic>
      <p:sp>
        <p:nvSpPr>
          <p:cNvPr id="13" name="Rectangle 12"/>
          <p:cNvSpPr/>
          <p:nvPr/>
        </p:nvSpPr>
        <p:spPr>
          <a:xfrm>
            <a:off x="548640" y="3182112"/>
            <a:ext cx="2008022"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218688"/>
            <a:ext cx="1825142" cy="256032"/>
          </a:xfrm>
          <a:prstGeom prst="rect">
            <a:avLst/>
          </a:prstGeom>
          <a:noFill/>
        </p:spPr>
        <p:txBody>
          <a:bodyPr wrap="square">
            <a:spAutoFit/>
          </a:bodyPr>
          <a:lstStyle/>
          <a:p>
            <a:pPr algn="ctr"/>
            <a:r>
              <a:rPr sz="1150" b="1" i="0">
                <a:solidFill>
                  <a:srgbClr val="1E293B"/>
                </a:solidFill>
                <a:latin typeface="Calibri"/>
              </a:rPr>
              <a:t>ESP32-S3-DevKitC-1</a:t>
            </a:r>
          </a:p>
        </p:txBody>
      </p:sp>
      <p:sp>
        <p:nvSpPr>
          <p:cNvPr id="15" name="TextBox 14"/>
          <p:cNvSpPr txBox="1"/>
          <p:nvPr/>
        </p:nvSpPr>
        <p:spPr>
          <a:xfrm>
            <a:off x="640080" y="3474720"/>
            <a:ext cx="1825142" cy="347471"/>
          </a:xfrm>
          <a:prstGeom prst="rect">
            <a:avLst/>
          </a:prstGeom>
          <a:noFill/>
        </p:spPr>
        <p:txBody>
          <a:bodyPr wrap="square">
            <a:spAutoFit/>
          </a:bodyPr>
          <a:lstStyle/>
          <a:p>
            <a:pPr algn="ctr"/>
            <a:r>
              <a:rPr sz="850" b="0" i="0">
                <a:solidFill>
                  <a:srgbClr val="475569"/>
                </a:solidFill>
                <a:latin typeface="Calibri"/>
              </a:rPr>
              <a:t>Vi điều khiển trung tâm (ảnh minh hoạ dòng ESP32 DevKit — board dùng trong bài là bản S3, 44 chân)</a:t>
            </a:r>
          </a:p>
        </p:txBody>
      </p:sp>
      <p:sp>
        <p:nvSpPr>
          <p:cNvPr id="16" name="Rounded Rectangle 15"/>
          <p:cNvSpPr/>
          <p:nvPr/>
        </p:nvSpPr>
        <p:spPr>
          <a:xfrm>
            <a:off x="2812694" y="1417320"/>
            <a:ext cx="2008022" cy="1764792"/>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cd1602.jpg"/>
          <p:cNvPicPr>
            <a:picLocks noChangeAspect="1"/>
          </p:cNvPicPr>
          <p:nvPr/>
        </p:nvPicPr>
        <p:blipFill>
          <a:blip r:embed="rId3"/>
          <a:stretch>
            <a:fillRect/>
          </a:stretch>
        </p:blipFill>
        <p:spPr>
          <a:xfrm>
            <a:off x="2904134" y="1691943"/>
            <a:ext cx="1825142" cy="1215544"/>
          </a:xfrm>
          <a:prstGeom prst="rect">
            <a:avLst/>
          </a:prstGeom>
        </p:spPr>
      </p:pic>
      <p:sp>
        <p:nvSpPr>
          <p:cNvPr id="18" name="Rectangle 17"/>
          <p:cNvSpPr/>
          <p:nvPr/>
        </p:nvSpPr>
        <p:spPr>
          <a:xfrm>
            <a:off x="2812694" y="3182112"/>
            <a:ext cx="2008022"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04134" y="3218688"/>
            <a:ext cx="1825142" cy="256032"/>
          </a:xfrm>
          <a:prstGeom prst="rect">
            <a:avLst/>
          </a:prstGeom>
          <a:noFill/>
        </p:spPr>
        <p:txBody>
          <a:bodyPr wrap="square">
            <a:spAutoFit/>
          </a:bodyPr>
          <a:lstStyle/>
          <a:p>
            <a:pPr algn="ctr"/>
            <a:r>
              <a:rPr sz="1150" b="1" i="0">
                <a:solidFill>
                  <a:srgbClr val="1E293B"/>
                </a:solidFill>
                <a:latin typeface="Calibri"/>
              </a:rPr>
              <a:t>LCD1602 (I2C)</a:t>
            </a:r>
          </a:p>
        </p:txBody>
      </p:sp>
      <p:sp>
        <p:nvSpPr>
          <p:cNvPr id="20" name="TextBox 19"/>
          <p:cNvSpPr txBox="1"/>
          <p:nvPr/>
        </p:nvSpPr>
        <p:spPr>
          <a:xfrm>
            <a:off x="2904134" y="3474720"/>
            <a:ext cx="1825142" cy="347471"/>
          </a:xfrm>
          <a:prstGeom prst="rect">
            <a:avLst/>
          </a:prstGeom>
          <a:noFill/>
        </p:spPr>
        <p:txBody>
          <a:bodyPr wrap="square">
            <a:spAutoFit/>
          </a:bodyPr>
          <a:lstStyle/>
          <a:p>
            <a:pPr algn="ctr"/>
            <a:r>
              <a:rPr sz="850" b="0" i="0">
                <a:solidFill>
                  <a:srgbClr val="475569"/>
                </a:solidFill>
                <a:latin typeface="Calibri"/>
              </a:rPr>
              <a:t>Màn hình hiển thị 16×2 ký tự</a:t>
            </a:r>
          </a:p>
        </p:txBody>
      </p:sp>
      <p:sp>
        <p:nvSpPr>
          <p:cNvPr id="21" name="Rounded Rectangle 20"/>
          <p:cNvSpPr/>
          <p:nvPr/>
        </p:nvSpPr>
        <p:spPr>
          <a:xfrm>
            <a:off x="5076748" y="1417320"/>
            <a:ext cx="2008022" cy="1764792"/>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dht11.jpg"/>
          <p:cNvPicPr>
            <a:picLocks noChangeAspect="1"/>
          </p:cNvPicPr>
          <p:nvPr/>
        </p:nvPicPr>
        <p:blipFill>
          <a:blip r:embed="rId4"/>
          <a:stretch>
            <a:fillRect/>
          </a:stretch>
        </p:blipFill>
        <p:spPr>
          <a:xfrm>
            <a:off x="5487543" y="1508760"/>
            <a:ext cx="1186434" cy="1581912"/>
          </a:xfrm>
          <a:prstGeom prst="rect">
            <a:avLst/>
          </a:prstGeom>
        </p:spPr>
      </p:pic>
      <p:sp>
        <p:nvSpPr>
          <p:cNvPr id="23" name="Rectangle 22"/>
          <p:cNvSpPr/>
          <p:nvPr/>
        </p:nvSpPr>
        <p:spPr>
          <a:xfrm>
            <a:off x="5076748" y="3182112"/>
            <a:ext cx="2008022"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8188" y="3218688"/>
            <a:ext cx="1825142" cy="256032"/>
          </a:xfrm>
          <a:prstGeom prst="rect">
            <a:avLst/>
          </a:prstGeom>
          <a:noFill/>
        </p:spPr>
        <p:txBody>
          <a:bodyPr wrap="square">
            <a:spAutoFit/>
          </a:bodyPr>
          <a:lstStyle/>
          <a:p>
            <a:pPr algn="ctr"/>
            <a:r>
              <a:rPr sz="1150" b="1" i="0">
                <a:solidFill>
                  <a:srgbClr val="1E293B"/>
                </a:solidFill>
                <a:latin typeface="Calibri"/>
              </a:rPr>
              <a:t>DHT11</a:t>
            </a:r>
          </a:p>
        </p:txBody>
      </p:sp>
      <p:sp>
        <p:nvSpPr>
          <p:cNvPr id="25" name="TextBox 24"/>
          <p:cNvSpPr txBox="1"/>
          <p:nvPr/>
        </p:nvSpPr>
        <p:spPr>
          <a:xfrm>
            <a:off x="5168188" y="3474720"/>
            <a:ext cx="1825142" cy="347471"/>
          </a:xfrm>
          <a:prstGeom prst="rect">
            <a:avLst/>
          </a:prstGeom>
          <a:noFill/>
        </p:spPr>
        <p:txBody>
          <a:bodyPr wrap="square">
            <a:spAutoFit/>
          </a:bodyPr>
          <a:lstStyle/>
          <a:p>
            <a:pPr algn="ctr"/>
            <a:r>
              <a:rPr sz="850" b="0" i="0">
                <a:solidFill>
                  <a:srgbClr val="475569"/>
                </a:solidFill>
                <a:latin typeface="Calibri"/>
              </a:rPr>
              <a:t>Cảm biến nhiệt độ &amp; độ ẩm không khí</a:t>
            </a:r>
          </a:p>
        </p:txBody>
      </p:sp>
      <p:sp>
        <p:nvSpPr>
          <p:cNvPr id="26" name="Rounded Rectangle 25"/>
          <p:cNvSpPr/>
          <p:nvPr/>
        </p:nvSpPr>
        <p:spPr>
          <a:xfrm>
            <a:off x="7340803" y="1417320"/>
            <a:ext cx="2008022" cy="1764792"/>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413955" y="1490472"/>
            <a:ext cx="1861718" cy="1618488"/>
          </a:xfrm>
          <a:prstGeom prst="roundRect">
            <a:avLst/>
          </a:prstGeom>
          <a:solidFill>
            <a:srgbClr val="E5E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100" b="1">
                <a:solidFill>
                  <a:srgbClr val="3B82F6"/>
                </a:solidFill>
                <a:latin typeface="Calibri"/>
              </a:rPr>
              <a:t>MQ-2</a:t>
            </a:r>
          </a:p>
        </p:txBody>
      </p:sp>
      <p:sp>
        <p:nvSpPr>
          <p:cNvPr id="28" name="Rectangle 27"/>
          <p:cNvSpPr/>
          <p:nvPr/>
        </p:nvSpPr>
        <p:spPr>
          <a:xfrm>
            <a:off x="7340803" y="3182112"/>
            <a:ext cx="2008022"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32243" y="3218688"/>
            <a:ext cx="1825142" cy="256032"/>
          </a:xfrm>
          <a:prstGeom prst="rect">
            <a:avLst/>
          </a:prstGeom>
          <a:noFill/>
        </p:spPr>
        <p:txBody>
          <a:bodyPr wrap="square">
            <a:spAutoFit/>
          </a:bodyPr>
          <a:lstStyle/>
          <a:p>
            <a:pPr algn="ctr"/>
            <a:r>
              <a:rPr sz="1150" b="1" i="0">
                <a:solidFill>
                  <a:srgbClr val="1E293B"/>
                </a:solidFill>
                <a:latin typeface="Calibri"/>
              </a:rPr>
              <a:t>MQ-2</a:t>
            </a:r>
          </a:p>
        </p:txBody>
      </p:sp>
      <p:sp>
        <p:nvSpPr>
          <p:cNvPr id="30" name="TextBox 29"/>
          <p:cNvSpPr txBox="1"/>
          <p:nvPr/>
        </p:nvSpPr>
        <p:spPr>
          <a:xfrm>
            <a:off x="7432243" y="3474720"/>
            <a:ext cx="1825142" cy="347471"/>
          </a:xfrm>
          <a:prstGeom prst="rect">
            <a:avLst/>
          </a:prstGeom>
          <a:noFill/>
        </p:spPr>
        <p:txBody>
          <a:bodyPr wrap="square">
            <a:spAutoFit/>
          </a:bodyPr>
          <a:lstStyle/>
          <a:p>
            <a:pPr algn="ctr"/>
            <a:r>
              <a:rPr sz="850" b="0" i="0">
                <a:solidFill>
                  <a:srgbClr val="475569"/>
                </a:solidFill>
                <a:latin typeface="Calibri"/>
              </a:rPr>
              <a:t>Cảm biến khí gas / khói bán dẫn — lớp cảm biến SnO2</a:t>
            </a:r>
          </a:p>
        </p:txBody>
      </p:sp>
      <p:sp>
        <p:nvSpPr>
          <p:cNvPr id="31" name="Rounded Rectangle 30"/>
          <p:cNvSpPr/>
          <p:nvPr/>
        </p:nvSpPr>
        <p:spPr>
          <a:xfrm>
            <a:off x="9604857" y="1417320"/>
            <a:ext cx="2008022" cy="1764792"/>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led.jpg"/>
          <p:cNvPicPr>
            <a:picLocks noChangeAspect="1"/>
          </p:cNvPicPr>
          <p:nvPr/>
        </p:nvPicPr>
        <p:blipFill>
          <a:blip r:embed="rId5"/>
          <a:stretch>
            <a:fillRect/>
          </a:stretch>
        </p:blipFill>
        <p:spPr>
          <a:xfrm>
            <a:off x="10018815" y="1508760"/>
            <a:ext cx="1180106" cy="1581912"/>
          </a:xfrm>
          <a:prstGeom prst="rect">
            <a:avLst/>
          </a:prstGeom>
        </p:spPr>
      </p:pic>
      <p:sp>
        <p:nvSpPr>
          <p:cNvPr id="33" name="Rectangle 32"/>
          <p:cNvSpPr/>
          <p:nvPr/>
        </p:nvSpPr>
        <p:spPr>
          <a:xfrm>
            <a:off x="9604857" y="3182112"/>
            <a:ext cx="2008022"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6297" y="3218688"/>
            <a:ext cx="1825142" cy="256032"/>
          </a:xfrm>
          <a:prstGeom prst="rect">
            <a:avLst/>
          </a:prstGeom>
          <a:noFill/>
        </p:spPr>
        <p:txBody>
          <a:bodyPr wrap="square">
            <a:spAutoFit/>
          </a:bodyPr>
          <a:lstStyle/>
          <a:p>
            <a:pPr algn="ctr"/>
            <a:r>
              <a:rPr sz="1150" b="1" i="0">
                <a:solidFill>
                  <a:srgbClr val="1E293B"/>
                </a:solidFill>
                <a:latin typeface="Calibri"/>
              </a:rPr>
              <a:t>LED đơn sắc</a:t>
            </a:r>
          </a:p>
        </p:txBody>
      </p:sp>
      <p:sp>
        <p:nvSpPr>
          <p:cNvPr id="35" name="TextBox 34"/>
          <p:cNvSpPr txBox="1"/>
          <p:nvPr/>
        </p:nvSpPr>
        <p:spPr>
          <a:xfrm>
            <a:off x="9696297" y="3474720"/>
            <a:ext cx="1825142" cy="347471"/>
          </a:xfrm>
          <a:prstGeom prst="rect">
            <a:avLst/>
          </a:prstGeom>
          <a:noFill/>
        </p:spPr>
        <p:txBody>
          <a:bodyPr wrap="square">
            <a:spAutoFit/>
          </a:bodyPr>
          <a:lstStyle/>
          <a:p>
            <a:pPr algn="ctr"/>
            <a:r>
              <a:rPr sz="850" b="0" i="0">
                <a:solidFill>
                  <a:srgbClr val="475569"/>
                </a:solidFill>
                <a:latin typeface="Calibri"/>
              </a:rPr>
              <a:t>Đèn báo trạng thái / cảnh báo trực quan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1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8B5CF6"/>
                </a:solidFill>
                <a:latin typeface="Calibri"/>
              </a:rPr>
              <a:t>B5 · KIẾN TRÚC HỆ THỐNG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Sơ đồ khối tín hiệu</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B5</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5</a:t>
            </a:r>
          </a:p>
        </p:txBody>
      </p:sp>
      <p:sp>
        <p:nvSpPr>
          <p:cNvPr id="10" name="Rounded Rectangle 9"/>
          <p:cNvSpPr/>
          <p:nvPr/>
        </p:nvSpPr>
        <p:spPr>
          <a:xfrm>
            <a:off x="548640" y="2377440"/>
            <a:ext cx="2331720" cy="1371600"/>
          </a:xfrm>
          <a:prstGeom prst="roundRect">
            <a:avLst/>
          </a:prstGeom>
          <a:solidFill>
            <a:srgbClr val="FFFFFF"/>
          </a:solidFill>
          <a:ln w="285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DHT11 + MQ-2
(Đa cảm biến)</a:t>
            </a:r>
          </a:p>
        </p:txBody>
      </p:sp>
      <p:sp>
        <p:nvSpPr>
          <p:cNvPr id="11" name="Rectangle 10"/>
          <p:cNvSpPr/>
          <p:nvPr/>
        </p:nvSpPr>
        <p:spPr>
          <a:xfrm>
            <a:off x="548640" y="2377440"/>
            <a:ext cx="2331720"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2949854" y="2880360"/>
            <a:ext cx="440131" cy="365760"/>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59480" y="2377440"/>
            <a:ext cx="2331720" cy="1371600"/>
          </a:xfrm>
          <a:prstGeom prst="roundRect">
            <a:avLst/>
          </a:prstGeom>
          <a:solidFill>
            <a:srgbClr val="FFFFFF"/>
          </a:solid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ESP32-S3
(Tổng hợp dữ liệu)</a:t>
            </a:r>
          </a:p>
        </p:txBody>
      </p:sp>
      <p:sp>
        <p:nvSpPr>
          <p:cNvPr id="14" name="Rectangle 13"/>
          <p:cNvSpPr/>
          <p:nvPr/>
        </p:nvSpPr>
        <p:spPr>
          <a:xfrm>
            <a:off x="3459480" y="2377440"/>
            <a:ext cx="233172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5860694" y="2880360"/>
            <a:ext cx="440131" cy="365760"/>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70319" y="2377440"/>
            <a:ext cx="2331720" cy="1371600"/>
          </a:xfrm>
          <a:prstGeom prst="roundRect">
            <a:avLst/>
          </a:prstGeom>
          <a:solidFill>
            <a:srgbClr val="FFFFFF"/>
          </a:solid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LCD1602
(HMI hiển thị)</a:t>
            </a:r>
          </a:p>
        </p:txBody>
      </p:sp>
      <p:sp>
        <p:nvSpPr>
          <p:cNvPr id="17" name="Rectangle 16"/>
          <p:cNvSpPr/>
          <p:nvPr/>
        </p:nvSpPr>
        <p:spPr>
          <a:xfrm>
            <a:off x="6370319" y="2377440"/>
            <a:ext cx="233172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8771534" y="2880360"/>
            <a:ext cx="440131" cy="365760"/>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281159" y="2377440"/>
            <a:ext cx="2331720" cy="1371600"/>
          </a:xfrm>
          <a:prstGeom prst="roundRect">
            <a:avLst/>
          </a:prstGeom>
          <a:solidFill>
            <a:srgbClr val="FFFFFF"/>
          </a:solidFill>
          <a:ln w="28575">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LED
(Cảnh báo trực quan)</a:t>
            </a:r>
          </a:p>
        </p:txBody>
      </p:sp>
      <p:sp>
        <p:nvSpPr>
          <p:cNvPr id="20" name="Rectangle 19"/>
          <p:cNvSpPr/>
          <p:nvPr/>
        </p:nvSpPr>
        <p:spPr>
          <a:xfrm>
            <a:off x="9281159" y="2377440"/>
            <a:ext cx="2331720" cy="109728"/>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297680"/>
            <a:ext cx="11064240" cy="457200"/>
          </a:xfrm>
          <a:prstGeom prst="rect">
            <a:avLst/>
          </a:prstGeom>
          <a:noFill/>
        </p:spPr>
        <p:txBody>
          <a:bodyPr wrap="square">
            <a:spAutoFit/>
          </a:bodyPr>
          <a:lstStyle/>
          <a:p>
            <a:pPr algn="l"/>
            <a:r>
              <a:rPr sz="1350" b="0" i="1">
                <a:solidFill>
                  <a:srgbClr val="475569"/>
                </a:solidFill>
                <a:latin typeface="Calibri"/>
              </a:rPr>
              <a:t>Dữ liệu chảy theo một chiều: cảm biến sinh tín hiệu → vi điều khiển đọc &amp; xử lý → kết quả đưa ra thiết bị đầu ra.</a:t>
            </a:r>
          </a:p>
        </p:txBody>
      </p:sp>
      <p:sp>
        <p:nvSpPr>
          <p:cNvPr id="22" name="Rounded Rectangle 21"/>
          <p:cNvSpPr/>
          <p:nvPr/>
        </p:nvSpPr>
        <p:spPr>
          <a:xfrm>
            <a:off x="548640" y="4892040"/>
            <a:ext cx="11064240" cy="141732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029200"/>
            <a:ext cx="10607040" cy="1188720"/>
          </a:xfrm>
          <a:prstGeom prst="rect">
            <a:avLst/>
          </a:prstGeom>
          <a:noFill/>
        </p:spPr>
        <p:txBody>
          <a:bodyPr wrap="square">
            <a:spAutoFit/>
          </a:bodyPr>
          <a:lstStyle/>
          <a:p>
            <a:pPr algn="l">
              <a:lnSpc>
                <a:spcPct val="125000"/>
              </a:lnSpc>
            </a:pPr>
            <a:r>
              <a:rPr sz="1300" b="0" i="0">
                <a:solidFill>
                  <a:srgbClr val="475569"/>
                </a:solidFill>
                <a:latin typeface="Calibri"/>
              </a:rPr>
              <a:t>Khác với các bài trước (1 cảm biến → 1 hành động), B5 giới thiệu mô hình HỘI TỤ: NHIỀU cảm biến độc lập cùng đổ dữ liệu về 1 điểm hiển thị trung tâm. Đây chính là bản chất của một trạm HMI thực tế — nơi vận hành viên chỉ cần nhìn 1 màn hình để nắm toàn bộ tình trạng hệ thống.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06B6D4"/>
                </a:solidFill>
                <a:latin typeface="Calibri"/>
              </a:rPr>
              <a:t>B5 · ĐẤU NỐI PHẦN CỨNG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Sơ đồ đấu dây chi tiết</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B5</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6</a:t>
            </a:r>
          </a:p>
        </p:txBody>
      </p:sp>
      <p:sp>
        <p:nvSpPr>
          <p:cNvPr id="10" name="Rounded Rectangle 9"/>
          <p:cNvSpPr/>
          <p:nvPr/>
        </p:nvSpPr>
        <p:spPr>
          <a:xfrm>
            <a:off x="640080" y="1828800"/>
            <a:ext cx="2377440" cy="3291840"/>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500" b="1">
                <a:solidFill>
                  <a:srgbClr val="FFFFFF"/>
                </a:solidFill>
                <a:latin typeface="Calibri"/>
              </a:rPr>
              <a:t>ESP32-S3
DevKitC-1</a:t>
            </a:r>
          </a:p>
        </p:txBody>
      </p:sp>
      <p:sp>
        <p:nvSpPr>
          <p:cNvPr id="11" name="Rounded Rectangle 10"/>
          <p:cNvSpPr/>
          <p:nvPr/>
        </p:nvSpPr>
        <p:spPr>
          <a:xfrm>
            <a:off x="6080760" y="1600200"/>
            <a:ext cx="2514600" cy="765809"/>
          </a:xfrm>
          <a:prstGeom prst="roundRect">
            <a:avLst/>
          </a:prstGeom>
          <a:solidFill>
            <a:srgbClr val="FFFFFF"/>
          </a:solidFill>
          <a:ln w="254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LCD1602</a:t>
            </a:r>
          </a:p>
        </p:txBody>
      </p:sp>
      <p:sp>
        <p:nvSpPr>
          <p:cNvPr id="12" name="Rounded Rectangle 11"/>
          <p:cNvSpPr/>
          <p:nvPr/>
        </p:nvSpPr>
        <p:spPr>
          <a:xfrm>
            <a:off x="6080760" y="2594610"/>
            <a:ext cx="2514600" cy="765809"/>
          </a:xfrm>
          <a:prstGeom prst="roundRect">
            <a:avLst/>
          </a:prstGeom>
          <a:solidFill>
            <a:srgbClr val="FFFFFF"/>
          </a:solidFill>
          <a:ln w="254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DHT11</a:t>
            </a:r>
          </a:p>
        </p:txBody>
      </p:sp>
      <p:sp>
        <p:nvSpPr>
          <p:cNvPr id="13" name="Rounded Rectangle 12"/>
          <p:cNvSpPr/>
          <p:nvPr/>
        </p:nvSpPr>
        <p:spPr>
          <a:xfrm>
            <a:off x="6080760" y="3589020"/>
            <a:ext cx="2514600" cy="765809"/>
          </a:xfrm>
          <a:prstGeom prst="roundRect">
            <a:avLst/>
          </a:prstGeom>
          <a:solidFill>
            <a:srgbClr val="FFFFFF"/>
          </a:solidFill>
          <a:ln w="254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MQ-2</a:t>
            </a:r>
          </a:p>
        </p:txBody>
      </p:sp>
      <p:sp>
        <p:nvSpPr>
          <p:cNvPr id="14" name="Rounded Rectangle 13"/>
          <p:cNvSpPr/>
          <p:nvPr/>
        </p:nvSpPr>
        <p:spPr>
          <a:xfrm>
            <a:off x="6080760" y="4583429"/>
            <a:ext cx="2514600" cy="765809"/>
          </a:xfrm>
          <a:prstGeom prst="roundRect">
            <a:avLst/>
          </a:prstGeom>
          <a:solidFill>
            <a:srgbClr val="FFFFFF"/>
          </a:solid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Điện trở</a:t>
            </a:r>
          </a:p>
        </p:txBody>
      </p:sp>
      <p:cxnSp>
        <p:nvCxnSpPr>
          <p:cNvPr id="15" name="Connector 14"/>
          <p:cNvCxnSpPr/>
          <p:nvPr/>
        </p:nvCxnSpPr>
        <p:spPr>
          <a:xfrm flipV="1">
            <a:off x="3017520" y="1983105"/>
            <a:ext cx="3063240" cy="302895"/>
          </a:xfrm>
          <a:prstGeom prst="line">
            <a:avLst/>
          </a:prstGeom>
          <a:ln w="28575">
            <a:solidFill>
              <a:srgbClr val="EF444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017520" y="1983105"/>
            <a:ext cx="3063240" cy="540639"/>
          </a:xfrm>
          <a:prstGeom prst="line">
            <a:avLst/>
          </a:prstGeom>
          <a:ln w="28575">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017520" y="1983105"/>
            <a:ext cx="3063240" cy="778383"/>
          </a:xfrm>
          <a:prstGeom prst="line">
            <a:avLst/>
          </a:prstGeom>
          <a:ln w="28575">
            <a:solidFill>
              <a:srgbClr val="3B82F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017520" y="1983105"/>
            <a:ext cx="3063240" cy="1016127"/>
          </a:xfrm>
          <a:prstGeom prst="line">
            <a:avLst/>
          </a:prstGeom>
          <a:ln w="28575">
            <a:solidFill>
              <a:srgbClr val="8B5CF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017520" y="2977514"/>
            <a:ext cx="3063240" cy="259462"/>
          </a:xfrm>
          <a:prstGeom prst="line">
            <a:avLst/>
          </a:prstGeom>
          <a:ln w="28575">
            <a:solidFill>
              <a:srgbClr val="EF444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017520" y="2977514"/>
            <a:ext cx="3063240" cy="497206"/>
          </a:xfrm>
          <a:prstGeom prst="line">
            <a:avLst/>
          </a:prstGeom>
          <a:ln w="28575">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017520" y="2977514"/>
            <a:ext cx="3063240" cy="734950"/>
          </a:xfrm>
          <a:prstGeom prst="line">
            <a:avLst/>
          </a:prstGeom>
          <a:ln w="28575">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017520" y="3950208"/>
            <a:ext cx="3063240" cy="21717"/>
          </a:xfrm>
          <a:prstGeom prst="line">
            <a:avLst/>
          </a:prstGeom>
          <a:ln w="28575">
            <a:solidFill>
              <a:srgbClr val="EF44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017520" y="3971925"/>
            <a:ext cx="3063240" cy="216027"/>
          </a:xfrm>
          <a:prstGeom prst="line">
            <a:avLst/>
          </a:prstGeom>
          <a:ln w="28575">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017520" y="3971925"/>
            <a:ext cx="3063240" cy="453771"/>
          </a:xfrm>
          <a:prstGeom prst="line">
            <a:avLst/>
          </a:prstGeom>
          <a:ln w="28575">
            <a:solidFill>
              <a:srgbClr val="06B6D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017520" y="4663440"/>
            <a:ext cx="3063240" cy="302894"/>
          </a:xfrm>
          <a:prstGeom prst="line">
            <a:avLst/>
          </a:prstGeom>
          <a:ln w="28575">
            <a:solidFill>
              <a:srgbClr val="EC4899"/>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40080" y="5303520"/>
            <a:ext cx="3657600" cy="274320"/>
          </a:xfrm>
          <a:prstGeom prst="rect">
            <a:avLst/>
          </a:prstGeom>
          <a:noFill/>
        </p:spPr>
        <p:txBody>
          <a:bodyPr wrap="square">
            <a:spAutoFit/>
          </a:bodyPr>
          <a:lstStyle/>
          <a:p>
            <a:pPr algn="l"/>
            <a:r>
              <a:rPr sz="1200" b="1" i="0">
                <a:solidFill>
                  <a:srgbClr val="1E293B"/>
                </a:solidFill>
                <a:latin typeface="Calibri"/>
              </a:rPr>
              <a:t>Bảng tín hiệu:</a:t>
            </a:r>
          </a:p>
        </p:txBody>
      </p:sp>
      <p:sp>
        <p:nvSpPr>
          <p:cNvPr id="27" name="Rectangle 26"/>
          <p:cNvSpPr/>
          <p:nvPr/>
        </p:nvSpPr>
        <p:spPr>
          <a:xfrm>
            <a:off x="640080" y="5669280"/>
            <a:ext cx="182880" cy="118872"/>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586984"/>
            <a:ext cx="2423160" cy="292608"/>
          </a:xfrm>
          <a:prstGeom prst="rect">
            <a:avLst/>
          </a:prstGeom>
          <a:noFill/>
        </p:spPr>
        <p:txBody>
          <a:bodyPr wrap="square">
            <a:spAutoFit/>
          </a:bodyPr>
          <a:lstStyle/>
          <a:p>
            <a:pPr algn="l"/>
            <a:r>
              <a:rPr sz="900" b="0" i="0">
                <a:solidFill>
                  <a:srgbClr val="475569"/>
                </a:solidFill>
                <a:latin typeface="Calibri"/>
              </a:rPr>
              <a:t>ESP32-S3 · 5V → LCD1602 · VCC  (Nguồn 5V)</a:t>
            </a:r>
          </a:p>
        </p:txBody>
      </p:sp>
      <p:sp>
        <p:nvSpPr>
          <p:cNvPr id="29" name="Rectangle 28"/>
          <p:cNvSpPr/>
          <p:nvPr/>
        </p:nvSpPr>
        <p:spPr>
          <a:xfrm>
            <a:off x="3383280" y="5669280"/>
            <a:ext cx="182880" cy="1188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0" y="5586984"/>
            <a:ext cx="2423160" cy="292608"/>
          </a:xfrm>
          <a:prstGeom prst="rect">
            <a:avLst/>
          </a:prstGeom>
          <a:noFill/>
        </p:spPr>
        <p:txBody>
          <a:bodyPr wrap="square">
            <a:spAutoFit/>
          </a:bodyPr>
          <a:lstStyle/>
          <a:p>
            <a:pPr algn="l"/>
            <a:r>
              <a:rPr sz="900" b="0" i="0">
                <a:solidFill>
                  <a:srgbClr val="475569"/>
                </a:solidFill>
                <a:latin typeface="Calibri"/>
              </a:rPr>
              <a:t>ESP32-S3 · GND1 → LCD1602 · GND  (Nối đất)</a:t>
            </a:r>
          </a:p>
        </p:txBody>
      </p:sp>
      <p:sp>
        <p:nvSpPr>
          <p:cNvPr id="31" name="Rectangle 30"/>
          <p:cNvSpPr/>
          <p:nvPr/>
        </p:nvSpPr>
        <p:spPr>
          <a:xfrm>
            <a:off x="6126480" y="5669280"/>
            <a:ext cx="182880" cy="118872"/>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5586984"/>
            <a:ext cx="2423160" cy="292608"/>
          </a:xfrm>
          <a:prstGeom prst="rect">
            <a:avLst/>
          </a:prstGeom>
          <a:noFill/>
        </p:spPr>
        <p:txBody>
          <a:bodyPr wrap="square">
            <a:spAutoFit/>
          </a:bodyPr>
          <a:lstStyle/>
          <a:p>
            <a:pPr algn="l"/>
            <a:r>
              <a:rPr sz="900" b="0" i="0">
                <a:solidFill>
                  <a:srgbClr val="475569"/>
                </a:solidFill>
                <a:latin typeface="Calibri"/>
              </a:rPr>
              <a:t>ESP32-S3 · GPIO9 → LCD1602 · SCL  (I2C Clock)</a:t>
            </a:r>
          </a:p>
        </p:txBody>
      </p:sp>
      <p:sp>
        <p:nvSpPr>
          <p:cNvPr id="33" name="Rectangle 32"/>
          <p:cNvSpPr/>
          <p:nvPr/>
        </p:nvSpPr>
        <p:spPr>
          <a:xfrm>
            <a:off x="8869680" y="5669280"/>
            <a:ext cx="182880" cy="11887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0" y="5586984"/>
            <a:ext cx="2423160" cy="292608"/>
          </a:xfrm>
          <a:prstGeom prst="rect">
            <a:avLst/>
          </a:prstGeom>
          <a:noFill/>
        </p:spPr>
        <p:txBody>
          <a:bodyPr wrap="square">
            <a:spAutoFit/>
          </a:bodyPr>
          <a:lstStyle/>
          <a:p>
            <a:pPr algn="l"/>
            <a:r>
              <a:rPr sz="900" b="0" i="0">
                <a:solidFill>
                  <a:srgbClr val="475569"/>
                </a:solidFill>
                <a:latin typeface="Calibri"/>
              </a:rPr>
              <a:t>ESP32-S3 · GPIO8 → LCD1602 · SDA  (I2C Data)</a:t>
            </a:r>
          </a:p>
        </p:txBody>
      </p:sp>
      <p:sp>
        <p:nvSpPr>
          <p:cNvPr id="35" name="Rectangle 34"/>
          <p:cNvSpPr/>
          <p:nvPr/>
        </p:nvSpPr>
        <p:spPr>
          <a:xfrm>
            <a:off x="640080" y="5961888"/>
            <a:ext cx="182880" cy="118872"/>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879592"/>
            <a:ext cx="2423160" cy="292608"/>
          </a:xfrm>
          <a:prstGeom prst="rect">
            <a:avLst/>
          </a:prstGeom>
          <a:noFill/>
        </p:spPr>
        <p:txBody>
          <a:bodyPr wrap="square">
            <a:spAutoFit/>
          </a:bodyPr>
          <a:lstStyle/>
          <a:p>
            <a:pPr algn="l"/>
            <a:r>
              <a:rPr sz="900" b="0" i="0">
                <a:solidFill>
                  <a:srgbClr val="475569"/>
                </a:solidFill>
                <a:latin typeface="Calibri"/>
              </a:rPr>
              <a:t>ESP32-S3 · 5V → DHT11 · VCC  (Nguồn 5V)</a:t>
            </a:r>
          </a:p>
        </p:txBody>
      </p:sp>
      <p:sp>
        <p:nvSpPr>
          <p:cNvPr id="37" name="Rectangle 36"/>
          <p:cNvSpPr/>
          <p:nvPr/>
        </p:nvSpPr>
        <p:spPr>
          <a:xfrm>
            <a:off x="3383280" y="5961888"/>
            <a:ext cx="182880" cy="1188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57600" y="5879592"/>
            <a:ext cx="2423160" cy="292608"/>
          </a:xfrm>
          <a:prstGeom prst="rect">
            <a:avLst/>
          </a:prstGeom>
          <a:noFill/>
        </p:spPr>
        <p:txBody>
          <a:bodyPr wrap="square">
            <a:spAutoFit/>
          </a:bodyPr>
          <a:lstStyle/>
          <a:p>
            <a:pPr algn="l"/>
            <a:r>
              <a:rPr sz="900" b="0" i="0">
                <a:solidFill>
                  <a:srgbClr val="475569"/>
                </a:solidFill>
                <a:latin typeface="Calibri"/>
              </a:rPr>
              <a:t>ESP32-S3 · GND2 → DHT11 · GND  (Nối đất)</a:t>
            </a:r>
          </a:p>
        </p:txBody>
      </p:sp>
      <p:sp>
        <p:nvSpPr>
          <p:cNvPr id="39" name="Rectangle 38"/>
          <p:cNvSpPr/>
          <p:nvPr/>
        </p:nvSpPr>
        <p:spPr>
          <a:xfrm>
            <a:off x="6126480" y="5961888"/>
            <a:ext cx="182880" cy="1188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0" y="5879592"/>
            <a:ext cx="2423160" cy="292608"/>
          </a:xfrm>
          <a:prstGeom prst="rect">
            <a:avLst/>
          </a:prstGeom>
          <a:noFill/>
        </p:spPr>
        <p:txBody>
          <a:bodyPr wrap="square">
            <a:spAutoFit/>
          </a:bodyPr>
          <a:lstStyle/>
          <a:p>
            <a:pPr algn="l"/>
            <a:r>
              <a:rPr sz="900" b="0" i="0">
                <a:solidFill>
                  <a:srgbClr val="475569"/>
                </a:solidFill>
                <a:latin typeface="Calibri"/>
              </a:rPr>
              <a:t>ESP32-S3 · GPIO15 → DHT11 · DATA  (Tín hiệu số)</a:t>
            </a:r>
          </a:p>
        </p:txBody>
      </p:sp>
      <p:sp>
        <p:nvSpPr>
          <p:cNvPr id="41" name="Rectangle 40"/>
          <p:cNvSpPr/>
          <p:nvPr/>
        </p:nvSpPr>
        <p:spPr>
          <a:xfrm>
            <a:off x="8869680" y="5961888"/>
            <a:ext cx="182880" cy="118872"/>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0" y="5879592"/>
            <a:ext cx="2423160" cy="292608"/>
          </a:xfrm>
          <a:prstGeom prst="rect">
            <a:avLst/>
          </a:prstGeom>
          <a:noFill/>
        </p:spPr>
        <p:txBody>
          <a:bodyPr wrap="square">
            <a:spAutoFit/>
          </a:bodyPr>
          <a:lstStyle/>
          <a:p>
            <a:pPr algn="l"/>
            <a:r>
              <a:rPr sz="900" b="0" i="0">
                <a:solidFill>
                  <a:srgbClr val="475569"/>
                </a:solidFill>
                <a:latin typeface="Calibri"/>
              </a:rPr>
              <a:t>ESP32-S3 · 5V → MQ-2 · VCC  (Nguồn 5V)</a:t>
            </a:r>
          </a:p>
        </p:txBody>
      </p:sp>
      <p:sp>
        <p:nvSpPr>
          <p:cNvPr id="43" name="Rectangle 42"/>
          <p:cNvSpPr/>
          <p:nvPr/>
        </p:nvSpPr>
        <p:spPr>
          <a:xfrm>
            <a:off x="640080" y="6254496"/>
            <a:ext cx="182880" cy="1188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6172200"/>
            <a:ext cx="2423160" cy="292608"/>
          </a:xfrm>
          <a:prstGeom prst="rect">
            <a:avLst/>
          </a:prstGeom>
          <a:noFill/>
        </p:spPr>
        <p:txBody>
          <a:bodyPr wrap="square">
            <a:spAutoFit/>
          </a:bodyPr>
          <a:lstStyle/>
          <a:p>
            <a:pPr algn="l"/>
            <a:r>
              <a:rPr sz="900" b="0" i="0">
                <a:solidFill>
                  <a:srgbClr val="475569"/>
                </a:solidFill>
                <a:latin typeface="Calibri"/>
              </a:rPr>
              <a:t>ESP32-S3 · GND1 → MQ-2 · GND  (Nối đất)</a:t>
            </a:r>
          </a:p>
        </p:txBody>
      </p:sp>
      <p:sp>
        <p:nvSpPr>
          <p:cNvPr id="45" name="Rectangle 44"/>
          <p:cNvSpPr/>
          <p:nvPr/>
        </p:nvSpPr>
        <p:spPr>
          <a:xfrm>
            <a:off x="3383280" y="6254496"/>
            <a:ext cx="182880" cy="11887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57600" y="6172200"/>
            <a:ext cx="2423160" cy="292608"/>
          </a:xfrm>
          <a:prstGeom prst="rect">
            <a:avLst/>
          </a:prstGeom>
          <a:noFill/>
        </p:spPr>
        <p:txBody>
          <a:bodyPr wrap="square">
            <a:spAutoFit/>
          </a:bodyPr>
          <a:lstStyle/>
          <a:p>
            <a:pPr algn="l"/>
            <a:r>
              <a:rPr sz="900" b="0" i="0">
                <a:solidFill>
                  <a:srgbClr val="475569"/>
                </a:solidFill>
                <a:latin typeface="Calibri"/>
              </a:rPr>
              <a:t>ESP32-S3 · GPIO11 → MQ-2 · AO  (Tín hiệu Analog)</a:t>
            </a:r>
          </a:p>
        </p:txBody>
      </p:sp>
      <p:sp>
        <p:nvSpPr>
          <p:cNvPr id="47" name="Rectangle 46"/>
          <p:cNvSpPr/>
          <p:nvPr/>
        </p:nvSpPr>
        <p:spPr>
          <a:xfrm>
            <a:off x="6126480" y="6254496"/>
            <a:ext cx="182880" cy="118872"/>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0" y="6172200"/>
            <a:ext cx="2423160" cy="292608"/>
          </a:xfrm>
          <a:prstGeom prst="rect">
            <a:avLst/>
          </a:prstGeom>
          <a:noFill/>
        </p:spPr>
        <p:txBody>
          <a:bodyPr wrap="square">
            <a:spAutoFit/>
          </a:bodyPr>
          <a:lstStyle/>
          <a:p>
            <a:pPr algn="l"/>
            <a:r>
              <a:rPr sz="900" b="0" i="0">
                <a:solidFill>
                  <a:srgbClr val="475569"/>
                </a:solidFill>
                <a:latin typeface="Calibri"/>
              </a:rPr>
              <a:t>ESP32-S3 · GPIO16 → Điện trở · L  (Tín hiệu LED (qua trở hạn dòng))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F4444"/>
                </a:solidFill>
                <a:latin typeface="Calibri"/>
              </a:rPr>
              <a:t>B5 · THUẬT TOÁN</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Lưu đồ xử lý trong loop()</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B5</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7</a:t>
            </a:r>
          </a:p>
        </p:txBody>
      </p:sp>
      <p:sp>
        <p:nvSpPr>
          <p:cNvPr id="10" name="Rounded Rectangle 9"/>
          <p:cNvSpPr/>
          <p:nvPr/>
        </p:nvSpPr>
        <p:spPr>
          <a:xfrm>
            <a:off x="1188720" y="1897380"/>
            <a:ext cx="2377440" cy="438912"/>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FFFFFF"/>
                </a:solidFill>
                <a:latin typeface="Calibri"/>
              </a:rPr>
              <a:t>setup(): Khởi tạo Serial/LCD/chân I-O</a:t>
            </a:r>
          </a:p>
        </p:txBody>
      </p:sp>
      <p:sp>
        <p:nvSpPr>
          <p:cNvPr id="11" name="Down Arrow 10"/>
          <p:cNvSpPr/>
          <p:nvPr/>
        </p:nvSpPr>
        <p:spPr>
          <a:xfrm>
            <a:off x="2286000" y="2354580"/>
            <a:ext cx="182880" cy="109728"/>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188720" y="2482596"/>
            <a:ext cx="2377440" cy="438912"/>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00" b="1">
                <a:solidFill>
                  <a:srgbClr val="1E293B"/>
                </a:solidFill>
                <a:latin typeface="Calibri"/>
              </a:rPr>
              <a:t>Đọc đồng thời DHT11 (nhiệt/ẩm) và MQ-2 (khí gas)</a:t>
            </a:r>
          </a:p>
        </p:txBody>
      </p:sp>
      <p:sp>
        <p:nvSpPr>
          <p:cNvPr id="13" name="Down Arrow 12"/>
          <p:cNvSpPr/>
          <p:nvPr/>
        </p:nvSpPr>
        <p:spPr>
          <a:xfrm>
            <a:off x="2286000" y="2939796"/>
            <a:ext cx="182880" cy="109728"/>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88720" y="3067812"/>
            <a:ext cx="2377440" cy="438912"/>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00" b="1">
                <a:solidFill>
                  <a:srgbClr val="1E293B"/>
                </a:solidFill>
                <a:latin typeface="Calibri"/>
              </a:rPr>
              <a:t>Cập nhật cả 2 dòng LCD1602 (dòng 1: T/H, dòng 2: Gas)</a:t>
            </a:r>
          </a:p>
        </p:txBody>
      </p:sp>
      <p:sp>
        <p:nvSpPr>
          <p:cNvPr id="15" name="Down Arrow 14"/>
          <p:cNvSpPr/>
          <p:nvPr/>
        </p:nvSpPr>
        <p:spPr>
          <a:xfrm>
            <a:off x="2286000" y="3525012"/>
            <a:ext cx="182880" cy="109728"/>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iamond 15"/>
          <p:cNvSpPr/>
          <p:nvPr/>
        </p:nvSpPr>
        <p:spPr>
          <a:xfrm>
            <a:off x="685800" y="3653028"/>
            <a:ext cx="3383280" cy="685800"/>
          </a:xfrm>
          <a:prstGeom prst="diamond">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100" b="1">
                <a:solidFill>
                  <a:srgbClr val="FFFFFF"/>
                </a:solidFill>
                <a:latin typeface="Calibri"/>
              </a:rPr>
              <a:t>Nồng độ Gas &gt; 300 PPM ?</a:t>
            </a:r>
          </a:p>
        </p:txBody>
      </p:sp>
      <p:cxnSp>
        <p:nvCxnSpPr>
          <p:cNvPr id="17" name="Connector 16"/>
          <p:cNvCxnSpPr/>
          <p:nvPr/>
        </p:nvCxnSpPr>
        <p:spPr>
          <a:xfrm>
            <a:off x="685800" y="3995928"/>
            <a:ext cx="777240"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 y="3995928"/>
            <a:ext cx="0" cy="61722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9" name="Down Arrow 18"/>
          <p:cNvSpPr/>
          <p:nvPr/>
        </p:nvSpPr>
        <p:spPr>
          <a:xfrm>
            <a:off x="1371600" y="4594860"/>
            <a:ext cx="182880" cy="164592"/>
          </a:xfrm>
          <a:prstGeom prst="down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685032"/>
            <a:ext cx="1645920" cy="237744"/>
          </a:xfrm>
          <a:prstGeom prst="rect">
            <a:avLst/>
          </a:prstGeom>
          <a:noFill/>
        </p:spPr>
        <p:txBody>
          <a:bodyPr wrap="square">
            <a:spAutoFit/>
          </a:bodyPr>
          <a:lstStyle/>
          <a:p>
            <a:pPr algn="ctr"/>
            <a:r>
              <a:rPr sz="950" b="1" i="0">
                <a:solidFill>
                  <a:srgbClr val="10B981"/>
                </a:solidFill>
                <a:latin typeface="Calibri"/>
              </a:rPr>
              <a:t>ĐÚNG</a:t>
            </a:r>
          </a:p>
        </p:txBody>
      </p:sp>
      <p:sp>
        <p:nvSpPr>
          <p:cNvPr id="21" name="Rounded Rectangle 20"/>
          <p:cNvSpPr/>
          <p:nvPr/>
        </p:nvSpPr>
        <p:spPr>
          <a:xfrm>
            <a:off x="457200" y="4796028"/>
            <a:ext cx="2011680" cy="566928"/>
          </a:xfrm>
          <a:prstGeom prst="roundRect">
            <a:avLst/>
          </a:prstGeom>
          <a:solidFill>
            <a:srgbClr val="FEE2E2"/>
          </a:solidFill>
          <a:ln w="1587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50" b="1">
                <a:solidFill>
                  <a:srgbClr val="EF4444"/>
                </a:solidFill>
                <a:latin typeface="Calibri"/>
              </a:rPr>
              <a:t>digitalWrite(LED_PIN, HIGH) — bật đèn cảnh báo</a:t>
            </a:r>
          </a:p>
        </p:txBody>
      </p:sp>
      <p:cxnSp>
        <p:nvCxnSpPr>
          <p:cNvPr id="22" name="Connector 21"/>
          <p:cNvCxnSpPr/>
          <p:nvPr/>
        </p:nvCxnSpPr>
        <p:spPr>
          <a:xfrm flipH="1">
            <a:off x="3063240" y="3995928"/>
            <a:ext cx="1005840"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063240" y="3995928"/>
            <a:ext cx="0" cy="61722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24" name="Down Arrow 23"/>
          <p:cNvSpPr/>
          <p:nvPr/>
        </p:nvSpPr>
        <p:spPr>
          <a:xfrm>
            <a:off x="2971800" y="4594860"/>
            <a:ext cx="182880" cy="164592"/>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40280" y="3685032"/>
            <a:ext cx="1645920" cy="237744"/>
          </a:xfrm>
          <a:prstGeom prst="rect">
            <a:avLst/>
          </a:prstGeom>
          <a:noFill/>
        </p:spPr>
        <p:txBody>
          <a:bodyPr wrap="square">
            <a:spAutoFit/>
          </a:bodyPr>
          <a:lstStyle/>
          <a:p>
            <a:pPr algn="ctr"/>
            <a:r>
              <a:rPr sz="950" b="1" i="0">
                <a:solidFill>
                  <a:srgbClr val="475569"/>
                </a:solidFill>
                <a:latin typeface="Calibri"/>
              </a:rPr>
              <a:t>SAI</a:t>
            </a:r>
          </a:p>
        </p:txBody>
      </p:sp>
      <p:sp>
        <p:nvSpPr>
          <p:cNvPr id="26" name="Rounded Rectangle 25"/>
          <p:cNvSpPr/>
          <p:nvPr/>
        </p:nvSpPr>
        <p:spPr>
          <a:xfrm>
            <a:off x="2057400" y="4796028"/>
            <a:ext cx="2011680" cy="566928"/>
          </a:xfrm>
          <a:prstGeom prst="roundRect">
            <a:avLst/>
          </a:prstGeom>
          <a:solidFill>
            <a:srgbClr val="DCFCE7"/>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50" b="1">
                <a:solidFill>
                  <a:srgbClr val="10B981"/>
                </a:solidFill>
                <a:latin typeface="Calibri"/>
              </a:rPr>
              <a:t>digitalWrite(LED_PIN, LOW) — tắt đèn cảnh báo</a:t>
            </a:r>
          </a:p>
        </p:txBody>
      </p:sp>
      <p:cxnSp>
        <p:nvCxnSpPr>
          <p:cNvPr id="27" name="Connector 26"/>
          <p:cNvCxnSpPr/>
          <p:nvPr/>
        </p:nvCxnSpPr>
        <p:spPr>
          <a:xfrm>
            <a:off x="1463040" y="5362956"/>
            <a:ext cx="0" cy="201168"/>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063240" y="5362956"/>
            <a:ext cx="0" cy="201168"/>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463040" y="5564124"/>
            <a:ext cx="1600200" cy="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30" name="Down Arrow 29"/>
          <p:cNvSpPr/>
          <p:nvPr/>
        </p:nvSpPr>
        <p:spPr>
          <a:xfrm>
            <a:off x="2286000" y="5564124"/>
            <a:ext cx="182880" cy="182880"/>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188720" y="5765292"/>
            <a:ext cx="2377440" cy="384048"/>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50" b="1">
                <a:solidFill>
                  <a:srgbClr val="FFFFFF"/>
                </a:solidFill>
                <a:latin typeface="Calibri"/>
              </a:rPr>
              <a:t>delay(600ms) → quay lại loop()</a:t>
            </a:r>
          </a:p>
        </p:txBody>
      </p:sp>
      <p:sp>
        <p:nvSpPr>
          <p:cNvPr id="32" name="TextBox 31"/>
          <p:cNvSpPr txBox="1"/>
          <p:nvPr/>
        </p:nvSpPr>
        <p:spPr>
          <a:xfrm>
            <a:off x="6309360" y="1463040"/>
            <a:ext cx="5303520" cy="4937760"/>
          </a:xfrm>
          <a:prstGeom prst="rect">
            <a:avLst/>
          </a:prstGeom>
          <a:noFill/>
        </p:spPr>
        <p:txBody>
          <a:bodyPr wrap="square">
            <a:spAutoFit/>
          </a:bodyPr>
          <a:lstStyle/>
          <a:p>
            <a:pPr algn="l">
              <a:lnSpc>
                <a:spcPct val="130000"/>
              </a:lnSpc>
            </a:pPr>
            <a:r>
              <a:rPr sz="1350" b="0" i="0">
                <a:solidFill>
                  <a:srgbClr val="475569"/>
                </a:solidFill>
                <a:latin typeface="Calibri"/>
              </a:rPr>
              <a:t>Khác với B2/B3/B4, ở đây khối HIỂN THỊ (LCD) hoạt động ĐỘC LẬP với khối QUYẾT ĐỊNH (LED) — LCD luôn cập nhật đầy đủ mọi giá trị bất kể có cảnh báo hay không, chỉ riêng đèn LED mới rẽ nhánh theo điều kiện Gas. Đây là mẫu hình phổ biến trong thiết kế HMI thật: dữ liệu luôn hiển thị đầy đủ, cảnh báo chỉ là một lớp bổ sung.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B5 · MÃ NGUỒN ARDUINO/C++</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Giải thích mã nguồn — hàm setup()</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B5</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8</a:t>
            </a:r>
          </a:p>
        </p:txBody>
      </p:sp>
      <p:sp>
        <p:nvSpPr>
          <p:cNvPr id="10" name="Rounded Rectangle 9"/>
          <p:cNvSpPr/>
          <p:nvPr/>
        </p:nvSpPr>
        <p:spPr>
          <a:xfrm>
            <a:off x="502920" y="1371600"/>
            <a:ext cx="11155680" cy="5029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536192"/>
            <a:ext cx="10607040" cy="4709160"/>
          </a:xfrm>
          <a:prstGeom prst="rect">
            <a:avLst/>
          </a:prstGeom>
          <a:noFill/>
        </p:spPr>
        <p:txBody>
          <a:bodyPr wrap="square">
            <a:spAutoFit/>
          </a:bodyPr>
          <a:lstStyle/>
          <a:p>
            <a:pPr>
              <a:spcAft>
                <a:spcPts val="100"/>
              </a:spcAft>
            </a:pPr>
            <a:r>
              <a:rPr sz="1250">
                <a:solidFill>
                  <a:srgbClr val="7DE6A8"/>
                </a:solidFill>
                <a:latin typeface="Consolas"/>
              </a:rPr>
              <a:t>void setup() {</a:t>
            </a:r>
          </a:p>
          <a:p>
            <a:pPr>
              <a:spcAft>
                <a:spcPts val="100"/>
              </a:spcAft>
            </a:pPr>
            <a:r>
              <a:rPr sz="1250">
                <a:solidFill>
                  <a:srgbClr val="7DE6A8"/>
                </a:solidFill>
                <a:latin typeface="Consolas"/>
              </a:rPr>
              <a:t>  Serial.begin(115200);</a:t>
            </a:r>
          </a:p>
          <a:p>
            <a:pPr>
              <a:spcAft>
                <a:spcPts val="100"/>
              </a:spcAft>
            </a:pPr>
            <a:r>
              <a:rPr sz="1250">
                <a:solidFill>
                  <a:srgbClr val="7DE6A8"/>
                </a:solidFill>
                <a:latin typeface="Consolas"/>
              </a:rPr>
              <a:t>  pinMode(DHT_PIN, INPUT);</a:t>
            </a:r>
          </a:p>
          <a:p>
            <a:pPr>
              <a:spcAft>
                <a:spcPts val="100"/>
              </a:spcAft>
            </a:pPr>
            <a:r>
              <a:rPr sz="1250">
                <a:solidFill>
                  <a:srgbClr val="7DE6A8"/>
                </a:solidFill>
                <a:latin typeface="Consolas"/>
              </a:rPr>
              <a:t>  pinMode(LED_PIN, OUTPUT);</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lcd.begin(16, 2);</a:t>
            </a:r>
          </a:p>
          <a:p>
            <a:pPr>
              <a:spcAft>
                <a:spcPts val="100"/>
              </a:spcAft>
            </a:pPr>
            <a:r>
              <a:rPr sz="1250">
                <a:solidFill>
                  <a:srgbClr val="7DE6A8"/>
                </a:solidFill>
                <a:latin typeface="Consolas"/>
              </a:rPr>
              <a:t>  lcd.setCursor(0, 0);</a:t>
            </a:r>
          </a:p>
          <a:p>
            <a:pPr>
              <a:spcAft>
                <a:spcPts val="100"/>
              </a:spcAft>
            </a:pPr>
            <a:r>
              <a:rPr sz="1250">
                <a:solidFill>
                  <a:srgbClr val="7DE6A8"/>
                </a:solidFill>
                <a:latin typeface="Consolas"/>
              </a:rPr>
              <a:t>  lcd.print("TRAM HMI KMT");</a:t>
            </a:r>
          </a:p>
          <a:p>
            <a:pPr>
              <a:spcAft>
                <a:spcPts val="100"/>
              </a:spcAft>
            </a:pPr>
            <a:r>
              <a:rPr sz="1250">
                <a:solidFill>
                  <a:srgbClr val="7DE6A8"/>
                </a:solidFill>
                <a:latin typeface="Consolas"/>
              </a:rPr>
              <a:t>  lcd.setCursor(0, 1);</a:t>
            </a:r>
          </a:p>
          <a:p>
            <a:pPr>
              <a:spcAft>
                <a:spcPts val="100"/>
              </a:spcAft>
            </a:pPr>
            <a:r>
              <a:rPr sz="1250">
                <a:solidFill>
                  <a:srgbClr val="7DE6A8"/>
                </a:solidFill>
                <a:latin typeface="Consolas"/>
              </a:rPr>
              <a:t>  lcd.print("SAN SANG HE THONG");</a:t>
            </a:r>
          </a:p>
          <a:p>
            <a:pPr>
              <a:spcAft>
                <a:spcPts val="100"/>
              </a:spcAft>
            </a:pPr>
            <a:r>
              <a:rPr sz="1250">
                <a:solidFill>
                  <a:srgbClr val="7DE6A8"/>
                </a:solidFill>
                <a:latin typeface="Consolas"/>
              </a:rPr>
              <a:t>  delay(1500);</a:t>
            </a:r>
          </a:p>
          <a:p>
            <a:pPr>
              <a:spcAft>
                <a:spcPts val="100"/>
              </a:spcAft>
            </a:pPr>
            <a:r>
              <a:rPr sz="1250">
                <a:solidFill>
                  <a:srgbClr val="7DE6A8"/>
                </a:solidFill>
                <a:latin typeface="Consolas"/>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B5 · MÃ NGUỒN ARDUINO/C++</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Giải thích mã nguồn — hàm loop()</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B5</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9</a:t>
            </a:r>
          </a:p>
        </p:txBody>
      </p:sp>
      <p:sp>
        <p:nvSpPr>
          <p:cNvPr id="10" name="Rounded Rectangle 9"/>
          <p:cNvSpPr/>
          <p:nvPr/>
        </p:nvSpPr>
        <p:spPr>
          <a:xfrm>
            <a:off x="502920" y="1371600"/>
            <a:ext cx="11155680" cy="5029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536192"/>
            <a:ext cx="10607040" cy="4709160"/>
          </a:xfrm>
          <a:prstGeom prst="rect">
            <a:avLst/>
          </a:prstGeom>
          <a:noFill/>
        </p:spPr>
        <p:txBody>
          <a:bodyPr wrap="square">
            <a:spAutoFit/>
          </a:bodyPr>
          <a:lstStyle/>
          <a:p>
            <a:pPr>
              <a:spcAft>
                <a:spcPts val="100"/>
              </a:spcAft>
            </a:pPr>
            <a:r>
              <a:rPr sz="1250">
                <a:solidFill>
                  <a:srgbClr val="7DE6A8"/>
                </a:solidFill>
                <a:latin typeface="Consolas"/>
              </a:rPr>
              <a:t>void loop() {</a:t>
            </a:r>
          </a:p>
          <a:p>
            <a:pPr>
              <a:spcAft>
                <a:spcPts val="100"/>
              </a:spcAft>
            </a:pPr>
            <a:r>
              <a:rPr sz="1250">
                <a:solidFill>
                  <a:srgbClr val="7DE6A8"/>
                </a:solidFill>
                <a:latin typeface="Consolas"/>
              </a:rPr>
              <a:t>  int temp = analogRead(DHT_PIN);</a:t>
            </a:r>
          </a:p>
          <a:p>
            <a:pPr>
              <a:spcAft>
                <a:spcPts val="100"/>
              </a:spcAft>
            </a:pPr>
            <a:r>
              <a:rPr sz="1250">
                <a:solidFill>
                  <a:srgbClr val="7DE6A8"/>
                </a:solidFill>
                <a:latin typeface="Consolas"/>
              </a:rPr>
              <a:t>  int humi = dhtReadHumidity(DHT_PIN);</a:t>
            </a:r>
          </a:p>
          <a:p>
            <a:pPr>
              <a:spcAft>
                <a:spcPts val="100"/>
              </a:spcAft>
            </a:pPr>
            <a:r>
              <a:rPr sz="1250">
                <a:solidFill>
                  <a:srgbClr val="7DE6A8"/>
                </a:solidFill>
                <a:latin typeface="Consolas"/>
              </a:rPr>
              <a:t>  int gasPpm = analogRead(GAS_PIN);</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Serial.print("HMI Update -&gt; Temp: ");</a:t>
            </a:r>
          </a:p>
          <a:p>
            <a:pPr>
              <a:spcAft>
                <a:spcPts val="100"/>
              </a:spcAft>
            </a:pPr>
            <a:r>
              <a:rPr sz="1250">
                <a:solidFill>
                  <a:srgbClr val="7DE6A8"/>
                </a:solidFill>
                <a:latin typeface="Consolas"/>
              </a:rPr>
              <a:t>  Serial.print(temp);</a:t>
            </a:r>
          </a:p>
          <a:p>
            <a:pPr>
              <a:spcAft>
                <a:spcPts val="100"/>
              </a:spcAft>
            </a:pPr>
            <a:r>
              <a:rPr sz="1250">
                <a:solidFill>
                  <a:srgbClr val="7DE6A8"/>
                </a:solidFill>
                <a:latin typeface="Consolas"/>
              </a:rPr>
              <a:t>  Serial.print(" C | Humi: ");</a:t>
            </a:r>
          </a:p>
          <a:p>
            <a:pPr>
              <a:spcAft>
                <a:spcPts val="100"/>
              </a:spcAft>
            </a:pPr>
            <a:r>
              <a:rPr sz="1250">
                <a:solidFill>
                  <a:srgbClr val="7DE6A8"/>
                </a:solidFill>
                <a:latin typeface="Consolas"/>
              </a:rPr>
              <a:t>  Serial.print(humi);</a:t>
            </a:r>
          </a:p>
          <a:p>
            <a:pPr>
              <a:spcAft>
                <a:spcPts val="100"/>
              </a:spcAft>
            </a:pPr>
            <a:r>
              <a:rPr sz="1250">
                <a:solidFill>
                  <a:srgbClr val="7DE6A8"/>
                </a:solidFill>
                <a:latin typeface="Consolas"/>
              </a:rPr>
              <a:t>  Serial.print(" % | Gas: ");</a:t>
            </a:r>
          </a:p>
          <a:p>
            <a:pPr>
              <a:spcAft>
                <a:spcPts val="100"/>
              </a:spcAft>
            </a:pPr>
            <a:r>
              <a:rPr sz="1250">
                <a:solidFill>
                  <a:srgbClr val="7DE6A8"/>
                </a:solidFill>
                <a:latin typeface="Consolas"/>
              </a:rPr>
              <a:t>  Serial.print(gasPpm);</a:t>
            </a:r>
          </a:p>
          <a:p>
            <a:pPr>
              <a:spcAft>
                <a:spcPts val="100"/>
              </a:spcAft>
            </a:pPr>
            <a:r>
              <a:rPr sz="1250">
                <a:solidFill>
                  <a:srgbClr val="7DE6A8"/>
                </a:solidFill>
                <a:latin typeface="Consolas"/>
              </a:rPr>
              <a:t>  Serial.println(" PPM");</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lcd.setCursor(0, 0);</a:t>
            </a:r>
          </a:p>
          <a:p>
            <a:pPr>
              <a:spcAft>
                <a:spcPts val="100"/>
              </a:spcAft>
            </a:pPr>
            <a:r>
              <a:rPr sz="1250">
                <a:solidFill>
                  <a:srgbClr val="7DE6A8"/>
                </a:solidFill>
                <a:latin typeface="Consolas"/>
              </a:rPr>
              <a:t>  lcd.print("T:");</a:t>
            </a:r>
          </a:p>
          <a:p>
            <a:pPr>
              <a:spcAft>
                <a:spcPts val="100"/>
              </a:spcAft>
            </a:pPr>
            <a:r>
              <a:rPr sz="1250">
                <a:solidFill>
                  <a:srgbClr val="7DE6A8"/>
                </a:solidFill>
                <a:latin typeface="Consolas"/>
              </a:rPr>
              <a:t>  lcd.print(temp);</a:t>
            </a:r>
          </a:p>
          <a:p>
            <a:pPr>
              <a:spcAft>
                <a:spcPts val="100"/>
              </a:spcAft>
            </a:pPr>
            <a:r>
              <a:rPr sz="1250">
                <a:solidFill>
                  <a:srgbClr val="7DE6A8"/>
                </a:solidFill>
                <a:latin typeface="Consolas"/>
              </a:rPr>
              <a:t>  lcd.print("C H:");</a:t>
            </a:r>
          </a:p>
          <a:p>
            <a:pPr>
              <a:spcAft>
                <a:spcPts val="100"/>
              </a:spcAft>
            </a:pPr>
            <a:r>
              <a:rPr sz="1250">
                <a:solidFill>
                  <a:srgbClr val="7DE6A8"/>
                </a:solidFill>
                <a:latin typeface="Consolas"/>
              </a:rPr>
              <a:t>  lcd.print(humi);</a:t>
            </a:r>
          </a:p>
          <a:p>
            <a:pPr>
              <a:spcAft>
                <a:spcPts val="100"/>
              </a:spcAft>
            </a:pPr>
            <a:r>
              <a:rPr sz="1250">
                <a:solidFill>
                  <a:srgbClr val="7DE6A8"/>
                </a:solidFill>
                <a:latin typeface="Consolas"/>
              </a:rPr>
              <a:t>  lcd.print("%    ");</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lcd.setCursor(0, 1);</a:t>
            </a:r>
          </a:p>
          <a:p>
            <a:pPr>
              <a:spcAft>
                <a:spcPts val="100"/>
              </a:spcAft>
            </a:pPr>
            <a:r>
              <a:rPr sz="1250">
                <a:solidFill>
                  <a:srgbClr val="7DE6A8"/>
                </a:solidFill>
                <a:latin typeface="Consolas"/>
              </a:rPr>
              <a:t>  lcd.print("Gas PPM: ");</a:t>
            </a:r>
          </a:p>
          <a:p>
            <a:pPr>
              <a:spcAft>
                <a:spcPts val="100"/>
              </a:spcAft>
            </a:pPr>
            <a:r>
              <a:rPr sz="1250">
                <a:solidFill>
                  <a:srgbClr val="7DE6A8"/>
                </a:solidFill>
                <a:latin typeface="Consolas"/>
              </a:rPr>
              <a:t>  lcd.print(gasPpm);</a:t>
            </a:r>
          </a:p>
          <a:p>
            <a:pPr>
              <a:spcAft>
                <a:spcPts val="100"/>
              </a:spcAft>
            </a:pPr>
            <a:r>
              <a:rPr sz="1250">
                <a:solidFill>
                  <a:srgbClr val="7DE6A8"/>
                </a:solidFill>
                <a:latin typeface="Consolas"/>
              </a:rPr>
              <a:t>  lcd.print("   ");</a:t>
            </a:r>
          </a:p>
          <a:p>
            <a:pPr>
              <a:spcAft>
                <a:spcPts val="100"/>
              </a:spcAft>
            </a:pPr>
            <a:r>
              <a:rPr sz="1250">
                <a:solidFill>
                  <a:srgbClr val="7DE6A8"/>
                </a:solidFill>
                <a:latin typeface="Consolas"/>
              </a:rPr>
              <a:t> </a:t>
            </a:r>
          </a:p>
          <a:p>
            <a:pPr>
              <a:spcAft>
                <a:spcPts val="100"/>
              </a:spcAft>
            </a:pPr>
            <a:r>
              <a:rPr sz="1250">
                <a:solidFill>
                  <a:srgbClr val="64748B"/>
                </a:solidFill>
                <a:latin typeface="Consolas"/>
              </a:rPr>
              <a:t>  // Den LED canh bao - bat khi nong do khi gas vuot nguong an toan</a:t>
            </a:r>
          </a:p>
          <a:p>
            <a:pPr>
              <a:spcAft>
                <a:spcPts val="100"/>
              </a:spcAft>
            </a:pPr>
            <a:r>
              <a:rPr sz="1250">
                <a:solidFill>
                  <a:srgbClr val="7DE6A8"/>
                </a:solidFill>
                <a:latin typeface="Consolas"/>
              </a:rPr>
              <a:t>  if (gasPpm &gt; 300) {</a:t>
            </a:r>
          </a:p>
          <a:p>
            <a:pPr>
              <a:spcAft>
                <a:spcPts val="100"/>
              </a:spcAft>
            </a:pPr>
            <a:r>
              <a:rPr sz="1250">
                <a:solidFill>
                  <a:srgbClr val="7DE6A8"/>
                </a:solidFill>
                <a:latin typeface="Consolas"/>
              </a:rPr>
              <a:t>    digitalWrite(LED_PIN, HIGH);</a:t>
            </a:r>
          </a:p>
          <a:p>
            <a:pPr>
              <a:spcAft>
                <a:spcPts val="100"/>
              </a:spcAft>
            </a:pPr>
            <a:r>
              <a:rPr sz="1250">
                <a:solidFill>
                  <a:srgbClr val="7DE6A8"/>
                </a:solidFill>
                <a:latin typeface="Consolas"/>
              </a:rPr>
              <a:t>  } else {</a:t>
            </a:r>
          </a:p>
          <a:p>
            <a:pPr>
              <a:spcAft>
                <a:spcPts val="100"/>
              </a:spcAft>
            </a:pPr>
            <a:r>
              <a:rPr sz="1250">
                <a:solidFill>
                  <a:srgbClr val="7DE6A8"/>
                </a:solidFill>
                <a:latin typeface="Consolas"/>
              </a:rPr>
              <a:t>    digitalWrite(LED_PIN, LOW);</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delay(600);</a:t>
            </a:r>
          </a:p>
          <a:p>
            <a:pPr>
              <a:spcAft>
                <a:spcPts val="100"/>
              </a:spcAft>
            </a:pPr>
            <a:r>
              <a:rPr sz="1250">
                <a:solidFill>
                  <a:srgbClr val="7DE6A8"/>
                </a:solidFill>
                <a:latin typeface="Consolas"/>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F59E0B"/>
                </a:solidFill>
                <a:latin typeface="Calibri"/>
              </a:rPr>
              <a:t>B5 · LOGIC RA QUYẾT ĐỊNH</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Bảng ngưỡng &amp; hành động điều khiển</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B5</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10</a:t>
            </a:r>
          </a:p>
        </p:txBody>
      </p:sp>
      <p:graphicFrame>
        <p:nvGraphicFramePr>
          <p:cNvPr id="10" name="Table 9"/>
          <p:cNvGraphicFramePr>
            <a:graphicFrameLocks noGrp="1"/>
          </p:cNvGraphicFramePr>
          <p:nvPr/>
        </p:nvGraphicFramePr>
        <p:xfrm>
          <a:off x="548640" y="1417320"/>
          <a:ext cx="11064240" cy="2286000"/>
        </p:xfrm>
        <a:graphic>
          <a:graphicData uri="http://schemas.openxmlformats.org/drawingml/2006/table">
            <a:tbl>
              <a:tblPr>
                <a:tableStyleId>{5C22544A-7EE6-4342-B048-85BDC9FD1C3A}</a:tableStyleId>
              </a:tblPr>
              <a:tblGrid>
                <a:gridCol w="3840480"/>
                <a:gridCol w="2194560"/>
                <a:gridCol w="5029200"/>
              </a:tblGrid>
              <a:tr h="762000">
                <a:tc>
                  <a:txBody>
                    <a:bodyPr wrap="square"/>
                    <a:lstStyle/>
                    <a:p>
                      <a:pPr algn="ctr"/>
                      <a:r>
                        <a:rPr sz="1400" b="1">
                          <a:solidFill>
                            <a:srgbClr val="FFFFFF"/>
                          </a:solidFill>
                          <a:latin typeface="Calibri"/>
                        </a:rPr>
                        <a:t>Điều kiện cảm biến</a:t>
                      </a:r>
                    </a:p>
                  </a:txBody>
                  <a:tcPr marL="73152" marR="73152" marT="36576" marB="36576" anchor="ctr">
                    <a:solidFill>
                      <a:srgbClr val="F59E0B"/>
                    </a:solidFill>
                  </a:tcPr>
                </a:tc>
                <a:tc>
                  <a:txBody>
                    <a:bodyPr wrap="square"/>
                    <a:lstStyle/>
                    <a:p>
                      <a:pPr algn="ctr"/>
                      <a:r>
                        <a:rPr sz="1400" b="1">
                          <a:solidFill>
                            <a:srgbClr val="FFFFFF"/>
                          </a:solidFill>
                          <a:latin typeface="Calibri"/>
                        </a:rPr>
                        <a:t>Ngưỡng</a:t>
                      </a:r>
                    </a:p>
                  </a:txBody>
                  <a:tcPr marL="73152" marR="73152" marT="36576" marB="36576" anchor="ctr">
                    <a:solidFill>
                      <a:srgbClr val="F59E0B"/>
                    </a:solidFill>
                  </a:tcPr>
                </a:tc>
                <a:tc>
                  <a:txBody>
                    <a:bodyPr wrap="square"/>
                    <a:lstStyle/>
                    <a:p>
                      <a:pPr algn="ctr"/>
                      <a:r>
                        <a:rPr sz="1400" b="1">
                          <a:solidFill>
                            <a:srgbClr val="FFFFFF"/>
                          </a:solidFill>
                          <a:latin typeface="Calibri"/>
                        </a:rPr>
                        <a:t>Hành động của hệ thống</a:t>
                      </a:r>
                    </a:p>
                  </a:txBody>
                  <a:tcPr marL="73152" marR="73152" marT="36576" marB="36576" anchor="ctr">
                    <a:solidFill>
                      <a:srgbClr val="F59E0B"/>
                    </a:solidFill>
                  </a:tcPr>
                </a:tc>
              </a:tr>
              <a:tr h="762000">
                <a:tc>
                  <a:txBody>
                    <a:bodyPr wrap="square"/>
                    <a:lstStyle/>
                    <a:p>
                      <a:pPr algn="l"/>
                      <a:r>
                        <a:rPr sz="1300" b="0">
                          <a:solidFill>
                            <a:srgbClr val="1E293B"/>
                          </a:solidFill>
                          <a:latin typeface="Calibri"/>
                        </a:rPr>
                        <a:t>Nồng độ khí Gas (MQ-2)</a:t>
                      </a:r>
                    </a:p>
                  </a:txBody>
                  <a:tcPr marL="73152" marR="73152" marT="36576" marB="36576" anchor="ctr">
                    <a:solidFill>
                      <a:srgbClr val="FFFFFF"/>
                    </a:solidFill>
                  </a:tcPr>
                </a:tc>
                <a:tc>
                  <a:txBody>
                    <a:bodyPr wrap="square"/>
                    <a:lstStyle/>
                    <a:p>
                      <a:pPr algn="ctr"/>
                      <a:r>
                        <a:rPr sz="1300" b="0">
                          <a:solidFill>
                            <a:srgbClr val="EF4444"/>
                          </a:solidFill>
                          <a:latin typeface="Calibri"/>
                        </a:rPr>
                        <a:t>&gt; 300 PPM</a:t>
                      </a:r>
                    </a:p>
                  </a:txBody>
                  <a:tcPr marL="73152" marR="73152" marT="36576" marB="36576" anchor="ctr">
                    <a:solidFill>
                      <a:srgbClr val="FEE2E2"/>
                    </a:solidFill>
                  </a:tcPr>
                </a:tc>
                <a:tc>
                  <a:txBody>
                    <a:bodyPr wrap="square"/>
                    <a:lstStyle/>
                    <a:p>
                      <a:pPr algn="l"/>
                      <a:r>
                        <a:rPr sz="1300" b="0">
                          <a:solidFill>
                            <a:srgbClr val="475569"/>
                          </a:solidFill>
                          <a:latin typeface="Calibri"/>
                        </a:rPr>
                        <a:t>Bật LED cảnh báo trực quan tại chỗ</a:t>
                      </a:r>
                    </a:p>
                  </a:txBody>
                  <a:tcPr marL="73152" marR="73152" marT="36576" marB="36576" anchor="ctr">
                    <a:solidFill>
                      <a:srgbClr val="FFFFFF"/>
                    </a:solidFill>
                  </a:tcPr>
                </a:tc>
              </a:tr>
              <a:tr h="762000">
                <a:tc>
                  <a:txBody>
                    <a:bodyPr wrap="square"/>
                    <a:lstStyle/>
                    <a:p>
                      <a:pPr algn="l"/>
                      <a:r>
                        <a:rPr sz="1300" b="0">
                          <a:solidFill>
                            <a:srgbClr val="1E293B"/>
                          </a:solidFill>
                          <a:latin typeface="Calibri"/>
                        </a:rPr>
                        <a:t>Nồng độ khí Gas (MQ-2)</a:t>
                      </a:r>
                    </a:p>
                  </a:txBody>
                  <a:tcPr marL="73152" marR="73152" marT="36576" marB="36576" anchor="ctr">
                    <a:solidFill>
                      <a:srgbClr val="FFFFFF"/>
                    </a:solidFill>
                  </a:tcPr>
                </a:tc>
                <a:tc>
                  <a:txBody>
                    <a:bodyPr wrap="square"/>
                    <a:lstStyle/>
                    <a:p>
                      <a:pPr algn="ctr"/>
                      <a:r>
                        <a:rPr sz="1300" b="0">
                          <a:solidFill>
                            <a:srgbClr val="10B981"/>
                          </a:solidFill>
                          <a:latin typeface="Calibri"/>
                        </a:rPr>
                        <a:t>≤ 300 PPM</a:t>
                      </a:r>
                    </a:p>
                  </a:txBody>
                  <a:tcPr marL="73152" marR="73152" marT="36576" marB="36576" anchor="ctr">
                    <a:solidFill>
                      <a:srgbClr val="DCFCE7"/>
                    </a:solidFill>
                  </a:tcPr>
                </a:tc>
                <a:tc>
                  <a:txBody>
                    <a:bodyPr wrap="square"/>
                    <a:lstStyle/>
                    <a:p>
                      <a:pPr algn="l"/>
                      <a:r>
                        <a:rPr sz="1300" b="0">
                          <a:solidFill>
                            <a:srgbClr val="475569"/>
                          </a:solidFill>
                          <a:latin typeface="Calibri"/>
                        </a:rPr>
                        <a:t>Tắt LED — hệ thống trong điều kiện an toàn</a:t>
                      </a:r>
                    </a:p>
                  </a:txBody>
                  <a:tcPr marL="73152" marR="73152" marT="36576" marB="36576" anchor="ctr">
                    <a:solidFill>
                      <a:srgbClr val="FFFFFF"/>
                    </a:solidFill>
                  </a:tcPr>
                </a:tc>
              </a:tr>
            </a:tbl>
          </a:graphicData>
        </a:graphic>
      </p:graphicFrame>
      <p:sp>
        <p:nvSpPr>
          <p:cNvPr id="11" name="TextBox 10"/>
          <p:cNvSpPr txBox="1"/>
          <p:nvPr/>
        </p:nvSpPr>
        <p:spPr>
          <a:xfrm>
            <a:off x="548640" y="4023359"/>
            <a:ext cx="11064240" cy="1097280"/>
          </a:xfrm>
          <a:prstGeom prst="rect">
            <a:avLst/>
          </a:prstGeom>
          <a:noFill/>
        </p:spPr>
        <p:txBody>
          <a:bodyPr wrap="square">
            <a:spAutoFit/>
          </a:bodyPr>
          <a:lstStyle/>
          <a:p>
            <a:pPr algn="l">
              <a:lnSpc>
                <a:spcPct val="125000"/>
              </a:lnSpc>
            </a:pPr>
            <a:r>
              <a:rPr sz="1250" b="0" i="1">
                <a:solidFill>
                  <a:srgbClr val="475569"/>
                </a:solidFill>
                <a:latin typeface="Calibri"/>
              </a:rPr>
              <a:t>LED chỉ phản ánh trạng thái Gas trong bài minh hoạ này — trong thiết kế HMI thật, có thể mở rộng LED (hoặc RGB LED) để phản ánh TỔNG HỢP nhiều điều kiện cùng lúc (nhiệt độ cao HOẶC độ ẩm thấp HOẶC gas cao), giống cách bài B6 sẽ triển khai.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7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3B82F6"/>
                </a:solidFill>
                <a:latin typeface="Calibri"/>
              </a:rPr>
              <a:t>B5 · DỮ LIỆU MINH HOẠ</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Xu hướng dữ liệu cảm biến theo thời gian</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B5</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11</a:t>
            </a:r>
          </a:p>
        </p:txBody>
      </p:sp>
      <p:graphicFrame>
        <p:nvGraphicFramePr>
          <p:cNvPr id="10" name="Chart 9"/>
          <p:cNvGraphicFramePr>
            <a:graphicFrameLocks noGrp="1"/>
          </p:cNvGraphicFramePr>
          <p:nvPr/>
        </p:nvGraphicFramePr>
        <p:xfrm>
          <a:off x="731520" y="1463040"/>
          <a:ext cx="7498079" cy="4754880"/>
        </p:xfrm>
        <a:graphic>
          <a:graphicData uri="http://schemas.openxmlformats.org/drawingml/2006/chart">
            <c:chart xmlns:c="http://schemas.openxmlformats.org/drawingml/2006/chart" r:id="rId2"/>
          </a:graphicData>
        </a:graphic>
      </p:graphicFrame>
      <p:sp>
        <p:nvSpPr>
          <p:cNvPr id="11" name="Rounded Rectangle 10"/>
          <p:cNvSpPr/>
          <p:nvPr/>
        </p:nvSpPr>
        <p:spPr>
          <a:xfrm>
            <a:off x="8503920" y="1463040"/>
            <a:ext cx="3108960" cy="47548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32520" y="1645920"/>
            <a:ext cx="2651760" cy="365760"/>
          </a:xfrm>
          <a:prstGeom prst="rect">
            <a:avLst/>
          </a:prstGeom>
          <a:noFill/>
        </p:spPr>
        <p:txBody>
          <a:bodyPr wrap="square">
            <a:spAutoFit/>
          </a:bodyPr>
          <a:lstStyle/>
          <a:p>
            <a:pPr algn="l"/>
            <a:r>
              <a:rPr sz="1400" b="1" i="0">
                <a:solidFill>
                  <a:srgbClr val="1E293B"/>
                </a:solidFill>
                <a:latin typeface="Calibri"/>
              </a:rPr>
              <a:t>Nhận xét</a:t>
            </a:r>
          </a:p>
        </p:txBody>
      </p:sp>
      <p:sp>
        <p:nvSpPr>
          <p:cNvPr id="13" name="TextBox 12"/>
          <p:cNvSpPr txBox="1"/>
          <p:nvPr/>
        </p:nvSpPr>
        <p:spPr>
          <a:xfrm>
            <a:off x="8732520" y="2103120"/>
            <a:ext cx="2697480" cy="3931920"/>
          </a:xfrm>
          <a:prstGeom prst="rect">
            <a:avLst/>
          </a:prstGeom>
          <a:noFill/>
        </p:spPr>
        <p:txBody>
          <a:bodyPr wrap="square">
            <a:spAutoFit/>
          </a:bodyPr>
          <a:lstStyle/>
          <a:p>
            <a:pPr algn="l">
              <a:spcAft>
                <a:spcPts val="1000"/>
              </a:spcAft>
            </a:pPr>
            <a:r>
              <a:rPr sz="1150" b="1">
                <a:solidFill>
                  <a:srgbClr val="3B82F6"/>
                </a:solidFill>
                <a:latin typeface="Calibri"/>
              </a:rPr>
              <a:t>●  </a:t>
            </a:r>
            <a:r>
              <a:rPr sz="1150" b="0">
                <a:solidFill>
                  <a:srgbClr val="475569"/>
                </a:solidFill>
                <a:latin typeface="Calibri"/>
              </a:rPr>
              <a:t>Song song với biểu đồ Gas, LCD vẫn liên tục hiển thị Nhiệt độ và Độ ẩm không khí (không thể hiện trên biểu đồ này để giữ tập trung vào tín hiệu cảnh báo).</a:t>
            </a:r>
          </a:p>
          <a:p>
            <a:pPr algn="l">
              <a:spcAft>
                <a:spcPts val="1000"/>
              </a:spcAft>
            </a:pPr>
            <a:r>
              <a:rPr sz="1150" b="1">
                <a:solidFill>
                  <a:srgbClr val="3B82F6"/>
                </a:solidFill>
                <a:latin typeface="Calibri"/>
              </a:rPr>
              <a:t>●  </a:t>
            </a:r>
            <a:r>
              <a:rPr sz="1150" b="0">
                <a:solidFill>
                  <a:srgbClr val="475569"/>
                </a:solidFill>
                <a:latin typeface="Calibri"/>
              </a:rPr>
              <a:t>LED bật lên ngay khi đường Gas vượt ngưỡng (khoảng giây 15), đồng thời với LCD — 2 kênh cảnh báo (số liệu + trực quan) hoạt động đồng bộ.</a:t>
            </a:r>
          </a:p>
          <a:p>
            <a:pPr algn="l">
              <a:spcAft>
                <a:spcPts val="1000"/>
              </a:spcAft>
            </a:pPr>
            <a:r>
              <a:rPr sz="1150" b="1">
                <a:solidFill>
                  <a:srgbClr val="3B82F6"/>
                </a:solidFill>
                <a:latin typeface="Calibri"/>
              </a:rPr>
              <a:t>●  </a:t>
            </a:r>
            <a:r>
              <a:rPr sz="1150" b="0">
                <a:solidFill>
                  <a:srgbClr val="475569"/>
                </a:solidFill>
                <a:latin typeface="Calibri"/>
              </a:rPr>
              <a:t>Một trạm HMI tốt cần đảm bảo ĐỘ TRỄ giữa sự kiện thực tế và cảnh báo hiển thị là tối thiểu.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B5 · ỨNG DỤNG THỰC TIỄN</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Ứng dụng trong Kỹ thuật Môi trường</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B5</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12</a:t>
            </a:r>
          </a:p>
        </p:txBody>
      </p:sp>
      <p:sp>
        <p:nvSpPr>
          <p:cNvPr id="10" name="Rounded Rectangle 9"/>
          <p:cNvSpPr/>
          <p:nvPr/>
        </p:nvSpPr>
        <p:spPr>
          <a:xfrm>
            <a:off x="548640" y="1417320"/>
            <a:ext cx="5349240" cy="1965960"/>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109728" cy="19659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581912"/>
            <a:ext cx="4800600" cy="457200"/>
          </a:xfrm>
          <a:prstGeom prst="rect">
            <a:avLst/>
          </a:prstGeom>
          <a:noFill/>
        </p:spPr>
        <p:txBody>
          <a:bodyPr wrap="square">
            <a:spAutoFit/>
          </a:bodyPr>
          <a:lstStyle/>
          <a:p>
            <a:pPr algn="l"/>
            <a:r>
              <a:rPr sz="1550" b="1" i="0">
                <a:solidFill>
                  <a:srgbClr val="1E293B"/>
                </a:solidFill>
                <a:latin typeface="Calibri"/>
              </a:rPr>
              <a:t>Bảng điều khiển tủ điện nhà máy</a:t>
            </a:r>
          </a:p>
        </p:txBody>
      </p:sp>
      <p:sp>
        <p:nvSpPr>
          <p:cNvPr id="13" name="TextBox 12"/>
          <p:cNvSpPr txBox="1"/>
          <p:nvPr/>
        </p:nvSpPr>
        <p:spPr>
          <a:xfrm>
            <a:off x="868680" y="2075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Hiển thị tổng hợp thông số vận hành (nhiệt độ, dòng điện, cảnh báo) ngay tại tủ điện.</a:t>
            </a:r>
          </a:p>
        </p:txBody>
      </p:sp>
      <p:sp>
        <p:nvSpPr>
          <p:cNvPr id="14" name="Rounded Rectangle 13"/>
          <p:cNvSpPr/>
          <p:nvPr/>
        </p:nvSpPr>
        <p:spPr>
          <a:xfrm>
            <a:off x="6263640" y="1417320"/>
            <a:ext cx="5349240" cy="1965960"/>
          </a:xfrm>
          <a:prstGeom prst="roundRect">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417320"/>
            <a:ext cx="109728" cy="1965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79" y="1581912"/>
            <a:ext cx="4800600" cy="457200"/>
          </a:xfrm>
          <a:prstGeom prst="rect">
            <a:avLst/>
          </a:prstGeom>
          <a:noFill/>
        </p:spPr>
        <p:txBody>
          <a:bodyPr wrap="square">
            <a:spAutoFit/>
          </a:bodyPr>
          <a:lstStyle/>
          <a:p>
            <a:pPr algn="l"/>
            <a:r>
              <a:rPr sz="1550" b="1" i="0">
                <a:solidFill>
                  <a:srgbClr val="1E293B"/>
                </a:solidFill>
                <a:latin typeface="Calibri"/>
              </a:rPr>
              <a:t>Trạm quan trắc môi trường tại hiện trường</a:t>
            </a:r>
          </a:p>
        </p:txBody>
      </p:sp>
      <p:sp>
        <p:nvSpPr>
          <p:cNvPr id="17" name="TextBox 16"/>
          <p:cNvSpPr txBox="1"/>
          <p:nvPr/>
        </p:nvSpPr>
        <p:spPr>
          <a:xfrm>
            <a:off x="6583679" y="2075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Người vận hành đọc nhanh chỉ số mà không cần mở app/điện thoại.</a:t>
            </a:r>
          </a:p>
        </p:txBody>
      </p:sp>
      <p:sp>
        <p:nvSpPr>
          <p:cNvPr id="18" name="Rounded Rectangle 17"/>
          <p:cNvSpPr/>
          <p:nvPr/>
        </p:nvSpPr>
        <p:spPr>
          <a:xfrm>
            <a:off x="548640" y="3703320"/>
            <a:ext cx="5349240" cy="1965960"/>
          </a:xfrm>
          <a:prstGeom prst="roundRect">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03320"/>
            <a:ext cx="109728" cy="1965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867911"/>
            <a:ext cx="4800600" cy="457200"/>
          </a:xfrm>
          <a:prstGeom prst="rect">
            <a:avLst/>
          </a:prstGeom>
          <a:noFill/>
        </p:spPr>
        <p:txBody>
          <a:bodyPr wrap="square">
            <a:spAutoFit/>
          </a:bodyPr>
          <a:lstStyle/>
          <a:p>
            <a:pPr algn="l"/>
            <a:r>
              <a:rPr sz="1550" b="1" i="0">
                <a:solidFill>
                  <a:srgbClr val="1E293B"/>
                </a:solidFill>
                <a:latin typeface="Calibri"/>
              </a:rPr>
              <a:t>Phòng điều khiển trung tâm (Control Room) thu nhỏ</a:t>
            </a:r>
          </a:p>
        </p:txBody>
      </p:sp>
      <p:sp>
        <p:nvSpPr>
          <p:cNvPr id="21" name="TextBox 20"/>
          <p:cNvSpPr txBox="1"/>
          <p:nvPr/>
        </p:nvSpPr>
        <p:spPr>
          <a:xfrm>
            <a:off x="868680" y="4361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Mô hình thu nhỏ của màn hình giám sát SCADA trong công nghiệp.</a:t>
            </a:r>
          </a:p>
        </p:txBody>
      </p:sp>
      <p:sp>
        <p:nvSpPr>
          <p:cNvPr id="22" name="Rounded Rectangle 21"/>
          <p:cNvSpPr/>
          <p:nvPr/>
        </p:nvSpPr>
        <p:spPr>
          <a:xfrm>
            <a:off x="6263640" y="3703320"/>
            <a:ext cx="5349240" cy="1965960"/>
          </a:xfrm>
          <a:prstGeom prst="roundRect">
            <a:avLst/>
          </a:prstGeom>
          <a:solidFill>
            <a:srgbClr val="FFFFFF"/>
          </a:solidFill>
          <a:ln w="1905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3703320"/>
            <a:ext cx="109728" cy="1965960"/>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79" y="3867911"/>
            <a:ext cx="4800600" cy="457200"/>
          </a:xfrm>
          <a:prstGeom prst="rect">
            <a:avLst/>
          </a:prstGeom>
          <a:noFill/>
        </p:spPr>
        <p:txBody>
          <a:bodyPr wrap="square">
            <a:spAutoFit/>
          </a:bodyPr>
          <a:lstStyle/>
          <a:p>
            <a:pPr algn="l"/>
            <a:r>
              <a:rPr sz="1550" b="1" i="0">
                <a:solidFill>
                  <a:srgbClr val="1E293B"/>
                </a:solidFill>
                <a:latin typeface="Calibri"/>
              </a:rPr>
              <a:t>Thiết bị đo cầm tay / trạm đo lưu động</a:t>
            </a:r>
          </a:p>
        </p:txBody>
      </p:sp>
      <p:sp>
        <p:nvSpPr>
          <p:cNvPr id="25" name="TextBox 24"/>
          <p:cNvSpPr txBox="1"/>
          <p:nvPr/>
        </p:nvSpPr>
        <p:spPr>
          <a:xfrm>
            <a:off x="6583679" y="4361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Thiết kế nhỏ gọn, hiển thị tại chỗ phù hợp khảo sát thực địa.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F4444"/>
                </a:solidFill>
                <a:latin typeface="Calibri"/>
              </a:rPr>
              <a:t>B5 · LƯU Ý TRIỂN KHAI THỰC TẾ</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Sai sót thường gặp &amp; lưu ý khi lắp đặt</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B5</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13</a:t>
            </a:r>
          </a:p>
        </p:txBody>
      </p:sp>
      <p:sp>
        <p:nvSpPr>
          <p:cNvPr id="10" name="Oval 9"/>
          <p:cNvSpPr/>
          <p:nvPr/>
        </p:nvSpPr>
        <p:spPr>
          <a:xfrm>
            <a:off x="548640" y="1444752"/>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1" name="TextBox 10"/>
          <p:cNvSpPr txBox="1"/>
          <p:nvPr/>
        </p:nvSpPr>
        <p:spPr>
          <a:xfrm>
            <a:off x="1188720" y="1417320"/>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Màn hình LCD1602 giới hạn 32 ký tự — cần ưu tiên thông tin quan trọng nhất, tránh nhồi nhét gây khó đọc.</a:t>
            </a:r>
          </a:p>
        </p:txBody>
      </p:sp>
      <p:sp>
        <p:nvSpPr>
          <p:cNvPr id="12" name="Oval 11"/>
          <p:cNvSpPr/>
          <p:nvPr/>
        </p:nvSpPr>
        <p:spPr>
          <a:xfrm>
            <a:off x="548640" y="2295144"/>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3" name="TextBox 12"/>
          <p:cNvSpPr txBox="1"/>
          <p:nvPr/>
        </p:nvSpPr>
        <p:spPr>
          <a:xfrm>
            <a:off x="1188720" y="2267712"/>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Khi nhiều thiết bị dùng chung bus I2C (LCD) cần đảm bảo địa chỉ I2C không trùng nhau nếu mở rộng thêm module I2C khác.</a:t>
            </a:r>
          </a:p>
        </p:txBody>
      </p:sp>
      <p:sp>
        <p:nvSpPr>
          <p:cNvPr id="14" name="Oval 13"/>
          <p:cNvSpPr/>
          <p:nvPr/>
        </p:nvSpPr>
        <p:spPr>
          <a:xfrm>
            <a:off x="548640" y="3145536"/>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5" name="TextBox 14"/>
          <p:cNvSpPr txBox="1"/>
          <p:nvPr/>
        </p:nvSpPr>
        <p:spPr>
          <a:xfrm>
            <a:off x="1188720" y="3118104"/>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Đọc tuần tự nhiều cảm biến trong 1 vòng loop() làm tăng thời gian phản hồi — hệ thống cần phản ứng nhanh nên cân nhắc dùng ngắt (interrupt) hoặc lập lịch bằng millis() thay vì delay().</a:t>
            </a:r>
          </a:p>
        </p:txBody>
      </p:sp>
      <p:sp>
        <p:nvSpPr>
          <p:cNvPr id="16" name="Oval 15"/>
          <p:cNvSpPr/>
          <p:nvPr/>
        </p:nvSpPr>
        <p:spPr>
          <a:xfrm>
            <a:off x="548640" y="3995928"/>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7" name="TextBox 16"/>
          <p:cNvSpPr txBox="1"/>
          <p:nvPr/>
        </p:nvSpPr>
        <p:spPr>
          <a:xfrm>
            <a:off x="1188720" y="3968496"/>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LED cảnh báo đơn giản chỉ có 1 trạng thái bật/tắt — có thể nâng cấp thành LED nhấp nháy hoặc RGB đổi màu để phân biệt nhiều mức cảnh báo khác nhau.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1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8B5CF6"/>
                </a:solidFill>
                <a:latin typeface="Calibri"/>
              </a:rPr>
              <a:t>B5 · ÔN TẬP</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Câu hỏi thảo luận cuối buổi</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B5</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14</a:t>
            </a:r>
          </a:p>
        </p:txBody>
      </p:sp>
      <p:sp>
        <p:nvSpPr>
          <p:cNvPr id="10" name="Rounded Rectangle 9"/>
          <p:cNvSpPr/>
          <p:nvPr/>
        </p:nvSpPr>
        <p:spPr>
          <a:xfrm>
            <a:off x="548640" y="146304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Q1</a:t>
            </a:r>
          </a:p>
        </p:txBody>
      </p:sp>
      <p:sp>
        <p:nvSpPr>
          <p:cNvPr id="11" name="TextBox 10"/>
          <p:cNvSpPr txBox="1"/>
          <p:nvPr/>
        </p:nvSpPr>
        <p:spPr>
          <a:xfrm>
            <a:off x="1234440" y="144475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Vì sao khối hiển thị LCD trong bài này không cần đặt trong if/else như khối LED?</a:t>
            </a:r>
          </a:p>
        </p:txBody>
      </p:sp>
      <p:sp>
        <p:nvSpPr>
          <p:cNvPr id="12" name="Rounded Rectangle 11"/>
          <p:cNvSpPr/>
          <p:nvPr/>
        </p:nvSpPr>
        <p:spPr>
          <a:xfrm>
            <a:off x="548640" y="233172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Q2</a:t>
            </a:r>
          </a:p>
        </p:txBody>
      </p:sp>
      <p:sp>
        <p:nvSpPr>
          <p:cNvPr id="13" name="TextBox 12"/>
          <p:cNvSpPr txBox="1"/>
          <p:nvPr/>
        </p:nvSpPr>
        <p:spPr>
          <a:xfrm>
            <a:off x="1234440" y="231343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Nếu muốn LED nhấp nháy thay vì sáng liên tục khi có cảnh báo, cần thay đổi gì trong vòng lặp loop()?</a:t>
            </a:r>
          </a:p>
        </p:txBody>
      </p:sp>
      <p:sp>
        <p:nvSpPr>
          <p:cNvPr id="14" name="Rounded Rectangle 13"/>
          <p:cNvSpPr/>
          <p:nvPr/>
        </p:nvSpPr>
        <p:spPr>
          <a:xfrm>
            <a:off x="548640" y="320040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Q3</a:t>
            </a:r>
          </a:p>
        </p:txBody>
      </p:sp>
      <p:sp>
        <p:nvSpPr>
          <p:cNvPr id="15" name="TextBox 14"/>
          <p:cNvSpPr txBox="1"/>
          <p:nvPr/>
        </p:nvSpPr>
        <p:spPr>
          <a:xfrm>
            <a:off x="1234440" y="318211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Đề xuất cách rút gọn thêm nội dung hiển thị trên LCD nếu phải thêm 1 cảm biến thứ 3 (ví dụ mực nước) vào cùng màn hình.</a:t>
            </a:r>
          </a:p>
        </p:txBody>
      </p:sp>
      <p:sp>
        <p:nvSpPr>
          <p:cNvPr id="16" name="Rounded Rectangle 15"/>
          <p:cNvSpPr/>
          <p:nvPr/>
        </p:nvSpPr>
        <p:spPr>
          <a:xfrm>
            <a:off x="548640" y="406908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Q4</a:t>
            </a:r>
          </a:p>
        </p:txBody>
      </p:sp>
      <p:sp>
        <p:nvSpPr>
          <p:cNvPr id="17" name="TextBox 16"/>
          <p:cNvSpPr txBox="1"/>
          <p:nvPr/>
        </p:nvSpPr>
        <p:spPr>
          <a:xfrm>
            <a:off x="1234440" y="405079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HMI khác gì so với việc chỉ xem dữ liệu qua Serial Monitor trên máy tính? Nêu 1 tình huống Serial Monitor không khả thi nhưng HMI thì có.</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B5 · TỔNG KẾT</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Tổng kết buổi học</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B5</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15</a:t>
            </a:r>
          </a:p>
        </p:txBody>
      </p:sp>
      <p:sp>
        <p:nvSpPr>
          <p:cNvPr id="10" name="TextBox 9"/>
          <p:cNvSpPr txBox="1"/>
          <p:nvPr/>
        </p:nvSpPr>
        <p:spPr>
          <a:xfrm>
            <a:off x="548640" y="1371600"/>
            <a:ext cx="10881360" cy="365760"/>
          </a:xfrm>
          <a:prstGeom prst="rect">
            <a:avLst/>
          </a:prstGeom>
          <a:noFill/>
        </p:spPr>
        <p:txBody>
          <a:bodyPr wrap="square">
            <a:spAutoFit/>
          </a:bodyPr>
          <a:lstStyle/>
          <a:p>
            <a:pPr algn="l"/>
            <a:r>
              <a:rPr sz="1500" b="1" i="0">
                <a:solidFill>
                  <a:srgbClr val="1E293B"/>
                </a:solidFill>
                <a:latin typeface="Calibri"/>
              </a:rPr>
              <a:t>Những điều đã đạt được:</a:t>
            </a:r>
          </a:p>
        </p:txBody>
      </p:sp>
      <p:sp>
        <p:nvSpPr>
          <p:cNvPr id="11" name="TextBox 10"/>
          <p:cNvSpPr txBox="1"/>
          <p:nvPr/>
        </p:nvSpPr>
        <p:spPr>
          <a:xfrm>
            <a:off x="548640" y="1783080"/>
            <a:ext cx="10881360" cy="2377440"/>
          </a:xfrm>
          <a:prstGeom prst="rect">
            <a:avLst/>
          </a:prstGeom>
          <a:noFill/>
        </p:spPr>
        <p:txBody>
          <a:bodyPr wrap="square">
            <a:spAutoFit/>
          </a:bodyPr>
          <a:lstStyle/>
          <a:p>
            <a:pPr algn="l">
              <a:spcAft>
                <a:spcPts val="1000"/>
              </a:spcAft>
            </a:pPr>
            <a:r>
              <a:rPr sz="1450" b="1">
                <a:solidFill>
                  <a:srgbClr val="10B981"/>
                </a:solidFill>
                <a:latin typeface="Calibri"/>
              </a:rPr>
              <a:t>●  </a:t>
            </a:r>
            <a:r>
              <a:rPr sz="1450" b="0">
                <a:solidFill>
                  <a:srgbClr val="1E293B"/>
                </a:solidFill>
                <a:latin typeface="Calibri"/>
              </a:rPr>
              <a:t>Đã xây dựng thành công mô hình HMI tổng hợp đa cảm biến trên 1 màn hình hiển thị duy nhất.</a:t>
            </a:r>
          </a:p>
          <a:p>
            <a:pPr algn="l">
              <a:spcAft>
                <a:spcPts val="1000"/>
              </a:spcAft>
            </a:pPr>
            <a:r>
              <a:rPr sz="1450" b="1">
                <a:solidFill>
                  <a:srgbClr val="10B981"/>
                </a:solidFill>
                <a:latin typeface="Calibri"/>
              </a:rPr>
              <a:t>●  </a:t>
            </a:r>
            <a:r>
              <a:rPr sz="1450" b="0">
                <a:solidFill>
                  <a:srgbClr val="1E293B"/>
                </a:solidFill>
                <a:latin typeface="Calibri"/>
              </a:rPr>
              <a:t>Phân biệt được vai trò của khối hiển thị liên tục (LCD) và khối cảnh báo có điều kiện (LED).</a:t>
            </a:r>
          </a:p>
          <a:p>
            <a:pPr algn="l">
              <a:spcAft>
                <a:spcPts val="1000"/>
              </a:spcAft>
            </a:pPr>
            <a:r>
              <a:rPr sz="1450" b="1">
                <a:solidFill>
                  <a:srgbClr val="10B981"/>
                </a:solidFill>
                <a:latin typeface="Calibri"/>
              </a:rPr>
              <a:t>●  </a:t>
            </a:r>
            <a:r>
              <a:rPr sz="1450" b="0">
                <a:solidFill>
                  <a:srgbClr val="1E293B"/>
                </a:solidFill>
                <a:latin typeface="Calibri"/>
              </a:rPr>
              <a:t>Có nền tảng thiết kế giao diện cô đọng, sẵn sàng mở rộng sang giám sát từ xa ở buổi học cuối khoá.</a:t>
            </a:r>
          </a:p>
        </p:txBody>
      </p:sp>
      <p:sp>
        <p:nvSpPr>
          <p:cNvPr id="12" name="Rounded Rectangle 11"/>
          <p:cNvSpPr/>
          <p:nvPr/>
        </p:nvSpPr>
        <p:spPr>
          <a:xfrm>
            <a:off x="548640" y="4343400"/>
            <a:ext cx="10881360" cy="1600200"/>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526280"/>
            <a:ext cx="10332720" cy="365760"/>
          </a:xfrm>
          <a:prstGeom prst="rect">
            <a:avLst/>
          </a:prstGeom>
          <a:noFill/>
        </p:spPr>
        <p:txBody>
          <a:bodyPr wrap="square">
            <a:spAutoFit/>
          </a:bodyPr>
          <a:lstStyle/>
          <a:p>
            <a:pPr algn="l"/>
            <a:r>
              <a:rPr sz="1300" b="1" i="0">
                <a:solidFill>
                  <a:srgbClr val="10B981"/>
                </a:solidFill>
                <a:latin typeface="Calibri"/>
              </a:rPr>
              <a:t>CHUẨN BỊ CHO BUỔI TIẾP THEO</a:t>
            </a:r>
          </a:p>
        </p:txBody>
      </p:sp>
      <p:sp>
        <p:nvSpPr>
          <p:cNvPr id="14" name="TextBox 13"/>
          <p:cNvSpPr txBox="1"/>
          <p:nvPr/>
        </p:nvSpPr>
        <p:spPr>
          <a:xfrm>
            <a:off x="822960" y="4892040"/>
            <a:ext cx="10332720" cy="960120"/>
          </a:xfrm>
          <a:prstGeom prst="rect">
            <a:avLst/>
          </a:prstGeom>
          <a:noFill/>
        </p:spPr>
        <p:txBody>
          <a:bodyPr wrap="square">
            <a:spAutoFit/>
          </a:bodyPr>
          <a:lstStyle/>
          <a:p>
            <a:pPr algn="l">
              <a:lnSpc>
                <a:spcPct val="120000"/>
              </a:lnSpc>
            </a:pPr>
            <a:r>
              <a:rPr sz="1500" b="0" i="0">
                <a:solidFill>
                  <a:srgbClr val="FFFFFF"/>
                </a:solidFill>
                <a:latin typeface="Calibri"/>
              </a:rPr>
              <a:t>Buổi 6: Đồ án tổng hợp cuối khoá — trạm IoT đa cảm biến hoàn chỉnh, đóng gói dữ liệu thành JSON telemetry để minh hoạ gửi lên nền tảng Cloud.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57200"/>
            <a:ext cx="11277295" cy="594360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766663" y="1005840"/>
            <a:ext cx="658368" cy="658368"/>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822960" y="1965960"/>
            <a:ext cx="10545775" cy="914400"/>
          </a:xfrm>
          <a:prstGeom prst="rect">
            <a:avLst/>
          </a:prstGeom>
          <a:noFill/>
        </p:spPr>
        <p:txBody>
          <a:bodyPr wrap="square">
            <a:spAutoFit/>
          </a:bodyPr>
          <a:lstStyle/>
          <a:p>
            <a:pPr algn="ctr"/>
            <a:r>
              <a:rPr sz="3200" b="1" i="0">
                <a:solidFill>
                  <a:srgbClr val="1E293B"/>
                </a:solidFill>
                <a:latin typeface="Calibri"/>
              </a:rPr>
              <a:t>CẢM ƠN CÁC BẠN ĐÃ THEO DÕI</a:t>
            </a:r>
          </a:p>
        </p:txBody>
      </p:sp>
      <p:sp>
        <p:nvSpPr>
          <p:cNvPr id="6" name="TextBox 5"/>
          <p:cNvSpPr txBox="1"/>
          <p:nvPr/>
        </p:nvSpPr>
        <p:spPr>
          <a:xfrm>
            <a:off x="822960" y="2834640"/>
            <a:ext cx="10545775" cy="548640"/>
          </a:xfrm>
          <a:prstGeom prst="rect">
            <a:avLst/>
          </a:prstGeom>
          <a:noFill/>
        </p:spPr>
        <p:txBody>
          <a:bodyPr wrap="square">
            <a:spAutoFit/>
          </a:bodyPr>
          <a:lstStyle/>
          <a:p>
            <a:pPr algn="ctr"/>
            <a:r>
              <a:rPr sz="1500" b="0" i="0">
                <a:solidFill>
                  <a:srgbClr val="10B981"/>
                </a:solidFill>
                <a:latin typeface="Calibri"/>
              </a:rPr>
              <a:t>Hỏi đáp &amp; Thực hành trực tiếp trên trình mô phỏng — B5</a:t>
            </a:r>
          </a:p>
        </p:txBody>
      </p:sp>
      <p:sp>
        <p:nvSpPr>
          <p:cNvPr id="7" name="Rounded Rectangle 6"/>
          <p:cNvSpPr/>
          <p:nvPr/>
        </p:nvSpPr>
        <p:spPr>
          <a:xfrm>
            <a:off x="1478127" y="3657600"/>
            <a:ext cx="2103120" cy="18288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sp32s3.jpg"/>
          <p:cNvPicPr>
            <a:picLocks noChangeAspect="1"/>
          </p:cNvPicPr>
          <p:nvPr/>
        </p:nvPicPr>
        <p:blipFill>
          <a:blip r:embed="rId2"/>
          <a:stretch>
            <a:fillRect/>
          </a:stretch>
        </p:blipFill>
        <p:spPr>
          <a:xfrm>
            <a:off x="1569567" y="3835587"/>
            <a:ext cx="1920239" cy="1472824"/>
          </a:xfrm>
          <a:prstGeom prst="rect">
            <a:avLst/>
          </a:prstGeom>
        </p:spPr>
      </p:pic>
      <p:sp>
        <p:nvSpPr>
          <p:cNvPr id="9" name="Rounded Rectangle 8"/>
          <p:cNvSpPr/>
          <p:nvPr/>
        </p:nvSpPr>
        <p:spPr>
          <a:xfrm>
            <a:off x="3855567" y="3657600"/>
            <a:ext cx="2103120" cy="18288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cd1602.jpg"/>
          <p:cNvPicPr>
            <a:picLocks noChangeAspect="1"/>
          </p:cNvPicPr>
          <p:nvPr/>
        </p:nvPicPr>
        <p:blipFill>
          <a:blip r:embed="rId3"/>
          <a:stretch>
            <a:fillRect/>
          </a:stretch>
        </p:blipFill>
        <p:spPr>
          <a:xfrm>
            <a:off x="3947007" y="3932560"/>
            <a:ext cx="1920239" cy="1278879"/>
          </a:xfrm>
          <a:prstGeom prst="rect">
            <a:avLst/>
          </a:prstGeom>
        </p:spPr>
      </p:pic>
      <p:sp>
        <p:nvSpPr>
          <p:cNvPr id="11" name="Rounded Rectangle 10"/>
          <p:cNvSpPr/>
          <p:nvPr/>
        </p:nvSpPr>
        <p:spPr>
          <a:xfrm>
            <a:off x="6233007" y="3657600"/>
            <a:ext cx="2103120" cy="18288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ht11.jpg"/>
          <p:cNvPicPr>
            <a:picLocks noChangeAspect="1"/>
          </p:cNvPicPr>
          <p:nvPr/>
        </p:nvPicPr>
        <p:blipFill>
          <a:blip r:embed="rId4"/>
          <a:stretch>
            <a:fillRect/>
          </a:stretch>
        </p:blipFill>
        <p:spPr>
          <a:xfrm>
            <a:off x="6667347" y="3749039"/>
            <a:ext cx="1234440" cy="1645920"/>
          </a:xfrm>
          <a:prstGeom prst="rect">
            <a:avLst/>
          </a:prstGeom>
        </p:spPr>
      </p:pic>
      <p:sp>
        <p:nvSpPr>
          <p:cNvPr id="13" name="Rounded Rectangle 12"/>
          <p:cNvSpPr/>
          <p:nvPr/>
        </p:nvSpPr>
        <p:spPr>
          <a:xfrm>
            <a:off x="8610447" y="3657600"/>
            <a:ext cx="2103120" cy="18288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3599" y="3730752"/>
            <a:ext cx="1956815" cy="1682496"/>
          </a:xfrm>
          <a:prstGeom prst="roundRect">
            <a:avLst/>
          </a:prstGeom>
          <a:solidFill>
            <a:srgbClr val="E5E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100" b="1">
                <a:solidFill>
                  <a:srgbClr val="3B82F6"/>
                </a:solidFill>
                <a:latin typeface="Calibri"/>
              </a:rPr>
              <a:t>MQ-2</a:t>
            </a:r>
          </a:p>
        </p:txBody>
      </p:sp>
      <p:sp>
        <p:nvSpPr>
          <p:cNvPr id="15" name="TextBox 14"/>
          <p:cNvSpPr txBox="1"/>
          <p:nvPr/>
        </p:nvSpPr>
        <p:spPr>
          <a:xfrm>
            <a:off x="822960" y="6035040"/>
            <a:ext cx="10545775" cy="365760"/>
          </a:xfrm>
          <a:prstGeom prst="rect">
            <a:avLst/>
          </a:prstGeom>
          <a:noFill/>
        </p:spPr>
        <p:txBody>
          <a:bodyPr wrap="square">
            <a:spAutoFit/>
          </a:bodyPr>
          <a:lstStyle/>
          <a:p>
            <a:pPr algn="ctr"/>
            <a:r>
              <a:rPr sz="1150" b="0" i="0">
                <a:solidFill>
                  <a:srgbClr val="475569"/>
                </a:solidFill>
                <a:latin typeface="Calibri"/>
              </a:rPr>
              <a:t>Giảng viên hướng dẫn: Nguyễn Lê Tấn Đạt  ·  datnlt@tdmu.edu.vn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