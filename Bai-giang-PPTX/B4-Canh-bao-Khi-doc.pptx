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Nồng độ Gas (PPM)</c:v>
                </c:pt>
              </c:strCache>
            </c:strRef>
          </c:tx>
          <c:spPr>
            <a:ln w="31750">
              <a:solidFill>
                <a:srgbClr val="3B82F6"/>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Sheet1!$B$2:$B$9</c:f>
              <c:numCache>
                <c:formatCode>General</c:formatCode>
                <c:ptCount val="8"/>
                <c:pt idx="0">
                  <c:v>120</c:v>
                </c:pt>
                <c:pt idx="1">
                  <c:v>150</c:v>
                </c:pt>
                <c:pt idx="2">
                  <c:v>190</c:v>
                </c:pt>
                <c:pt idx="3">
                  <c:v>240</c:v>
                </c:pt>
                <c:pt idx="4">
                  <c:v>290</c:v>
                </c:pt>
                <c:pt idx="5">
                  <c:v>340</c:v>
                </c:pt>
                <c:pt idx="6">
                  <c:v>400</c:v>
                </c:pt>
                <c:pt idx="7">
                  <c:v>360</c:v>
                </c:pt>
              </c:numCache>
            </c:numRef>
          </c:val>
          <c:smooth val="0"/>
        </c:ser>
        <c:ser>
          <c:idx val="1"/>
          <c:order val="1"/>
          <c:tx>
            <c:strRef>
              <c:f>Sheet1!$C$1</c:f>
              <c:strCache>
                <c:ptCount val="1"/>
                <c:pt idx="0">
                  <c:v>Ngưỡng nguy hiểm (PPM)</c:v>
                </c:pt>
              </c:strCache>
            </c:strRef>
          </c:tx>
          <c:spPr>
            <a:ln w="31750">
              <a:solidFill>
                <a:srgbClr val="EF4444"/>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Sheet1!$C$2:$C$9</c:f>
              <c:numCache>
                <c:formatCode>General</c:formatCode>
                <c:ptCount val="8"/>
                <c:pt idx="0">
                  <c:v>300</c:v>
                </c:pt>
                <c:pt idx="1">
                  <c:v>300</c:v>
                </c:pt>
                <c:pt idx="2">
                  <c:v>300</c:v>
                </c:pt>
                <c:pt idx="3">
                  <c:v>300</c:v>
                </c:pt>
                <c:pt idx="4">
                  <c:v>300</c:v>
                </c:pt>
                <c:pt idx="5">
                  <c:v>300</c:v>
                </c:pt>
                <c:pt idx="6">
                  <c:v>300</c:v>
                </c:pt>
                <c:pt idx="7">
                  <c:v>300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4/6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B4: Cảnh báo Khí độc (MQ-2 + Còi + Quạt qua Relay)</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Đo nồng độ khí gas/khói bằng MQ-2, tự động phát còi cảnh báo và bật quạt thông gió khi vượt ngưỡng nguy hiểm</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54312" y="2221992"/>
            <a:ext cx="2276856" cy="25968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B4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nguyên lý cảm biến khí gas bán dẫn MQ-2 (oxit kim loại SnO2).</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Điều khiển đồng thời 2 thiết bị đầu ra khác loại: Buzzer (cảnh báo âm thanh) và Relay (điều khiển quạt công suất).</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Lập trình xử lý đa hành động trong cùng 1 điều kiện (bật/tắt nhiều thiết bị cùng lúc).</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Nhận thức tầm quan trọng của an toàn khí thải trong kỹ thuật môi trường &amp; công nghiệp.</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B4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Nguyên lý cảm biến khí gas bán dẫn MQ-2</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MQ-2 dùng lớp cảm biến SnO2 (thiếc oxit) — khi tiếp xúc khí dễ cháy (LPG, propane, methane, khói), điện trở bề mặt SnO2 thay đổi theo nồng độ khí.</a:t>
            </a:r>
          </a:p>
          <a:p>
            <a:pPr algn="l">
              <a:spcAft>
                <a:spcPts val="1400"/>
              </a:spcAft>
            </a:pPr>
            <a:r>
              <a:rPr sz="1550" b="1">
                <a:solidFill>
                  <a:srgbClr val="3B82F6"/>
                </a:solidFill>
                <a:latin typeface="Calibri"/>
              </a:rPr>
              <a:t>●  </a:t>
            </a:r>
            <a:r>
              <a:rPr sz="1550" b="0">
                <a:solidFill>
                  <a:srgbClr val="1E293B"/>
                </a:solidFill>
                <a:latin typeface="Calibri"/>
              </a:rPr>
              <a:t>Cảm biến cần thời gian "làm nóng sơ bộ" (preheat) bằng sợi đốt tích hợp bên trong — lần đầu sử dụng cần 24-48 giờ để ổn định, các lần bật sau cần vài phút để đọc chính xác.</a:t>
            </a:r>
          </a:p>
          <a:p>
            <a:pPr algn="l">
              <a:spcAft>
                <a:spcPts val="1400"/>
              </a:spcAft>
            </a:pPr>
            <a:r>
              <a:rPr sz="1550" b="1">
                <a:solidFill>
                  <a:srgbClr val="3B82F6"/>
                </a:solidFill>
                <a:latin typeface="Calibri"/>
              </a:rPr>
              <a:t>●  </a:t>
            </a:r>
            <a:r>
              <a:rPr sz="1550" b="0">
                <a:solidFill>
                  <a:srgbClr val="1E293B"/>
                </a:solidFill>
                <a:latin typeface="Calibri"/>
              </a:rPr>
              <a:t>Giá trị analog đọc được cần hiệu chuẩn qua đường cong Rs/Ro trong datasheet để quy đổi chính xác ra đơn vị PPM (parts per million) cho từng loại khí cụ thể.</a:t>
            </a:r>
          </a:p>
          <a:p>
            <a:pPr algn="l">
              <a:spcAft>
                <a:spcPts val="1400"/>
              </a:spcAft>
            </a:pPr>
            <a:r>
              <a:rPr sz="1550" b="1">
                <a:solidFill>
                  <a:srgbClr val="3B82F6"/>
                </a:solidFill>
                <a:latin typeface="Calibri"/>
              </a:rPr>
              <a:t>●  </a:t>
            </a:r>
            <a:r>
              <a:rPr sz="1550" b="0">
                <a:solidFill>
                  <a:srgbClr val="1E293B"/>
                </a:solidFill>
                <a:latin typeface="Calibri"/>
              </a:rPr>
              <a:t>MQ-2 nhạy với nhiều loại khí cùng lúc (LPG, khói, CO, H2, hơi cồn) nên chỉ phù hợp để CẢNH BÁO tổng quát, không dùng để định danh chính xác loại khí trong ứng dụng đòi hỏi độ chính xác cao.</a:t>
            </a:r>
          </a:p>
          <a:p>
            <a:pPr algn="l">
              <a:spcAft>
                <a:spcPts val="1400"/>
              </a:spcAft>
            </a:pPr>
            <a:r>
              <a:rPr sz="1550" b="1">
                <a:solidFill>
                  <a:srgbClr val="3B82F6"/>
                </a:solidFill>
                <a:latin typeface="Calibri"/>
              </a:rPr>
              <a:t>●  </a:t>
            </a:r>
            <a:r>
              <a:rPr sz="1550" b="0">
                <a:solidFill>
                  <a:srgbClr val="1E293B"/>
                </a:solidFill>
                <a:latin typeface="Calibri"/>
              </a:rPr>
              <a:t>Bài học dùng ngưỡng minh hoạ 300 PPM — con số mang tính sư phạm; khi triển khai thật cần tra cứu ngưỡng an toàn theo tiêu chuẩn (ví dụ giới hạn LEL của từng loại khí) và hiệu chuẩn cảm biến thực nghiệm.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B4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5303520"/>
        </p:xfrm>
        <a:graphic>
          <a:graphicData uri="http://schemas.openxmlformats.org/drawingml/2006/table">
            <a:tbl>
              <a:tblPr>
                <a:tableStyleId>{5C22544A-7EE6-4342-B048-85BDC9FD1C3A}</a:tableStyleId>
              </a:tblPr>
              <a:tblGrid>
                <a:gridCol w="2766060"/>
                <a:gridCol w="5532120"/>
                <a:gridCol w="2766060"/>
              </a:tblGrid>
              <a:tr h="757645">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57645">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MQ-2</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khí gas/khói bán dẫn</a:t>
                      </a:r>
                    </a:p>
                  </a:txBody>
                  <a:tcPr marL="73152" marR="73152" marT="36576" marB="36576" anchor="ctr">
                    <a:solidFill>
                      <a:srgbClr val="FFFFFF"/>
                    </a:solidFill>
                  </a:tcPr>
                </a:tc>
                <a:tc>
                  <a:txBody>
                    <a:bodyPr wrap="square"/>
                    <a:lstStyle/>
                    <a:p>
                      <a:pPr algn="ctr"/>
                      <a:r>
                        <a:rPr sz="1300" b="0">
                          <a:solidFill>
                            <a:srgbClr val="10B981"/>
                          </a:solidFill>
                          <a:latin typeface="Calibri"/>
                        </a:rPr>
                        <a:t>GPIO11</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Buzzer (Còi)</a:t>
                      </a:r>
                    </a:p>
                  </a:txBody>
                  <a:tcPr marL="73152" marR="73152" marT="36576" marB="36576" anchor="ctr">
                    <a:solidFill>
                      <a:srgbClr val="FFFFFF"/>
                    </a:solidFill>
                  </a:tcPr>
                </a:tc>
                <a:tc>
                  <a:txBody>
                    <a:bodyPr wrap="square"/>
                    <a:lstStyle/>
                    <a:p>
                      <a:pPr algn="l"/>
                      <a:r>
                        <a:rPr sz="1300" b="0">
                          <a:solidFill>
                            <a:srgbClr val="475569"/>
                          </a:solidFill>
                          <a:latin typeface="Calibri"/>
                        </a:rPr>
                        <a:t>Cảnh báo âm thanh khi nguy hiểm</a:t>
                      </a:r>
                    </a:p>
                  </a:txBody>
                  <a:tcPr marL="73152" marR="73152" marT="36576" marB="36576" anchor="ctr">
                    <a:solidFill>
                      <a:srgbClr val="FFFFFF"/>
                    </a:solidFill>
                  </a:tcPr>
                </a:tc>
                <a:tc>
                  <a:txBody>
                    <a:bodyPr wrap="square"/>
                    <a:lstStyle/>
                    <a:p>
                      <a:pPr algn="ctr"/>
                      <a:r>
                        <a:rPr sz="1300" b="0">
                          <a:solidFill>
                            <a:srgbClr val="F59E0B"/>
                          </a:solidFill>
                          <a:latin typeface="Calibri"/>
                        </a:rPr>
                        <a:t>GPIO12</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Module Relay 5V</a:t>
                      </a:r>
                    </a:p>
                  </a:txBody>
                  <a:tcPr marL="73152" marR="73152" marT="36576" marB="36576" anchor="ctr">
                    <a:solidFill>
                      <a:srgbClr val="FFFFFF"/>
                    </a:solidFill>
                  </a:tcPr>
                </a:tc>
                <a:tc>
                  <a:txBody>
                    <a:bodyPr wrap="square"/>
                    <a:lstStyle/>
                    <a:p>
                      <a:pPr algn="l"/>
                      <a:r>
                        <a:rPr sz="1300" b="0">
                          <a:solidFill>
                            <a:srgbClr val="475569"/>
                          </a:solidFill>
                          <a:latin typeface="Calibri"/>
                        </a:rPr>
                        <a:t>Đóng/ngắt quạt thông gió</a:t>
                      </a:r>
                    </a:p>
                  </a:txBody>
                  <a:tcPr marL="73152" marR="73152" marT="36576" marB="36576" anchor="ctr">
                    <a:solidFill>
                      <a:srgbClr val="FFFFFF"/>
                    </a:solidFill>
                  </a:tcPr>
                </a:tc>
                <a:tc>
                  <a:txBody>
                    <a:bodyPr wrap="square"/>
                    <a:lstStyle/>
                    <a:p>
                      <a:pPr algn="ctr"/>
                      <a:r>
                        <a:rPr sz="1300" b="0">
                          <a:solidFill>
                            <a:srgbClr val="8B5CF6"/>
                          </a:solidFill>
                          <a:latin typeface="Calibri"/>
                        </a:rPr>
                        <a:t>IN: GPIO14</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Quạt DC (DC Motor)</a:t>
                      </a:r>
                    </a:p>
                  </a:txBody>
                  <a:tcPr marL="73152" marR="73152" marT="36576" marB="36576" anchor="ctr">
                    <a:solidFill>
                      <a:srgbClr val="FFFFFF"/>
                    </a:solidFill>
                  </a:tcPr>
                </a:tc>
                <a:tc>
                  <a:txBody>
                    <a:bodyPr wrap="square"/>
                    <a:lstStyle/>
                    <a:p>
                      <a:pPr algn="l"/>
                      <a:r>
                        <a:rPr sz="1300" b="0">
                          <a:solidFill>
                            <a:srgbClr val="475569"/>
                          </a:solidFill>
                          <a:latin typeface="Calibri"/>
                        </a:rPr>
                        <a:t>Thông gió, pha loãng khí độc</a:t>
                      </a:r>
                    </a:p>
                  </a:txBody>
                  <a:tcPr marL="73152" marR="73152" marT="36576" marB="36576" anchor="ctr">
                    <a:solidFill>
                      <a:srgbClr val="FFFFFF"/>
                    </a:solidFill>
                  </a:tcPr>
                </a:tc>
                <a:tc>
                  <a:txBody>
                    <a:bodyPr wrap="square"/>
                    <a:lstStyle/>
                    <a:p>
                      <a:pPr algn="ctr"/>
                      <a:r>
                        <a:rPr sz="1300" b="0">
                          <a:solidFill>
                            <a:srgbClr val="06B6D4"/>
                          </a:solidFill>
                          <a:latin typeface="Calibri"/>
                        </a:rPr>
                        <a:t>Cấp nguồn qua Relay · OUT</a:t>
                      </a:r>
                    </a:p>
                  </a:txBody>
                  <a:tcPr marL="73152" marR="73152" marT="36576" marB="36576" anchor="ctr">
                    <a:solidFill>
                      <a:srgbClr val="FFFFFF"/>
                    </a:solidFill>
                  </a:tcPr>
                </a:tc>
              </a:tr>
              <a:tr h="757650">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Hiển thị nồng độ khí &amp; trạng thái</a:t>
                      </a:r>
                    </a:p>
                  </a:txBody>
                  <a:tcPr marL="73152" marR="73152" marT="36576" marB="36576" anchor="ctr">
                    <a:solidFill>
                      <a:srgbClr val="FFFFFF"/>
                    </a:solidFill>
                  </a:tcPr>
                </a:tc>
                <a:tc>
                  <a:txBody>
                    <a:bodyPr wrap="square"/>
                    <a:lstStyle/>
                    <a:p>
                      <a:pPr algn="ctr"/>
                      <a:r>
                        <a:rPr sz="1300" b="0">
                          <a:solidFill>
                            <a:srgbClr val="EC4899"/>
                          </a:solidFill>
                          <a:latin typeface="Calibri"/>
                        </a:rPr>
                        <a:t>SCL: GPIO9 · SDA: GPIO8</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B4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872974" y="1508760"/>
            <a:ext cx="1925366" cy="1476755"/>
          </a:xfrm>
          <a:prstGeom prst="rect">
            <a:avLst/>
          </a:prstGeom>
        </p:spPr>
      </p:pic>
      <p:sp>
        <p:nvSpPr>
          <p:cNvPr id="13" name="Rectangle 12"/>
          <p:cNvSpPr/>
          <p:nvPr/>
        </p:nvSpPr>
        <p:spPr>
          <a:xfrm>
            <a:off x="548640"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13532"/>
            <a:ext cx="2391156"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369563"/>
            <a:ext cx="2391156"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3378708"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51860" y="1490472"/>
            <a:ext cx="2427732" cy="1513331"/>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18" name="Rectangle 17"/>
          <p:cNvSpPr/>
          <p:nvPr/>
        </p:nvSpPr>
        <p:spPr>
          <a:xfrm>
            <a:off x="3378708"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0148" y="3113532"/>
            <a:ext cx="2391156" cy="256032"/>
          </a:xfrm>
          <a:prstGeom prst="rect">
            <a:avLst/>
          </a:prstGeom>
          <a:noFill/>
        </p:spPr>
        <p:txBody>
          <a:bodyPr wrap="square">
            <a:spAutoFit/>
          </a:bodyPr>
          <a:lstStyle/>
          <a:p>
            <a:pPr algn="ctr"/>
            <a:r>
              <a:rPr sz="1150" b="1" i="0">
                <a:solidFill>
                  <a:srgbClr val="1E293B"/>
                </a:solidFill>
                <a:latin typeface="Calibri"/>
              </a:rPr>
              <a:t>MQ-2</a:t>
            </a:r>
          </a:p>
        </p:txBody>
      </p:sp>
      <p:sp>
        <p:nvSpPr>
          <p:cNvPr id="20" name="TextBox 19"/>
          <p:cNvSpPr txBox="1"/>
          <p:nvPr/>
        </p:nvSpPr>
        <p:spPr>
          <a:xfrm>
            <a:off x="3470148" y="3369563"/>
            <a:ext cx="2391156" cy="347471"/>
          </a:xfrm>
          <a:prstGeom prst="rect">
            <a:avLst/>
          </a:prstGeom>
          <a:noFill/>
        </p:spPr>
        <p:txBody>
          <a:bodyPr wrap="square">
            <a:spAutoFit/>
          </a:bodyPr>
          <a:lstStyle/>
          <a:p>
            <a:pPr algn="ctr"/>
            <a:r>
              <a:rPr sz="850" b="0" i="0">
                <a:solidFill>
                  <a:srgbClr val="475569"/>
                </a:solidFill>
                <a:latin typeface="Calibri"/>
              </a:rPr>
              <a:t>Cảm biến khí gas / khói bán dẫn — lớp cảm biến SnO2</a:t>
            </a:r>
          </a:p>
        </p:txBody>
      </p:sp>
      <p:sp>
        <p:nvSpPr>
          <p:cNvPr id="21" name="Rounded Rectangle 20"/>
          <p:cNvSpPr/>
          <p:nvPr/>
        </p:nvSpPr>
        <p:spPr>
          <a:xfrm>
            <a:off x="6208775"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uzzer.jpg"/>
          <p:cNvPicPr>
            <a:picLocks noChangeAspect="1"/>
          </p:cNvPicPr>
          <p:nvPr/>
        </p:nvPicPr>
        <p:blipFill>
          <a:blip r:embed="rId3"/>
          <a:stretch>
            <a:fillRect/>
          </a:stretch>
        </p:blipFill>
        <p:spPr>
          <a:xfrm>
            <a:off x="6511289" y="1508760"/>
            <a:ext cx="1969007" cy="1476755"/>
          </a:xfrm>
          <a:prstGeom prst="rect">
            <a:avLst/>
          </a:prstGeom>
        </p:spPr>
      </p:pic>
      <p:sp>
        <p:nvSpPr>
          <p:cNvPr id="23" name="Rectangle 22"/>
          <p:cNvSpPr/>
          <p:nvPr/>
        </p:nvSpPr>
        <p:spPr>
          <a:xfrm>
            <a:off x="6208775"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5" y="3113532"/>
            <a:ext cx="2391156" cy="256032"/>
          </a:xfrm>
          <a:prstGeom prst="rect">
            <a:avLst/>
          </a:prstGeom>
          <a:noFill/>
        </p:spPr>
        <p:txBody>
          <a:bodyPr wrap="square">
            <a:spAutoFit/>
          </a:bodyPr>
          <a:lstStyle/>
          <a:p>
            <a:pPr algn="ctr"/>
            <a:r>
              <a:rPr sz="1150" b="1" i="0">
                <a:solidFill>
                  <a:srgbClr val="1E293B"/>
                </a:solidFill>
                <a:latin typeface="Calibri"/>
              </a:rPr>
              <a:t>Buzzer (Còi báo)</a:t>
            </a:r>
          </a:p>
        </p:txBody>
      </p:sp>
      <p:sp>
        <p:nvSpPr>
          <p:cNvPr id="25" name="TextBox 24"/>
          <p:cNvSpPr txBox="1"/>
          <p:nvPr/>
        </p:nvSpPr>
        <p:spPr>
          <a:xfrm>
            <a:off x="6300215" y="3369563"/>
            <a:ext cx="2391156" cy="347471"/>
          </a:xfrm>
          <a:prstGeom prst="rect">
            <a:avLst/>
          </a:prstGeom>
          <a:noFill/>
        </p:spPr>
        <p:txBody>
          <a:bodyPr wrap="square">
            <a:spAutoFit/>
          </a:bodyPr>
          <a:lstStyle/>
          <a:p>
            <a:pPr algn="ctr"/>
            <a:r>
              <a:rPr sz="850" b="0" i="0">
                <a:solidFill>
                  <a:srgbClr val="475569"/>
                </a:solidFill>
                <a:latin typeface="Calibri"/>
              </a:rPr>
              <a:t>Cảnh báo bằng âm thanh</a:t>
            </a:r>
          </a:p>
        </p:txBody>
      </p:sp>
      <p:sp>
        <p:nvSpPr>
          <p:cNvPr id="26" name="Rounded Rectangle 25"/>
          <p:cNvSpPr/>
          <p:nvPr/>
        </p:nvSpPr>
        <p:spPr>
          <a:xfrm>
            <a:off x="9038844"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elay_module.jpg"/>
          <p:cNvPicPr>
            <a:picLocks noChangeAspect="1"/>
          </p:cNvPicPr>
          <p:nvPr/>
        </p:nvPicPr>
        <p:blipFill>
          <a:blip r:embed="rId4"/>
          <a:stretch>
            <a:fillRect/>
          </a:stretch>
        </p:blipFill>
        <p:spPr>
          <a:xfrm>
            <a:off x="9217186" y="1508760"/>
            <a:ext cx="2217351" cy="1476755"/>
          </a:xfrm>
          <a:prstGeom prst="rect">
            <a:avLst/>
          </a:prstGeom>
        </p:spPr>
      </p:pic>
      <p:sp>
        <p:nvSpPr>
          <p:cNvPr id="28" name="Rectangle 27"/>
          <p:cNvSpPr/>
          <p:nvPr/>
        </p:nvSpPr>
        <p:spPr>
          <a:xfrm>
            <a:off x="9038844"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30284" y="3113532"/>
            <a:ext cx="2391156" cy="256032"/>
          </a:xfrm>
          <a:prstGeom prst="rect">
            <a:avLst/>
          </a:prstGeom>
          <a:noFill/>
        </p:spPr>
        <p:txBody>
          <a:bodyPr wrap="square">
            <a:spAutoFit/>
          </a:bodyPr>
          <a:lstStyle/>
          <a:p>
            <a:pPr algn="ctr"/>
            <a:r>
              <a:rPr sz="1150" b="1" i="0">
                <a:solidFill>
                  <a:srgbClr val="1E293B"/>
                </a:solidFill>
                <a:latin typeface="Calibri"/>
              </a:rPr>
              <a:t>Module Relay 5V</a:t>
            </a:r>
          </a:p>
        </p:txBody>
      </p:sp>
      <p:sp>
        <p:nvSpPr>
          <p:cNvPr id="30" name="TextBox 29"/>
          <p:cNvSpPr txBox="1"/>
          <p:nvPr/>
        </p:nvSpPr>
        <p:spPr>
          <a:xfrm>
            <a:off x="9130284" y="3369563"/>
            <a:ext cx="2391156" cy="347471"/>
          </a:xfrm>
          <a:prstGeom prst="rect">
            <a:avLst/>
          </a:prstGeom>
          <a:noFill/>
        </p:spPr>
        <p:txBody>
          <a:bodyPr wrap="square">
            <a:spAutoFit/>
          </a:bodyPr>
          <a:lstStyle/>
          <a:p>
            <a:pPr algn="ctr"/>
            <a:r>
              <a:rPr sz="850" b="0" i="0">
                <a:solidFill>
                  <a:srgbClr val="475569"/>
                </a:solidFill>
                <a:latin typeface="Calibri"/>
              </a:rPr>
              <a:t>Công tắc điện tử đóng/ngắt tải công suất lớn</a:t>
            </a:r>
          </a:p>
        </p:txBody>
      </p:sp>
      <p:sp>
        <p:nvSpPr>
          <p:cNvPr id="31" name="Rounded Rectangle 30"/>
          <p:cNvSpPr/>
          <p:nvPr/>
        </p:nvSpPr>
        <p:spPr>
          <a:xfrm>
            <a:off x="548640" y="3991355"/>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dc_motor_pump.jpg"/>
          <p:cNvPicPr>
            <a:picLocks noChangeAspect="1"/>
          </p:cNvPicPr>
          <p:nvPr/>
        </p:nvPicPr>
        <p:blipFill>
          <a:blip r:embed="rId5"/>
          <a:stretch>
            <a:fillRect/>
          </a:stretch>
        </p:blipFill>
        <p:spPr>
          <a:xfrm>
            <a:off x="1494527" y="4082795"/>
            <a:ext cx="682261" cy="1476755"/>
          </a:xfrm>
          <a:prstGeom prst="rect">
            <a:avLst/>
          </a:prstGeom>
        </p:spPr>
      </p:pic>
      <p:sp>
        <p:nvSpPr>
          <p:cNvPr id="33" name="Rectangle 32"/>
          <p:cNvSpPr/>
          <p:nvPr/>
        </p:nvSpPr>
        <p:spPr>
          <a:xfrm>
            <a:off x="548640" y="5650991"/>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687567"/>
            <a:ext cx="2391156" cy="256032"/>
          </a:xfrm>
          <a:prstGeom prst="rect">
            <a:avLst/>
          </a:prstGeom>
          <a:noFill/>
        </p:spPr>
        <p:txBody>
          <a:bodyPr wrap="square">
            <a:spAutoFit/>
          </a:bodyPr>
          <a:lstStyle/>
          <a:p>
            <a:pPr algn="ctr"/>
            <a:r>
              <a:rPr sz="1150" b="1" i="0">
                <a:solidFill>
                  <a:srgbClr val="1E293B"/>
                </a:solidFill>
                <a:latin typeface="Calibri"/>
              </a:rPr>
              <a:t>Động cơ / Bơm DC</a:t>
            </a:r>
          </a:p>
        </p:txBody>
      </p:sp>
      <p:sp>
        <p:nvSpPr>
          <p:cNvPr id="35" name="TextBox 34"/>
          <p:cNvSpPr txBox="1"/>
          <p:nvPr/>
        </p:nvSpPr>
        <p:spPr>
          <a:xfrm>
            <a:off x="640080" y="5943599"/>
            <a:ext cx="2391156" cy="347471"/>
          </a:xfrm>
          <a:prstGeom prst="rect">
            <a:avLst/>
          </a:prstGeom>
          <a:noFill/>
        </p:spPr>
        <p:txBody>
          <a:bodyPr wrap="square">
            <a:spAutoFit/>
          </a:bodyPr>
          <a:lstStyle/>
          <a:p>
            <a:pPr algn="ctr"/>
            <a:r>
              <a:rPr sz="850" b="0" i="0">
                <a:solidFill>
                  <a:srgbClr val="475569"/>
                </a:solidFill>
                <a:latin typeface="Calibri"/>
              </a:rPr>
              <a:t>Thiết bị chấp hành (ảnh minh hoạ động cơ DC nhỏ cùng nguyên lý với bơm mini)</a:t>
            </a:r>
          </a:p>
        </p:txBody>
      </p:sp>
      <p:sp>
        <p:nvSpPr>
          <p:cNvPr id="36" name="Rounded Rectangle 35"/>
          <p:cNvSpPr/>
          <p:nvPr/>
        </p:nvSpPr>
        <p:spPr>
          <a:xfrm>
            <a:off x="3378708" y="3991355"/>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cd1602.jpg"/>
          <p:cNvPicPr>
            <a:picLocks noChangeAspect="1"/>
          </p:cNvPicPr>
          <p:nvPr/>
        </p:nvPicPr>
        <p:blipFill>
          <a:blip r:embed="rId6"/>
          <a:stretch>
            <a:fillRect/>
          </a:stretch>
        </p:blipFill>
        <p:spPr>
          <a:xfrm>
            <a:off x="3557050" y="4082795"/>
            <a:ext cx="2217351" cy="1476755"/>
          </a:xfrm>
          <a:prstGeom prst="rect">
            <a:avLst/>
          </a:prstGeom>
        </p:spPr>
      </p:pic>
      <p:sp>
        <p:nvSpPr>
          <p:cNvPr id="38" name="Rectangle 37"/>
          <p:cNvSpPr/>
          <p:nvPr/>
        </p:nvSpPr>
        <p:spPr>
          <a:xfrm>
            <a:off x="3378708" y="5650991"/>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0148" y="5687567"/>
            <a:ext cx="2391156"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40" name="TextBox 39"/>
          <p:cNvSpPr txBox="1"/>
          <p:nvPr/>
        </p:nvSpPr>
        <p:spPr>
          <a:xfrm>
            <a:off x="3470148" y="5943599"/>
            <a:ext cx="2391156"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B4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MQ-2
(Cảm biến khí gas)</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(So sánh ngưỡng PPM)</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Buzzer + Relay
(Cảnh báo kép)</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Quạt thông gió
(Xử lý sự cố)</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Khác với B3 (chỉ 1 hành động), B4 giới thiệu mô hình 1 điều kiện → NHIỀU hành động song song: khi phát hiện nguy hiểm, hệ thống vừa phát âm thanh cảnh báo tức thời (Buzzer) vừa chủ động xử lý sự cố (bật quạt thông gió qua Relay) — mô phỏng đúng nguyên tắc "cảnh báo + ứng phó" của hệ thống an toàn công nghiệp thật.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B4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MQ-2</a:t>
            </a:r>
          </a:p>
        </p:txBody>
      </p:sp>
      <p:sp>
        <p:nvSpPr>
          <p:cNvPr id="12" name="Rounded Rectangle 11"/>
          <p:cNvSpPr/>
          <p:nvPr/>
        </p:nvSpPr>
        <p:spPr>
          <a:xfrm>
            <a:off x="6080760" y="2395728"/>
            <a:ext cx="2514600" cy="566927"/>
          </a:xfrm>
          <a:prstGeom prst="roundRect">
            <a:avLst/>
          </a:prstGeom>
          <a:solidFill>
            <a:srgbClr val="FFFFFF"/>
          </a:solid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Buzzer</a:t>
            </a:r>
          </a:p>
        </p:txBody>
      </p:sp>
      <p:sp>
        <p:nvSpPr>
          <p:cNvPr id="13" name="Rounded Rectangle 12"/>
          <p:cNvSpPr/>
          <p:nvPr/>
        </p:nvSpPr>
        <p:spPr>
          <a:xfrm>
            <a:off x="6080760" y="3191256"/>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Relay</a:t>
            </a:r>
          </a:p>
        </p:txBody>
      </p:sp>
      <p:sp>
        <p:nvSpPr>
          <p:cNvPr id="14" name="Rounded Rectangle 13"/>
          <p:cNvSpPr/>
          <p:nvPr/>
        </p:nvSpPr>
        <p:spPr>
          <a:xfrm>
            <a:off x="6080760" y="3986783"/>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Quạt</a:t>
            </a:r>
          </a:p>
        </p:txBody>
      </p:sp>
      <p:sp>
        <p:nvSpPr>
          <p:cNvPr id="15" name="Rounded Rectangle 14"/>
          <p:cNvSpPr/>
          <p:nvPr/>
        </p:nvSpPr>
        <p:spPr>
          <a:xfrm>
            <a:off x="6080760" y="4782312"/>
            <a:ext cx="2514600" cy="566927"/>
          </a:xfrm>
          <a:prstGeom prst="roundRect">
            <a:avLst/>
          </a:prstGeom>
          <a:solidFill>
            <a:srgbClr val="FFFFFF"/>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cxnSp>
        <p:nvCxnSpPr>
          <p:cNvPr id="16" name="Connector 15"/>
          <p:cNvCxnSpPr/>
          <p:nvPr/>
        </p:nvCxnSpPr>
        <p:spPr>
          <a:xfrm flipV="1">
            <a:off x="3017520" y="1883664"/>
            <a:ext cx="3063240" cy="402336"/>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1883664"/>
            <a:ext cx="3063240" cy="618466"/>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7520" y="1883664"/>
            <a:ext cx="3063240" cy="834597"/>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17520" y="2679192"/>
            <a:ext cx="3063240" cy="255200"/>
          </a:xfrm>
          <a:prstGeom prst="line">
            <a:avLst/>
          </a:prstGeom>
          <a:ln w="28575">
            <a:solidFill>
              <a:srgbClr val="EC489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2679192"/>
            <a:ext cx="3063240" cy="471331"/>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17520" y="3366654"/>
            <a:ext cx="3063240" cy="108066"/>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017520" y="3474720"/>
            <a:ext cx="3063240" cy="108065"/>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017520" y="3474720"/>
            <a:ext cx="3063240" cy="324196"/>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17520" y="4015047"/>
            <a:ext cx="3063240" cy="255200"/>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17520" y="4231178"/>
            <a:ext cx="3063240" cy="39069"/>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17520" y="4447309"/>
            <a:ext cx="3063240" cy="618466"/>
          </a:xfrm>
          <a:prstGeom prst="line">
            <a:avLst/>
          </a:prstGeom>
          <a:ln w="28575">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017520" y="4663440"/>
            <a:ext cx="3063240" cy="402335"/>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29" name="Rectangle 28"/>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586984"/>
            <a:ext cx="2423160" cy="292608"/>
          </a:xfrm>
          <a:prstGeom prst="rect">
            <a:avLst/>
          </a:prstGeom>
          <a:noFill/>
        </p:spPr>
        <p:txBody>
          <a:bodyPr wrap="square">
            <a:spAutoFit/>
          </a:bodyPr>
          <a:lstStyle/>
          <a:p>
            <a:pPr algn="l"/>
            <a:r>
              <a:rPr sz="900" b="0" i="0">
                <a:solidFill>
                  <a:srgbClr val="475569"/>
                </a:solidFill>
                <a:latin typeface="Calibri"/>
              </a:rPr>
              <a:t>ESP32-S3 · 5V → MQ-2 · VCC  (Nguồn 5V)</a:t>
            </a:r>
          </a:p>
        </p:txBody>
      </p:sp>
      <p:sp>
        <p:nvSpPr>
          <p:cNvPr id="31" name="Rectangle 30"/>
          <p:cNvSpPr/>
          <p:nvPr/>
        </p:nvSpPr>
        <p:spPr>
          <a:xfrm>
            <a:off x="338328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0" y="5586984"/>
            <a:ext cx="2423160" cy="292608"/>
          </a:xfrm>
          <a:prstGeom prst="rect">
            <a:avLst/>
          </a:prstGeom>
          <a:noFill/>
        </p:spPr>
        <p:txBody>
          <a:bodyPr wrap="square">
            <a:spAutoFit/>
          </a:bodyPr>
          <a:lstStyle/>
          <a:p>
            <a:pPr algn="l"/>
            <a:r>
              <a:rPr sz="900" b="0" i="0">
                <a:solidFill>
                  <a:srgbClr val="475569"/>
                </a:solidFill>
                <a:latin typeface="Calibri"/>
              </a:rPr>
              <a:t>ESP32-S3 · GND1 → MQ-2 · GND  (Nối đất)</a:t>
            </a:r>
          </a:p>
        </p:txBody>
      </p:sp>
      <p:sp>
        <p:nvSpPr>
          <p:cNvPr id="33" name="Rectangle 32"/>
          <p:cNvSpPr/>
          <p:nvPr/>
        </p:nvSpPr>
        <p:spPr>
          <a:xfrm>
            <a:off x="6126480" y="5669280"/>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586984"/>
            <a:ext cx="2423160" cy="292608"/>
          </a:xfrm>
          <a:prstGeom prst="rect">
            <a:avLst/>
          </a:prstGeom>
          <a:noFill/>
        </p:spPr>
        <p:txBody>
          <a:bodyPr wrap="square">
            <a:spAutoFit/>
          </a:bodyPr>
          <a:lstStyle/>
          <a:p>
            <a:pPr algn="l"/>
            <a:r>
              <a:rPr sz="900" b="0" i="0">
                <a:solidFill>
                  <a:srgbClr val="475569"/>
                </a:solidFill>
                <a:latin typeface="Calibri"/>
              </a:rPr>
              <a:t>ESP32-S3 · GPIO11 → MQ-2 · AO  (Tín hiệu Analog)</a:t>
            </a:r>
          </a:p>
        </p:txBody>
      </p:sp>
      <p:sp>
        <p:nvSpPr>
          <p:cNvPr id="35" name="Rectangle 34"/>
          <p:cNvSpPr/>
          <p:nvPr/>
        </p:nvSpPr>
        <p:spPr>
          <a:xfrm>
            <a:off x="8869680" y="5669280"/>
            <a:ext cx="182880" cy="118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5586984"/>
            <a:ext cx="2423160" cy="292608"/>
          </a:xfrm>
          <a:prstGeom prst="rect">
            <a:avLst/>
          </a:prstGeom>
          <a:noFill/>
        </p:spPr>
        <p:txBody>
          <a:bodyPr wrap="square">
            <a:spAutoFit/>
          </a:bodyPr>
          <a:lstStyle/>
          <a:p>
            <a:pPr algn="l"/>
            <a:r>
              <a:rPr sz="900" b="0" i="0">
                <a:solidFill>
                  <a:srgbClr val="475569"/>
                </a:solidFill>
                <a:latin typeface="Calibri"/>
              </a:rPr>
              <a:t>ESP32-S3 · GPIO12 → Buzzer · POS  (Tín hiệu còi)</a:t>
            </a:r>
          </a:p>
        </p:txBody>
      </p:sp>
      <p:sp>
        <p:nvSpPr>
          <p:cNvPr id="37" name="Rectangle 36"/>
          <p:cNvSpPr/>
          <p:nvPr/>
        </p:nvSpPr>
        <p:spPr>
          <a:xfrm>
            <a:off x="640080"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879592"/>
            <a:ext cx="2423160" cy="292608"/>
          </a:xfrm>
          <a:prstGeom prst="rect">
            <a:avLst/>
          </a:prstGeom>
          <a:noFill/>
        </p:spPr>
        <p:txBody>
          <a:bodyPr wrap="square">
            <a:spAutoFit/>
          </a:bodyPr>
          <a:lstStyle/>
          <a:p>
            <a:pPr algn="l"/>
            <a:r>
              <a:rPr sz="900" b="0" i="0">
                <a:solidFill>
                  <a:srgbClr val="475569"/>
                </a:solidFill>
                <a:latin typeface="Calibri"/>
              </a:rPr>
              <a:t>ESP32-S3 · GND2 → Buzzer · NEG  (Nối đất)</a:t>
            </a:r>
          </a:p>
        </p:txBody>
      </p:sp>
      <p:sp>
        <p:nvSpPr>
          <p:cNvPr id="39" name="Rectangle 38"/>
          <p:cNvSpPr/>
          <p:nvPr/>
        </p:nvSpPr>
        <p:spPr>
          <a:xfrm>
            <a:off x="3383280" y="5961888"/>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0" y="5879592"/>
            <a:ext cx="2423160" cy="292608"/>
          </a:xfrm>
          <a:prstGeom prst="rect">
            <a:avLst/>
          </a:prstGeom>
          <a:noFill/>
        </p:spPr>
        <p:txBody>
          <a:bodyPr wrap="square">
            <a:spAutoFit/>
          </a:bodyPr>
          <a:lstStyle/>
          <a:p>
            <a:pPr algn="l"/>
            <a:r>
              <a:rPr sz="900" b="0" i="0">
                <a:solidFill>
                  <a:srgbClr val="475569"/>
                </a:solidFill>
                <a:latin typeface="Calibri"/>
              </a:rPr>
              <a:t>ESP32-S3 · 5V → Relay · VCC  (Nguồn 5V cấp Relay)</a:t>
            </a:r>
          </a:p>
        </p:txBody>
      </p:sp>
      <p:sp>
        <p:nvSpPr>
          <p:cNvPr id="41" name="Rectangle 40"/>
          <p:cNvSpPr/>
          <p:nvPr/>
        </p:nvSpPr>
        <p:spPr>
          <a:xfrm>
            <a:off x="6126480"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879592"/>
            <a:ext cx="2423160" cy="292608"/>
          </a:xfrm>
          <a:prstGeom prst="rect">
            <a:avLst/>
          </a:prstGeom>
          <a:noFill/>
        </p:spPr>
        <p:txBody>
          <a:bodyPr wrap="square">
            <a:spAutoFit/>
          </a:bodyPr>
          <a:lstStyle/>
          <a:p>
            <a:pPr algn="l"/>
            <a:r>
              <a:rPr sz="900" b="0" i="0">
                <a:solidFill>
                  <a:srgbClr val="475569"/>
                </a:solidFill>
                <a:latin typeface="Calibri"/>
              </a:rPr>
              <a:t>ESP32-S3 · GND1 → Relay · GND  (Nối đất)</a:t>
            </a:r>
          </a:p>
        </p:txBody>
      </p:sp>
      <p:sp>
        <p:nvSpPr>
          <p:cNvPr id="43" name="Rectangle 42"/>
          <p:cNvSpPr/>
          <p:nvPr/>
        </p:nvSpPr>
        <p:spPr>
          <a:xfrm>
            <a:off x="8869680" y="5961888"/>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0" y="5879592"/>
            <a:ext cx="2423160" cy="292608"/>
          </a:xfrm>
          <a:prstGeom prst="rect">
            <a:avLst/>
          </a:prstGeom>
          <a:noFill/>
        </p:spPr>
        <p:txBody>
          <a:bodyPr wrap="square">
            <a:spAutoFit/>
          </a:bodyPr>
          <a:lstStyle/>
          <a:p>
            <a:pPr algn="l"/>
            <a:r>
              <a:rPr sz="900" b="0" i="0">
                <a:solidFill>
                  <a:srgbClr val="475569"/>
                </a:solidFill>
                <a:latin typeface="Calibri"/>
              </a:rPr>
              <a:t>ESP32-S3 · GPIO14 → Relay · IN  (Tín hiệu điều khiển quạt)</a:t>
            </a:r>
          </a:p>
        </p:txBody>
      </p:sp>
      <p:sp>
        <p:nvSpPr>
          <p:cNvPr id="45" name="Rectangle 44"/>
          <p:cNvSpPr/>
          <p:nvPr/>
        </p:nvSpPr>
        <p:spPr>
          <a:xfrm>
            <a:off x="640080" y="6254496"/>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6172200"/>
            <a:ext cx="2423160" cy="292608"/>
          </a:xfrm>
          <a:prstGeom prst="rect">
            <a:avLst/>
          </a:prstGeom>
          <a:noFill/>
        </p:spPr>
        <p:txBody>
          <a:bodyPr wrap="square">
            <a:spAutoFit/>
          </a:bodyPr>
          <a:lstStyle/>
          <a:p>
            <a:pPr algn="l"/>
            <a:r>
              <a:rPr sz="900" b="0" i="0">
                <a:solidFill>
                  <a:srgbClr val="475569"/>
                </a:solidFill>
                <a:latin typeface="Calibri"/>
              </a:rPr>
              <a:t>Relay · OUT → Quạt · POS  (Nguồn cấp quạt (qua Relay))</a:t>
            </a:r>
          </a:p>
        </p:txBody>
      </p:sp>
      <p:sp>
        <p:nvSpPr>
          <p:cNvPr id="47" name="Rectangle 46"/>
          <p:cNvSpPr/>
          <p:nvPr/>
        </p:nvSpPr>
        <p:spPr>
          <a:xfrm>
            <a:off x="3383280" y="6254496"/>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0" y="6172200"/>
            <a:ext cx="2423160" cy="292608"/>
          </a:xfrm>
          <a:prstGeom prst="rect">
            <a:avLst/>
          </a:prstGeom>
          <a:noFill/>
        </p:spPr>
        <p:txBody>
          <a:bodyPr wrap="square">
            <a:spAutoFit/>
          </a:bodyPr>
          <a:lstStyle/>
          <a:p>
            <a:pPr algn="l"/>
            <a:r>
              <a:rPr sz="900" b="0" i="0">
                <a:solidFill>
                  <a:srgbClr val="475569"/>
                </a:solidFill>
                <a:latin typeface="Calibri"/>
              </a:rPr>
              <a:t>ESP32-S3 · GND1 → Quạt · NEG  (Nối đất quạt)</a:t>
            </a:r>
          </a:p>
        </p:txBody>
      </p:sp>
      <p:sp>
        <p:nvSpPr>
          <p:cNvPr id="49" name="Rectangle 48"/>
          <p:cNvSpPr/>
          <p:nvPr/>
        </p:nvSpPr>
        <p:spPr>
          <a:xfrm>
            <a:off x="6126480" y="6254496"/>
            <a:ext cx="182880" cy="11887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6172200"/>
            <a:ext cx="2423160" cy="292608"/>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51" name="Rectangle 50"/>
          <p:cNvSpPr/>
          <p:nvPr/>
        </p:nvSpPr>
        <p:spPr>
          <a:xfrm>
            <a:off x="8869680" y="6254496"/>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0" y="6172200"/>
            <a:ext cx="2423160" cy="292608"/>
          </a:xfrm>
          <a:prstGeom prst="rect">
            <a:avLst/>
          </a:prstGeom>
          <a:noFill/>
        </p:spPr>
        <p:txBody>
          <a:bodyPr wrap="square">
            <a:spAutoFit/>
          </a:bodyPr>
          <a:lstStyle/>
          <a:p>
            <a:pPr algn="l"/>
            <a:r>
              <a:rPr sz="900" b="0" i="0">
                <a:solidFill>
                  <a:srgbClr val="475569"/>
                </a:solidFill>
                <a:latin typeface="Calibri"/>
              </a:rPr>
              <a:t>ESP32-S3 · GPIO8 → LCD1602 · SDA  (I2C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B4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1897380"/>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235458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2482596"/>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nồng độ khí gas từ MQ-2 (analogRead)</a:t>
            </a:r>
          </a:p>
        </p:txBody>
      </p:sp>
      <p:sp>
        <p:nvSpPr>
          <p:cNvPr id="13" name="Down Arrow 12"/>
          <p:cNvSpPr/>
          <p:nvPr/>
        </p:nvSpPr>
        <p:spPr>
          <a:xfrm>
            <a:off x="2286000" y="2939796"/>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3067812"/>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Cập nhật giá trị PPM lên LCD dòng 1</a:t>
            </a:r>
          </a:p>
        </p:txBody>
      </p:sp>
      <p:sp>
        <p:nvSpPr>
          <p:cNvPr id="15" name="Down Arrow 14"/>
          <p:cNvSpPr/>
          <p:nvPr/>
        </p:nvSpPr>
        <p:spPr>
          <a:xfrm>
            <a:off x="2286000" y="352501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685800" y="3653028"/>
            <a:ext cx="3383280" cy="68580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FFFFFF"/>
                </a:solidFill>
                <a:latin typeface="Calibri"/>
              </a:rPr>
              <a:t>Nồng độ Gas &gt; 300 PPM ?</a:t>
            </a:r>
          </a:p>
        </p:txBody>
      </p:sp>
      <p:cxnSp>
        <p:nvCxnSpPr>
          <p:cNvPr id="17" name="Connector 16"/>
          <p:cNvCxnSpPr/>
          <p:nvPr/>
        </p:nvCxnSpPr>
        <p:spPr>
          <a:xfrm>
            <a:off x="685800" y="3995928"/>
            <a:ext cx="77724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3995928"/>
            <a:ext cx="0" cy="61722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9" name="Down Arrow 18"/>
          <p:cNvSpPr/>
          <p:nvPr/>
        </p:nvSpPr>
        <p:spPr>
          <a:xfrm>
            <a:off x="1371600" y="4594860"/>
            <a:ext cx="182880" cy="164592"/>
          </a:xfrm>
          <a:prstGeom prst="down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85032"/>
            <a:ext cx="1645920" cy="237744"/>
          </a:xfrm>
          <a:prstGeom prst="rect">
            <a:avLst/>
          </a:prstGeom>
          <a:noFill/>
        </p:spPr>
        <p:txBody>
          <a:bodyPr wrap="square">
            <a:spAutoFit/>
          </a:bodyPr>
          <a:lstStyle/>
          <a:p>
            <a:pPr algn="ctr"/>
            <a:r>
              <a:rPr sz="950" b="1" i="0">
                <a:solidFill>
                  <a:srgbClr val="10B981"/>
                </a:solidFill>
                <a:latin typeface="Calibri"/>
              </a:rPr>
              <a:t>ĐÚNG</a:t>
            </a:r>
          </a:p>
        </p:txBody>
      </p:sp>
      <p:sp>
        <p:nvSpPr>
          <p:cNvPr id="21" name="Rounded Rectangle 20"/>
          <p:cNvSpPr/>
          <p:nvPr/>
        </p:nvSpPr>
        <p:spPr>
          <a:xfrm>
            <a:off x="457200" y="4796028"/>
            <a:ext cx="2011680" cy="566928"/>
          </a:xfrm>
          <a:prstGeom prst="roundRect">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EF4444"/>
                </a:solidFill>
                <a:latin typeface="Calibri"/>
              </a:rPr>
              <a:t>Bật Buzzer (còi hú) VÀ bật Relay → Quạt thông gió chạy</a:t>
            </a:r>
          </a:p>
        </p:txBody>
      </p:sp>
      <p:cxnSp>
        <p:nvCxnSpPr>
          <p:cNvPr id="22" name="Connector 21"/>
          <p:cNvCxnSpPr/>
          <p:nvPr/>
        </p:nvCxnSpPr>
        <p:spPr>
          <a:xfrm flipH="1">
            <a:off x="3063240" y="3995928"/>
            <a:ext cx="10058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63240" y="3995928"/>
            <a:ext cx="0" cy="6172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4" name="Down Arrow 23"/>
          <p:cNvSpPr/>
          <p:nvPr/>
        </p:nvSpPr>
        <p:spPr>
          <a:xfrm>
            <a:off x="2971800" y="4594860"/>
            <a:ext cx="182880" cy="164592"/>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0280" y="3685032"/>
            <a:ext cx="1645920" cy="237744"/>
          </a:xfrm>
          <a:prstGeom prst="rect">
            <a:avLst/>
          </a:prstGeom>
          <a:noFill/>
        </p:spPr>
        <p:txBody>
          <a:bodyPr wrap="square">
            <a:spAutoFit/>
          </a:bodyPr>
          <a:lstStyle/>
          <a:p>
            <a:pPr algn="ctr"/>
            <a:r>
              <a:rPr sz="950" b="1" i="0">
                <a:solidFill>
                  <a:srgbClr val="475569"/>
                </a:solidFill>
                <a:latin typeface="Calibri"/>
              </a:rPr>
              <a:t>SAI</a:t>
            </a:r>
          </a:p>
        </p:txBody>
      </p:sp>
      <p:sp>
        <p:nvSpPr>
          <p:cNvPr id="26" name="Rounded Rectangle 25"/>
          <p:cNvSpPr/>
          <p:nvPr/>
        </p:nvSpPr>
        <p:spPr>
          <a:xfrm>
            <a:off x="2057400" y="4796028"/>
            <a:ext cx="2011680" cy="566928"/>
          </a:xfrm>
          <a:prstGeom prst="roundRect">
            <a:avLst/>
          </a:prstGeom>
          <a:solidFill>
            <a:srgbClr val="DCFCE7"/>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10B981"/>
                </a:solidFill>
                <a:latin typeface="Calibri"/>
              </a:rPr>
              <a:t>Tắt Buzzer (noTone) VÀ tắt Relay → Quạt dừng</a:t>
            </a:r>
          </a:p>
        </p:txBody>
      </p:sp>
      <p:cxnSp>
        <p:nvCxnSpPr>
          <p:cNvPr id="27" name="Connector 26"/>
          <p:cNvCxnSpPr/>
          <p:nvPr/>
        </p:nvCxnSpPr>
        <p:spPr>
          <a:xfrm>
            <a:off x="14630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0632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63040" y="5564124"/>
            <a:ext cx="16002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0" name="Down Arrow 29"/>
          <p:cNvSpPr/>
          <p:nvPr/>
        </p:nvSpPr>
        <p:spPr>
          <a:xfrm>
            <a:off x="2286000" y="5564124"/>
            <a:ext cx="182880" cy="182880"/>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88720" y="5765292"/>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32" name="TextBox 31"/>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Điểm khác biệt với B2/B3: mỗi nhánh (Đúng/Sai) thực hiện 2 lệnh digitalWrite() liên tiếp thay vì 1 — sinh viên cần hiểu rằng 1 khối {} trong if/else có thể chứa nhiều hành động, tất cả xảy ra "gần như đồng thời" trong cùng 1 vòng lặp.
Lệnh noTone(BUZZER_PIN) được gọi thêm ở nhánh an toàn để đảm bảo còi tắt HẲN (không chỉ digitalWrite LOW) — phòng trường hợp còi được điều khiển bằng tone() ở phiên bản mở rộng khác.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B4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pinMode(BUZZER_PIN, OUTPUT);</a:t>
            </a:r>
          </a:p>
          <a:p>
            <a:pPr>
              <a:spcAft>
                <a:spcPts val="100"/>
              </a:spcAft>
            </a:pPr>
            <a:r>
              <a:rPr sz="1250">
                <a:solidFill>
                  <a:srgbClr val="7DE6A8"/>
                </a:solidFill>
                <a:latin typeface="Consolas"/>
              </a:rPr>
              <a:t>  pinMode(FAN_RELAY_PIN, OUTPUT);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lcd.print("GIAM SAT KHI DOC");</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lcd.print("KHONG KHI KMT");</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B4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int gasPpm = analogRead(GAS_PIN); // Doc nong do Gas LIVE tu slider</a:t>
            </a:r>
          </a:p>
          <a:p>
            <a:pPr>
              <a:spcAft>
                <a:spcPts val="100"/>
              </a:spcAft>
            </a:pPr>
            <a:r>
              <a:rPr sz="1250">
                <a:solidFill>
                  <a:srgbClr val="7DE6A8"/>
                </a:solidFill>
                <a:latin typeface="Consolas"/>
              </a:rPr>
              <a:t>  Serial.print("[KHI THAI] Nong do Gas MQ-2: ");</a:t>
            </a:r>
          </a:p>
          <a:p>
            <a:pPr>
              <a:spcAft>
                <a:spcPts val="100"/>
              </a:spcAft>
            </a:pPr>
            <a:r>
              <a:rPr sz="1250">
                <a:solidFill>
                  <a:srgbClr val="7DE6A8"/>
                </a:solidFill>
                <a:latin typeface="Consolas"/>
              </a:rPr>
              <a:t>  Serial.print(gasPpm);</a:t>
            </a:r>
          </a:p>
          <a:p>
            <a:pPr>
              <a:spcAft>
                <a:spcPts val="100"/>
              </a:spcAft>
            </a:pPr>
            <a:r>
              <a:rPr sz="1250">
                <a:solidFill>
                  <a:srgbClr val="7DE6A8"/>
                </a:solidFill>
                <a:latin typeface="Consolas"/>
              </a:rPr>
              <a:t>  Serial.println(" PPM");</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lcd.print("Gas PPM: ");</a:t>
            </a:r>
          </a:p>
          <a:p>
            <a:pPr>
              <a:spcAft>
                <a:spcPts val="100"/>
              </a:spcAft>
            </a:pPr>
            <a:r>
              <a:rPr sz="1250">
                <a:solidFill>
                  <a:srgbClr val="7DE6A8"/>
                </a:solidFill>
                <a:latin typeface="Consolas"/>
              </a:rPr>
              <a:t>  lcd.print(gasPpm);</a:t>
            </a:r>
          </a:p>
          <a:p>
            <a:pPr>
              <a:spcAft>
                <a:spcPts val="100"/>
              </a:spcAft>
            </a:pPr>
            <a:r>
              <a:rPr sz="1250">
                <a:solidFill>
                  <a:srgbClr val="7DE6A8"/>
                </a:solidFill>
                <a:latin typeface="Consolas"/>
              </a:rPr>
              <a:t>  lcd.print("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if (gasPpm &gt; 300) {</a:t>
            </a:r>
          </a:p>
          <a:p>
            <a:pPr>
              <a:spcAft>
                <a:spcPts val="100"/>
              </a:spcAft>
            </a:pPr>
            <a:r>
              <a:rPr sz="1250">
                <a:solidFill>
                  <a:srgbClr val="7DE6A8"/>
                </a:solidFill>
                <a:latin typeface="Consolas"/>
              </a:rPr>
              <a:t>    digitalWrite(BUZZER_PIN, HIGH);    // Bat coi hu</a:t>
            </a:r>
          </a:p>
          <a:p>
            <a:pPr>
              <a:spcAft>
                <a:spcPts val="100"/>
              </a:spcAft>
            </a:pPr>
            <a:r>
              <a:rPr sz="1250">
                <a:solidFill>
                  <a:srgbClr val="7DE6A8"/>
                </a:solidFill>
                <a:latin typeface="Consolas"/>
              </a:rPr>
              <a:t>    digitalWrite(FAN_RELAY_PIN, HIGH); // Bat quat hut thong gio</a:t>
            </a:r>
          </a:p>
          <a:p>
            <a:pPr>
              <a:spcAft>
                <a:spcPts val="100"/>
              </a:spcAft>
            </a:pPr>
            <a:r>
              <a:rPr sz="1250">
                <a:solidFill>
                  <a:srgbClr val="7DE6A8"/>
                </a:solidFill>
                <a:latin typeface="Consolas"/>
              </a:rPr>
              <a:t>    Serial.println("CANH BAO O NHIEM KHI THAI! BAT QUAT THONG GIO!");</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lcd.print("DANGER! FAN: ON ");</a:t>
            </a:r>
          </a:p>
          <a:p>
            <a:pPr>
              <a:spcAft>
                <a:spcPts val="100"/>
              </a:spcAft>
            </a:pPr>
            <a:r>
              <a:rPr sz="1250">
                <a:solidFill>
                  <a:srgbClr val="7DE6A8"/>
                </a:solidFill>
                <a:latin typeface="Consolas"/>
              </a:rPr>
              <a:t>  } else {</a:t>
            </a:r>
          </a:p>
          <a:p>
            <a:pPr>
              <a:spcAft>
                <a:spcPts val="100"/>
              </a:spcAft>
            </a:pPr>
            <a:r>
              <a:rPr sz="1250">
                <a:solidFill>
                  <a:srgbClr val="7DE6A8"/>
                </a:solidFill>
                <a:latin typeface="Consolas"/>
              </a:rPr>
              <a:t>    digitalWrite(BUZZER_PIN, LOW);     // Tat hoan toan coi hu khi an toan</a:t>
            </a:r>
          </a:p>
          <a:p>
            <a:pPr>
              <a:spcAft>
                <a:spcPts val="100"/>
              </a:spcAft>
            </a:pPr>
            <a:r>
              <a:rPr sz="1250">
                <a:solidFill>
                  <a:srgbClr val="7DE6A8"/>
                </a:solidFill>
                <a:latin typeface="Consolas"/>
              </a:rPr>
              <a:t>    noTone(BUZZER_PIN);</a:t>
            </a:r>
          </a:p>
          <a:p>
            <a:pPr>
              <a:spcAft>
                <a:spcPts val="100"/>
              </a:spcAft>
            </a:pPr>
            <a:r>
              <a:rPr sz="1250">
                <a:solidFill>
                  <a:srgbClr val="7DE6A8"/>
                </a:solidFill>
                <a:latin typeface="Consolas"/>
              </a:rPr>
              <a:t>    digitalWrite(FAN_RELAY_PIN, LOW);  // Tat quat hut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lcd.print("Status: AN TOAN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B4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2286000"/>
        </p:xfrm>
        <a:graphic>
          <a:graphicData uri="http://schemas.openxmlformats.org/drawingml/2006/table">
            <a:tbl>
              <a:tblPr>
                <a:tableStyleId>{5C22544A-7EE6-4342-B048-85BDC9FD1C3A}</a:tableStyleId>
              </a:tblPr>
              <a:tblGrid>
                <a:gridCol w="3840480"/>
                <a:gridCol w="2194560"/>
                <a:gridCol w="5029200"/>
              </a:tblGrid>
              <a:tr h="76200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62000">
                <a:tc>
                  <a:txBody>
                    <a:bodyPr wrap="square"/>
                    <a:lstStyle/>
                    <a:p>
                      <a:pPr algn="l"/>
                      <a:r>
                        <a:rPr sz="1300" b="0">
                          <a:solidFill>
                            <a:srgbClr val="1E293B"/>
                          </a:solidFill>
                          <a:latin typeface="Calibri"/>
                        </a:rPr>
                        <a:t>Nồng độ khí Gas/Khói (MQ-2)</a:t>
                      </a:r>
                    </a:p>
                  </a:txBody>
                  <a:tcPr marL="73152" marR="73152" marT="36576" marB="36576" anchor="ctr">
                    <a:solidFill>
                      <a:srgbClr val="FFFFFF"/>
                    </a:solidFill>
                  </a:tcPr>
                </a:tc>
                <a:tc>
                  <a:txBody>
                    <a:bodyPr wrap="square"/>
                    <a:lstStyle/>
                    <a:p>
                      <a:pPr algn="ctr"/>
                      <a:r>
                        <a:rPr sz="1300" b="0">
                          <a:solidFill>
                            <a:srgbClr val="EF4444"/>
                          </a:solidFill>
                          <a:latin typeface="Calibri"/>
                        </a:rPr>
                        <a:t>&gt; 300 PPM</a:t>
                      </a:r>
                    </a:p>
                  </a:txBody>
                  <a:tcPr marL="73152" marR="73152" marT="36576" marB="36576" anchor="ctr">
                    <a:solidFill>
                      <a:srgbClr val="FEE2E2"/>
                    </a:solidFill>
                  </a:tcPr>
                </a:tc>
                <a:tc>
                  <a:txBody>
                    <a:bodyPr wrap="square"/>
                    <a:lstStyle/>
                    <a:p>
                      <a:pPr algn="l"/>
                      <a:r>
                        <a:rPr sz="1300" b="0">
                          <a:solidFill>
                            <a:srgbClr val="475569"/>
                          </a:solidFill>
                          <a:latin typeface="Calibri"/>
                        </a:rPr>
                        <a:t>Bật còi hú + bật quạt thông gió qua Relay, LCD "DANGER! FAN: ON"</a:t>
                      </a:r>
                    </a:p>
                  </a:txBody>
                  <a:tcPr marL="73152" marR="73152" marT="36576" marB="36576" anchor="ctr">
                    <a:solidFill>
                      <a:srgbClr val="FFFFFF"/>
                    </a:solidFill>
                  </a:tcPr>
                </a:tc>
              </a:tr>
              <a:tr h="762000">
                <a:tc>
                  <a:txBody>
                    <a:bodyPr wrap="square"/>
                    <a:lstStyle/>
                    <a:p>
                      <a:pPr algn="l"/>
                      <a:r>
                        <a:rPr sz="1300" b="0">
                          <a:solidFill>
                            <a:srgbClr val="1E293B"/>
                          </a:solidFill>
                          <a:latin typeface="Calibri"/>
                        </a:rPr>
                        <a:t>Nồng độ khí Gas/Khói (MQ-2)</a:t>
                      </a:r>
                    </a:p>
                  </a:txBody>
                  <a:tcPr marL="73152" marR="73152" marT="36576" marB="36576" anchor="ctr">
                    <a:solidFill>
                      <a:srgbClr val="FFFFFF"/>
                    </a:solidFill>
                  </a:tcPr>
                </a:tc>
                <a:tc>
                  <a:txBody>
                    <a:bodyPr wrap="square"/>
                    <a:lstStyle/>
                    <a:p>
                      <a:pPr algn="ctr"/>
                      <a:r>
                        <a:rPr sz="1300" b="0">
                          <a:solidFill>
                            <a:srgbClr val="10B981"/>
                          </a:solidFill>
                          <a:latin typeface="Calibri"/>
                        </a:rPr>
                        <a:t>≤ 300 PPM</a:t>
                      </a:r>
                    </a:p>
                  </a:txBody>
                  <a:tcPr marL="73152" marR="73152" marT="36576" marB="36576" anchor="ctr">
                    <a:solidFill>
                      <a:srgbClr val="DCFCE7"/>
                    </a:solidFill>
                  </a:tcPr>
                </a:tc>
                <a:tc>
                  <a:txBody>
                    <a:bodyPr wrap="square"/>
                    <a:lstStyle/>
                    <a:p>
                      <a:pPr algn="l"/>
                      <a:r>
                        <a:rPr sz="1300" b="0">
                          <a:solidFill>
                            <a:srgbClr val="475569"/>
                          </a:solidFill>
                          <a:latin typeface="Calibri"/>
                        </a:rPr>
                        <a:t>Tắt còi (noTone) + tắt quạt, LCD "Status: AN TOAN"</a:t>
                      </a:r>
                    </a:p>
                  </a:txBody>
                  <a:tcPr marL="73152" marR="73152" marT="36576" marB="36576" anchor="ctr">
                    <a:solidFill>
                      <a:srgbClr val="FFFFFF"/>
                    </a:solidFill>
                  </a:tcPr>
                </a:tc>
              </a:tr>
            </a:tbl>
          </a:graphicData>
        </a:graphic>
      </p:graphicFrame>
      <p:sp>
        <p:nvSpPr>
          <p:cNvPr id="11" name="TextBox 10"/>
          <p:cNvSpPr txBox="1"/>
          <p:nvPr/>
        </p:nvSpPr>
        <p:spPr>
          <a:xfrm>
            <a:off x="548640" y="4023359"/>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Ngưỡng 300 PPM chỉ mang tính minh hoạ cho bài giảng — thực tế cần tra theo datasheet MQ-2 và hiệu chuẩn cảm biến theo từng loại khí mục tiêu trước khi đưa vào vận hành thật.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B4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Nồng độ khí tăng dần mô phỏng một sự cố rò rỉ đang diễn tiến theo thời gian.</a:t>
            </a:r>
          </a:p>
          <a:p>
            <a:pPr algn="l">
              <a:spcAft>
                <a:spcPts val="1000"/>
              </a:spcAft>
            </a:pPr>
            <a:r>
              <a:rPr sz="1150" b="1">
                <a:solidFill>
                  <a:srgbClr val="3B82F6"/>
                </a:solidFill>
                <a:latin typeface="Calibri"/>
              </a:rPr>
              <a:t>●  </a:t>
            </a:r>
            <a:r>
              <a:rPr sz="1150" b="0">
                <a:solidFill>
                  <a:srgbClr val="475569"/>
                </a:solidFill>
                <a:latin typeface="Calibri"/>
              </a:rPr>
              <a:t>Khi vượt ngưỡng 300 PPM (khoảng giây 15-18), còi và quạt kích hoạt gần như tức thời trong cùng 1 chu kỳ loop().</a:t>
            </a:r>
          </a:p>
          <a:p>
            <a:pPr algn="l">
              <a:spcAft>
                <a:spcPts val="1000"/>
              </a:spcAft>
            </a:pPr>
            <a:r>
              <a:rPr sz="1150" b="1">
                <a:solidFill>
                  <a:srgbClr val="3B82F6"/>
                </a:solidFill>
                <a:latin typeface="Calibri"/>
              </a:rPr>
              <a:t>●  </a:t>
            </a:r>
            <a:r>
              <a:rPr sz="1150" b="0">
                <a:solidFill>
                  <a:srgbClr val="475569"/>
                </a:solidFill>
                <a:latin typeface="Calibri"/>
              </a:rPr>
              <a:t>Sau khi quạt thông gió hoạt động, nồng độ khí bắt đầu giảm trở lại (giây 21) — minh hoạ hiệu quả của hành động ứng phó tự động.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B4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An toàn phòng thí nghiệm hoá chất</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Phát hiện sớm rò rỉ dung môi/khí dễ cháy, tự động bật hệ thống thông gió khẩn cấp.</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Cảnh báo rò rỉ gas dân dụng</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Lắp trong bếp gas gia đình, cảnh báo sớm kèm khả năng mở rộng tự động ngắt van gas.</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Giám sát khí thải khu công nghiệp</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Theo dõi liên tục chất lượng không khí quanh nhà máy, cảnh báo vượt ngưỡng phát thải.</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Hầm/bãi đỗ xe kín</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Giám sát khí CO tích tụ, tự động bật quạt hút đảm bảo an toàn cho người và thiết bị.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B4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MQ-2 cần thời gian làm nóng (preheat) trước khi cho kết quả ổn định — không nên vội kết luận ngay sau khi cấp nguồn.</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Cần hiệu chuẩn (calibration) giá trị Rs/Ro theo datasheet để quy đổi chính xác ra PPM cho từng loại khí cụ thể.</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Không đặt cảm biến ở nơi có luồng gió mạnh trực tiếp — có thể làm sai lệch nồng độ đo được.</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Buzzer + Relay + Quạt tiêu thụ dòng lớn hơn LED — cần nguồn cấp đủ công suất, tránh sụt áp ảnh hưởng vi điều khiển.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B4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trong nhánh an toàn, code vừa gọi digitalWrite(BUZZER_PIN, LOW) vừa gọi noTone(BUZZER_PIN)?</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Nếu muốn thêm 1 mức cảnh báo trung gian (ví dụ 150-300 PPM chỉ bật đèn vàng, không bật còi) thì cần sửa cấu trúc if/else như thế nào?</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Tại sao hệ thống này cần PHẢN ỨNG (bật quạt) chứ không chỉ CẢNH BÁO (bật còi) như bài B2?</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MQ-2 cần thời gian "làm nóng" — điều này ảnh hưởng thế nào đến việc thiết kế hệ thống cảnh báo khẩn cấp trong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B4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B4</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mở rộng mô hình điều khiển sang nhiều thiết bị đầu ra cùng lúc trong 1 điều kiện duy nhất.</a:t>
            </a:r>
          </a:p>
          <a:p>
            <a:pPr algn="l">
              <a:spcAft>
                <a:spcPts val="1000"/>
              </a:spcAft>
            </a:pPr>
            <a:r>
              <a:rPr sz="1450" b="1">
                <a:solidFill>
                  <a:srgbClr val="10B981"/>
                </a:solidFill>
                <a:latin typeface="Calibri"/>
              </a:rPr>
              <a:t>●  </a:t>
            </a:r>
            <a:r>
              <a:rPr sz="1450" b="0">
                <a:solidFill>
                  <a:srgbClr val="1E293B"/>
                </a:solidFill>
                <a:latin typeface="Calibri"/>
              </a:rPr>
              <a:t>Phân biệt được vai trò "cảnh báo" (Buzzer — thông tin) và "ứng phó" (Relay+Quạt — hành động khắc phục).</a:t>
            </a:r>
          </a:p>
          <a:p>
            <a:pPr algn="l">
              <a:spcAft>
                <a:spcPts val="1000"/>
              </a:spcAft>
            </a:pPr>
            <a:r>
              <a:rPr sz="1450" b="1">
                <a:solidFill>
                  <a:srgbClr val="10B981"/>
                </a:solidFill>
                <a:latin typeface="Calibri"/>
              </a:rPr>
              <a:t>●  </a:t>
            </a:r>
            <a:r>
              <a:rPr sz="1450" b="0">
                <a:solidFill>
                  <a:srgbClr val="1E293B"/>
                </a:solidFill>
                <a:latin typeface="Calibri"/>
              </a:rPr>
              <a:t>Hiểu được giới hạn và yêu cầu hiệu chuẩn của cảm biến khí gas bán dẫn trong ứng dụng thực tế.</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Buổi 5: Xây dựng giao diện HMI tại chỗ — tổng hợp nhiều cảm biến hiển thị trên cùng 1 màn hình LCD kèm đèn LED cảnh báo trực quan.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B4</a:t>
            </a:r>
          </a:p>
        </p:txBody>
      </p:sp>
      <p:sp>
        <p:nvSpPr>
          <p:cNvPr id="7" name="Rounded Rectangle 6"/>
          <p:cNvSpPr/>
          <p:nvPr/>
        </p:nvSpPr>
        <p:spPr>
          <a:xfrm>
            <a:off x="14781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1569567" y="3835587"/>
            <a:ext cx="1920239" cy="1472824"/>
          </a:xfrm>
          <a:prstGeom prst="rect">
            <a:avLst/>
          </a:prstGeom>
        </p:spPr>
      </p:pic>
      <p:sp>
        <p:nvSpPr>
          <p:cNvPr id="9" name="Rounded Rectangle 8"/>
          <p:cNvSpPr/>
          <p:nvPr/>
        </p:nvSpPr>
        <p:spPr>
          <a:xfrm>
            <a:off x="385556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28719" y="3730752"/>
            <a:ext cx="1956815" cy="16824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11" name="Rounded Rectangle 10"/>
          <p:cNvSpPr/>
          <p:nvPr/>
        </p:nvSpPr>
        <p:spPr>
          <a:xfrm>
            <a:off x="623300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uzzer.jpg"/>
          <p:cNvPicPr>
            <a:picLocks noChangeAspect="1"/>
          </p:cNvPicPr>
          <p:nvPr/>
        </p:nvPicPr>
        <p:blipFill>
          <a:blip r:embed="rId3"/>
          <a:stretch>
            <a:fillRect/>
          </a:stretch>
        </p:blipFill>
        <p:spPr>
          <a:xfrm>
            <a:off x="6324447" y="3851910"/>
            <a:ext cx="1920239" cy="1440179"/>
          </a:xfrm>
          <a:prstGeom prst="rect">
            <a:avLst/>
          </a:prstGeom>
        </p:spPr>
      </p:pic>
      <p:sp>
        <p:nvSpPr>
          <p:cNvPr id="13" name="Rounded Rectangle 12"/>
          <p:cNvSpPr/>
          <p:nvPr/>
        </p:nvSpPr>
        <p:spPr>
          <a:xfrm>
            <a:off x="86104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elay_module.jpg"/>
          <p:cNvPicPr>
            <a:picLocks noChangeAspect="1"/>
          </p:cNvPicPr>
          <p:nvPr/>
        </p:nvPicPr>
        <p:blipFill>
          <a:blip r:embed="rId4"/>
          <a:stretch>
            <a:fillRect/>
          </a:stretch>
        </p:blipFill>
        <p:spPr>
          <a:xfrm>
            <a:off x="8701887" y="3932560"/>
            <a:ext cx="1920239" cy="1278879"/>
          </a:xfrm>
          <a:prstGeom prst="rect">
            <a:avLst/>
          </a:prstGeom>
        </p:spPr>
      </p:pic>
      <p:sp>
        <p:nvSpPr>
          <p:cNvPr id="15" name="TextBox 14"/>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